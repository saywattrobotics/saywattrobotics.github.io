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27.xml" ContentType="application/vnd.openxmlformats-officedocument.presentationml.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9"/>
    <p:sldId id="263" r:id="rId10"/>
    <p:sldId id="264" r:id="rId33"/>
    <p:sldId id="265" r:id="rId12"/>
    <p:sldId id="266" r:id="rId15"/>
    <p:sldId id="267" r:id="rId11"/>
    <p:sldId id="268" r:id="rId16"/>
    <p:sldId id="269" r:id="rId25"/>
    <p:sldId id="270" r:id="rId26"/>
    <p:sldId id="27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5" Type="http://schemas.openxmlformats.org/officeDocument/2006/relationships/slide" Target="slides/slide14.xml"/><Relationship Id="rId16" Type="http://schemas.openxmlformats.org/officeDocument/2006/relationships/slide" Target="slides/slide15.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7.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 this is the week the team has waited for: today everyone solders. 30 seconds here. Set the tone — it is our longest meeting, by design, and the work is worth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eight blocks quickly, then land one point: this is our longest day, about three and a half hours. If a block runs long, we protect the hands-on practice and trim elsewhere — we never cut the time on the iron. Note the break at 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opening as always. Let the CEO run the safety brief if roles are set — 60 to 90 seconds. The ritual matters more today than ever: there are hot irons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safety brief of the season so far. Slow down on hazards and prevention. Irons live in their stands, never on the bench. Confirm the fume fan is on and everyone has glasses before any iron is powered. Read ‘every burn gets reported’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15 minutes. Set up the why before the how: nobody picks up an iron until they understand what a good joint is and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 the robot fails at its weakest joint, and that joint is one a kid will make today. Two minutes. Land the bold line: this is the first real engineering skill of the season, and every kid earns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real examples if you have them. Walk the three: cold (dull blob), good (shiny cone), bridged (shorted). Tell them they will make all three today — making the bad ones on purpose is how they learn to see the good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day, 85 minutes. Set the flow: watch, then demo, then everyone practices. Energy up — the clock is generous here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 slowly — this is the philosophy of the whole season. Make sure every parent hears it: demonstrate, then step back. The struggle is the point. Mention AI disclosure plainly — honesty is scored in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each move once as you walk these six cards — this is the teach-once moment, about 15 minutes. Section 4.3: you show it, then you step back. Do not solder for them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block cannot be cut. Every kid makes a joint, inspects it, and redoes it if needed. Circulate, photograph, encourage — hands off the irons. Expect it to run long; that is fine. Nobody opens the kit until they have made a joint they are proud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Irons stay on their stands and cool. Hands washed before snacks — solder has lead. Resume at 1:55,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divider — 10 minutes to close the loop. Make sure every kid leaves knowing their homework and the team knows the parallel-track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for students, no more — keep it light. Read the parallel-track card to the parents: battery before Week 3, pool prerequisites, and the DISL call. These gate the water. Preview Week 3 — electronics finished and the first splash.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pride — everyone soldered today, the kit is open, the first joints are on the robot. Land the final line: next week, it gets wet. Send them out energized for the first splash.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the 22-minute video before the meeting so it is ready to play. Read the four ‘watch for’ prompts aloud first so they watch actively. Pause on the key moments — tinning the tip, heat on the joint. Then go straight to the bench while energy is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docs.google.com/presentation/d/e/2PACX-1vTUkYUSnlNX0DtS4nAB3RZsjm6cOwrev0ykFjGyV230UJR-K2rig9RnkekGpZFCT4vMAffbjnvZvOyF/pub"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icPr>
            <a:picLocks noChangeAspect="1"/>
          </p:cNvPicPr>
          <p:nvPr/>
        </p:nvPicPr>
        <p:blipFill>
          <a:blip r:embed="rId1"/>
          <a:stretch>
            <a:fillRect/>
          </a:stretch>
        </p:blipFill>
        <p:spPr>
          <a:xfrm>
            <a:off x="5387188" y="749808"/>
            <a:ext cx="1417320" cy="1417320"/>
          </a:xfrm>
          <a:prstGeom prst="rect">
            <a:avLst/>
          </a:prstGeom>
        </p:spPr>
      </p:pic>
      <p:sp>
        <p:nvSpPr>
          <p:cNvPr id="3" name="Text 0"/>
          <p:cNvSpPr/>
          <p:nvPr/>
        </p:nvSpPr>
        <p:spPr>
          <a:xfrm>
            <a:off x="0" y="2505456"/>
            <a:ext cx="12191695" cy="329184"/>
          </a:xfrm>
          <a:prstGeom prst="rect">
            <a:avLst/>
          </a:prstGeom>
          <a:noFill/>
          <a:ln/>
        </p:spPr>
        <p:txBody>
          <a:bodyPr wrap="square" lIns="0" tIns="0" rIns="0" bIns="0" rtlCol="0" anchor="ctr"/>
          <a:lstStyle/>
          <a:p>
            <a:pPr algn="ctr" indent="0" marL="0">
              <a:buNone/>
            </a:pPr>
            <a:r>
              <a:rPr lang="en-US" sz="1300" b="1" spc="350" kern="0" dirty="0">
                <a:solidFill>
                  <a:srgbClr val="9FCEDA"/>
                </a:solidFill>
                <a:latin typeface="Helvetica Neue" pitchFamily="34" charset="0"/>
                <a:ea typeface="Helvetica Neue" pitchFamily="34" charset="-122"/>
                <a:cs typeface="Helvetica Neue" pitchFamily="34" charset="-120"/>
              </a:rPr>
              <a:t>PHASE 1 — FOUNDATION</a:t>
            </a:r>
            <a:endParaRPr lang="en-US" sz="1300" dirty="0"/>
          </a:p>
        </p:txBody>
      </p:sp>
      <p:sp>
        <p:nvSpPr>
          <p:cNvPr id="4" name="Text 1"/>
          <p:cNvSpPr/>
          <p:nvPr/>
        </p:nvSpPr>
        <p:spPr>
          <a:xfrm>
            <a:off x="0" y="2852928"/>
            <a:ext cx="12191695" cy="1005840"/>
          </a:xfrm>
          <a:prstGeom prst="rect">
            <a:avLst/>
          </a:prstGeom>
          <a:noFill/>
          <a:ln/>
        </p:spPr>
        <p:txBody>
          <a:bodyPr wrap="square" lIns="0" tIns="0" rIns="0" bIns="0" rtlCol="0" anchor="ctr"/>
          <a:lstStyle/>
          <a:p>
            <a:pPr algn="ctr" indent="0" marL="0">
              <a:buNone/>
            </a:pPr>
            <a:r>
              <a:rPr lang="en-US" sz="4200" b="1" dirty="0">
                <a:solidFill>
                  <a:srgbClr val="FFFFFF"/>
                </a:solidFill>
                <a:latin typeface="Helvetica Neue" pitchFamily="34" charset="0"/>
                <a:ea typeface="Helvetica Neue" pitchFamily="34" charset="-122"/>
                <a:cs typeface="Helvetica Neue" pitchFamily="34" charset="-120"/>
              </a:rPr>
              <a:t>Soldering Bootcamp</a:t>
            </a:r>
            <a:endParaRPr lang="en-US" sz="5600" dirty="0"/>
          </a:p>
        </p:txBody>
      </p:sp>
      <p:sp>
        <p:nvSpPr>
          <p:cNvPr id="5" name="Text 2"/>
          <p:cNvSpPr/>
          <p:nvPr/>
        </p:nvSpPr>
        <p:spPr>
          <a:xfrm>
            <a:off x="0" y="3877056"/>
            <a:ext cx="12191695" cy="548640"/>
          </a:xfrm>
          <a:prstGeom prst="rect">
            <a:avLst/>
          </a:prstGeom>
          <a:noFill/>
          <a:ln/>
        </p:spPr>
        <p:txBody>
          <a:bodyPr wrap="square" lIns="0" tIns="0" rIns="0" bIns="0" rtlCol="0" anchor="ctr"/>
          <a:lstStyle/>
          <a:p>
            <a:pPr algn="ctr" indent="0" marL="0">
              <a:buNone/>
            </a:pPr>
            <a:r>
              <a:rPr lang="en-US" sz="2300" dirty="0">
                <a:solidFill>
                  <a:srgbClr val="C9E3EA"/>
                </a:solidFill>
                <a:latin typeface="Helvetica Neue" pitchFamily="34" charset="0"/>
                <a:ea typeface="Helvetica Neue" pitchFamily="34" charset="-122"/>
                <a:cs typeface="Helvetica Neue" pitchFamily="34" charset="-120"/>
              </a:rPr>
              <a:t>Every kid solders something.</a:t>
            </a:r>
            <a:endParaRPr lang="en-US" sz="2300" dirty="0"/>
          </a:p>
        </p:txBody>
      </p:sp>
      <p:sp>
        <p:nvSpPr>
          <p:cNvPr id="6" name="Shape 3"/>
          <p:cNvSpPr/>
          <p:nvPr/>
        </p:nvSpPr>
        <p:spPr>
          <a:xfrm>
            <a:off x="5455768" y="4681728"/>
            <a:ext cx="1280160" cy="0"/>
          </a:xfrm>
          <a:prstGeom prst="line">
            <a:avLst/>
          </a:prstGeom>
          <a:noFill/>
          <a:ln w="12700">
            <a:solidFill>
              <a:srgbClr val="3E7E91"/>
            </a:solidFill>
            <a:prstDash val="solid"/>
          </a:ln>
        </p:spPr>
      </p:sp>
      <p:sp>
        <p:nvSpPr>
          <p:cNvPr id="7" name="Text 4"/>
          <p:cNvSpPr/>
          <p:nvPr/>
        </p:nvSpPr>
        <p:spPr>
          <a:xfrm>
            <a:off x="0" y="4901184"/>
            <a:ext cx="12191695" cy="329184"/>
          </a:xfrm>
          <a:prstGeom prst="rect">
            <a:avLst/>
          </a:prstGeom>
          <a:noFill/>
          <a:ln/>
        </p:spPr>
        <p:txBody>
          <a:bodyPr wrap="square" lIns="0" tIns="0" rIns="0" bIns="0" rtlCol="0" anchor="ctr"/>
          <a:lstStyle/>
          <a:p>
            <a:pPr algn="ctr" indent="0" marL="0">
              <a:buNone/>
            </a:pPr>
            <a:r>
              <a:rPr lang="en-US" sz="1300" spc="50" kern="0" dirty="0">
                <a:solidFill>
                  <a:srgbClr val="9FCEDA"/>
                </a:solidFill>
                <a:latin typeface="Helvetica Neue" pitchFamily="34" charset="0"/>
                <a:ea typeface="Helvetica Neue" pitchFamily="34" charset="-122"/>
                <a:cs typeface="Helvetica Neue" pitchFamily="34" charset="-120"/>
              </a:rPr>
              <a:t>Say Watt Robotics  ·  ROV Team      |      2026–2027 MATE ROV Season</a:t>
            </a:r>
            <a:endParaRPr lang="en-US" sz="1300" dirty="0"/>
          </a:p>
        </p:txBody>
      </p:sp>
      <p:sp>
        <p:nvSpPr>
          <p:cNvPr id="8" name="Text 5"/>
          <p:cNvSpPr/>
          <p:nvPr/>
        </p:nvSpPr>
        <p:spPr>
          <a:xfrm>
            <a:off x="0" y="5943600"/>
            <a:ext cx="12191695" cy="310896"/>
          </a:xfrm>
          <a:prstGeom prst="rect">
            <a:avLst/>
          </a:prstGeom>
          <a:noFill/>
          <a:ln/>
        </p:spPr>
        <p:txBody>
          <a:bodyPr wrap="square" lIns="0" tIns="0" rIns="0" bIns="0" rtlCol="0" anchor="ctr"/>
          <a:lstStyle/>
          <a:p>
            <a:pPr algn="ctr" indent="0" marL="0">
              <a:buNone/>
            </a:pPr>
            <a:r>
              <a:rPr lang="en-US" sz="950" spc="250" kern="0" dirty="0">
                <a:solidFill>
                  <a:srgbClr val="6BA0AF"/>
                </a:solidFill>
                <a:latin typeface="Helvetica Neue" pitchFamily="34" charset="0"/>
                <a:ea typeface="Helvetica Neue" pitchFamily="34" charset="-122"/>
                <a:cs typeface="Helvetica Neue" pitchFamily="34" charset="-120"/>
              </a:rPr>
              <a:t>CLASS 1.2   ·   ONE SESSION   ·   MADISON, ALABAMA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MEETING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Three hours, all hands on irons.</a:t>
            </a:r>
            <a:endParaRPr lang="en-US" sz="3000" dirty="0"/>
          </a:p>
        </p:txBody>
      </p:sp>
      <p:sp>
        <p:nvSpPr>
          <p:cNvPr id="4" name="Text 2"/>
          <p:cNvSpPr/>
          <p:nvPr/>
        </p:nvSpPr>
        <p:spPr>
          <a:xfrm>
            <a:off x="822960" y="184708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0:00</a:t>
            </a:r>
            <a:endParaRPr lang="en-US" sz="1700" dirty="0"/>
          </a:p>
        </p:txBody>
      </p:sp>
      <p:sp>
        <p:nvSpPr>
          <p:cNvPr id="5" name="Text 3"/>
          <p:cNvSpPr/>
          <p:nvPr/>
        </p:nvSpPr>
        <p:spPr>
          <a:xfrm>
            <a:off x="2148840" y="184708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Welcome &amp; Safety Brief</a:t>
            </a:r>
            <a:endParaRPr lang="en-US" sz="1600" dirty="0"/>
          </a:p>
        </p:txBody>
      </p:sp>
      <p:sp>
        <p:nvSpPr>
          <p:cNvPr id="6" name="Text 4"/>
          <p:cNvSpPr/>
          <p:nvPr/>
        </p:nvSpPr>
        <p:spPr>
          <a:xfrm>
            <a:off x="9601200" y="184708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7" name="Shape 5"/>
          <p:cNvSpPr/>
          <p:nvPr/>
        </p:nvSpPr>
        <p:spPr>
          <a:xfrm>
            <a:off x="822960" y="2400300"/>
            <a:ext cx="10545775" cy="0"/>
          </a:xfrm>
          <a:prstGeom prst="line">
            <a:avLst/>
          </a:prstGeom>
          <a:noFill/>
          <a:ln w="9525">
            <a:solidFill>
              <a:srgbClr val="E3E3E6"/>
            </a:solidFill>
            <a:prstDash val="solid"/>
          </a:ln>
        </p:spPr>
      </p:sp>
      <p:sp>
        <p:nvSpPr>
          <p:cNvPr id="8" name="Text 6"/>
          <p:cNvSpPr/>
          <p:nvPr/>
        </p:nvSpPr>
        <p:spPr>
          <a:xfrm>
            <a:off x="822960" y="240030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0:15</a:t>
            </a:r>
            <a:endParaRPr lang="en-US" sz="1700" dirty="0"/>
          </a:p>
        </p:txBody>
      </p:sp>
      <p:sp>
        <p:nvSpPr>
          <p:cNvPr id="9" name="Text 7"/>
          <p:cNvSpPr/>
          <p:nvPr/>
        </p:nvSpPr>
        <p:spPr>
          <a:xfrm>
            <a:off x="2148840" y="240030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Why Soldering Matters</a:t>
            </a:r>
            <a:endParaRPr lang="en-US" sz="1600" dirty="0"/>
          </a:p>
        </p:txBody>
      </p:sp>
      <p:sp>
        <p:nvSpPr>
          <p:cNvPr id="10" name="Text 8"/>
          <p:cNvSpPr/>
          <p:nvPr/>
        </p:nvSpPr>
        <p:spPr>
          <a:xfrm>
            <a:off x="9601200" y="240030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11" name="Shape 9"/>
          <p:cNvSpPr/>
          <p:nvPr/>
        </p:nvSpPr>
        <p:spPr>
          <a:xfrm>
            <a:off x="822960" y="2953512"/>
            <a:ext cx="10545775" cy="0"/>
          </a:xfrm>
          <a:prstGeom prst="line">
            <a:avLst/>
          </a:prstGeom>
          <a:noFill/>
          <a:ln w="9525">
            <a:solidFill>
              <a:srgbClr val="E3E3E6"/>
            </a:solidFill>
            <a:prstDash val="solid"/>
          </a:ln>
        </p:spPr>
      </p:sp>
      <p:sp>
        <p:nvSpPr>
          <p:cNvPr id="12" name="Text 10"/>
          <p:cNvSpPr/>
          <p:nvPr/>
        </p:nvSpPr>
        <p:spPr>
          <a:xfrm>
            <a:off x="822960" y="295351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0:30</a:t>
            </a:r>
            <a:endParaRPr lang="en-US" sz="1700" dirty="0"/>
          </a:p>
        </p:txBody>
      </p:sp>
      <p:sp>
        <p:nvSpPr>
          <p:cNvPr id="13" name="Text 11"/>
          <p:cNvSpPr/>
          <p:nvPr/>
        </p:nvSpPr>
        <p:spPr>
          <a:xfrm>
            <a:off x="2148840" y="295351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Recap &amp; the five moves</a:t>
            </a:r>
            <a:endParaRPr lang="en-US" sz="1600" dirty="0"/>
          </a:p>
        </p:txBody>
      </p:sp>
      <p:sp>
        <p:nvSpPr>
          <p:cNvPr id="14" name="Text 12"/>
          <p:cNvSpPr/>
          <p:nvPr/>
        </p:nvSpPr>
        <p:spPr>
          <a:xfrm>
            <a:off x="9601200" y="295351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25 min</a:t>
            </a:r>
            <a:endParaRPr lang="en-US" sz="1150" dirty="0"/>
          </a:p>
        </p:txBody>
      </p:sp>
      <p:sp>
        <p:nvSpPr>
          <p:cNvPr id="15" name="Shape 13"/>
          <p:cNvSpPr/>
          <p:nvPr/>
        </p:nvSpPr>
        <p:spPr>
          <a:xfrm>
            <a:off x="822960" y="3506724"/>
            <a:ext cx="10545775" cy="0"/>
          </a:xfrm>
          <a:prstGeom prst="line">
            <a:avLst/>
          </a:prstGeom>
          <a:noFill/>
          <a:ln w="9525">
            <a:solidFill>
              <a:srgbClr val="E3E3E6"/>
            </a:solidFill>
            <a:prstDash val="solid"/>
          </a:ln>
        </p:spPr>
      </p:sp>
      <p:sp>
        <p:nvSpPr>
          <p:cNvPr id="16" name="Text 14"/>
          <p:cNvSpPr/>
          <p:nvPr/>
        </p:nvSpPr>
        <p:spPr>
          <a:xfrm>
            <a:off x="822960" y="3506724"/>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0:55</a:t>
            </a:r>
            <a:endParaRPr lang="en-US" sz="1700" dirty="0"/>
          </a:p>
        </p:txBody>
      </p:sp>
      <p:sp>
        <p:nvSpPr>
          <p:cNvPr id="17" name="Text 15"/>
          <p:cNvSpPr/>
          <p:nvPr/>
        </p:nvSpPr>
        <p:spPr>
          <a:xfrm>
            <a:off x="2148840" y="3506724"/>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Hands-on practice joints</a:t>
            </a:r>
            <a:endParaRPr lang="en-US" sz="1600" dirty="0"/>
          </a:p>
        </p:txBody>
      </p:sp>
      <p:sp>
        <p:nvSpPr>
          <p:cNvPr id="18" name="Text 16"/>
          <p:cNvSpPr/>
          <p:nvPr/>
        </p:nvSpPr>
        <p:spPr>
          <a:xfrm>
            <a:off x="9601200" y="3506724"/>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60 min</a:t>
            </a:r>
            <a:endParaRPr lang="en-US" sz="1150" dirty="0"/>
          </a:p>
        </p:txBody>
      </p:sp>
      <p:sp>
        <p:nvSpPr>
          <p:cNvPr id="19" name="Shape 17"/>
          <p:cNvSpPr/>
          <p:nvPr/>
        </p:nvSpPr>
        <p:spPr>
          <a:xfrm>
            <a:off x="822960" y="4059936"/>
            <a:ext cx="10545775" cy="0"/>
          </a:xfrm>
          <a:prstGeom prst="line">
            <a:avLst/>
          </a:prstGeom>
          <a:noFill/>
          <a:ln w="9525">
            <a:solidFill>
              <a:srgbClr val="E3E3E6"/>
            </a:solidFill>
            <a:prstDash val="solid"/>
          </a:ln>
        </p:spPr>
      </p:sp>
      <p:sp>
        <p:nvSpPr>
          <p:cNvPr id="20" name="Text 18"/>
          <p:cNvSpPr/>
          <p:nvPr/>
        </p:nvSpPr>
        <p:spPr>
          <a:xfrm>
            <a:off x="822960" y="4059936"/>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1:55</a:t>
            </a:r>
            <a:endParaRPr lang="en-US" sz="1700" dirty="0"/>
          </a:p>
        </p:txBody>
      </p:sp>
      <p:sp>
        <p:nvSpPr>
          <p:cNvPr id="21" name="Text 19"/>
          <p:cNvSpPr/>
          <p:nvPr/>
        </p:nvSpPr>
        <p:spPr>
          <a:xfrm>
            <a:off x="2148840" y="4059936"/>
            <a:ext cx="7360920" cy="553212"/>
          </a:xfrm>
          <a:prstGeom prst="rect">
            <a:avLst/>
          </a:prstGeom>
          <a:noFill/>
          <a:ln/>
        </p:spPr>
        <p:txBody>
          <a:bodyPr wrap="square" lIns="0" tIns="0" rIns="0" bIns="0" rtlCol="0" anchor="ctr"/>
          <a:lstStyle/>
          <a:p>
            <a:pPr indent="0" marL="0">
              <a:buNone/>
            </a:pPr>
            <a:r>
              <a:rPr lang="en-US" sz="1600" i="1" dirty="0">
                <a:solidFill>
                  <a:srgbClr val="86868B"/>
                </a:solidFill>
                <a:latin typeface="Helvetica Neue" pitchFamily="34" charset="0"/>
                <a:ea typeface="Helvetica Neue" pitchFamily="34" charset="-122"/>
                <a:cs typeface="Helvetica Neue" pitchFamily="34" charset="-120"/>
              </a:rPr>
              <a:t>Break</a:t>
            </a:r>
            <a:endParaRPr lang="en-US" sz="1600" dirty="0"/>
          </a:p>
        </p:txBody>
      </p:sp>
      <p:sp>
        <p:nvSpPr>
          <p:cNvPr id="22" name="Text 20"/>
          <p:cNvSpPr/>
          <p:nvPr/>
        </p:nvSpPr>
        <p:spPr>
          <a:xfrm>
            <a:off x="9601200" y="4059936"/>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23" name="Shape 21"/>
          <p:cNvSpPr/>
          <p:nvPr/>
        </p:nvSpPr>
        <p:spPr>
          <a:xfrm>
            <a:off x="822960" y="4613148"/>
            <a:ext cx="10545775" cy="0"/>
          </a:xfrm>
          <a:prstGeom prst="line">
            <a:avLst/>
          </a:prstGeom>
          <a:noFill/>
          <a:ln w="9525">
            <a:solidFill>
              <a:srgbClr val="E3E3E6"/>
            </a:solidFill>
            <a:prstDash val="solid"/>
          </a:ln>
        </p:spPr>
      </p:sp>
      <p:sp>
        <p:nvSpPr>
          <p:cNvPr id="24" name="Text 22"/>
          <p:cNvSpPr/>
          <p:nvPr/>
        </p:nvSpPr>
        <p:spPr>
          <a:xfrm>
            <a:off x="822960" y="461314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2:05</a:t>
            </a:r>
            <a:endParaRPr lang="en-US" sz="1700" dirty="0"/>
          </a:p>
        </p:txBody>
      </p:sp>
      <p:sp>
        <p:nvSpPr>
          <p:cNvPr id="25" name="Text 23"/>
          <p:cNvSpPr/>
          <p:nvPr/>
        </p:nvSpPr>
        <p:spPr>
          <a:xfrm>
            <a:off x="2148840" y="461314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Practice — every kid steady</a:t>
            </a:r>
            <a:endParaRPr lang="en-US" sz="1600" dirty="0"/>
          </a:p>
        </p:txBody>
      </p:sp>
      <p:sp>
        <p:nvSpPr>
          <p:cNvPr id="26" name="Text 24"/>
          <p:cNvSpPr/>
          <p:nvPr/>
        </p:nvSpPr>
        <p:spPr>
          <a:xfrm>
            <a:off x="9601200" y="461314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30 min</a:t>
            </a:r>
            <a:endParaRPr lang="en-US" sz="1150" dirty="0"/>
          </a:p>
        </p:txBody>
      </p:sp>
      <p:sp>
        <p:nvSpPr>
          <p:cNvPr id="27" name="Shape 25"/>
          <p:cNvSpPr/>
          <p:nvPr/>
        </p:nvSpPr>
        <p:spPr>
          <a:xfrm>
            <a:off x="822960" y="5166360"/>
            <a:ext cx="10545775" cy="0"/>
          </a:xfrm>
          <a:prstGeom prst="line">
            <a:avLst/>
          </a:prstGeom>
          <a:noFill/>
          <a:ln w="9525">
            <a:solidFill>
              <a:srgbClr val="E3E3E6"/>
            </a:solidFill>
            <a:prstDash val="solid"/>
          </a:ln>
        </p:spPr>
      </p:sp>
      <p:sp>
        <p:nvSpPr>
          <p:cNvPr id="28" name="Text 26"/>
          <p:cNvSpPr/>
          <p:nvPr/>
        </p:nvSpPr>
        <p:spPr>
          <a:xfrm>
            <a:off x="822960" y="516636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2:35</a:t>
            </a:r>
            <a:endParaRPr lang="en-US" sz="1700" dirty="0"/>
          </a:p>
        </p:txBody>
      </p:sp>
      <p:sp>
        <p:nvSpPr>
          <p:cNvPr id="29" name="Text 27"/>
          <p:cNvSpPr/>
          <p:nvPr/>
        </p:nvSpPr>
        <p:spPr>
          <a:xfrm>
            <a:off x="2148840" y="516636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Inspect &amp; certify joints</a:t>
            </a:r>
            <a:endParaRPr lang="en-US" sz="1600" dirty="0"/>
          </a:p>
        </p:txBody>
      </p:sp>
      <p:sp>
        <p:nvSpPr>
          <p:cNvPr id="30" name="Text 28"/>
          <p:cNvSpPr/>
          <p:nvPr/>
        </p:nvSpPr>
        <p:spPr>
          <a:xfrm>
            <a:off x="9601200" y="516636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31" name="Shape 29"/>
          <p:cNvSpPr/>
          <p:nvPr/>
        </p:nvSpPr>
        <p:spPr>
          <a:xfrm>
            <a:off x="822960" y="5719572"/>
            <a:ext cx="10545775" cy="0"/>
          </a:xfrm>
          <a:prstGeom prst="line">
            <a:avLst/>
          </a:prstGeom>
          <a:noFill/>
          <a:ln w="9525">
            <a:solidFill>
              <a:srgbClr val="E3E3E6"/>
            </a:solidFill>
            <a:prstDash val="solid"/>
          </a:ln>
        </p:spPr>
      </p:sp>
      <p:sp>
        <p:nvSpPr>
          <p:cNvPr id="32" name="Text 30"/>
          <p:cNvSpPr/>
          <p:nvPr/>
        </p:nvSpPr>
        <p:spPr>
          <a:xfrm>
            <a:off x="822960" y="571957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2:50</a:t>
            </a:r>
            <a:endParaRPr lang="en-US" sz="1700" dirty="0"/>
          </a:p>
        </p:txBody>
      </p:sp>
      <p:sp>
        <p:nvSpPr>
          <p:cNvPr id="33" name="Text 31"/>
          <p:cNvSpPr/>
          <p:nvPr/>
        </p:nvSpPr>
        <p:spPr>
          <a:xfrm>
            <a:off x="2148840" y="571957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Wrap-up &amp; homework</a:t>
            </a:r>
            <a:endParaRPr lang="en-US" sz="1600" dirty="0"/>
          </a:p>
        </p:txBody>
      </p:sp>
      <p:sp>
        <p:nvSpPr>
          <p:cNvPr id="34" name="Text 32"/>
          <p:cNvSpPr/>
          <p:nvPr/>
        </p:nvSpPr>
        <p:spPr>
          <a:xfrm>
            <a:off x="9601200" y="571957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35" name="Text 33"/>
          <p:cNvSpPr/>
          <p:nvPr/>
        </p:nvSpPr>
        <p:spPr>
          <a:xfrm>
            <a:off x="822960" y="6327648"/>
            <a:ext cx="10545775" cy="0"/>
          </a:xfrm>
          <a:prstGeom prst="rect">
            <a:avLst/>
          </a:prstGeom>
          <a:noFill/>
          <a:ln/>
        </p:spPr>
        <p:txBody>
          <a:bodyPr wrap="square" lIns="0" tIns="0" rIns="0" bIns="0" rtlCol="0" anchor="ctr"/>
          <a:lstStyle/>
          <a:p>
            <a:pPr indent="0" marL="0">
              <a:buNone/>
            </a:pPr>
            <a:r>
              <a:rPr lang="en-US" sz="10" dirty="0">
                <a:solidFill>
                  <a:srgbClr val="FFFFFF"/>
                </a:solidFill>
                <a:latin typeface="Helvetica Neue" pitchFamily="34" charset="0"/>
                <a:ea typeface="Helvetica Neue" pitchFamily="34" charset="-122"/>
                <a:cs typeface="Helvetica Neue" pitchFamily="34" charset="-120"/>
              </a:rPr>
              <a:t>We run on time. Every block has a clock, and we hold to it — that habit is part of the engineering.</a:t>
            </a:r>
            <a:endParaRPr lang="en-US" sz="10" dirty="0"/>
          </a:p>
        </p:txBody>
      </p:sp>
      <p:sp>
        <p:nvSpPr>
          <p:cNvPr id="36" name="Shape 34"/>
          <p:cNvSpPr/>
          <p:nvPr/>
        </p:nvSpPr>
        <p:spPr>
          <a:xfrm>
            <a:off x="822960" y="6437376"/>
            <a:ext cx="10545775" cy="0"/>
          </a:xfrm>
          <a:prstGeom prst="line">
            <a:avLst/>
          </a:prstGeom>
          <a:noFill/>
          <a:ln w="9525">
            <a:solidFill>
              <a:srgbClr val="E3E3E6"/>
            </a:solidFill>
            <a:prstDash val="solid"/>
          </a:ln>
        </p:spPr>
      </p:sp>
      <p:sp>
        <p:nvSpPr>
          <p:cNvPr id="37" name="Text 3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8" name="Text 3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2 / 16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01</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01</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Welcome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Safety Brief</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0:00 – 0:15   ·   15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Every meeting we ever hold will begin in exactly this place.</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3 / 16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STANDING RITUAL</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Every meeting opens with a safety brief.</a:t>
            </a:r>
            <a:endParaRPr lang="en-US" sz="3000" dirty="0"/>
          </a:p>
        </p:txBody>
      </p:sp>
      <p:sp>
        <p:nvSpPr>
          <p:cNvPr id="4" name="Text 2"/>
          <p:cNvSpPr/>
          <p:nvPr/>
        </p:nvSpPr>
        <p:spPr>
          <a:xfrm>
            <a:off x="822960" y="1783080"/>
            <a:ext cx="4754880" cy="329184"/>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Why we do this</a:t>
            </a:r>
            <a:endParaRPr lang="en-US" sz="1500" dirty="0"/>
          </a:p>
        </p:txBody>
      </p:sp>
      <p:sp>
        <p:nvSpPr>
          <p:cNvPr id="5" name="Text 3"/>
          <p:cNvSpPr/>
          <p:nvPr/>
        </p:nvSpPr>
        <p:spPr>
          <a:xfrm>
            <a:off x="822960" y="2157984"/>
            <a:ext cx="4800600" cy="2377440"/>
          </a:xfrm>
          <a:prstGeom prst="rect">
            <a:avLst/>
          </a:prstGeom>
          <a:noFill/>
          <a:ln/>
        </p:spPr>
        <p:txBody>
          <a:bodyPr wrap="square" lIns="0" tIns="0" rIns="0" bIns="0" rtlCol="0" anchor="ctr"/>
          <a:lstStyle/>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Real engineering and dive teams brief safety before every job — not because something went wrong, but so it never does. We adopt the same habit on day one. Sixty seconds, every meeting, no exceptions.</a:t>
            </a:r>
            <a:endParaRPr lang="en-US" sz="1350" dirty="0"/>
          </a:p>
          <a:p>
            <a:pPr indent="0" marL="0">
              <a:lnSpc>
                <a:spcPts val="2000"/>
              </a:lnSpc>
              <a:buNone/>
            </a:pPr>
            <a:endParaRPr lang="en-US" sz="1350" dirty="0"/>
          </a:p>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Each brief answers the same four questions, so the team always knows what to expect.</a:t>
            </a:r>
            <a:endParaRPr lang="en-US" sz="1350" dirty="0"/>
          </a:p>
        </p:txBody>
      </p:sp>
      <p:sp>
        <p:nvSpPr>
          <p:cNvPr id="6" name="Shape 4"/>
          <p:cNvSpPr/>
          <p:nvPr/>
        </p:nvSpPr>
        <p:spPr>
          <a:xfrm>
            <a:off x="822960" y="4334256"/>
            <a:ext cx="310896" cy="310896"/>
          </a:xfrm>
          <a:prstGeom prst="ellipse">
            <a:avLst/>
          </a:prstGeom>
          <a:solidFill>
            <a:srgbClr val="EAF2F4"/>
          </a:solidFill>
          <a:ln/>
        </p:spPr>
      </p:sp>
      <p:sp>
        <p:nvSpPr>
          <p:cNvPr id="7" name="Text 5"/>
          <p:cNvSpPr/>
          <p:nvPr/>
        </p:nvSpPr>
        <p:spPr>
          <a:xfrm>
            <a:off x="822960" y="4334256"/>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1</a:t>
            </a:r>
            <a:endParaRPr lang="en-US" sz="952" dirty="0"/>
          </a:p>
        </p:txBody>
      </p:sp>
      <p:sp>
        <p:nvSpPr>
          <p:cNvPr id="8" name="Text 6"/>
          <p:cNvSpPr/>
          <p:nvPr/>
        </p:nvSpPr>
        <p:spPr>
          <a:xfrm>
            <a:off x="1280160" y="4297680"/>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are we doing today?</a:t>
            </a:r>
            <a:endParaRPr lang="en-US" sz="1250" dirty="0"/>
          </a:p>
        </p:txBody>
      </p:sp>
      <p:sp>
        <p:nvSpPr>
          <p:cNvPr id="9" name="Shape 7"/>
          <p:cNvSpPr/>
          <p:nvPr/>
        </p:nvSpPr>
        <p:spPr>
          <a:xfrm>
            <a:off x="822960" y="4754880"/>
            <a:ext cx="310896" cy="310896"/>
          </a:xfrm>
          <a:prstGeom prst="ellipse">
            <a:avLst/>
          </a:prstGeom>
          <a:solidFill>
            <a:srgbClr val="EAF2F4"/>
          </a:solidFill>
          <a:ln/>
        </p:spPr>
      </p:sp>
      <p:sp>
        <p:nvSpPr>
          <p:cNvPr id="10" name="Text 8"/>
          <p:cNvSpPr/>
          <p:nvPr/>
        </p:nvSpPr>
        <p:spPr>
          <a:xfrm>
            <a:off x="822960" y="4754880"/>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2</a:t>
            </a:r>
            <a:endParaRPr lang="en-US" sz="952" dirty="0"/>
          </a:p>
        </p:txBody>
      </p:sp>
      <p:sp>
        <p:nvSpPr>
          <p:cNvPr id="11" name="Text 9"/>
          <p:cNvSpPr/>
          <p:nvPr/>
        </p:nvSpPr>
        <p:spPr>
          <a:xfrm>
            <a:off x="1280160" y="4718304"/>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could hurt someone?</a:t>
            </a:r>
            <a:endParaRPr lang="en-US" sz="1250" dirty="0"/>
          </a:p>
        </p:txBody>
      </p:sp>
      <p:sp>
        <p:nvSpPr>
          <p:cNvPr id="12" name="Shape 10"/>
          <p:cNvSpPr/>
          <p:nvPr/>
        </p:nvSpPr>
        <p:spPr>
          <a:xfrm>
            <a:off x="822960" y="5175504"/>
            <a:ext cx="310896" cy="310896"/>
          </a:xfrm>
          <a:prstGeom prst="ellipse">
            <a:avLst/>
          </a:prstGeom>
          <a:solidFill>
            <a:srgbClr val="EAF2F4"/>
          </a:solidFill>
          <a:ln/>
        </p:spPr>
      </p:sp>
      <p:sp>
        <p:nvSpPr>
          <p:cNvPr id="13" name="Text 11"/>
          <p:cNvSpPr/>
          <p:nvPr/>
        </p:nvSpPr>
        <p:spPr>
          <a:xfrm>
            <a:off x="822960" y="5175504"/>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3</a:t>
            </a:r>
            <a:endParaRPr lang="en-US" sz="952" dirty="0"/>
          </a:p>
        </p:txBody>
      </p:sp>
      <p:sp>
        <p:nvSpPr>
          <p:cNvPr id="14" name="Text 12"/>
          <p:cNvSpPr/>
          <p:nvPr/>
        </p:nvSpPr>
        <p:spPr>
          <a:xfrm>
            <a:off x="1280160" y="5138928"/>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How do we prevent it?</a:t>
            </a:r>
            <a:endParaRPr lang="en-US" sz="1250" dirty="0"/>
          </a:p>
        </p:txBody>
      </p:sp>
      <p:sp>
        <p:nvSpPr>
          <p:cNvPr id="15" name="Shape 13"/>
          <p:cNvSpPr/>
          <p:nvPr/>
        </p:nvSpPr>
        <p:spPr>
          <a:xfrm>
            <a:off x="822960" y="5596128"/>
            <a:ext cx="310896" cy="310896"/>
          </a:xfrm>
          <a:prstGeom prst="ellipse">
            <a:avLst/>
          </a:prstGeom>
          <a:solidFill>
            <a:srgbClr val="EAF2F4"/>
          </a:solidFill>
          <a:ln/>
        </p:spPr>
      </p:sp>
      <p:sp>
        <p:nvSpPr>
          <p:cNvPr id="16" name="Text 14"/>
          <p:cNvSpPr/>
          <p:nvPr/>
        </p:nvSpPr>
        <p:spPr>
          <a:xfrm>
            <a:off x="822960" y="5596128"/>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4</a:t>
            </a:r>
            <a:endParaRPr lang="en-US" sz="952" dirty="0"/>
          </a:p>
        </p:txBody>
      </p:sp>
      <p:sp>
        <p:nvSpPr>
          <p:cNvPr id="17" name="Text 15"/>
          <p:cNvSpPr/>
          <p:nvPr/>
        </p:nvSpPr>
        <p:spPr>
          <a:xfrm>
            <a:off x="1280160" y="5559552"/>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Who do we tell if something happens?</a:t>
            </a:r>
            <a:endParaRPr lang="en-US" sz="1250" dirty="0"/>
          </a:p>
        </p:txBody>
      </p:sp>
      <p:sp>
        <p:nvSpPr>
          <p:cNvPr id="18" name="Shape 16"/>
          <p:cNvSpPr/>
          <p:nvPr/>
        </p:nvSpPr>
        <p:spPr>
          <a:xfrm>
            <a:off x="5989320" y="1783080"/>
            <a:ext cx="5376672" cy="4370832"/>
          </a:xfrm>
          <a:prstGeom prst="roundRect">
            <a:avLst>
              <a:gd name="adj" fmla="val 2301"/>
            </a:avLst>
          </a:prstGeom>
          <a:solidFill>
            <a:srgbClr val="EAF2F4"/>
          </a:solidFill>
          <a:ln w="12700">
            <a:solidFill>
              <a:srgbClr val="EAF2F4"/>
            </a:solidFill>
            <a:prstDash val="solid"/>
          </a:ln>
        </p:spPr>
      </p:sp>
      <p:sp>
        <p:nvSpPr>
          <p:cNvPr id="19" name="Shape 17"/>
          <p:cNvSpPr/>
          <p:nvPr/>
        </p:nvSpPr>
        <p:spPr>
          <a:xfrm>
            <a:off x="5989320" y="1783080"/>
            <a:ext cx="5376672" cy="566928"/>
          </a:xfrm>
          <a:prstGeom prst="rect">
            <a:avLst/>
          </a:prstGeom>
          <a:solidFill>
            <a:srgbClr val="0D7490"/>
          </a:solidFill>
          <a:ln/>
        </p:spPr>
      </p:sp>
      <p:sp>
        <p:nvSpPr>
          <p:cNvPr id="20" name="Text 18"/>
          <p:cNvSpPr/>
          <p:nvPr/>
        </p:nvSpPr>
        <p:spPr>
          <a:xfrm>
            <a:off x="5989320" y="1783080"/>
            <a:ext cx="5376672" cy="56692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Helvetica Neue" pitchFamily="34" charset="0"/>
                <a:ea typeface="Helvetica Neue" pitchFamily="34" charset="-122"/>
                <a:cs typeface="Helvetica Neue" pitchFamily="34" charset="-120"/>
              </a:rPr>
              <a:t>TODAY'S BRIEF  ·  CLASS 1.2</a:t>
            </a:r>
            <a:endParaRPr lang="en-US" sz="1200" dirty="0"/>
          </a:p>
        </p:txBody>
      </p:sp>
      <p:sp>
        <p:nvSpPr>
          <p:cNvPr id="21" name="Text 19"/>
          <p:cNvSpPr/>
          <p:nvPr/>
        </p:nvSpPr>
        <p:spPr>
          <a:xfrm>
            <a:off x="6355080" y="257860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WORK</a:t>
            </a:r>
            <a:endParaRPr lang="en-US" sz="1000" dirty="0"/>
          </a:p>
        </p:txBody>
      </p:sp>
      <p:sp>
        <p:nvSpPr>
          <p:cNvPr id="22" name="Text 20"/>
          <p:cNvSpPr/>
          <p:nvPr/>
        </p:nvSpPr>
        <p:spPr>
          <a:xfrm>
            <a:off x="6355080" y="282549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First solder joints, the kit unboxing, and the first real electronics on the robot.</a:t>
            </a:r>
            <a:endParaRPr lang="en-US" sz="1150" dirty="0"/>
          </a:p>
        </p:txBody>
      </p:sp>
      <p:sp>
        <p:nvSpPr>
          <p:cNvPr id="23" name="Text 21"/>
          <p:cNvSpPr/>
          <p:nvPr/>
        </p:nvSpPr>
        <p:spPr>
          <a:xfrm>
            <a:off x="6355080" y="328726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HAZARDS</a:t>
            </a:r>
            <a:endParaRPr lang="en-US" sz="1000" dirty="0"/>
          </a:p>
        </p:txBody>
      </p:sp>
      <p:sp>
        <p:nvSpPr>
          <p:cNvPr id="24" name="Text 22"/>
          <p:cNvSpPr/>
          <p:nvPr/>
        </p:nvSpPr>
        <p:spPr>
          <a:xfrm>
            <a:off x="6355080" y="353415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Soldering irons at roughly 700°F. Burns, lead and flux fumes, and hot solder spatter.</a:t>
            </a:r>
            <a:endParaRPr lang="en-US" sz="1150" dirty="0"/>
          </a:p>
        </p:txBody>
      </p:sp>
      <p:sp>
        <p:nvSpPr>
          <p:cNvPr id="25" name="Text 23"/>
          <p:cNvSpPr/>
          <p:nvPr/>
        </p:nvSpPr>
        <p:spPr>
          <a:xfrm>
            <a:off x="6355080" y="399592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PREVENTION</a:t>
            </a:r>
            <a:endParaRPr lang="en-US" sz="1000" dirty="0"/>
          </a:p>
        </p:txBody>
      </p:sp>
      <p:sp>
        <p:nvSpPr>
          <p:cNvPr id="26" name="Text 24"/>
          <p:cNvSpPr/>
          <p:nvPr/>
        </p:nvSpPr>
        <p:spPr>
          <a:xfrm>
            <a:off x="6355080" y="424281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Irons in their stands, never on the bench. Fume fan on. Safety glasses down, hair tied back. Wash hands after handling solder.</a:t>
            </a:r>
            <a:endParaRPr lang="en-US" sz="1150" dirty="0"/>
          </a:p>
        </p:txBody>
      </p:sp>
      <p:sp>
        <p:nvSpPr>
          <p:cNvPr id="27" name="Text 25"/>
          <p:cNvSpPr/>
          <p:nvPr/>
        </p:nvSpPr>
        <p:spPr>
          <a:xfrm>
            <a:off x="6355080" y="470458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IF SOMETHING HAPPENS</a:t>
            </a:r>
            <a:endParaRPr lang="en-US" sz="1000" dirty="0"/>
          </a:p>
        </p:txBody>
      </p:sp>
      <p:sp>
        <p:nvSpPr>
          <p:cNvPr id="28" name="Text 26"/>
          <p:cNvSpPr/>
          <p:nvPr/>
        </p:nvSpPr>
        <p:spPr>
          <a:xfrm>
            <a:off x="6355080" y="495147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Cool a burn under running water, tell the advisor, and log it. Every burn gets reported — even a small one.</a:t>
            </a:r>
            <a:endParaRPr lang="en-US" sz="1150" dirty="0"/>
          </a:p>
        </p:txBody>
      </p:sp>
      <p:sp>
        <p:nvSpPr>
          <p:cNvPr id="29" name="Text 27"/>
          <p:cNvSpPr/>
          <p:nvPr/>
        </p:nvSpPr>
        <p:spPr>
          <a:xfrm>
            <a:off x="6355080" y="541324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LOOKING AHEAD</a:t>
            </a:r>
            <a:endParaRPr lang="en-US" sz="1000" dirty="0"/>
          </a:p>
        </p:txBody>
      </p:sp>
      <p:sp>
        <p:nvSpPr>
          <p:cNvPr id="30" name="Text 28"/>
          <p:cNvSpPr/>
          <p:nvPr/>
        </p:nvSpPr>
        <p:spPr>
          <a:xfrm>
            <a:off x="6355080" y="566013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Class 1.3 — the kit comes out of the box and takes its first electronics.</a:t>
            </a:r>
            <a:endParaRPr lang="en-US" sz="1150" dirty="0"/>
          </a:p>
        </p:txBody>
      </p:sp>
      <p:sp>
        <p:nvSpPr>
          <p:cNvPr id="31" name="Shape 29"/>
          <p:cNvSpPr/>
          <p:nvPr/>
        </p:nvSpPr>
        <p:spPr>
          <a:xfrm>
            <a:off x="822960" y="6437376"/>
            <a:ext cx="10545775" cy="0"/>
          </a:xfrm>
          <a:prstGeom prst="line">
            <a:avLst/>
          </a:prstGeom>
          <a:noFill/>
          <a:ln w="9525">
            <a:solidFill>
              <a:srgbClr val="E3E3E6"/>
            </a:solidFill>
            <a:prstDash val="solid"/>
          </a:ln>
        </p:spPr>
      </p:sp>
      <p:sp>
        <p:nvSpPr>
          <p:cNvPr id="32" name="Text 3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3" name="Text 3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4 / 16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02</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02</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Why We</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Solder</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0:15 – 0:30   ·   15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Before anyone touches the kit, everyone understands why a good joint matters.</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5 / 16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WHY WE SOLDER</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A robot is only as good as its weakest joint.</a:t>
            </a:r>
            <a:endParaRPr lang="en-US" sz="3000" dirty="0"/>
          </a:p>
        </p:txBody>
      </p:sp>
      <p:sp>
        <p:nvSpPr>
          <p:cNvPr id="4" name="Text 2"/>
          <p:cNvSpPr/>
          <p:nvPr/>
        </p:nvSpPr>
        <p:spPr>
          <a:xfrm>
            <a:off x="822960" y="1828800"/>
            <a:ext cx="5669280" cy="173736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Soldering fuses two wires into one connection that holds — electrically and mechanically. Every thruster, sensor, and camera on our ROV reaches the control box through a joint someone made by hand.</a:t>
            </a:r>
            <a:endParaRPr lang="en-US" sz="1500" dirty="0"/>
          </a:p>
        </p:txBody>
      </p:sp>
      <p:sp>
        <p:nvSpPr>
          <p:cNvPr id="5" name="Text 3"/>
          <p:cNvSpPr/>
          <p:nvPr/>
        </p:nvSpPr>
        <p:spPr>
          <a:xfrm>
            <a:off x="822960" y="3611880"/>
            <a:ext cx="5669280" cy="155448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A good joint is shiny, solid, and stronger than the wire around it. A bad one — cold, dull, or barely touching — works on the bench, then fails in the water, mid-mission, where we cannot reach it.</a:t>
            </a:r>
            <a:endParaRPr lang="en-US" sz="1500" dirty="0"/>
          </a:p>
        </p:txBody>
      </p:sp>
      <p:sp>
        <p:nvSpPr>
          <p:cNvPr id="6" name="Text 4"/>
          <p:cNvSpPr/>
          <p:nvPr/>
        </p:nvSpPr>
        <p:spPr>
          <a:xfrm>
            <a:off x="822960" y="5212080"/>
            <a:ext cx="5669280" cy="640080"/>
          </a:xfrm>
          <a:prstGeom prst="rect">
            <a:avLst/>
          </a:prstGeom>
          <a:noFill/>
          <a:ln/>
        </p:spPr>
        <p:txBody>
          <a:bodyPr wrap="square" lIns="0" tIns="0" rIns="0" bIns="0" rtlCol="0" anchor="ctr"/>
          <a:lstStyle/>
          <a:p>
            <a:pPr indent="0" marL="0">
              <a:lnSpc>
                <a:spcPts val="2000"/>
              </a:lnSpc>
              <a:buNone/>
            </a:pPr>
            <a:r>
              <a:rPr lang="en-US" sz="1400" b="1" dirty="0">
                <a:solidFill>
                  <a:srgbClr val="1D1D1F"/>
                </a:solidFill>
                <a:latin typeface="Helvetica Neue" pitchFamily="34" charset="0"/>
                <a:ea typeface="Helvetica Neue" pitchFamily="34" charset="-122"/>
                <a:cs typeface="Helvetica Neue" pitchFamily="34" charset="-120"/>
              </a:rPr>
              <a:t>This is the first real engineering skill of the season. Today, every kid earns it.</a:t>
            </a:r>
            <a:endParaRPr lang="en-US" sz="1400" dirty="0"/>
          </a:p>
        </p:txBody>
      </p:sp>
      <p:sp>
        <p:nvSpPr>
          <p:cNvPr id="7" name="Shape 5"/>
          <p:cNvSpPr/>
          <p:nvPr/>
        </p:nvSpPr>
        <p:spPr>
          <a:xfrm>
            <a:off x="6858000" y="1828800"/>
            <a:ext cx="4507992" cy="4160520"/>
          </a:xfrm>
          <a:prstGeom prst="roundRect">
            <a:avLst>
              <a:gd name="adj" fmla="val 2418"/>
            </a:avLst>
          </a:prstGeom>
          <a:solidFill>
            <a:srgbClr val="095D75"/>
          </a:solidFill>
          <a:ln w="12700">
            <a:solidFill>
              <a:srgbClr val="095D75"/>
            </a:solidFill>
            <a:prstDash val="solid"/>
          </a:ln>
        </p:spPr>
      </p:sp>
      <p:sp>
        <p:nvSpPr>
          <p:cNvPr id="8" name="Text 6"/>
          <p:cNvSpPr/>
          <p:nvPr/>
        </p:nvSpPr>
        <p:spPr>
          <a:xfrm>
            <a:off x="7223760" y="2212848"/>
            <a:ext cx="3840480"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THE STANDARD</a:t>
            </a:r>
            <a:endParaRPr lang="en-US" sz="1050" dirty="0"/>
          </a:p>
        </p:txBody>
      </p:sp>
      <p:sp>
        <p:nvSpPr>
          <p:cNvPr id="9" name="Text 7"/>
          <p:cNvSpPr/>
          <p:nvPr/>
        </p:nvSpPr>
        <p:spPr>
          <a:xfrm>
            <a:off x="7223760" y="2578608"/>
            <a:ext cx="3794760" cy="2103120"/>
          </a:xfrm>
          <a:prstGeom prst="rect">
            <a:avLst/>
          </a:prstGeom>
          <a:noFill/>
          <a:ln/>
        </p:spPr>
        <p:txBody>
          <a:bodyPr wrap="square" lIns="0" tIns="0" rIns="0" bIns="0" rtlCol="0" anchor="ctr"/>
          <a:lstStyle/>
          <a:p>
            <a:pPr indent="0" marL="0">
              <a:lnSpc>
                <a:spcPts val="2700"/>
              </a:lnSpc>
              <a:buNone/>
            </a:pPr>
            <a:r>
              <a:rPr lang="en-US" sz="2100" b="1" dirty="0">
                <a:solidFill>
                  <a:srgbClr val="FFFFFF"/>
                </a:solidFill>
                <a:latin typeface="Helvetica Neue" pitchFamily="34" charset="0"/>
                <a:ea typeface="Helvetica Neue" pitchFamily="34" charset="-122"/>
                <a:cs typeface="Helvetica Neue" pitchFamily="34" charset="-120"/>
              </a:rPr>
              <a:t>Shiny, solid, and built to last the season.</a:t>
            </a:r>
            <a:endParaRPr lang="en-US" sz="2100" dirty="0"/>
          </a:p>
        </p:txBody>
      </p:sp>
      <p:sp>
        <p:nvSpPr>
          <p:cNvPr id="10" name="Shape 8"/>
          <p:cNvSpPr/>
          <p:nvPr/>
        </p:nvSpPr>
        <p:spPr>
          <a:xfrm>
            <a:off x="7223760" y="4617720"/>
            <a:ext cx="3776472" cy="0"/>
          </a:xfrm>
          <a:prstGeom prst="line">
            <a:avLst/>
          </a:prstGeom>
          <a:noFill/>
          <a:ln w="12700">
            <a:solidFill>
              <a:srgbClr val="3E7E91"/>
            </a:solidFill>
            <a:prstDash val="solid"/>
          </a:ln>
        </p:spPr>
      </p:sp>
      <p:sp>
        <p:nvSpPr>
          <p:cNvPr id="11" name="Text 9"/>
          <p:cNvSpPr/>
          <p:nvPr/>
        </p:nvSpPr>
        <p:spPr>
          <a:xfrm>
            <a:off x="7223760" y="4800600"/>
            <a:ext cx="3794760" cy="292608"/>
          </a:xfrm>
          <a:prstGeom prst="rect">
            <a:avLst/>
          </a:prstGeom>
          <a:noFill/>
          <a:ln/>
        </p:spPr>
        <p:txBody>
          <a:bodyPr wrap="square" lIns="0" tIns="0" rIns="0" bIns="0" rtlCol="0" anchor="ctr"/>
          <a:lstStyle/>
          <a:p>
            <a:pPr indent="0" marL="0">
              <a:buNone/>
            </a:pPr>
            <a:r>
              <a:rPr lang="en-US" sz="1200" dirty="0">
                <a:solidFill>
                  <a:srgbClr val="9FCEDA"/>
                </a:solidFill>
                <a:latin typeface="Helvetica Neue" pitchFamily="34" charset="0"/>
                <a:ea typeface="Helvetica Neue" pitchFamily="34" charset="-122"/>
                <a:cs typeface="Helvetica Neue" pitchFamily="34" charset="-120"/>
              </a:rPr>
              <a:t>A joint you would trust at 2.5 m</a:t>
            </a:r>
            <a:endParaRPr lang="en-US" sz="1200" dirty="0"/>
          </a:p>
        </p:txBody>
      </p:sp>
      <p:sp>
        <p:nvSpPr>
          <p:cNvPr id="12" name="Text 10"/>
          <p:cNvSpPr/>
          <p:nvPr/>
        </p:nvSpPr>
        <p:spPr>
          <a:xfrm>
            <a:off x="7223760" y="5084064"/>
            <a:ext cx="3794760" cy="731520"/>
          </a:xfrm>
          <a:prstGeom prst="rect">
            <a:avLst/>
          </a:prstGeom>
          <a:noFill/>
          <a:ln/>
        </p:spPr>
        <p:txBody>
          <a:bodyPr wrap="square" lIns="0" tIns="0" rIns="0" bIns="0" rtlCol="0" anchor="ctr"/>
          <a:lstStyle/>
          <a:p>
            <a:pPr indent="0" marL="0">
              <a:lnSpc>
                <a:spcPts val="1500"/>
              </a:lnSpc>
              <a:buNone/>
            </a:pPr>
            <a:r>
              <a:rPr lang="en-US" sz="1100" dirty="0">
                <a:solidFill>
                  <a:srgbClr val="C9E3EA"/>
                </a:solidFill>
                <a:latin typeface="Helvetica Neue" pitchFamily="34" charset="0"/>
                <a:ea typeface="Helvetica Neue" pitchFamily="34" charset="-122"/>
                <a:cs typeface="Helvetica Neue" pitchFamily="34" charset="-120"/>
              </a:rPr>
              <a:t>In the dark, with the mission clock running, where nobody can fix it.</a:t>
            </a:r>
            <a:endParaRPr lang="en-US" sz="1100" dirty="0"/>
          </a:p>
        </p:txBody>
      </p:sp>
      <p:sp>
        <p:nvSpPr>
          <p:cNvPr id="13" name="Shape 11"/>
          <p:cNvSpPr/>
          <p:nvPr/>
        </p:nvSpPr>
        <p:spPr>
          <a:xfrm>
            <a:off x="822960" y="6437376"/>
            <a:ext cx="10545775" cy="0"/>
          </a:xfrm>
          <a:prstGeom prst="line">
            <a:avLst/>
          </a:prstGeom>
          <a:noFill/>
          <a:ln w="9525">
            <a:solidFill>
              <a:srgbClr val="E3E3E6"/>
            </a:solidFill>
            <a:prstDash val="solid"/>
          </a:ln>
        </p:spPr>
      </p:sp>
      <p:sp>
        <p:nvSpPr>
          <p:cNvPr id="14" name="Text 12"/>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5" name="Text 13"/>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6 / 16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KNOW YOUR JOINT</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Three joints. Know them on sight.</a:t>
            </a:r>
            <a:endParaRPr lang="en-US" sz="3000" dirty="0"/>
          </a:p>
        </p:txBody>
      </p:sp>
      <p:sp>
        <p:nvSpPr>
          <p:cNvPr id="4" name="Shape 2"/>
          <p:cNvSpPr/>
          <p:nvPr/>
        </p:nvSpPr>
        <p:spPr>
          <a:xfrm>
            <a:off x="822960" y="2057400"/>
            <a:ext cx="3310128" cy="3246120"/>
          </a:xfrm>
          <a:prstGeom prst="roundRect">
            <a:avLst>
              <a:gd name="adj" fmla="val 3099"/>
            </a:avLst>
          </a:prstGeom>
          <a:solidFill>
            <a:srgbClr val="FBFBFD"/>
          </a:solidFill>
          <a:ln w="12700">
            <a:solidFill>
              <a:srgbClr val="E3E3E6"/>
            </a:solidFill>
            <a:prstDash val="solid"/>
          </a:ln>
        </p:spPr>
      </p:sp>
      <p:sp>
        <p:nvSpPr>
          <p:cNvPr id="5" name="Text 3"/>
          <p:cNvSpPr/>
          <p:nvPr/>
        </p:nvSpPr>
        <p:spPr>
          <a:xfrm>
            <a:off x="1133856" y="2386584"/>
            <a:ext cx="2688336" cy="274320"/>
          </a:xfrm>
          <a:prstGeom prst="rect">
            <a:avLst/>
          </a:prstGeom>
          <a:noFill/>
          <a:ln/>
        </p:spPr>
        <p:txBody>
          <a:bodyPr wrap="square" lIns="0" tIns="0" rIns="0" bIns="0" rtlCol="0" anchor="ctr"/>
          <a:lstStyle/>
          <a:p>
            <a:pPr indent="0" marL="0">
              <a:buNone/>
            </a:pPr>
            <a:r>
              <a:rPr lang="en-US" sz="1050" b="1" spc="200" kern="0" dirty="0">
                <a:solidFill>
                  <a:srgbClr val="0D7490"/>
                </a:solidFill>
                <a:latin typeface="Helvetica Neue" pitchFamily="34" charset="0"/>
                <a:ea typeface="Helvetica Neue" pitchFamily="34" charset="-122"/>
                <a:cs typeface="Helvetica Neue" pitchFamily="34" charset="-120"/>
              </a:rPr>
              <a:t>COLD JOINT</a:t>
            </a:r>
            <a:endParaRPr lang="en-US" sz="1050" dirty="0"/>
          </a:p>
        </p:txBody>
      </p:sp>
      <p:sp>
        <p:nvSpPr>
          <p:cNvPr id="6" name="Text 4"/>
          <p:cNvSpPr/>
          <p:nvPr/>
        </p:nvSpPr>
        <p:spPr>
          <a:xfrm>
            <a:off x="113385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Dull and</a:t>
            </a:r>
            <a:endParaRPr lang="en-US" sz="2700" dirty="0"/>
          </a:p>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grainy</a:t>
            </a:r>
            <a:endParaRPr lang="en-US" sz="2700" dirty="0"/>
          </a:p>
        </p:txBody>
      </p:sp>
      <p:sp>
        <p:nvSpPr>
          <p:cNvPr id="7" name="Text 5"/>
          <p:cNvSpPr/>
          <p:nvPr/>
        </p:nvSpPr>
        <p:spPr>
          <a:xfrm>
            <a:off x="113385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6E6E73"/>
                </a:solidFill>
                <a:latin typeface="Helvetica Neue" pitchFamily="34" charset="0"/>
                <a:ea typeface="Helvetica Neue" pitchFamily="34" charset="-122"/>
                <a:cs typeface="Helvetica Neue" pitchFamily="34" charset="-120"/>
              </a:rPr>
              <a:t>Too little heat. The solder sits on top in a dull blob instead of flowing in. Looks done, fails later. Reflow it.</a:t>
            </a:r>
            <a:endParaRPr lang="en-US" sz="1200" dirty="0"/>
          </a:p>
        </p:txBody>
      </p:sp>
      <p:sp>
        <p:nvSpPr>
          <p:cNvPr id="8" name="Shape 6"/>
          <p:cNvSpPr/>
          <p:nvPr/>
        </p:nvSpPr>
        <p:spPr>
          <a:xfrm>
            <a:off x="4434840" y="2057400"/>
            <a:ext cx="3310128" cy="3246120"/>
          </a:xfrm>
          <a:prstGeom prst="roundRect">
            <a:avLst>
              <a:gd name="adj" fmla="val 3099"/>
            </a:avLst>
          </a:prstGeom>
          <a:solidFill>
            <a:srgbClr val="0D7490"/>
          </a:solidFill>
          <a:ln w="12700">
            <a:solidFill>
              <a:srgbClr val="0D7490"/>
            </a:solidFill>
            <a:prstDash val="solid"/>
          </a:ln>
        </p:spPr>
      </p:sp>
      <p:sp>
        <p:nvSpPr>
          <p:cNvPr id="9" name="Text 7"/>
          <p:cNvSpPr/>
          <p:nvPr/>
        </p:nvSpPr>
        <p:spPr>
          <a:xfrm>
            <a:off x="4745736" y="2386584"/>
            <a:ext cx="2688336"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GOOD JOINT</a:t>
            </a:r>
            <a:endParaRPr lang="en-US" sz="1050" dirty="0"/>
          </a:p>
        </p:txBody>
      </p:sp>
      <p:sp>
        <p:nvSpPr>
          <p:cNvPr id="10" name="Text 8"/>
          <p:cNvSpPr/>
          <p:nvPr/>
        </p:nvSpPr>
        <p:spPr>
          <a:xfrm>
            <a:off x="474573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FFFFFF"/>
                </a:solidFill>
                <a:latin typeface="Helvetica Neue" pitchFamily="34" charset="0"/>
                <a:ea typeface="Helvetica Neue" pitchFamily="34" charset="-122"/>
                <a:cs typeface="Helvetica Neue" pitchFamily="34" charset="-120"/>
              </a:rPr>
              <a:t>Shiny and</a:t>
            </a:r>
            <a:endParaRPr lang="en-US" sz="2700" dirty="0"/>
          </a:p>
          <a:p>
            <a:pPr indent="0" marL="0">
              <a:lnSpc>
                <a:spcPts val="3000"/>
              </a:lnSpc>
              <a:buNone/>
            </a:pPr>
            <a:r>
              <a:rPr lang="en-US" sz="2700" b="1" dirty="0">
                <a:solidFill>
                  <a:srgbClr val="FFFFFF"/>
                </a:solidFill>
                <a:latin typeface="Helvetica Neue" pitchFamily="34" charset="0"/>
                <a:ea typeface="Helvetica Neue" pitchFamily="34" charset="-122"/>
                <a:cs typeface="Helvetica Neue" pitchFamily="34" charset="-120"/>
              </a:rPr>
              <a:t>smooth</a:t>
            </a:r>
            <a:endParaRPr lang="en-US" sz="2700" dirty="0"/>
          </a:p>
        </p:txBody>
      </p:sp>
      <p:sp>
        <p:nvSpPr>
          <p:cNvPr id="11" name="Text 9"/>
          <p:cNvSpPr/>
          <p:nvPr/>
        </p:nvSpPr>
        <p:spPr>
          <a:xfrm>
            <a:off x="474573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EAF2F4"/>
                </a:solidFill>
                <a:latin typeface="Helvetica Neue" pitchFamily="34" charset="0"/>
                <a:ea typeface="Helvetica Neue" pitchFamily="34" charset="-122"/>
                <a:cs typeface="Helvetica Neue" pitchFamily="34" charset="-120"/>
              </a:rPr>
              <a:t>Heat on the joint, solder wicks around the wire in a bright cone. Strong and clean. This is the target.</a:t>
            </a:r>
            <a:endParaRPr lang="en-US" sz="1200" dirty="0"/>
          </a:p>
        </p:txBody>
      </p:sp>
      <p:sp>
        <p:nvSpPr>
          <p:cNvPr id="12" name="Shape 10"/>
          <p:cNvSpPr/>
          <p:nvPr/>
        </p:nvSpPr>
        <p:spPr>
          <a:xfrm>
            <a:off x="8046720" y="2057400"/>
            <a:ext cx="3310128" cy="3246120"/>
          </a:xfrm>
          <a:prstGeom prst="roundRect">
            <a:avLst>
              <a:gd name="adj" fmla="val 3099"/>
            </a:avLst>
          </a:prstGeom>
          <a:solidFill>
            <a:srgbClr val="FBFBFD"/>
          </a:solidFill>
          <a:ln w="12700">
            <a:solidFill>
              <a:srgbClr val="E3E3E6"/>
            </a:solidFill>
            <a:prstDash val="solid"/>
          </a:ln>
        </p:spPr>
      </p:sp>
      <p:sp>
        <p:nvSpPr>
          <p:cNvPr id="13" name="Text 11"/>
          <p:cNvSpPr/>
          <p:nvPr/>
        </p:nvSpPr>
        <p:spPr>
          <a:xfrm>
            <a:off x="8357616" y="2386584"/>
            <a:ext cx="2688336" cy="274320"/>
          </a:xfrm>
          <a:prstGeom prst="rect">
            <a:avLst/>
          </a:prstGeom>
          <a:noFill/>
          <a:ln/>
        </p:spPr>
        <p:txBody>
          <a:bodyPr wrap="square" lIns="0" tIns="0" rIns="0" bIns="0" rtlCol="0" anchor="ctr"/>
          <a:lstStyle/>
          <a:p>
            <a:pPr indent="0" marL="0">
              <a:buNone/>
            </a:pPr>
            <a:r>
              <a:rPr lang="en-US" sz="1050" b="1" spc="200" kern="0" dirty="0">
                <a:solidFill>
                  <a:srgbClr val="0D7490"/>
                </a:solidFill>
                <a:latin typeface="Helvetica Neue" pitchFamily="34" charset="0"/>
                <a:ea typeface="Helvetica Neue" pitchFamily="34" charset="-122"/>
                <a:cs typeface="Helvetica Neue" pitchFamily="34" charset="-120"/>
              </a:rPr>
              <a:t>BRIDGED JOINT</a:t>
            </a:r>
            <a:endParaRPr lang="en-US" sz="1050" dirty="0"/>
          </a:p>
        </p:txBody>
      </p:sp>
      <p:sp>
        <p:nvSpPr>
          <p:cNvPr id="14" name="Text 12"/>
          <p:cNvSpPr/>
          <p:nvPr/>
        </p:nvSpPr>
        <p:spPr>
          <a:xfrm>
            <a:off x="835761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Touching</a:t>
            </a:r>
            <a:endParaRPr lang="en-US" sz="2700" dirty="0"/>
          </a:p>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its neighbor</a:t>
            </a:r>
            <a:endParaRPr lang="en-US" sz="2700" dirty="0"/>
          </a:p>
        </p:txBody>
      </p:sp>
      <p:sp>
        <p:nvSpPr>
          <p:cNvPr id="15" name="Text 13"/>
          <p:cNvSpPr/>
          <p:nvPr/>
        </p:nvSpPr>
        <p:spPr>
          <a:xfrm>
            <a:off x="835761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6E6E73"/>
                </a:solidFill>
                <a:latin typeface="Helvetica Neue" pitchFamily="34" charset="0"/>
                <a:ea typeface="Helvetica Neue" pitchFamily="34" charset="-122"/>
                <a:cs typeface="Helvetica Neue" pitchFamily="34" charset="-120"/>
              </a:rPr>
              <a:t>Too much solder jumps to the next pad and shorts them together. Wick the extra away and redo it.</a:t>
            </a:r>
            <a:endParaRPr lang="en-US" sz="1200" dirty="0"/>
          </a:p>
        </p:txBody>
      </p:sp>
      <p:sp>
        <p:nvSpPr>
          <p:cNvPr id="16" name="Text 14"/>
          <p:cNvSpPr/>
          <p:nvPr/>
        </p:nvSpPr>
        <p:spPr>
          <a:xfrm>
            <a:off x="822960" y="5577840"/>
            <a:ext cx="10515600" cy="457200"/>
          </a:xfrm>
          <a:prstGeom prst="rect">
            <a:avLst/>
          </a:prstGeom>
          <a:noFill/>
          <a:ln/>
        </p:spPr>
        <p:txBody>
          <a:bodyPr wrap="square" lIns="0" tIns="0" rIns="0" bIns="0" rtlCol="0" anchor="ctr"/>
          <a:lstStyle/>
          <a:p>
            <a:pPr algn="ctr" indent="0" marL="0">
              <a:buNone/>
            </a:pPr>
            <a:r>
              <a:rPr lang="en-US" sz="1400" b="1" dirty="0">
                <a:solidFill>
                  <a:srgbClr val="1D1D1F"/>
                </a:solidFill>
                <a:latin typeface="Helvetica Neue" pitchFamily="34" charset="0"/>
                <a:ea typeface="Helvetica Neue" pitchFamily="34" charset="-122"/>
                <a:cs typeface="Helvetica Neue" pitchFamily="34" charset="-120"/>
              </a:rPr>
              <a:t>Every kid makes all three today — and learns to tell them apart by eye.</a:t>
            </a:r>
            <a:endParaRPr lang="en-US" sz="1400" dirty="0"/>
          </a:p>
        </p:txBody>
      </p:sp>
      <p:sp>
        <p:nvSpPr>
          <p:cNvPr id="17" name="Shape 15"/>
          <p:cNvSpPr/>
          <p:nvPr/>
        </p:nvSpPr>
        <p:spPr>
          <a:xfrm>
            <a:off x="822960" y="6437376"/>
            <a:ext cx="10545775" cy="0"/>
          </a:xfrm>
          <a:prstGeom prst="line">
            <a:avLst/>
          </a:prstGeom>
          <a:noFill/>
          <a:ln w="9525">
            <a:solidFill>
              <a:srgbClr val="E3E3E6"/>
            </a:solidFill>
            <a:prstDash val="solid"/>
          </a:ln>
        </p:spPr>
      </p:sp>
      <p:sp>
        <p:nvSpPr>
          <p:cNvPr id="18" name="Text 16"/>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9" name="Text 17"/>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7 / 16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03</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03</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Soldering</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Bootcamp</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0:30 – 1:55   ·   85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Watch it done, see it done, then do it — every kid, hands on an iron.</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8 / 16</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HOW WE LEARN</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Teach once. Then step back.</a:t>
            </a:r>
            <a:endParaRPr lang="en-US" sz="3000" dirty="0"/>
          </a:p>
        </p:txBody>
      </p:sp>
      <p:sp>
        <p:nvSpPr>
          <p:cNvPr id="4" name="Shape 2"/>
          <p:cNvSpPr/>
          <p:nvPr/>
        </p:nvSpPr>
        <p:spPr>
          <a:xfrm>
            <a:off x="822960" y="1874520"/>
            <a:ext cx="10545775" cy="1417320"/>
          </a:xfrm>
          <a:prstGeom prst="roundRect">
            <a:avLst>
              <a:gd name="adj" fmla="val 7097"/>
            </a:avLst>
          </a:prstGeom>
          <a:solidFill>
            <a:srgbClr val="095D75"/>
          </a:solidFill>
          <a:ln w="12700">
            <a:solidFill>
              <a:srgbClr val="095D75"/>
            </a:solidFill>
            <a:prstDash val="solid"/>
          </a:ln>
        </p:spPr>
      </p:sp>
      <p:sp>
        <p:nvSpPr>
          <p:cNvPr id="5" name="Text 3"/>
          <p:cNvSpPr/>
          <p:nvPr/>
        </p:nvSpPr>
        <p:spPr>
          <a:xfrm>
            <a:off x="1234440" y="1874520"/>
            <a:ext cx="9692640" cy="1417320"/>
          </a:xfrm>
          <a:prstGeom prst="rect">
            <a:avLst/>
          </a:prstGeom>
          <a:noFill/>
          <a:ln/>
        </p:spPr>
        <p:txBody>
          <a:bodyPr wrap="square" lIns="0" tIns="0" rIns="0" bIns="0" rtlCol="0" anchor="ctr"/>
          <a:lstStyle/>
          <a:p>
            <a:pPr indent="0" marL="0">
              <a:lnSpc>
                <a:spcPts val="2700"/>
              </a:lnSpc>
              <a:buNone/>
            </a:pPr>
            <a:r>
              <a:rPr lang="en-US" sz="2100" b="1" i="1" dirty="0">
                <a:solidFill>
                  <a:srgbClr val="FFFFFF"/>
                </a:solidFill>
                <a:latin typeface="Helvetica Neue" pitchFamily="34" charset="0"/>
                <a:ea typeface="Helvetica Neue" pitchFamily="34" charset="-122"/>
                <a:cs typeface="Helvetica Neue" pitchFamily="34" charset="-120"/>
              </a:rPr>
              <a:t>“We show a skill one time — then we step back and let them struggle to it. The struggle is where the engineer is made.”</a:t>
            </a:r>
            <a:endParaRPr lang="en-US" sz="2100" dirty="0"/>
          </a:p>
        </p:txBody>
      </p:sp>
      <p:sp>
        <p:nvSpPr>
          <p:cNvPr id="6" name="Text 4"/>
          <p:cNvSpPr/>
          <p:nvPr/>
        </p:nvSpPr>
        <p:spPr>
          <a:xfrm>
            <a:off x="822960" y="3520440"/>
            <a:ext cx="10545775" cy="777240"/>
          </a:xfrm>
          <a:prstGeom prst="rect">
            <a:avLst/>
          </a:prstGeom>
          <a:noFill/>
          <a:ln/>
        </p:spPr>
        <p:txBody>
          <a:bodyPr wrap="square" lIns="0" tIns="0" rIns="0" bIns="0" rtlCol="0" anchor="ctr"/>
          <a:lstStyle/>
          <a:p>
            <a:pPr indent="0" marL="0">
              <a:lnSpc>
                <a:spcPts val="2100"/>
              </a:lnSpc>
              <a:buNone/>
            </a:pPr>
            <a:r>
              <a:rPr lang="en-US" sz="1400" dirty="0">
                <a:solidFill>
                  <a:srgbClr val="6E6E73"/>
                </a:solidFill>
                <a:latin typeface="Helvetica Neue" pitchFamily="34" charset="0"/>
                <a:ea typeface="Helvetica Neue" pitchFamily="34" charset="-122"/>
                <a:cs typeface="Helvetica Neue" pitchFamily="34" charset="-120"/>
              </a:rPr>
              <a:t>MATE’s Section 4.3 is strict: the work has to be the students’. Adults teach, demonstrate, and keep the room safe — but adults do not build the robot, write the documentation, or hold the iron through the joint.</a:t>
            </a:r>
            <a:endParaRPr lang="en-US" sz="1400" dirty="0"/>
          </a:p>
        </p:txBody>
      </p:sp>
      <p:sp>
        <p:nvSpPr>
          <p:cNvPr id="7" name="Shape 5"/>
          <p:cNvSpPr/>
          <p:nvPr/>
        </p:nvSpPr>
        <p:spPr>
          <a:xfrm>
            <a:off x="822960" y="4434840"/>
            <a:ext cx="3310128" cy="1600200"/>
          </a:xfrm>
          <a:prstGeom prst="roundRect">
            <a:avLst>
              <a:gd name="adj" fmla="val 6286"/>
            </a:avLst>
          </a:prstGeom>
          <a:solidFill>
            <a:srgbClr val="FBFBFD"/>
          </a:solidFill>
          <a:ln w="12700">
            <a:solidFill>
              <a:srgbClr val="E3E3E6"/>
            </a:solidFill>
            <a:prstDash val="solid"/>
          </a:ln>
        </p:spPr>
      </p:sp>
      <p:sp>
        <p:nvSpPr>
          <p:cNvPr id="8" name="Text 6"/>
          <p:cNvSpPr/>
          <p:nvPr/>
        </p:nvSpPr>
        <p:spPr>
          <a:xfrm>
            <a:off x="109728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Parents demonstrate</a:t>
            </a:r>
            <a:endParaRPr lang="en-US" sz="1400" dirty="0"/>
          </a:p>
        </p:txBody>
      </p:sp>
      <p:sp>
        <p:nvSpPr>
          <p:cNvPr id="9" name="Text 7"/>
          <p:cNvSpPr/>
          <p:nvPr/>
        </p:nvSpPr>
        <p:spPr>
          <a:xfrm>
            <a:off x="109728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Show the move once, then photograph and encourage. Hands stay off the work — even when it is slow.</a:t>
            </a:r>
            <a:endParaRPr lang="en-US" sz="1150" dirty="0"/>
          </a:p>
        </p:txBody>
      </p:sp>
      <p:sp>
        <p:nvSpPr>
          <p:cNvPr id="10" name="Shape 8"/>
          <p:cNvSpPr/>
          <p:nvPr/>
        </p:nvSpPr>
        <p:spPr>
          <a:xfrm>
            <a:off x="4434840" y="4434840"/>
            <a:ext cx="3310128" cy="1600200"/>
          </a:xfrm>
          <a:prstGeom prst="roundRect">
            <a:avLst>
              <a:gd name="adj" fmla="val 6286"/>
            </a:avLst>
          </a:prstGeom>
          <a:solidFill>
            <a:srgbClr val="FBFBFD"/>
          </a:solidFill>
          <a:ln w="12700">
            <a:solidFill>
              <a:srgbClr val="E3E3E6"/>
            </a:solidFill>
            <a:prstDash val="solid"/>
          </a:ln>
        </p:spPr>
      </p:sp>
      <p:sp>
        <p:nvSpPr>
          <p:cNvPr id="11" name="Text 9"/>
          <p:cNvSpPr/>
          <p:nvPr/>
        </p:nvSpPr>
        <p:spPr>
          <a:xfrm>
            <a:off x="470916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Students do the work</a:t>
            </a:r>
            <a:endParaRPr lang="en-US" sz="1400" dirty="0"/>
          </a:p>
        </p:txBody>
      </p:sp>
      <p:sp>
        <p:nvSpPr>
          <p:cNvPr id="12" name="Text 10"/>
          <p:cNvSpPr/>
          <p:nvPr/>
        </p:nvSpPr>
        <p:spPr>
          <a:xfrm>
            <a:off x="470916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Every joint, every fix, every redo is theirs. Slow and real beats fast and borrowed.</a:t>
            </a:r>
            <a:endParaRPr lang="en-US" sz="1150" dirty="0"/>
          </a:p>
        </p:txBody>
      </p:sp>
      <p:sp>
        <p:nvSpPr>
          <p:cNvPr id="13" name="Shape 11"/>
          <p:cNvSpPr/>
          <p:nvPr/>
        </p:nvSpPr>
        <p:spPr>
          <a:xfrm>
            <a:off x="8046720" y="4434840"/>
            <a:ext cx="3310128" cy="1600200"/>
          </a:xfrm>
          <a:prstGeom prst="roundRect">
            <a:avLst>
              <a:gd name="adj" fmla="val 6286"/>
            </a:avLst>
          </a:prstGeom>
          <a:solidFill>
            <a:srgbClr val="FBFBFD"/>
          </a:solidFill>
          <a:ln w="12700">
            <a:solidFill>
              <a:srgbClr val="E3E3E6"/>
            </a:solidFill>
            <a:prstDash val="solid"/>
          </a:ln>
        </p:spPr>
      </p:sp>
      <p:sp>
        <p:nvSpPr>
          <p:cNvPr id="14" name="Text 12"/>
          <p:cNvSpPr/>
          <p:nvPr/>
        </p:nvSpPr>
        <p:spPr>
          <a:xfrm>
            <a:off x="832104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Help is disclosed</a:t>
            </a:r>
            <a:endParaRPr lang="en-US" sz="1400" dirty="0"/>
          </a:p>
        </p:txBody>
      </p:sp>
      <p:sp>
        <p:nvSpPr>
          <p:cNvPr id="15" name="Text 13"/>
          <p:cNvSpPr/>
          <p:nvPr/>
        </p:nvSpPr>
        <p:spPr>
          <a:xfrm>
            <a:off x="832104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Any outside help — including AI — gets written into the documentation. Honesty is scored in April.</a:t>
            </a:r>
            <a:endParaRPr lang="en-US" sz="1150" dirty="0"/>
          </a:p>
        </p:txBody>
      </p:sp>
      <p:sp>
        <p:nvSpPr>
          <p:cNvPr id="16" name="Shape 14"/>
          <p:cNvSpPr/>
          <p:nvPr/>
        </p:nvSpPr>
        <p:spPr>
          <a:xfrm>
            <a:off x="822960" y="6437376"/>
            <a:ext cx="10545775" cy="0"/>
          </a:xfrm>
          <a:prstGeom prst="line">
            <a:avLst/>
          </a:prstGeom>
          <a:noFill/>
          <a:ln w="9525">
            <a:solidFill>
              <a:srgbClr val="E3E3E6"/>
            </a:solidFill>
            <a:prstDash val="solid"/>
          </a:ln>
        </p:spPr>
      </p:sp>
      <p:sp>
        <p:nvSpPr>
          <p:cNvPr id="17" name="Text 1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8" name="Text 1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12 / 16</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DEMONSTRATION</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The moves, start to finish.</a:t>
            </a:r>
            <a:endParaRPr lang="en-US" sz="3000" dirty="0"/>
          </a:p>
        </p:txBody>
      </p:sp>
      <p:sp>
        <p:nvSpPr>
          <p:cNvPr id="4" name="Shape 2"/>
          <p:cNvSpPr/>
          <p:nvPr/>
        </p:nvSpPr>
        <p:spPr>
          <a:xfrm>
            <a:off x="822960" y="1755648"/>
            <a:ext cx="3310128" cy="2121408"/>
          </a:xfrm>
          <a:prstGeom prst="roundRect">
            <a:avLst>
              <a:gd name="adj" fmla="val 4741"/>
            </a:avLst>
          </a:prstGeom>
          <a:solidFill>
            <a:srgbClr val="FBFBFD"/>
          </a:solidFill>
          <a:ln w="12700">
            <a:solidFill>
              <a:srgbClr val="E3E3E6"/>
            </a:solidFill>
            <a:prstDash val="solid"/>
          </a:ln>
        </p:spPr>
      </p:sp>
      <p:sp>
        <p:nvSpPr>
          <p:cNvPr id="5" name="Shape 3"/>
          <p:cNvSpPr/>
          <p:nvPr/>
        </p:nvSpPr>
        <p:spPr>
          <a:xfrm>
            <a:off x="1097280" y="2029968"/>
            <a:ext cx="402336" cy="402336"/>
          </a:xfrm>
          <a:prstGeom prst="ellipse">
            <a:avLst/>
          </a:prstGeom>
          <a:solidFill>
            <a:srgbClr val="0D7490"/>
          </a:solidFill>
          <a:ln/>
        </p:spPr>
      </p:sp>
      <p:sp>
        <p:nvSpPr>
          <p:cNvPr id="6" name="Text 4"/>
          <p:cNvSpPr/>
          <p:nvPr/>
        </p:nvSpPr>
        <p:spPr>
          <a:xfrm>
            <a:off x="109728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1</a:t>
            </a:r>
            <a:endParaRPr lang="en-US" sz="1232" dirty="0"/>
          </a:p>
        </p:txBody>
      </p:sp>
      <p:sp>
        <p:nvSpPr>
          <p:cNvPr id="7" name="Text 5"/>
          <p:cNvSpPr/>
          <p:nvPr/>
        </p:nvSpPr>
        <p:spPr>
          <a:xfrm>
            <a:off x="162763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Strip</a:t>
            </a:r>
            <a:endParaRPr lang="en-US" sz="1550" dirty="0"/>
          </a:p>
        </p:txBody>
      </p:sp>
      <p:sp>
        <p:nvSpPr>
          <p:cNvPr id="8" name="Text 6"/>
          <p:cNvSpPr/>
          <p:nvPr/>
        </p:nvSpPr>
        <p:spPr>
          <a:xfrm>
            <a:off x="109728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BARE THE WIRE</a:t>
            </a:r>
            <a:endParaRPr lang="en-US" sz="900" dirty="0"/>
          </a:p>
        </p:txBody>
      </p:sp>
      <p:sp>
        <p:nvSpPr>
          <p:cNvPr id="9" name="Text 7"/>
          <p:cNvSpPr/>
          <p:nvPr/>
        </p:nvSpPr>
        <p:spPr>
          <a:xfrm>
            <a:off x="109728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Strip about 5 mm of insulation. Clean, bright copper — no nicks in the strands.</a:t>
            </a:r>
            <a:endParaRPr lang="en-US" sz="1100" dirty="0"/>
          </a:p>
        </p:txBody>
      </p:sp>
      <p:sp>
        <p:nvSpPr>
          <p:cNvPr id="10" name="Shape 8"/>
          <p:cNvSpPr/>
          <p:nvPr/>
        </p:nvSpPr>
        <p:spPr>
          <a:xfrm>
            <a:off x="4434840" y="1755648"/>
            <a:ext cx="3310128" cy="2121408"/>
          </a:xfrm>
          <a:prstGeom prst="roundRect">
            <a:avLst>
              <a:gd name="adj" fmla="val 4741"/>
            </a:avLst>
          </a:prstGeom>
          <a:solidFill>
            <a:srgbClr val="FBFBFD"/>
          </a:solidFill>
          <a:ln w="12700">
            <a:solidFill>
              <a:srgbClr val="E3E3E6"/>
            </a:solidFill>
            <a:prstDash val="solid"/>
          </a:ln>
        </p:spPr>
      </p:sp>
      <p:sp>
        <p:nvSpPr>
          <p:cNvPr id="11" name="Shape 9"/>
          <p:cNvSpPr/>
          <p:nvPr/>
        </p:nvSpPr>
        <p:spPr>
          <a:xfrm>
            <a:off x="4709160" y="2029968"/>
            <a:ext cx="402336" cy="402336"/>
          </a:xfrm>
          <a:prstGeom prst="ellipse">
            <a:avLst/>
          </a:prstGeom>
          <a:solidFill>
            <a:srgbClr val="0D7490"/>
          </a:solidFill>
          <a:ln/>
        </p:spPr>
      </p:sp>
      <p:sp>
        <p:nvSpPr>
          <p:cNvPr id="12" name="Text 10"/>
          <p:cNvSpPr/>
          <p:nvPr/>
        </p:nvSpPr>
        <p:spPr>
          <a:xfrm>
            <a:off x="470916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2</a:t>
            </a:r>
            <a:endParaRPr lang="en-US" sz="1232" dirty="0"/>
          </a:p>
        </p:txBody>
      </p:sp>
      <p:sp>
        <p:nvSpPr>
          <p:cNvPr id="13" name="Text 11"/>
          <p:cNvSpPr/>
          <p:nvPr/>
        </p:nvSpPr>
        <p:spPr>
          <a:xfrm>
            <a:off x="523951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Tin the tip</a:t>
            </a:r>
            <a:endParaRPr lang="en-US" sz="1550" dirty="0"/>
          </a:p>
        </p:txBody>
      </p:sp>
      <p:sp>
        <p:nvSpPr>
          <p:cNvPr id="14" name="Text 12"/>
          <p:cNvSpPr/>
          <p:nvPr/>
        </p:nvSpPr>
        <p:spPr>
          <a:xfrm>
            <a:off x="470916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PREP THE IRON</a:t>
            </a:r>
            <a:endParaRPr lang="en-US" sz="900" dirty="0"/>
          </a:p>
        </p:txBody>
      </p:sp>
      <p:sp>
        <p:nvSpPr>
          <p:cNvPr id="15" name="Text 13"/>
          <p:cNvSpPr/>
          <p:nvPr/>
        </p:nvSpPr>
        <p:spPr>
          <a:xfrm>
            <a:off x="470916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Wet sponge, then a fresh dab of solder on the tip. Do this before every single joint.</a:t>
            </a:r>
            <a:endParaRPr lang="en-US" sz="1100" dirty="0"/>
          </a:p>
        </p:txBody>
      </p:sp>
      <p:sp>
        <p:nvSpPr>
          <p:cNvPr id="16" name="Shape 14"/>
          <p:cNvSpPr/>
          <p:nvPr/>
        </p:nvSpPr>
        <p:spPr>
          <a:xfrm>
            <a:off x="8046720" y="1755648"/>
            <a:ext cx="3310128" cy="2121408"/>
          </a:xfrm>
          <a:prstGeom prst="roundRect">
            <a:avLst>
              <a:gd name="adj" fmla="val 4741"/>
            </a:avLst>
          </a:prstGeom>
          <a:solidFill>
            <a:srgbClr val="FBFBFD"/>
          </a:solidFill>
          <a:ln w="12700">
            <a:solidFill>
              <a:srgbClr val="E3E3E6"/>
            </a:solidFill>
            <a:prstDash val="solid"/>
          </a:ln>
        </p:spPr>
      </p:sp>
      <p:sp>
        <p:nvSpPr>
          <p:cNvPr id="17" name="Shape 15"/>
          <p:cNvSpPr/>
          <p:nvPr/>
        </p:nvSpPr>
        <p:spPr>
          <a:xfrm>
            <a:off x="8321040" y="2029968"/>
            <a:ext cx="402336" cy="402336"/>
          </a:xfrm>
          <a:prstGeom prst="ellipse">
            <a:avLst/>
          </a:prstGeom>
          <a:solidFill>
            <a:srgbClr val="0D7490"/>
          </a:solidFill>
          <a:ln/>
        </p:spPr>
      </p:sp>
      <p:sp>
        <p:nvSpPr>
          <p:cNvPr id="18" name="Text 16"/>
          <p:cNvSpPr/>
          <p:nvPr/>
        </p:nvSpPr>
        <p:spPr>
          <a:xfrm>
            <a:off x="832104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3</a:t>
            </a:r>
            <a:endParaRPr lang="en-US" sz="1232" dirty="0"/>
          </a:p>
        </p:txBody>
      </p:sp>
      <p:sp>
        <p:nvSpPr>
          <p:cNvPr id="19" name="Text 17"/>
          <p:cNvSpPr/>
          <p:nvPr/>
        </p:nvSpPr>
        <p:spPr>
          <a:xfrm>
            <a:off x="885139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Heat the joint</a:t>
            </a:r>
            <a:endParaRPr lang="en-US" sz="1550" dirty="0"/>
          </a:p>
        </p:txBody>
      </p:sp>
      <p:sp>
        <p:nvSpPr>
          <p:cNvPr id="20" name="Text 18"/>
          <p:cNvSpPr/>
          <p:nvPr/>
        </p:nvSpPr>
        <p:spPr>
          <a:xfrm>
            <a:off x="832104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IRON ON METAL</a:t>
            </a:r>
            <a:endParaRPr lang="en-US" sz="900" dirty="0"/>
          </a:p>
        </p:txBody>
      </p:sp>
      <p:sp>
        <p:nvSpPr>
          <p:cNvPr id="21" name="Text 19"/>
          <p:cNvSpPr/>
          <p:nvPr/>
        </p:nvSpPr>
        <p:spPr>
          <a:xfrm>
            <a:off x="832104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Press the iron to the wires, not the solder. Count two seconds to let them heat.</a:t>
            </a:r>
            <a:endParaRPr lang="en-US" sz="1100" dirty="0"/>
          </a:p>
        </p:txBody>
      </p:sp>
      <p:sp>
        <p:nvSpPr>
          <p:cNvPr id="22" name="Shape 20"/>
          <p:cNvSpPr/>
          <p:nvPr/>
        </p:nvSpPr>
        <p:spPr>
          <a:xfrm>
            <a:off x="822960" y="4123944"/>
            <a:ext cx="3310128" cy="2121408"/>
          </a:xfrm>
          <a:prstGeom prst="roundRect">
            <a:avLst>
              <a:gd name="adj" fmla="val 4741"/>
            </a:avLst>
          </a:prstGeom>
          <a:solidFill>
            <a:srgbClr val="FBFBFD"/>
          </a:solidFill>
          <a:ln w="12700">
            <a:solidFill>
              <a:srgbClr val="E3E3E6"/>
            </a:solidFill>
            <a:prstDash val="solid"/>
          </a:ln>
        </p:spPr>
      </p:sp>
      <p:sp>
        <p:nvSpPr>
          <p:cNvPr id="23" name="Shape 21"/>
          <p:cNvSpPr/>
          <p:nvPr/>
        </p:nvSpPr>
        <p:spPr>
          <a:xfrm>
            <a:off x="1097280" y="4398264"/>
            <a:ext cx="402336" cy="402336"/>
          </a:xfrm>
          <a:prstGeom prst="ellipse">
            <a:avLst/>
          </a:prstGeom>
          <a:solidFill>
            <a:srgbClr val="0D7490"/>
          </a:solidFill>
          <a:ln/>
        </p:spPr>
      </p:sp>
      <p:sp>
        <p:nvSpPr>
          <p:cNvPr id="24" name="Text 22"/>
          <p:cNvSpPr/>
          <p:nvPr/>
        </p:nvSpPr>
        <p:spPr>
          <a:xfrm>
            <a:off x="109728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4</a:t>
            </a:r>
            <a:endParaRPr lang="en-US" sz="1232" dirty="0"/>
          </a:p>
        </p:txBody>
      </p:sp>
      <p:sp>
        <p:nvSpPr>
          <p:cNvPr id="25" name="Text 23"/>
          <p:cNvSpPr/>
          <p:nvPr/>
        </p:nvSpPr>
        <p:spPr>
          <a:xfrm>
            <a:off x="162763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Feed the solder</a:t>
            </a:r>
            <a:endParaRPr lang="en-US" sz="1550" dirty="0"/>
          </a:p>
        </p:txBody>
      </p:sp>
      <p:sp>
        <p:nvSpPr>
          <p:cNvPr id="26" name="Text 24"/>
          <p:cNvSpPr/>
          <p:nvPr/>
        </p:nvSpPr>
        <p:spPr>
          <a:xfrm>
            <a:off x="109728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LET IT FLOW</a:t>
            </a:r>
            <a:endParaRPr lang="en-US" sz="900" dirty="0"/>
          </a:p>
        </p:txBody>
      </p:sp>
      <p:sp>
        <p:nvSpPr>
          <p:cNvPr id="27" name="Text 25"/>
          <p:cNvSpPr/>
          <p:nvPr/>
        </p:nvSpPr>
        <p:spPr>
          <a:xfrm>
            <a:off x="109728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Touch solder to the hot joint, not the iron. It melts and wicks in. Then stop.</a:t>
            </a:r>
            <a:endParaRPr lang="en-US" sz="1100" dirty="0"/>
          </a:p>
        </p:txBody>
      </p:sp>
      <p:sp>
        <p:nvSpPr>
          <p:cNvPr id="28" name="Shape 26"/>
          <p:cNvSpPr/>
          <p:nvPr/>
        </p:nvSpPr>
        <p:spPr>
          <a:xfrm>
            <a:off x="4434840" y="4123944"/>
            <a:ext cx="3310128" cy="2121408"/>
          </a:xfrm>
          <a:prstGeom prst="roundRect">
            <a:avLst>
              <a:gd name="adj" fmla="val 4741"/>
            </a:avLst>
          </a:prstGeom>
          <a:solidFill>
            <a:srgbClr val="FBFBFD"/>
          </a:solidFill>
          <a:ln w="12700">
            <a:solidFill>
              <a:srgbClr val="E3E3E6"/>
            </a:solidFill>
            <a:prstDash val="solid"/>
          </a:ln>
        </p:spPr>
      </p:sp>
      <p:sp>
        <p:nvSpPr>
          <p:cNvPr id="29" name="Shape 27"/>
          <p:cNvSpPr/>
          <p:nvPr/>
        </p:nvSpPr>
        <p:spPr>
          <a:xfrm>
            <a:off x="4709160" y="4398264"/>
            <a:ext cx="402336" cy="402336"/>
          </a:xfrm>
          <a:prstGeom prst="ellipse">
            <a:avLst/>
          </a:prstGeom>
          <a:solidFill>
            <a:srgbClr val="0D7490"/>
          </a:solidFill>
          <a:ln/>
        </p:spPr>
      </p:sp>
      <p:sp>
        <p:nvSpPr>
          <p:cNvPr id="30" name="Text 28"/>
          <p:cNvSpPr/>
          <p:nvPr/>
        </p:nvSpPr>
        <p:spPr>
          <a:xfrm>
            <a:off x="470916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5</a:t>
            </a:r>
            <a:endParaRPr lang="en-US" sz="1232" dirty="0"/>
          </a:p>
        </p:txBody>
      </p:sp>
      <p:sp>
        <p:nvSpPr>
          <p:cNvPr id="31" name="Text 29"/>
          <p:cNvSpPr/>
          <p:nvPr/>
        </p:nvSpPr>
        <p:spPr>
          <a:xfrm>
            <a:off x="523951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Heat-shrink</a:t>
            </a:r>
            <a:endParaRPr lang="en-US" sz="1550" dirty="0"/>
          </a:p>
        </p:txBody>
      </p:sp>
      <p:sp>
        <p:nvSpPr>
          <p:cNvPr id="32" name="Text 30"/>
          <p:cNvSpPr/>
          <p:nvPr/>
        </p:nvSpPr>
        <p:spPr>
          <a:xfrm>
            <a:off x="470916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SEAL THE JOINT</a:t>
            </a:r>
            <a:endParaRPr lang="en-US" sz="900" dirty="0"/>
          </a:p>
        </p:txBody>
      </p:sp>
      <p:sp>
        <p:nvSpPr>
          <p:cNvPr id="33" name="Text 31"/>
          <p:cNvSpPr/>
          <p:nvPr/>
        </p:nvSpPr>
        <p:spPr>
          <a:xfrm>
            <a:off x="470916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Slide shrink tube over the joint and heat it. Add a service loop for strain relief.</a:t>
            </a:r>
            <a:endParaRPr lang="en-US" sz="1100" dirty="0"/>
          </a:p>
        </p:txBody>
      </p:sp>
      <p:sp>
        <p:nvSpPr>
          <p:cNvPr id="34" name="Shape 32"/>
          <p:cNvSpPr/>
          <p:nvPr/>
        </p:nvSpPr>
        <p:spPr>
          <a:xfrm>
            <a:off x="8046720" y="4123944"/>
            <a:ext cx="3310128" cy="2121408"/>
          </a:xfrm>
          <a:prstGeom prst="roundRect">
            <a:avLst>
              <a:gd name="adj" fmla="val 4741"/>
            </a:avLst>
          </a:prstGeom>
          <a:solidFill>
            <a:srgbClr val="FBFBFD"/>
          </a:solidFill>
          <a:ln w="12700">
            <a:solidFill>
              <a:srgbClr val="E3E3E6"/>
            </a:solidFill>
            <a:prstDash val="solid"/>
          </a:ln>
        </p:spPr>
      </p:sp>
      <p:sp>
        <p:nvSpPr>
          <p:cNvPr id="35" name="Shape 33"/>
          <p:cNvSpPr/>
          <p:nvPr/>
        </p:nvSpPr>
        <p:spPr>
          <a:xfrm>
            <a:off x="8321040" y="4398264"/>
            <a:ext cx="402336" cy="402336"/>
          </a:xfrm>
          <a:prstGeom prst="ellipse">
            <a:avLst/>
          </a:prstGeom>
          <a:solidFill>
            <a:srgbClr val="0D7490"/>
          </a:solidFill>
          <a:ln/>
        </p:spPr>
      </p:sp>
      <p:sp>
        <p:nvSpPr>
          <p:cNvPr id="36" name="Text 34"/>
          <p:cNvSpPr/>
          <p:nvPr/>
        </p:nvSpPr>
        <p:spPr>
          <a:xfrm>
            <a:off x="832104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6</a:t>
            </a:r>
            <a:endParaRPr lang="en-US" sz="1232" dirty="0"/>
          </a:p>
        </p:txBody>
      </p:sp>
      <p:sp>
        <p:nvSpPr>
          <p:cNvPr id="37" name="Text 35"/>
          <p:cNvSpPr/>
          <p:nvPr/>
        </p:nvSpPr>
        <p:spPr>
          <a:xfrm>
            <a:off x="885139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Inspect</a:t>
            </a:r>
            <a:endParaRPr lang="en-US" sz="1550" dirty="0"/>
          </a:p>
        </p:txBody>
      </p:sp>
      <p:sp>
        <p:nvSpPr>
          <p:cNvPr id="38" name="Text 36"/>
          <p:cNvSpPr/>
          <p:nvPr/>
        </p:nvSpPr>
        <p:spPr>
          <a:xfrm>
            <a:off x="832104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CHECK YOUR WORK</a:t>
            </a:r>
            <a:endParaRPr lang="en-US" sz="900" dirty="0"/>
          </a:p>
        </p:txBody>
      </p:sp>
      <p:sp>
        <p:nvSpPr>
          <p:cNvPr id="39" name="Text 37"/>
          <p:cNvSpPr/>
          <p:nvPr/>
        </p:nvSpPr>
        <p:spPr>
          <a:xfrm>
            <a:off x="832104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Hold it to the light. Shiny and solid? Done. Dull or lumpy? Reflow and try again.</a:t>
            </a:r>
            <a:endParaRPr lang="en-US" sz="1100" dirty="0"/>
          </a:p>
        </p:txBody>
      </p:sp>
      <p:sp>
        <p:nvSpPr>
          <p:cNvPr id="40" name="Shape 38"/>
          <p:cNvSpPr/>
          <p:nvPr/>
        </p:nvSpPr>
        <p:spPr>
          <a:xfrm>
            <a:off x="822960" y="6437376"/>
            <a:ext cx="10545775" cy="0"/>
          </a:xfrm>
          <a:prstGeom prst="line">
            <a:avLst/>
          </a:prstGeom>
          <a:noFill/>
          <a:ln w="9525">
            <a:solidFill>
              <a:srgbClr val="E3E3E6"/>
            </a:solidFill>
            <a:prstDash val="solid"/>
          </a:ln>
        </p:spPr>
      </p:sp>
      <p:sp>
        <p:nvSpPr>
          <p:cNvPr id="41" name="Text 39"/>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42" name="Text 40"/>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10 / 16</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HANDS ON</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Now everyone makes one.</a:t>
            </a:r>
            <a:endParaRPr lang="en-US" sz="3000" dirty="0"/>
          </a:p>
        </p:txBody>
      </p:sp>
      <p:sp>
        <p:nvSpPr>
          <p:cNvPr id="4" name="Shape 2"/>
          <p:cNvSpPr/>
          <p:nvPr/>
        </p:nvSpPr>
        <p:spPr>
          <a:xfrm>
            <a:off x="822960" y="1865376"/>
            <a:ext cx="457200" cy="457200"/>
          </a:xfrm>
          <a:prstGeom prst="ellipse">
            <a:avLst/>
          </a:prstGeom>
          <a:solidFill>
            <a:srgbClr val="0D7490"/>
          </a:solidFill>
          <a:ln/>
        </p:spPr>
      </p:sp>
      <p:sp>
        <p:nvSpPr>
          <p:cNvPr id="5" name="Text 3"/>
          <p:cNvSpPr/>
          <p:nvPr/>
        </p:nvSpPr>
        <p:spPr>
          <a:xfrm>
            <a:off x="822960" y="186537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1</a:t>
            </a:r>
            <a:endParaRPr lang="en-US" sz="1400" dirty="0"/>
          </a:p>
        </p:txBody>
      </p:sp>
      <p:sp>
        <p:nvSpPr>
          <p:cNvPr id="6" name="Text 4"/>
          <p:cNvSpPr/>
          <p:nvPr/>
        </p:nvSpPr>
        <p:spPr>
          <a:xfrm>
            <a:off x="1481328" y="1828800"/>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Strip and tin a wire</a:t>
            </a:r>
            <a:endParaRPr lang="en-US" sz="1600" dirty="0"/>
          </a:p>
        </p:txBody>
      </p:sp>
      <p:sp>
        <p:nvSpPr>
          <p:cNvPr id="7" name="Text 5"/>
          <p:cNvSpPr/>
          <p:nvPr/>
        </p:nvSpPr>
        <p:spPr>
          <a:xfrm>
            <a:off x="5212080" y="1810512"/>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Each kid strips a wire and tins it. We check for clean copper and a shiny tip before moving on.</a:t>
            </a:r>
            <a:endParaRPr lang="en-US" sz="1250" dirty="0"/>
          </a:p>
        </p:txBody>
      </p:sp>
      <p:sp>
        <p:nvSpPr>
          <p:cNvPr id="8" name="Shape 6"/>
          <p:cNvSpPr/>
          <p:nvPr/>
        </p:nvSpPr>
        <p:spPr>
          <a:xfrm>
            <a:off x="1051560" y="2395728"/>
            <a:ext cx="0" cy="384048"/>
          </a:xfrm>
          <a:prstGeom prst="line">
            <a:avLst/>
          </a:prstGeom>
          <a:noFill/>
          <a:ln w="19050">
            <a:solidFill>
              <a:srgbClr val="D6E7EB"/>
            </a:solidFill>
            <a:prstDash val="solid"/>
          </a:ln>
        </p:spPr>
      </p:sp>
      <p:sp>
        <p:nvSpPr>
          <p:cNvPr id="9" name="Shape 7"/>
          <p:cNvSpPr/>
          <p:nvPr/>
        </p:nvSpPr>
        <p:spPr>
          <a:xfrm>
            <a:off x="822960" y="2816352"/>
            <a:ext cx="457200" cy="457200"/>
          </a:xfrm>
          <a:prstGeom prst="ellipse">
            <a:avLst/>
          </a:prstGeom>
          <a:solidFill>
            <a:srgbClr val="0D7490"/>
          </a:solidFill>
          <a:ln/>
        </p:spPr>
      </p:sp>
      <p:sp>
        <p:nvSpPr>
          <p:cNvPr id="10" name="Text 8"/>
          <p:cNvSpPr/>
          <p:nvPr/>
        </p:nvSpPr>
        <p:spPr>
          <a:xfrm>
            <a:off x="822960" y="2816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2</a:t>
            </a:r>
            <a:endParaRPr lang="en-US" sz="1400" dirty="0"/>
          </a:p>
        </p:txBody>
      </p:sp>
      <p:sp>
        <p:nvSpPr>
          <p:cNvPr id="11" name="Text 9"/>
          <p:cNvSpPr/>
          <p:nvPr/>
        </p:nvSpPr>
        <p:spPr>
          <a:xfrm>
            <a:off x="1481328" y="2779776"/>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Make your first joint</a:t>
            </a:r>
            <a:endParaRPr lang="en-US" sz="1600" dirty="0"/>
          </a:p>
        </p:txBody>
      </p:sp>
      <p:sp>
        <p:nvSpPr>
          <p:cNvPr id="12" name="Text 10"/>
          <p:cNvSpPr/>
          <p:nvPr/>
        </p:nvSpPr>
        <p:spPr>
          <a:xfrm>
            <a:off x="5212080" y="2761488"/>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Join two tinned wires. Heat the joint, feed the solder, then let it cool without moving it.</a:t>
            </a:r>
            <a:endParaRPr lang="en-US" sz="1250" dirty="0"/>
          </a:p>
        </p:txBody>
      </p:sp>
      <p:sp>
        <p:nvSpPr>
          <p:cNvPr id="13" name="Shape 11"/>
          <p:cNvSpPr/>
          <p:nvPr/>
        </p:nvSpPr>
        <p:spPr>
          <a:xfrm>
            <a:off x="1051560" y="3346704"/>
            <a:ext cx="0" cy="384048"/>
          </a:xfrm>
          <a:prstGeom prst="line">
            <a:avLst/>
          </a:prstGeom>
          <a:noFill/>
          <a:ln w="19050">
            <a:solidFill>
              <a:srgbClr val="D6E7EB"/>
            </a:solidFill>
            <a:prstDash val="solid"/>
          </a:ln>
        </p:spPr>
      </p:sp>
      <p:sp>
        <p:nvSpPr>
          <p:cNvPr id="14" name="Shape 12"/>
          <p:cNvSpPr/>
          <p:nvPr/>
        </p:nvSpPr>
        <p:spPr>
          <a:xfrm>
            <a:off x="822960" y="3767328"/>
            <a:ext cx="457200" cy="457200"/>
          </a:xfrm>
          <a:prstGeom prst="ellipse">
            <a:avLst/>
          </a:prstGeom>
          <a:solidFill>
            <a:srgbClr val="0D7490"/>
          </a:solidFill>
          <a:ln/>
        </p:spPr>
      </p:sp>
      <p:sp>
        <p:nvSpPr>
          <p:cNvPr id="15" name="Text 13"/>
          <p:cNvSpPr/>
          <p:nvPr/>
        </p:nvSpPr>
        <p:spPr>
          <a:xfrm>
            <a:off x="822960" y="37673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3</a:t>
            </a:r>
            <a:endParaRPr lang="en-US" sz="1400" dirty="0"/>
          </a:p>
        </p:txBody>
      </p:sp>
      <p:sp>
        <p:nvSpPr>
          <p:cNvPr id="16" name="Text 14"/>
          <p:cNvSpPr/>
          <p:nvPr/>
        </p:nvSpPr>
        <p:spPr>
          <a:xfrm>
            <a:off x="1481328" y="3730752"/>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Heat-shrink and strain relief</a:t>
            </a:r>
            <a:endParaRPr lang="en-US" sz="1600" dirty="0"/>
          </a:p>
        </p:txBody>
      </p:sp>
      <p:sp>
        <p:nvSpPr>
          <p:cNvPr id="17" name="Text 15"/>
          <p:cNvSpPr/>
          <p:nvPr/>
        </p:nvSpPr>
        <p:spPr>
          <a:xfrm>
            <a:off x="5212080" y="3712464"/>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Slide the tube, shrink it, and add a service loop so the wire never pulls on the joint itself.</a:t>
            </a:r>
            <a:endParaRPr lang="en-US" sz="1250" dirty="0"/>
          </a:p>
        </p:txBody>
      </p:sp>
      <p:sp>
        <p:nvSpPr>
          <p:cNvPr id="18" name="Shape 16"/>
          <p:cNvSpPr/>
          <p:nvPr/>
        </p:nvSpPr>
        <p:spPr>
          <a:xfrm>
            <a:off x="1051560" y="4297680"/>
            <a:ext cx="0" cy="384048"/>
          </a:xfrm>
          <a:prstGeom prst="line">
            <a:avLst/>
          </a:prstGeom>
          <a:noFill/>
          <a:ln w="19050">
            <a:solidFill>
              <a:srgbClr val="D6E7EB"/>
            </a:solidFill>
            <a:prstDash val="solid"/>
          </a:ln>
        </p:spPr>
      </p:sp>
      <p:sp>
        <p:nvSpPr>
          <p:cNvPr id="19" name="Shape 17"/>
          <p:cNvSpPr/>
          <p:nvPr/>
        </p:nvSpPr>
        <p:spPr>
          <a:xfrm>
            <a:off x="822960" y="4718304"/>
            <a:ext cx="457200" cy="457200"/>
          </a:xfrm>
          <a:prstGeom prst="ellipse">
            <a:avLst/>
          </a:prstGeom>
          <a:solidFill>
            <a:srgbClr val="0D7490"/>
          </a:solidFill>
          <a:ln/>
        </p:spPr>
      </p:sp>
      <p:sp>
        <p:nvSpPr>
          <p:cNvPr id="20" name="Text 18"/>
          <p:cNvSpPr/>
          <p:nvPr/>
        </p:nvSpPr>
        <p:spPr>
          <a:xfrm>
            <a:off x="822960" y="47183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4</a:t>
            </a:r>
            <a:endParaRPr lang="en-US" sz="1400" dirty="0"/>
          </a:p>
        </p:txBody>
      </p:sp>
      <p:sp>
        <p:nvSpPr>
          <p:cNvPr id="21" name="Text 19"/>
          <p:cNvSpPr/>
          <p:nvPr/>
        </p:nvSpPr>
        <p:spPr>
          <a:xfrm>
            <a:off x="1481328" y="4681728"/>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Inspect and redo</a:t>
            </a:r>
            <a:endParaRPr lang="en-US" sz="1600" dirty="0"/>
          </a:p>
        </p:txBody>
      </p:sp>
      <p:sp>
        <p:nvSpPr>
          <p:cNvPr id="22" name="Text 20"/>
          <p:cNvSpPr/>
          <p:nvPr/>
        </p:nvSpPr>
        <p:spPr>
          <a:xfrm>
            <a:off x="5212080" y="4663440"/>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Hold it to the light. Shiny and solid moves on; dull or lumpy gets reflowed. Redoing it is the lesson.</a:t>
            </a:r>
            <a:endParaRPr lang="en-US" sz="1250" dirty="0"/>
          </a:p>
        </p:txBody>
      </p:sp>
      <p:sp>
        <p:nvSpPr>
          <p:cNvPr id="23" name="Shape 21"/>
          <p:cNvSpPr/>
          <p:nvPr/>
        </p:nvSpPr>
        <p:spPr>
          <a:xfrm>
            <a:off x="822960" y="5650992"/>
            <a:ext cx="10545775" cy="658368"/>
          </a:xfrm>
          <a:prstGeom prst="roundRect">
            <a:avLst>
              <a:gd name="adj" fmla="val 15278"/>
            </a:avLst>
          </a:prstGeom>
          <a:solidFill>
            <a:srgbClr val="EAF2F4"/>
          </a:solidFill>
          <a:ln w="12700">
            <a:solidFill>
              <a:srgbClr val="EAF2F4"/>
            </a:solidFill>
            <a:prstDash val="solid"/>
          </a:ln>
        </p:spPr>
      </p:sp>
      <p:sp>
        <p:nvSpPr>
          <p:cNvPr id="24" name="Text 22"/>
          <p:cNvSpPr/>
          <p:nvPr/>
        </p:nvSpPr>
        <p:spPr>
          <a:xfrm>
            <a:off x="1143000" y="5650992"/>
            <a:ext cx="9966960" cy="658368"/>
          </a:xfrm>
          <a:prstGeom prst="rect">
            <a:avLst/>
          </a:prstGeom>
          <a:noFill/>
          <a:ln/>
        </p:spPr>
        <p:txBody>
          <a:bodyPr wrap="square" lIns="0" tIns="0" rIns="0" bIns="0" rtlCol="0" anchor="ctr"/>
          <a:lstStyle/>
          <a:p>
            <a:pPr indent="0" marL="0">
              <a:lnSpc>
                <a:spcPts val="1500"/>
              </a:lnSpc>
              <a:buNone/>
            </a:pPr>
            <a:r>
              <a:rPr lang="en-US" sz="1150" b="1" dirty="0">
                <a:solidFill>
                  <a:srgbClr val="095D75"/>
                </a:solidFill>
                <a:latin typeface="Helvetica Neue" pitchFamily="34" charset="0"/>
                <a:ea typeface="Helvetica Neue" pitchFamily="34" charset="-122"/>
                <a:cs typeface="Helvetica Neue" pitchFamily="34" charset="-120"/>
              </a:rPr>
              <a:t xml:space="preserve">Two things to remember.  </a:t>
            </a:r>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No one opens the kit until they have made one joint they are proud of. The redo is not failure — it is the skill arriving.</a:t>
            </a:r>
            <a:endParaRPr lang="en-US" sz="1150" dirty="0"/>
          </a:p>
        </p:txBody>
      </p:sp>
      <p:sp>
        <p:nvSpPr>
          <p:cNvPr id="25" name="Shape 23"/>
          <p:cNvSpPr/>
          <p:nvPr/>
        </p:nvSpPr>
        <p:spPr>
          <a:xfrm>
            <a:off x="822960" y="6437376"/>
            <a:ext cx="10545775" cy="0"/>
          </a:xfrm>
          <a:prstGeom prst="line">
            <a:avLst/>
          </a:prstGeom>
          <a:noFill/>
          <a:ln w="9525">
            <a:solidFill>
              <a:srgbClr val="E3E3E6"/>
            </a:solidFill>
            <a:prstDash val="solid"/>
          </a:ln>
        </p:spPr>
      </p:sp>
      <p:sp>
        <p:nvSpPr>
          <p:cNvPr id="26" name="Text 24"/>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7" name="Text 25"/>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11 / 16</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0" y="2286000"/>
            <a:ext cx="12191695" cy="457200"/>
          </a:xfrm>
          <a:prstGeom prst="rect">
            <a:avLst/>
          </a:prstGeom>
          <a:noFill/>
          <a:ln/>
        </p:spPr>
        <p:txBody>
          <a:bodyPr wrap="square" lIns="0" tIns="0" rIns="0" bIns="0" rtlCol="0" anchor="ctr"/>
          <a:lstStyle/>
          <a:p>
            <a:pPr algn="ctr" indent="0" marL="0">
              <a:buNone/>
            </a:pPr>
            <a:r>
              <a:rPr lang="en-US" sz="1500" b="1" spc="500" kern="0" dirty="0">
                <a:solidFill>
                  <a:srgbClr val="0D7490"/>
                </a:solidFill>
                <a:latin typeface="Helvetica Neue" pitchFamily="34" charset="0"/>
                <a:ea typeface="Helvetica Neue" pitchFamily="34" charset="-122"/>
                <a:cs typeface="Helvetica Neue" pitchFamily="34" charset="-120"/>
              </a:rPr>
              <a:t>BREAK</a:t>
            </a:r>
            <a:endParaRPr lang="en-US" sz="1500" dirty="0"/>
          </a:p>
        </p:txBody>
      </p:sp>
      <p:sp>
        <p:nvSpPr>
          <p:cNvPr id="3" name="Text 1"/>
          <p:cNvSpPr/>
          <p:nvPr/>
        </p:nvSpPr>
        <p:spPr>
          <a:xfrm>
            <a:off x="0" y="2697480"/>
            <a:ext cx="12191695" cy="1005840"/>
          </a:xfrm>
          <a:prstGeom prst="rect">
            <a:avLst/>
          </a:prstGeom>
          <a:noFill/>
          <a:ln/>
        </p:spPr>
        <p:txBody>
          <a:bodyPr wrap="square" lIns="0" tIns="0" rIns="0" bIns="0" rtlCol="0" anchor="ctr"/>
          <a:lstStyle/>
          <a:p>
            <a:pPr algn="ctr" indent="0" marL="0">
              <a:buNone/>
            </a:pPr>
            <a:r>
              <a:rPr lang="en-US" sz="5200" b="1" dirty="0">
                <a:solidFill>
                  <a:srgbClr val="1D1D1F"/>
                </a:solidFill>
                <a:latin typeface="Helvetica Neue" pitchFamily="34" charset="0"/>
                <a:ea typeface="Helvetica Neue" pitchFamily="34" charset="-122"/>
                <a:cs typeface="Helvetica Neue" pitchFamily="34" charset="-120"/>
              </a:rPr>
              <a:t>Ten minutes.</a:t>
            </a:r>
            <a:endParaRPr lang="en-US" sz="5200" dirty="0"/>
          </a:p>
        </p:txBody>
      </p:sp>
      <p:sp>
        <p:nvSpPr>
          <p:cNvPr id="4" name="Shape 2"/>
          <p:cNvSpPr/>
          <p:nvPr/>
        </p:nvSpPr>
        <p:spPr>
          <a:xfrm>
            <a:off x="5455768" y="3977640"/>
            <a:ext cx="1280160" cy="0"/>
          </a:xfrm>
          <a:prstGeom prst="line">
            <a:avLst/>
          </a:prstGeom>
          <a:noFill/>
          <a:ln w="12700">
            <a:solidFill>
              <a:srgbClr val="E3E3E6"/>
            </a:solidFill>
            <a:prstDash val="solid"/>
          </a:ln>
        </p:spPr>
      </p:sp>
      <p:sp>
        <p:nvSpPr>
          <p:cNvPr id="5" name="Text 3"/>
          <p:cNvSpPr/>
          <p:nvPr/>
        </p:nvSpPr>
        <p:spPr>
          <a:xfrm>
            <a:off x="0" y="4206240"/>
            <a:ext cx="12191695" cy="457200"/>
          </a:xfrm>
          <a:prstGeom prst="rect">
            <a:avLst/>
          </a:prstGeom>
          <a:noFill/>
          <a:ln/>
        </p:spPr>
        <p:txBody>
          <a:bodyPr wrap="square" lIns="0" tIns="0" rIns="0" bIns="0" rtlCol="0" anchor="ctr"/>
          <a:lstStyle/>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We resume at 1:55 — hands washed, irons cooling, and we start on time.</a:t>
            </a:r>
            <a:endParaRPr lang="en-US" sz="1500" dirty="0"/>
          </a:p>
        </p:txBody>
      </p:sp>
      <p:sp>
        <p:nvSpPr>
          <p:cNvPr id="6" name="Shape 4"/>
          <p:cNvSpPr/>
          <p:nvPr/>
        </p:nvSpPr>
        <p:spPr>
          <a:xfrm>
            <a:off x="822960" y="6437376"/>
            <a:ext cx="10545775" cy="0"/>
          </a:xfrm>
          <a:prstGeom prst="line">
            <a:avLst/>
          </a:prstGeom>
          <a:noFill/>
          <a:ln w="9525">
            <a:solidFill>
              <a:srgbClr val="E3E3E6"/>
            </a:solidFill>
            <a:prstDash val="solid"/>
          </a:ln>
        </p:spPr>
      </p:sp>
      <p:sp>
        <p:nvSpPr>
          <p:cNvPr id="7" name="Text 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8" name="Text 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13 / 16</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04</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04</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Wrap-Up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Homework</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2:50 – 3:00   ·   10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Close the loop: what each student carries out, and what the team carries forward into the water.</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14 / 16</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WRAP-UP &amp; HOMEWORK</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Before we meet again.</a:t>
            </a:r>
            <a:endParaRPr lang="en-US" sz="3000" dirty="0"/>
          </a:p>
        </p:txBody>
      </p:sp>
      <p:sp>
        <p:nvSpPr>
          <p:cNvPr id="4" name="Text 2"/>
          <p:cNvSpPr/>
          <p:nvPr/>
        </p:nvSpPr>
        <p:spPr>
          <a:xfrm>
            <a:off x="822960" y="1783080"/>
            <a:ext cx="4937760" cy="274320"/>
          </a:xfrm>
          <a:prstGeom prst="rect">
            <a:avLst/>
          </a:prstGeom>
          <a:noFill/>
          <a:ln/>
        </p:spPr>
        <p:txBody>
          <a:bodyPr wrap="square" lIns="0" tIns="0" rIns="0" bIns="0" rtlCol="0" anchor="ctr"/>
          <a:lstStyle/>
          <a:p>
            <a:pPr indent="0" marL="0">
              <a:buNone/>
            </a:pPr>
            <a:r>
              <a:rPr lang="en-US" sz="1050" b="1" spc="150" kern="0" dirty="0">
                <a:solidFill>
                  <a:srgbClr val="0D7490"/>
                </a:solidFill>
                <a:latin typeface="Helvetica Neue" pitchFamily="34" charset="0"/>
                <a:ea typeface="Helvetica Neue" pitchFamily="34" charset="-122"/>
                <a:cs typeface="Helvetica Neue" pitchFamily="34" charset="-120"/>
              </a:rPr>
              <a:t>EVERY STUDENT</a:t>
            </a:r>
            <a:endParaRPr lang="en-US" sz="1050" dirty="0"/>
          </a:p>
        </p:txBody>
      </p:sp>
      <p:sp>
        <p:nvSpPr>
          <p:cNvPr id="5" name="Shape 3"/>
          <p:cNvSpPr/>
          <p:nvPr/>
        </p:nvSpPr>
        <p:spPr>
          <a:xfrm>
            <a:off x="822960" y="2139696"/>
            <a:ext cx="347472" cy="347472"/>
          </a:xfrm>
          <a:prstGeom prst="ellipse">
            <a:avLst/>
          </a:prstGeom>
          <a:solidFill>
            <a:srgbClr val="EAF2F4"/>
          </a:solidFill>
          <a:ln/>
        </p:spPr>
      </p:sp>
      <p:sp>
        <p:nvSpPr>
          <p:cNvPr id="6" name="Text 4"/>
          <p:cNvSpPr/>
          <p:nvPr/>
        </p:nvSpPr>
        <p:spPr>
          <a:xfrm>
            <a:off x="822960" y="2139696"/>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1</a:t>
            </a:r>
            <a:endParaRPr lang="en-US" sz="1064" dirty="0"/>
          </a:p>
        </p:txBody>
      </p:sp>
      <p:sp>
        <p:nvSpPr>
          <p:cNvPr id="7" name="Text 5"/>
          <p:cNvSpPr/>
          <p:nvPr/>
        </p:nvSpPr>
        <p:spPr>
          <a:xfrm>
            <a:off x="1298448" y="2084832"/>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Practice one clean joint at home — shiny, solid, strain-relieved.</a:t>
            </a:r>
            <a:endParaRPr lang="en-US" sz="1200" dirty="0"/>
          </a:p>
        </p:txBody>
      </p:sp>
      <p:sp>
        <p:nvSpPr>
          <p:cNvPr id="8" name="Shape 6"/>
          <p:cNvSpPr/>
          <p:nvPr/>
        </p:nvSpPr>
        <p:spPr>
          <a:xfrm>
            <a:off x="822960" y="2907792"/>
            <a:ext cx="347472" cy="347472"/>
          </a:xfrm>
          <a:prstGeom prst="ellipse">
            <a:avLst/>
          </a:prstGeom>
          <a:solidFill>
            <a:srgbClr val="EAF2F4"/>
          </a:solidFill>
          <a:ln/>
        </p:spPr>
      </p:sp>
      <p:sp>
        <p:nvSpPr>
          <p:cNvPr id="9" name="Text 7"/>
          <p:cNvSpPr/>
          <p:nvPr/>
        </p:nvSpPr>
        <p:spPr>
          <a:xfrm>
            <a:off x="822960" y="2907792"/>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2</a:t>
            </a:r>
            <a:endParaRPr lang="en-US" sz="1064" dirty="0"/>
          </a:p>
        </p:txBody>
      </p:sp>
      <p:sp>
        <p:nvSpPr>
          <p:cNvPr id="10" name="Text 8"/>
          <p:cNvSpPr/>
          <p:nvPr/>
        </p:nvSpPr>
        <p:spPr>
          <a:xfrm>
            <a:off x="1298448" y="2852928"/>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Be able to spot a cold joint vs. a good one on sight.</a:t>
            </a:r>
            <a:endParaRPr lang="en-US" sz="1200" dirty="0"/>
          </a:p>
        </p:txBody>
      </p:sp>
      <p:sp>
        <p:nvSpPr>
          <p:cNvPr id="11" name="Shape 9"/>
          <p:cNvSpPr/>
          <p:nvPr/>
        </p:nvSpPr>
        <p:spPr>
          <a:xfrm>
            <a:off x="822960" y="3675888"/>
            <a:ext cx="347472" cy="347472"/>
          </a:xfrm>
          <a:prstGeom prst="ellipse">
            <a:avLst/>
          </a:prstGeom>
          <a:solidFill>
            <a:srgbClr val="EAF2F4"/>
          </a:solidFill>
          <a:ln/>
        </p:spPr>
      </p:sp>
      <p:sp>
        <p:nvSpPr>
          <p:cNvPr id="12" name="Text 10"/>
          <p:cNvSpPr/>
          <p:nvPr/>
        </p:nvSpPr>
        <p:spPr>
          <a:xfrm>
            <a:off x="822960" y="3675888"/>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3</a:t>
            </a:r>
            <a:endParaRPr lang="en-US" sz="1064" dirty="0"/>
          </a:p>
        </p:txBody>
      </p:sp>
      <p:sp>
        <p:nvSpPr>
          <p:cNvPr id="13" name="Text 11"/>
          <p:cNvSpPr/>
          <p:nvPr/>
        </p:nvSpPr>
        <p:spPr>
          <a:xfrm>
            <a:off x="1298448" y="3621024"/>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Closed-toe shoes again next time — the kit comes out.</a:t>
            </a:r>
            <a:endParaRPr lang="en-US" sz="1200" dirty="0"/>
          </a:p>
        </p:txBody>
      </p:sp>
      <p:sp>
        <p:nvSpPr>
          <p:cNvPr id="14" name="Text 12"/>
          <p:cNvSpPr/>
          <p:nvPr/>
        </p:nvSpPr>
        <p:spPr>
          <a:xfrm>
            <a:off x="822960" y="4572000"/>
            <a:ext cx="5120640" cy="274320"/>
          </a:xfrm>
          <a:prstGeom prst="rect">
            <a:avLst/>
          </a:prstGeom>
          <a:noFill/>
          <a:ln/>
        </p:spPr>
        <p:txBody>
          <a:bodyPr wrap="square" lIns="0" tIns="0" rIns="0" bIns="0" rtlCol="0" anchor="ctr"/>
          <a:lstStyle/>
          <a:p>
            <a:pPr indent="0" marL="0">
              <a:buNone/>
            </a:pPr>
            <a:r>
              <a:rPr lang="en-US" sz="1050" b="1" spc="100" kern="0" dirty="0">
                <a:solidFill>
                  <a:srgbClr val="0D7490"/>
                </a:solidFill>
                <a:latin typeface="Helvetica Neue" pitchFamily="34" charset="0"/>
                <a:ea typeface="Helvetica Neue" pitchFamily="34" charset="-122"/>
                <a:cs typeface="Helvetica Neue" pitchFamily="34" charset="-120"/>
              </a:rPr>
              <a:t>THE PARALLEL TRACK  ·  LEADS &amp; ADVISORS</a:t>
            </a:r>
            <a:endParaRPr lang="en-US" sz="1050" dirty="0"/>
          </a:p>
        </p:txBody>
      </p:sp>
      <p:sp>
        <p:nvSpPr>
          <p:cNvPr id="15" name="Text 13"/>
          <p:cNvSpPr/>
          <p:nvPr/>
        </p:nvSpPr>
        <p:spPr>
          <a:xfrm>
            <a:off x="822960" y="4882896"/>
            <a:ext cx="5029200" cy="1188720"/>
          </a:xfrm>
          <a:prstGeom prst="rect">
            <a:avLst/>
          </a:prstGeom>
          <a:noFill/>
          <a:ln/>
        </p:spPr>
        <p:txBody>
          <a:bodyPr wrap="square" lIns="0" tIns="0" rIns="0" bIns="0" rtlCol="0" anchor="ctr"/>
          <a:lstStyle/>
          <a:p>
            <a:pPr indent="0" marL="0">
              <a:lnSpc>
                <a:spcPts val="1600"/>
              </a:lnSpc>
              <a:buNone/>
            </a:pPr>
            <a:r>
              <a:rPr lang="en-US" sz="1150" dirty="0">
                <a:solidFill>
                  <a:srgbClr val="6E6E73"/>
                </a:solidFill>
                <a:latin typeface="Helvetica Neue" pitchFamily="34" charset="0"/>
                <a:ea typeface="Helvetica Neue" pitchFamily="34" charset="-122"/>
                <a:cs typeface="Helvetica Neue" pitchFamily="34" charset="-120"/>
              </a:rPr>
              <a:t>Battery, charger, and leads in hand before the electronics class. SeaMATE lab kits stocked. Pool prerequisites in motion — lifeguard, swim checks, host rules in writing.</a:t>
            </a:r>
            <a:endParaRPr lang="en-US" sz="1150" dirty="0"/>
          </a:p>
        </p:txBody>
      </p:sp>
      <p:sp>
        <p:nvSpPr>
          <p:cNvPr id="16" name="Shape 14"/>
          <p:cNvSpPr/>
          <p:nvPr/>
        </p:nvSpPr>
        <p:spPr>
          <a:xfrm>
            <a:off x="6263640" y="1783080"/>
            <a:ext cx="5102352" cy="4297680"/>
          </a:xfrm>
          <a:prstGeom prst="roundRect">
            <a:avLst>
              <a:gd name="adj" fmla="val 2340"/>
            </a:avLst>
          </a:prstGeom>
          <a:solidFill>
            <a:srgbClr val="0D7490"/>
          </a:solidFill>
          <a:ln w="12700">
            <a:solidFill>
              <a:srgbClr val="0D7490"/>
            </a:solidFill>
            <a:prstDash val="solid"/>
          </a:ln>
        </p:spPr>
      </p:sp>
      <p:sp>
        <p:nvSpPr>
          <p:cNvPr id="17" name="Text 15"/>
          <p:cNvSpPr/>
          <p:nvPr/>
        </p:nvSpPr>
        <p:spPr>
          <a:xfrm>
            <a:off x="6675120" y="2157984"/>
            <a:ext cx="4297680" cy="274320"/>
          </a:xfrm>
          <a:prstGeom prst="rect">
            <a:avLst/>
          </a:prstGeom>
          <a:noFill/>
          <a:ln/>
        </p:spPr>
        <p:txBody>
          <a:bodyPr wrap="square" lIns="0" tIns="0" rIns="0" bIns="0" rtlCol="0" anchor="ctr"/>
          <a:lstStyle/>
          <a:p>
            <a:pPr indent="0" marL="0">
              <a:buNone/>
            </a:pPr>
            <a:r>
              <a:rPr lang="en-US" sz="1100" b="1" spc="200" kern="0" dirty="0">
                <a:solidFill>
                  <a:srgbClr val="9FCEDA"/>
                </a:solidFill>
                <a:latin typeface="Helvetica Neue" pitchFamily="34" charset="0"/>
                <a:ea typeface="Helvetica Neue" pitchFamily="34" charset="-122"/>
                <a:cs typeface="Helvetica Neue" pitchFamily="34" charset="-120"/>
              </a:rPr>
              <a:t>NEXT LESSON  ·  CLASS 1.3</a:t>
            </a:r>
            <a:endParaRPr lang="en-US" sz="1100" dirty="0"/>
          </a:p>
        </p:txBody>
      </p:sp>
      <p:sp>
        <p:nvSpPr>
          <p:cNvPr id="18" name="Text 16"/>
          <p:cNvSpPr/>
          <p:nvPr/>
        </p:nvSpPr>
        <p:spPr>
          <a:xfrm>
            <a:off x="6675120" y="2487168"/>
            <a:ext cx="4297680" cy="1508760"/>
          </a:xfrm>
          <a:prstGeom prst="rect">
            <a:avLst/>
          </a:prstGeom>
          <a:noFill/>
          <a:ln/>
        </p:spPr>
        <p:txBody>
          <a:bodyPr wrap="square" lIns="0" tIns="0" rIns="0" bIns="0" rtlCol="0" anchor="ctr"/>
          <a:lstStyle/>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Kit Unboxing</a:t>
            </a:r>
            <a:endParaRPr lang="en-US" sz="4000" dirty="0"/>
          </a:p>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&amp; Electronics</a:t>
            </a:r>
            <a:endParaRPr lang="en-US" sz="4000" dirty="0"/>
          </a:p>
        </p:txBody>
      </p:sp>
      <p:sp>
        <p:nvSpPr>
          <p:cNvPr id="19" name="Shape 17"/>
          <p:cNvSpPr/>
          <p:nvPr/>
        </p:nvSpPr>
        <p:spPr>
          <a:xfrm>
            <a:off x="6675120" y="4114800"/>
            <a:ext cx="4251960" cy="0"/>
          </a:xfrm>
          <a:prstGeom prst="line">
            <a:avLst/>
          </a:prstGeom>
          <a:noFill/>
          <a:ln w="12700">
            <a:solidFill>
              <a:srgbClr val="3E7E91"/>
            </a:solidFill>
            <a:prstDash val="solid"/>
          </a:ln>
        </p:spPr>
      </p:sp>
      <p:sp>
        <p:nvSpPr>
          <p:cNvPr id="20" name="Text 18"/>
          <p:cNvSpPr/>
          <p:nvPr/>
        </p:nvSpPr>
        <p:spPr>
          <a:xfrm>
            <a:off x="6675120" y="4279392"/>
            <a:ext cx="4297680" cy="1554480"/>
          </a:xfrm>
          <a:prstGeom prst="rect">
            <a:avLst/>
          </a:prstGeom>
          <a:noFill/>
          <a:ln/>
        </p:spPr>
        <p:txBody>
          <a:bodyPr wrap="square" lIns="0" tIns="0" rIns="0" bIns="0" rtlCol="0" anchor="ctr"/>
          <a:lstStyle/>
          <a:p>
            <a:pPr indent="0" marL="0">
              <a:lnSpc>
                <a:spcPts val="1750"/>
              </a:lnSpc>
              <a:buNone/>
            </a:pPr>
            <a:r>
              <a:rPr lang="en-US" sz="1250" dirty="0">
                <a:solidFill>
                  <a:srgbClr val="EAF2F4"/>
                </a:solidFill>
                <a:latin typeface="Helvetica Neue" pitchFamily="34" charset="0"/>
                <a:ea typeface="Helvetica Neue" pitchFamily="34" charset="-122"/>
                <a:cs typeface="Helvetica Neue" pitchFamily="34" charset="-120"/>
              </a:rPr>
              <a:t>The Triggerfish comes out of the box, gets inventoried, and takes its first real connections — plus the team's records and capsule designs open.</a:t>
            </a:r>
            <a:endParaRPr lang="en-US" sz="1250" dirty="0"/>
          </a:p>
        </p:txBody>
      </p:sp>
      <p:sp>
        <p:nvSpPr>
          <p:cNvPr id="21" name="Shape 19"/>
          <p:cNvSpPr/>
          <p:nvPr/>
        </p:nvSpPr>
        <p:spPr>
          <a:xfrm>
            <a:off x="822960" y="6437376"/>
            <a:ext cx="10545775" cy="0"/>
          </a:xfrm>
          <a:prstGeom prst="line">
            <a:avLst/>
          </a:prstGeom>
          <a:noFill/>
          <a:ln w="9525">
            <a:solidFill>
              <a:srgbClr val="E3E3E6"/>
            </a:solidFill>
            <a:prstDash val="solid"/>
          </a:ln>
        </p:spPr>
      </p:sp>
      <p:sp>
        <p:nvSpPr>
          <p:cNvPr id="22" name="Text 2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3" name="Text 2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15 / 16</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icPr>
            <a:picLocks noChangeAspect="1"/>
          </p:cNvPicPr>
          <p:nvPr/>
        </p:nvPicPr>
        <p:blipFill>
          <a:blip r:embed="rId1"/>
          <a:stretch>
            <a:fillRect/>
          </a:stretch>
        </p:blipFill>
        <p:spPr>
          <a:xfrm>
            <a:off x="5570068" y="960120"/>
            <a:ext cx="1051560" cy="1051560"/>
          </a:xfrm>
          <a:prstGeom prst="rect">
            <a:avLst/>
          </a:prstGeom>
        </p:spPr>
      </p:pic>
      <p:sp>
        <p:nvSpPr>
          <p:cNvPr id="3" name="Text 0"/>
          <p:cNvSpPr/>
          <p:nvPr/>
        </p:nvSpPr>
        <p:spPr>
          <a:xfrm>
            <a:off x="0" y="2304288"/>
            <a:ext cx="12191695" cy="329184"/>
          </a:xfrm>
          <a:prstGeom prst="rect">
            <a:avLst/>
          </a:prstGeom>
          <a:noFill/>
          <a:ln/>
        </p:spPr>
        <p:txBody>
          <a:bodyPr wrap="square" lIns="0" tIns="0" rIns="0" bIns="0" rtlCol="0" anchor="ctr"/>
          <a:lstStyle/>
          <a:p>
            <a:pPr algn="ctr" indent="0" marL="0">
              <a:buNone/>
            </a:pPr>
            <a:r>
              <a:rPr lang="en-US" sz="1200" b="1" spc="350" kern="0" dirty="0">
                <a:solidFill>
                  <a:srgbClr val="9FCEDA"/>
                </a:solidFill>
                <a:latin typeface="Helvetica Neue" pitchFamily="34" charset="0"/>
                <a:ea typeface="Helvetica Neue" pitchFamily="34" charset="-122"/>
                <a:cs typeface="Helvetica Neue" pitchFamily="34" charset="-120"/>
              </a:rPr>
              <a:t>SIX KIDS, SIX IRONS</a:t>
            </a:r>
            <a:endParaRPr lang="en-US" sz="1200" dirty="0"/>
          </a:p>
        </p:txBody>
      </p:sp>
      <p:sp>
        <p:nvSpPr>
          <p:cNvPr id="4" name="Text 1"/>
          <p:cNvSpPr/>
          <p:nvPr/>
        </p:nvSpPr>
        <p:spPr>
          <a:xfrm>
            <a:off x="0" y="2651760"/>
            <a:ext cx="12191695"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Helvetica Neue" pitchFamily="34" charset="0"/>
                <a:ea typeface="Helvetica Neue" pitchFamily="34" charset="-122"/>
                <a:cs typeface="Helvetica Neue" pitchFamily="34" charset="-120"/>
              </a:rPr>
              <a:t>Now it’s real.</a:t>
            </a:r>
            <a:endParaRPr lang="en-US" sz="4600" dirty="0"/>
          </a:p>
        </p:txBody>
      </p:sp>
      <p:sp>
        <p:nvSpPr>
          <p:cNvPr id="5" name="Shape 2"/>
          <p:cNvSpPr/>
          <p:nvPr/>
        </p:nvSpPr>
        <p:spPr>
          <a:xfrm>
            <a:off x="5455768" y="3703320"/>
            <a:ext cx="1280160" cy="0"/>
          </a:xfrm>
          <a:prstGeom prst="line">
            <a:avLst/>
          </a:prstGeom>
          <a:noFill/>
          <a:ln w="12700">
            <a:solidFill>
              <a:srgbClr val="3E7E91"/>
            </a:solidFill>
            <a:prstDash val="solid"/>
          </a:ln>
        </p:spPr>
      </p:sp>
      <p:sp>
        <p:nvSpPr>
          <p:cNvPr id="6" name="Text 3"/>
          <p:cNvSpPr/>
          <p:nvPr/>
        </p:nvSpPr>
        <p:spPr>
          <a:xfrm>
            <a:off x="1371600" y="3950208"/>
            <a:ext cx="9448495" cy="914400"/>
          </a:xfrm>
          <a:prstGeom prst="rect">
            <a:avLst/>
          </a:prstGeom>
          <a:noFill/>
          <a:ln/>
        </p:spPr>
        <p:txBody>
          <a:bodyPr wrap="square" lIns="0" tIns="0" rIns="0" bIns="0" rtlCol="0" anchor="ctr"/>
          <a:lstStyle/>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Everyone soldered. The kit is open, the first joints are on the robot, and the capsule is on paper.</a:t>
            </a:r>
            <a:endParaRPr lang="en-US" sz="1500" dirty="0"/>
          </a:p>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Next time, the kit comes out.</a:t>
            </a:r>
            <a:endParaRPr lang="en-US" sz="1500" dirty="0"/>
          </a:p>
        </p:txBody>
      </p:sp>
      <p:sp>
        <p:nvSpPr>
          <p:cNvPr id="7" name="Text 4"/>
          <p:cNvSpPr/>
          <p:nvPr/>
        </p:nvSpPr>
        <p:spPr>
          <a:xfrm>
            <a:off x="0" y="5897880"/>
            <a:ext cx="12191695" cy="310896"/>
          </a:xfrm>
          <a:prstGeom prst="rect">
            <a:avLst/>
          </a:prstGeom>
          <a:noFill/>
          <a:ln/>
        </p:spPr>
        <p:txBody>
          <a:bodyPr wrap="square" lIns="0" tIns="0" rIns="0" bIns="0" rtlCol="0" anchor="ctr"/>
          <a:lstStyle/>
          <a:p>
            <a:pPr algn="ctr" indent="0" marL="0">
              <a:buNone/>
            </a:pPr>
            <a:r>
              <a:rPr lang="en-US" sz="900" spc="200" kern="0" dirty="0">
                <a:solidFill>
                  <a:srgbClr val="6BA0AF"/>
                </a:solidFill>
                <a:latin typeface="Helvetica Neue" pitchFamily="34" charset="0"/>
                <a:ea typeface="Helvetica Neue" pitchFamily="34" charset="-122"/>
                <a:cs typeface="Helvetica Neue" pitchFamily="34" charset="-120"/>
              </a:rPr>
              <a:t>SAY WATT ROBOTICS  ·  ROV TEAM      |      NEXT LESSON — CLASS 1.3, KIT UNBOXING &amp; FIRST ELECTRONICS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BEFORE CLASS</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Watch it at home. Build it in class.</a:t>
            </a:r>
            <a:endParaRPr lang="en-US" sz="3000" dirty="0"/>
          </a:p>
        </p:txBody>
      </p:sp>
      <p:sp>
        <p:nvSpPr>
          <p:cNvPr id="4" name="Text 2"/>
          <p:cNvSpPr/>
          <p:nvPr/>
        </p:nvSpPr>
        <p:spPr>
          <a:xfrm>
            <a:off x="822960" y="1828800"/>
            <a:ext cx="5669280" cy="173736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The concepts come from MATE’s own instructors. Watch these short presentations before class, so every minute of our meeting is spent at the bench, not at a screen.</a:t>
            </a:r>
            <a:endParaRPr lang="en-US" sz="1500" dirty="0"/>
          </a:p>
        </p:txBody>
      </p:sp>
      <p:sp>
        <p:nvSpPr>
          <p:cNvPr id="5" name="Text 3"/>
          <p:cNvSpPr/>
          <p:nvPr/>
        </p:nvSpPr>
        <p:spPr>
          <a:xfrm>
            <a:off x="822960" y="3611880"/>
            <a:ext cx="5669280" cy="155448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As you watch, notice: how to tin the tip; why the heat goes on the joint, not the solder; what a good joint looks like; and how heat-shrink and strain relief protect the wire.</a:t>
            </a:r>
            <a:endParaRPr lang="en-US" sz="1500" dirty="0"/>
          </a:p>
        </p:txBody>
      </p:sp>
      <p:sp>
        <p:nvSpPr>
          <p:cNvPr id="6" name="Text 4"/>
          <p:cNvSpPr/>
          <p:nvPr/>
        </p:nvSpPr>
        <p:spPr>
          <a:xfrm>
            <a:off x="822960" y="5212080"/>
            <a:ext cx="5669280" cy="640080"/>
          </a:xfrm>
          <a:prstGeom prst="rect">
            <a:avLst/>
          </a:prstGeom>
          <a:noFill/>
          <a:ln/>
        </p:spPr>
        <p:txBody>
          <a:bodyPr wrap="square" lIns="0" tIns="0" rIns="0" bIns="0" rtlCol="0" anchor="ctr"/>
          <a:lstStyle/>
          <a:p>
            <a:pPr indent="0" marL="0">
              <a:lnSpc>
                <a:spcPts val="2000"/>
              </a:lnSpc>
              <a:buNone/>
            </a:pPr>
            <a:r>
              <a:rPr lang="en-US" sz="1400" b="1" dirty="0">
                <a:solidFill>
                  <a:srgbClr val="1D1D1F"/>
                </a:solidFill>
                <a:latin typeface="Helvetica Neue" pitchFamily="34" charset="0"/>
                <a:ea typeface="Helvetica Neue" pitchFamily="34" charset="-122"/>
                <a:cs typeface="Helvetica Neue" pitchFamily="34" charset="-120"/>
              </a:rPr>
              <a:t>Come ready to solder — in class we recap, demo once, and then it’s hands on irons.</a:t>
            </a:r>
            <a:endParaRPr lang="en-US" sz="1400" dirty="0"/>
          </a:p>
        </p:txBody>
      </p:sp>
      <p:sp>
        <p:nvSpPr>
          <p:cNvPr id="7" name="Shape 5"/>
          <p:cNvSpPr/>
          <p:nvPr/>
        </p:nvSpPr>
        <p:spPr>
          <a:xfrm>
            <a:off x="6858000" y="1828800"/>
            <a:ext cx="4507992" cy="4160520"/>
          </a:xfrm>
          <a:prstGeom prst="roundRect">
            <a:avLst>
              <a:gd name="adj" fmla="val 2418"/>
            </a:avLst>
          </a:prstGeom>
          <a:solidFill>
            <a:srgbClr val="095D75"/>
          </a:solidFill>
          <a:ln w="12700">
            <a:solidFill>
              <a:srgbClr val="095D75"/>
            </a:solidFill>
            <a:prstDash val="solid"/>
          </a:ln>
        </p:spPr>
      </p:sp>
      <p:sp>
        <p:nvSpPr>
          <p:cNvPr id="8" name="Text 6"/>
          <p:cNvSpPr/>
          <p:nvPr/>
        </p:nvSpPr>
        <p:spPr>
          <a:xfrm>
            <a:off x="7223760" y="2212848"/>
            <a:ext cx="3840480"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PRE-WATCH HOMEWORK</a:t>
            </a:r>
            <a:endParaRPr lang="en-US" sz="1050" dirty="0"/>
          </a:p>
        </p:txBody>
      </p:sp>
      <p:sp>
        <p:nvSpPr>
          <p:cNvPr id="9" name="Text 7"/>
          <p:cNvSpPr/>
          <p:nvPr/>
        </p:nvSpPr>
        <p:spPr>
          <a:xfrm>
            <a:off x="7223760" y="2578608"/>
            <a:ext cx="3794760" cy="2103120"/>
          </a:xfrm>
          <a:prstGeom prst="rect">
            <a:avLst/>
          </a:prstGeom>
          <a:noFill/>
          <a:ln/>
        </p:spPr>
        <p:txBody>
          <a:bodyPr wrap="square" lIns="0" tIns="0" rIns="0" bIns="0" rtlCol="0" anchor="ctr"/>
          <a:lstStyle/>
          <a:p>
            <a:pPr indent="0" marL="0">
              <a:lnSpc>
                <a:spcPts val="2700"/>
              </a:lnSpc>
              <a:buNone/>
            </a:pPr>
            <a:r>
              <a:rPr lang="en-US" sz="2100" b="1" dirty="0">
                <a:solidFill>
                  <a:srgbClr val="FFFFFF"/>
                </a:solidFill>
                <a:latin typeface="Helvetica Neue" pitchFamily="34" charset="0"/>
                <a:ea typeface="Helvetica Neue" pitchFamily="34" charset="-122"/>
                <a:cs typeface="Helvetica Neue" pitchFamily="34" charset="-120"/>
              </a:rPr>
              <a:t>Three short videos, then straight to the iron.</a:t>
            </a:r>
            <a:endParaRPr lang="en-US" sz="2100" dirty="0"/>
          </a:p>
        </p:txBody>
      </p:sp>
      <p:sp>
        <p:nvSpPr>
          <p:cNvPr id="10" name="Shape 8"/>
          <p:cNvSpPr/>
          <p:nvPr/>
        </p:nvSpPr>
        <p:spPr>
          <a:xfrm>
            <a:off x="7223760" y="4617720"/>
            <a:ext cx="3776472" cy="0"/>
          </a:xfrm>
          <a:prstGeom prst="line">
            <a:avLst/>
          </a:prstGeom>
          <a:noFill/>
          <a:ln w="12700">
            <a:solidFill>
              <a:srgbClr val="3E7E91"/>
            </a:solidFill>
            <a:prstDash val="solid"/>
          </a:ln>
        </p:spPr>
      </p:sp>
      <p:sp>
        <p:nvSpPr>
          <p:cNvPr id="11" name="Text 9"/>
          <p:cNvSpPr/>
          <p:nvPr/>
        </p:nvSpPr>
        <p:spPr>
          <a:xfrm>
            <a:off x="7223760" y="4800600"/>
            <a:ext cx="3794760" cy="292608"/>
          </a:xfrm>
          <a:prstGeom prst="rect">
            <a:avLst/>
          </a:prstGeom>
          <a:noFill/>
          <a:ln/>
        </p:spPr>
        <p:txBody>
          <a:bodyPr wrap="square" lIns="0" tIns="0" rIns="0" bIns="0" rtlCol="0" anchor="ctr"/>
          <a:lstStyle/>
          <a:p>
            <a:pPr indent="0" marL="0">
              <a:buNone/>
            </a:pPr>
            <a:r>
              <a:rPr lang="en-US" sz="1200" dirty="0">
                <a:solidFill>
                  <a:srgbClr val="9FCEDA"/>
                </a:solidFill>
                <a:latin typeface="Helvetica Neue" pitchFamily="34" charset="0"/>
                <a:ea typeface="Helvetica Neue" pitchFamily="34" charset="-122"/>
                <a:cs typeface="Helvetica Neue" pitchFamily="34" charset="-120"/>
                <a:hlinkClick r:id="rId3"/>
              </a:rPr>
              <a:t>MATE: Soldering &amp; Waterproofing Wires</a:t>
            </a:r>
            <a:endParaRPr lang="en-US" sz="1200" dirty="0"/>
          </a:p>
        </p:txBody>
      </p:sp>
      <p:sp>
        <p:nvSpPr>
          <p:cNvPr id="12" name="Text 10"/>
          <p:cNvSpPr/>
          <p:nvPr/>
        </p:nvSpPr>
        <p:spPr>
          <a:xfrm>
            <a:off x="7223760" y="5084064"/>
            <a:ext cx="3794760" cy="731520"/>
          </a:xfrm>
          <a:prstGeom prst="rect">
            <a:avLst/>
          </a:prstGeom>
          <a:noFill/>
          <a:ln/>
        </p:spPr>
        <p:txBody>
          <a:bodyPr wrap="square" lIns="0" tIns="0" rIns="0" bIns="0" rtlCol="0" anchor="ctr"/>
          <a:lstStyle/>
          <a:p>
            <a:pPr indent="0" marL="0">
              <a:lnSpc>
                <a:spcPts val="1500"/>
              </a:lnSpc>
              <a:buNone/>
            </a:pPr>
            <a:r>
              <a:rPr lang="en-US" sz="1100" dirty="0">
                <a:solidFill>
                  <a:srgbClr val="C9E3EA"/>
                </a:solidFill>
                <a:latin typeface="Helvetica Neue" pitchFamily="34" charset="0"/>
                <a:ea typeface="Helvetica Neue" pitchFamily="34" charset="-122"/>
                <a:cs typeface="Helvetica Neue" pitchFamily="34" charset="-120"/>
              </a:rPr>
              <a:t>Plus MATE: Using Tools (20–30 min) and How to Solder (22 min) — all assigned on the team site.</a:t>
            </a:r>
            <a:endParaRPr lang="en-US" sz="1100" dirty="0"/>
          </a:p>
        </p:txBody>
      </p:sp>
      <p:sp>
        <p:nvSpPr>
          <p:cNvPr id="13" name="Shape 11"/>
          <p:cNvSpPr/>
          <p:nvPr/>
        </p:nvSpPr>
        <p:spPr>
          <a:xfrm>
            <a:off x="822960" y="6437376"/>
            <a:ext cx="10545775" cy="0"/>
          </a:xfrm>
          <a:prstGeom prst="line">
            <a:avLst/>
          </a:prstGeom>
          <a:noFill/>
          <a:ln w="9525">
            <a:solidFill>
              <a:srgbClr val="E3E3E6"/>
            </a:solidFill>
            <a:prstDash val="solid"/>
          </a:ln>
        </p:spPr>
      </p:sp>
      <p:sp>
        <p:nvSpPr>
          <p:cNvPr id="14" name="Text 12"/>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5" name="Text 13"/>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1.2 — SOLDERING BOOTCAMP   ·   9 / 16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ROV Team — Week 1: Kickoff</dc:title>
  <dc:subject>PptxGenJS Presentation</dc:subject>
  <dc:creator>Say Watt Robotics — ROV Team</dc:creator>
  <cp:lastModifiedBy>Say Watt Robotics — ROV Team</cp:lastModifiedBy>
  <cp:revision>1</cp:revision>
  <dcterms:created xsi:type="dcterms:W3CDTF">2026-05-25T21:02:30Z</dcterms:created>
  <dcterms:modified xsi:type="dcterms:W3CDTF">2026-05-25T21:02:30Z</dcterms:modified>
</cp:coreProperties>
</file>