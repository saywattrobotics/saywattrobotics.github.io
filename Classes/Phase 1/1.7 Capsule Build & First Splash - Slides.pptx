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day's shape — two halves, two safety briefs. The kids should know this is the most operationally complex day of Phase 1. ~30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agenda. Call out the two safety briefs explicitly. Confirm travel time and who's driving which kids. ~60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Assign roles. The Photographer carries today HARD — capsule drop, smoke test, every kid in the water. ~90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Workshop-half safety brief. Standard ritual, with the capsule-day additions on epoxy and PVC.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Workshop-half safety brief. Standard format, with epoxy fume and PVC sharp-edge additions. The poolside brief at 1:30 is its own slide — don't conflate the two.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Capsule build. The marine epoxy working time is the constraint — don't mix until both caps are ready.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spend the most time on the headline's verb.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spend the most time on the headline's verb.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Poolside safety brief. Different brief from the workshop. Re-deliver every pool day.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spend the most time on the headline's verb.</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kid in the water. Phase 1 exit-gate beat. No tasks, just comfort.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spend the most time on the headline's verb.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Smoke test. The moment we've been protecting since 1.5. Read the script; do not deviate.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spend the most time on the headline's verb.</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Capsule drop. First of three dry dives needed for the Phase 1 gate.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spend the most time on the headline's verb.</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Wrap-up at the deck. Thank the lifeguard and the host BEFORE we leave.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pool deck, not the workshop. Quick. Read the three student items, confirm owners, thank the lifeguard publicly. The Tool Steward handles the deck pack-out.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Notetaker fills these in live as decisions are made. Read back before the closer.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Steward leads. Every kid stays until the workshop is reset.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closer back at the workshop OR on the pool deck if the team is still gathered. Either is fine. ~30 seconds.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695" cy="6858000"/>
          </a:xfrm>
          <a:prstGeom prst="rect">
            <a:avLst/>
          </a:prstGeom>
          <a:solidFill>
            <a:srgbClr val="095D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463040"/>
            <a:ext cx="12191695" cy="411480"/>
          </a:xfrm>
          <a:prstGeom prst="rect">
            <a:avLst/>
          </a:prstGeom>
          <a:noFill/>
        </p:spPr>
        <p:txBody>
          <a:bodyPr wrap="square" lIns="0" rIns="0" tIns="0" bIns="0" anchor="t">
            <a:spAutoFit/>
          </a:bodyPr>
          <a:lstStyle/>
          <a:p>
            <a:pPr algn="ctr"/>
            <a:r>
              <a:rPr sz="1250" b="1" i="0" cap="all" spc="200">
                <a:solidFill>
                  <a:srgbClr val="9FCEDA"/>
                </a:solidFill>
                <a:latin typeface="Helvetica Neue"/>
              </a:rPr>
              <a:t>PHASE 1 — FOUNDATION</a:t>
            </a:r>
          </a:p>
        </p:txBody>
      </p:sp>
      <p:sp>
        <p:nvSpPr>
          <p:cNvPr id="6" name="TextBox 5"/>
          <p:cNvSpPr txBox="1"/>
          <p:nvPr/>
        </p:nvSpPr>
        <p:spPr>
          <a:xfrm>
            <a:off x="0" y="1965960"/>
            <a:ext cx="12191695" cy="1371600"/>
          </a:xfrm>
          <a:prstGeom prst="rect">
            <a:avLst/>
          </a:prstGeom>
          <a:noFill/>
        </p:spPr>
        <p:txBody>
          <a:bodyPr wrap="square" lIns="0" rIns="0" tIns="0" bIns="0" anchor="t">
            <a:spAutoFit/>
          </a:bodyPr>
          <a:lstStyle/>
          <a:p>
            <a:pPr algn="ctr">
              <a:lnSpc>
                <a:spcPct val="100000"/>
              </a:lnSpc>
            </a:pPr>
            <a:r>
              <a:rPr sz="3800" b="1" i="0">
                <a:solidFill>
                  <a:srgbClr val="FFFFFF"/>
                </a:solidFill>
                <a:latin typeface="Helvetica Neue"/>
              </a:rPr>
              <a:t>Week 7 — Capsule Build &amp; First Splash</a:t>
            </a:r>
          </a:p>
        </p:txBody>
      </p:sp>
      <p:sp>
        <p:nvSpPr>
          <p:cNvPr id="7" name="TextBox 6"/>
          <p:cNvSpPr txBox="1"/>
          <p:nvPr/>
        </p:nvSpPr>
        <p:spPr>
          <a:xfrm>
            <a:off x="0" y="3703320"/>
            <a:ext cx="12191695" cy="457200"/>
          </a:xfrm>
          <a:prstGeom prst="rect">
            <a:avLst/>
          </a:prstGeom>
          <a:noFill/>
        </p:spPr>
        <p:txBody>
          <a:bodyPr wrap="square" lIns="0" rIns="0" tIns="0" bIns="0" anchor="t">
            <a:spAutoFit/>
          </a:bodyPr>
          <a:lstStyle/>
          <a:p>
            <a:pPr algn="ctr"/>
            <a:r>
              <a:rPr sz="2300" b="0" i="0">
                <a:solidFill>
                  <a:srgbClr val="C9E3EA"/>
                </a:solidFill>
                <a:latin typeface="Helvetica Neue"/>
              </a:rPr>
              <a:t>Build the capsules. Brief the deck. Every kid in the water.</a:t>
            </a:r>
          </a:p>
        </p:txBody>
      </p:sp>
      <p:cxnSp>
        <p:nvCxnSpPr>
          <p:cNvPr id="8" name="Connector 7"/>
          <p:cNvCxnSpPr/>
          <p:nvPr/>
        </p:nvCxnSpPr>
        <p:spPr>
          <a:xfrm>
            <a:off x="5410504" y="4480560"/>
            <a:ext cx="1371600" cy="0"/>
          </a:xfrm>
          <a:prstGeom prst="line">
            <a:avLst/>
          </a:prstGeom>
          <a:ln w="12700">
            <a:solidFill>
              <a:srgbClr val="6BA0A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0" y="4617720"/>
            <a:ext cx="12191695" cy="274320"/>
          </a:xfrm>
          <a:prstGeom prst="rect">
            <a:avLst/>
          </a:prstGeom>
          <a:noFill/>
        </p:spPr>
        <p:txBody>
          <a:bodyPr wrap="square" lIns="0" rIns="0" tIns="0" bIns="0" anchor="t">
            <a:spAutoFit/>
          </a:bodyPr>
          <a:lstStyle/>
          <a:p>
            <a:pPr algn="ctr"/>
            <a:r>
              <a:rPr sz="1200" b="0" i="0">
                <a:solidFill>
                  <a:srgbClr val="9FCEDA"/>
                </a:solidFill>
                <a:latin typeface="Helvetica Neue"/>
              </a:rPr>
              <a:t>Say Watt Robotics  ·  ROV Team  |  2026–2027 MATE ROV Season</a:t>
            </a:r>
          </a:p>
        </p:txBody>
      </p:sp>
      <p:sp>
        <p:nvSpPr>
          <p:cNvPr id="10" name="TextBox 9"/>
          <p:cNvSpPr txBox="1"/>
          <p:nvPr/>
        </p:nvSpPr>
        <p:spPr>
          <a:xfrm>
            <a:off x="0" y="6355080"/>
            <a:ext cx="12191695" cy="274320"/>
          </a:xfrm>
          <a:prstGeom prst="rect">
            <a:avLst/>
          </a:prstGeom>
          <a:noFill/>
        </p:spPr>
        <p:txBody>
          <a:bodyPr wrap="square" lIns="0" rIns="0" tIns="0" bIns="0" anchor="t">
            <a:spAutoFit/>
          </a:bodyPr>
          <a:lstStyle/>
          <a:p>
            <a:pPr algn="ctr"/>
            <a:r>
              <a:rPr sz="900" b="1" i="0" cap="all" spc="180">
                <a:solidFill>
                  <a:srgbClr val="9FCEDA"/>
                </a:solidFill>
                <a:latin typeface="Helvetica Neue"/>
              </a:rPr>
              <a:t>MEETING 7   ·   THREE HOURS   ·   POOL DAY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AGENDA</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Three hours. Build the capsules. Brief the deck. Get wet.</a:t>
            </a:r>
          </a:p>
        </p:txBody>
      </p:sp>
      <p:sp>
        <p:nvSpPr>
          <p:cNvPr id="6" name="TextBox 5"/>
          <p:cNvSpPr txBox="1"/>
          <p:nvPr/>
        </p:nvSpPr>
        <p:spPr>
          <a:xfrm>
            <a:off x="822960" y="1965960"/>
            <a:ext cx="1463040" cy="384048"/>
          </a:xfrm>
          <a:prstGeom prst="rect">
            <a:avLst/>
          </a:prstGeom>
          <a:noFill/>
        </p:spPr>
        <p:txBody>
          <a:bodyPr wrap="square" lIns="0" rIns="0" tIns="0" bIns="0" anchor="t">
            <a:spAutoFit/>
          </a:bodyPr>
          <a:lstStyle/>
          <a:p>
            <a:pPr algn="l"/>
            <a:r>
              <a:rPr sz="1400" b="1" i="0">
                <a:solidFill>
                  <a:srgbClr val="0D7490"/>
                </a:solidFill>
                <a:latin typeface="Helvetica Neue"/>
              </a:rPr>
              <a:t>0:00</a:t>
            </a:r>
          </a:p>
        </p:txBody>
      </p:sp>
      <p:sp>
        <p:nvSpPr>
          <p:cNvPr id="7" name="TextBox 6"/>
          <p:cNvSpPr txBox="1"/>
          <p:nvPr/>
        </p:nvSpPr>
        <p:spPr>
          <a:xfrm>
            <a:off x="2468880" y="1965960"/>
            <a:ext cx="6858000" cy="384048"/>
          </a:xfrm>
          <a:prstGeom prst="rect">
            <a:avLst/>
          </a:prstGeom>
          <a:noFill/>
        </p:spPr>
        <p:txBody>
          <a:bodyPr wrap="square" lIns="0" rIns="0" tIns="0" bIns="0" anchor="t">
            <a:spAutoFit/>
          </a:bodyPr>
          <a:lstStyle/>
          <a:p>
            <a:pPr algn="l"/>
            <a:r>
              <a:rPr sz="1400" b="0" i="0">
                <a:solidFill>
                  <a:srgbClr val="1D1D1F"/>
                </a:solidFill>
                <a:latin typeface="Helvetica Neue"/>
              </a:rPr>
              <a:t>Welcome &amp; Safety Brief (Workshop Half)</a:t>
            </a:r>
          </a:p>
        </p:txBody>
      </p:sp>
      <p:sp>
        <p:nvSpPr>
          <p:cNvPr id="8" name="TextBox 7"/>
          <p:cNvSpPr txBox="1"/>
          <p:nvPr/>
        </p:nvSpPr>
        <p:spPr>
          <a:xfrm>
            <a:off x="9144000" y="1965960"/>
            <a:ext cx="2194560" cy="384048"/>
          </a:xfrm>
          <a:prstGeom prst="rect">
            <a:avLst/>
          </a:prstGeom>
          <a:noFill/>
        </p:spPr>
        <p:txBody>
          <a:bodyPr wrap="square" lIns="0" rIns="0" tIns="0" bIns="0" anchor="t">
            <a:spAutoFit/>
          </a:bodyPr>
          <a:lstStyle/>
          <a:p>
            <a:pPr algn="r"/>
            <a:r>
              <a:rPr sz="1300" b="0" i="0">
                <a:solidFill>
                  <a:srgbClr val="86868B"/>
                </a:solidFill>
                <a:latin typeface="Helvetica Neue"/>
              </a:rPr>
              <a:t>10 min</a:t>
            </a:r>
          </a:p>
        </p:txBody>
      </p:sp>
      <p:sp>
        <p:nvSpPr>
          <p:cNvPr id="9" name="TextBox 8"/>
          <p:cNvSpPr txBox="1"/>
          <p:nvPr/>
        </p:nvSpPr>
        <p:spPr>
          <a:xfrm>
            <a:off x="822960" y="2350008"/>
            <a:ext cx="1463040" cy="384048"/>
          </a:xfrm>
          <a:prstGeom prst="rect">
            <a:avLst/>
          </a:prstGeom>
          <a:noFill/>
        </p:spPr>
        <p:txBody>
          <a:bodyPr wrap="square" lIns="0" rIns="0" tIns="0" bIns="0" anchor="t">
            <a:spAutoFit/>
          </a:bodyPr>
          <a:lstStyle/>
          <a:p>
            <a:pPr algn="l"/>
            <a:r>
              <a:rPr sz="1400" b="1" i="0">
                <a:solidFill>
                  <a:srgbClr val="0D7490"/>
                </a:solidFill>
                <a:latin typeface="Helvetica Neue"/>
              </a:rPr>
              <a:t>0:10</a:t>
            </a:r>
          </a:p>
        </p:txBody>
      </p:sp>
      <p:sp>
        <p:nvSpPr>
          <p:cNvPr id="10" name="TextBox 9"/>
          <p:cNvSpPr txBox="1"/>
          <p:nvPr/>
        </p:nvSpPr>
        <p:spPr>
          <a:xfrm>
            <a:off x="2468880" y="2350008"/>
            <a:ext cx="6858000" cy="384048"/>
          </a:xfrm>
          <a:prstGeom prst="rect">
            <a:avLst/>
          </a:prstGeom>
          <a:noFill/>
        </p:spPr>
        <p:txBody>
          <a:bodyPr wrap="square" lIns="0" rIns="0" tIns="0" bIns="0" anchor="t">
            <a:spAutoFit/>
          </a:bodyPr>
          <a:lstStyle/>
          <a:p>
            <a:pPr algn="l"/>
            <a:r>
              <a:rPr sz="1400" b="0" i="0">
                <a:solidFill>
                  <a:srgbClr val="1D1D1F"/>
                </a:solidFill>
                <a:latin typeface="Helvetica Neue"/>
              </a:rPr>
              <a:t>Capsule Build — PVC, Caps, O-Rings, Epoxy</a:t>
            </a:r>
          </a:p>
        </p:txBody>
      </p:sp>
      <p:sp>
        <p:nvSpPr>
          <p:cNvPr id="11" name="TextBox 10"/>
          <p:cNvSpPr txBox="1"/>
          <p:nvPr/>
        </p:nvSpPr>
        <p:spPr>
          <a:xfrm>
            <a:off x="9144000" y="2350008"/>
            <a:ext cx="2194560" cy="384048"/>
          </a:xfrm>
          <a:prstGeom prst="rect">
            <a:avLst/>
          </a:prstGeom>
          <a:noFill/>
        </p:spPr>
        <p:txBody>
          <a:bodyPr wrap="square" lIns="0" rIns="0" tIns="0" bIns="0" anchor="t">
            <a:spAutoFit/>
          </a:bodyPr>
          <a:lstStyle/>
          <a:p>
            <a:pPr algn="r"/>
            <a:r>
              <a:rPr sz="1300" b="0" i="0">
                <a:solidFill>
                  <a:srgbClr val="86868B"/>
                </a:solidFill>
                <a:latin typeface="Helvetica Neue"/>
              </a:rPr>
              <a:t>60 min</a:t>
            </a:r>
          </a:p>
        </p:txBody>
      </p:sp>
      <p:sp>
        <p:nvSpPr>
          <p:cNvPr id="12" name="TextBox 11"/>
          <p:cNvSpPr txBox="1"/>
          <p:nvPr/>
        </p:nvSpPr>
        <p:spPr>
          <a:xfrm>
            <a:off x="822960" y="2734056"/>
            <a:ext cx="1463040" cy="384048"/>
          </a:xfrm>
          <a:prstGeom prst="rect">
            <a:avLst/>
          </a:prstGeom>
          <a:noFill/>
        </p:spPr>
        <p:txBody>
          <a:bodyPr wrap="square" lIns="0" rIns="0" tIns="0" bIns="0" anchor="t">
            <a:spAutoFit/>
          </a:bodyPr>
          <a:lstStyle/>
          <a:p>
            <a:pPr algn="l"/>
            <a:r>
              <a:rPr sz="1400" b="1" i="0">
                <a:solidFill>
                  <a:srgbClr val="0D7490"/>
                </a:solidFill>
                <a:latin typeface="Helvetica Neue"/>
              </a:rPr>
              <a:t>1:10</a:t>
            </a:r>
          </a:p>
        </p:txBody>
      </p:sp>
      <p:sp>
        <p:nvSpPr>
          <p:cNvPr id="13" name="TextBox 12"/>
          <p:cNvSpPr txBox="1"/>
          <p:nvPr/>
        </p:nvSpPr>
        <p:spPr>
          <a:xfrm>
            <a:off x="2468880" y="2734056"/>
            <a:ext cx="6858000" cy="384048"/>
          </a:xfrm>
          <a:prstGeom prst="rect">
            <a:avLst/>
          </a:prstGeom>
          <a:noFill/>
        </p:spPr>
        <p:txBody>
          <a:bodyPr wrap="square" lIns="0" rIns="0" tIns="0" bIns="0" anchor="t">
            <a:spAutoFit/>
          </a:bodyPr>
          <a:lstStyle/>
          <a:p>
            <a:pPr algn="l"/>
            <a:r>
              <a:rPr sz="1400" b="0" i="0">
                <a:solidFill>
                  <a:srgbClr val="1D1D1F"/>
                </a:solidFill>
                <a:latin typeface="Helvetica Neue"/>
              </a:rPr>
              <a:t>Travel to the Pool</a:t>
            </a:r>
          </a:p>
        </p:txBody>
      </p:sp>
      <p:sp>
        <p:nvSpPr>
          <p:cNvPr id="14" name="TextBox 13"/>
          <p:cNvSpPr txBox="1"/>
          <p:nvPr/>
        </p:nvSpPr>
        <p:spPr>
          <a:xfrm>
            <a:off x="9144000" y="2734056"/>
            <a:ext cx="2194560" cy="384048"/>
          </a:xfrm>
          <a:prstGeom prst="rect">
            <a:avLst/>
          </a:prstGeom>
          <a:noFill/>
        </p:spPr>
        <p:txBody>
          <a:bodyPr wrap="square" lIns="0" rIns="0" tIns="0" bIns="0" anchor="t">
            <a:spAutoFit/>
          </a:bodyPr>
          <a:lstStyle/>
          <a:p>
            <a:pPr algn="r"/>
            <a:r>
              <a:rPr sz="1300" b="0" i="0">
                <a:solidFill>
                  <a:srgbClr val="86868B"/>
                </a:solidFill>
                <a:latin typeface="Helvetica Neue"/>
              </a:rPr>
              <a:t>20 min</a:t>
            </a:r>
          </a:p>
        </p:txBody>
      </p:sp>
      <p:sp>
        <p:nvSpPr>
          <p:cNvPr id="15" name="TextBox 14"/>
          <p:cNvSpPr txBox="1"/>
          <p:nvPr/>
        </p:nvSpPr>
        <p:spPr>
          <a:xfrm>
            <a:off x="822960" y="3118104"/>
            <a:ext cx="1463040" cy="384048"/>
          </a:xfrm>
          <a:prstGeom prst="rect">
            <a:avLst/>
          </a:prstGeom>
          <a:noFill/>
        </p:spPr>
        <p:txBody>
          <a:bodyPr wrap="square" lIns="0" rIns="0" tIns="0" bIns="0" anchor="t">
            <a:spAutoFit/>
          </a:bodyPr>
          <a:lstStyle/>
          <a:p>
            <a:pPr algn="l"/>
            <a:r>
              <a:rPr sz="1400" b="1" i="0">
                <a:solidFill>
                  <a:srgbClr val="0D7490"/>
                </a:solidFill>
                <a:latin typeface="Helvetica Neue"/>
              </a:rPr>
              <a:t>1:30</a:t>
            </a:r>
          </a:p>
        </p:txBody>
      </p:sp>
      <p:sp>
        <p:nvSpPr>
          <p:cNvPr id="16" name="TextBox 15"/>
          <p:cNvSpPr txBox="1"/>
          <p:nvPr/>
        </p:nvSpPr>
        <p:spPr>
          <a:xfrm>
            <a:off x="2468880" y="3118104"/>
            <a:ext cx="6858000" cy="384048"/>
          </a:xfrm>
          <a:prstGeom prst="rect">
            <a:avLst/>
          </a:prstGeom>
          <a:noFill/>
        </p:spPr>
        <p:txBody>
          <a:bodyPr wrap="square" lIns="0" rIns="0" tIns="0" bIns="0" anchor="t">
            <a:spAutoFit/>
          </a:bodyPr>
          <a:lstStyle/>
          <a:p>
            <a:pPr algn="l"/>
            <a:r>
              <a:rPr sz="1400" b="0" i="0">
                <a:solidFill>
                  <a:srgbClr val="1D1D1F"/>
                </a:solidFill>
                <a:latin typeface="Helvetica Neue"/>
              </a:rPr>
              <a:t>Poolside Safety Brief</a:t>
            </a:r>
          </a:p>
        </p:txBody>
      </p:sp>
      <p:sp>
        <p:nvSpPr>
          <p:cNvPr id="17" name="TextBox 16"/>
          <p:cNvSpPr txBox="1"/>
          <p:nvPr/>
        </p:nvSpPr>
        <p:spPr>
          <a:xfrm>
            <a:off x="9144000" y="3118104"/>
            <a:ext cx="2194560" cy="384048"/>
          </a:xfrm>
          <a:prstGeom prst="rect">
            <a:avLst/>
          </a:prstGeom>
          <a:noFill/>
        </p:spPr>
        <p:txBody>
          <a:bodyPr wrap="square" lIns="0" rIns="0" tIns="0" bIns="0" anchor="t">
            <a:spAutoFit/>
          </a:bodyPr>
          <a:lstStyle/>
          <a:p>
            <a:pPr algn="r"/>
            <a:r>
              <a:rPr sz="1300" b="0" i="0">
                <a:solidFill>
                  <a:srgbClr val="86868B"/>
                </a:solidFill>
                <a:latin typeface="Helvetica Neue"/>
              </a:rPr>
              <a:t>15 min</a:t>
            </a:r>
          </a:p>
        </p:txBody>
      </p:sp>
      <p:sp>
        <p:nvSpPr>
          <p:cNvPr id="18" name="TextBox 17"/>
          <p:cNvSpPr txBox="1"/>
          <p:nvPr/>
        </p:nvSpPr>
        <p:spPr>
          <a:xfrm>
            <a:off x="822960" y="3502152"/>
            <a:ext cx="1463040" cy="384048"/>
          </a:xfrm>
          <a:prstGeom prst="rect">
            <a:avLst/>
          </a:prstGeom>
          <a:noFill/>
        </p:spPr>
        <p:txBody>
          <a:bodyPr wrap="square" lIns="0" rIns="0" tIns="0" bIns="0" anchor="t">
            <a:spAutoFit/>
          </a:bodyPr>
          <a:lstStyle/>
          <a:p>
            <a:pPr algn="l"/>
            <a:r>
              <a:rPr sz="1400" b="1" i="0">
                <a:solidFill>
                  <a:srgbClr val="0D7490"/>
                </a:solidFill>
                <a:latin typeface="Helvetica Neue"/>
              </a:rPr>
              <a:t>1:45</a:t>
            </a:r>
          </a:p>
        </p:txBody>
      </p:sp>
      <p:sp>
        <p:nvSpPr>
          <p:cNvPr id="19" name="TextBox 18"/>
          <p:cNvSpPr txBox="1"/>
          <p:nvPr/>
        </p:nvSpPr>
        <p:spPr>
          <a:xfrm>
            <a:off x="2468880" y="3502152"/>
            <a:ext cx="6858000" cy="384048"/>
          </a:xfrm>
          <a:prstGeom prst="rect">
            <a:avLst/>
          </a:prstGeom>
          <a:noFill/>
        </p:spPr>
        <p:txBody>
          <a:bodyPr wrap="square" lIns="0" rIns="0" tIns="0" bIns="0" anchor="t">
            <a:spAutoFit/>
          </a:bodyPr>
          <a:lstStyle/>
          <a:p>
            <a:pPr algn="l"/>
            <a:r>
              <a:rPr sz="1400" b="0" i="0">
                <a:solidFill>
                  <a:srgbClr val="1D1D1F"/>
                </a:solidFill>
                <a:latin typeface="Helvetica Neue"/>
              </a:rPr>
              <a:t>Every Kid in the Water — Comfort First</a:t>
            </a:r>
          </a:p>
        </p:txBody>
      </p:sp>
      <p:sp>
        <p:nvSpPr>
          <p:cNvPr id="20" name="TextBox 19"/>
          <p:cNvSpPr txBox="1"/>
          <p:nvPr/>
        </p:nvSpPr>
        <p:spPr>
          <a:xfrm>
            <a:off x="9144000" y="3502152"/>
            <a:ext cx="2194560" cy="384048"/>
          </a:xfrm>
          <a:prstGeom prst="rect">
            <a:avLst/>
          </a:prstGeom>
          <a:noFill/>
        </p:spPr>
        <p:txBody>
          <a:bodyPr wrap="square" lIns="0" rIns="0" tIns="0" bIns="0" anchor="t">
            <a:spAutoFit/>
          </a:bodyPr>
          <a:lstStyle/>
          <a:p>
            <a:pPr algn="r"/>
            <a:r>
              <a:rPr sz="1300" b="0" i="0">
                <a:solidFill>
                  <a:srgbClr val="86868B"/>
                </a:solidFill>
                <a:latin typeface="Helvetica Neue"/>
              </a:rPr>
              <a:t>30 min</a:t>
            </a:r>
          </a:p>
        </p:txBody>
      </p:sp>
      <p:sp>
        <p:nvSpPr>
          <p:cNvPr id="21" name="TextBox 20"/>
          <p:cNvSpPr txBox="1"/>
          <p:nvPr/>
        </p:nvSpPr>
        <p:spPr>
          <a:xfrm>
            <a:off x="822960" y="3886200"/>
            <a:ext cx="1463040" cy="384048"/>
          </a:xfrm>
          <a:prstGeom prst="rect">
            <a:avLst/>
          </a:prstGeom>
          <a:noFill/>
        </p:spPr>
        <p:txBody>
          <a:bodyPr wrap="square" lIns="0" rIns="0" tIns="0" bIns="0" anchor="t">
            <a:spAutoFit/>
          </a:bodyPr>
          <a:lstStyle/>
          <a:p>
            <a:pPr algn="l"/>
            <a:r>
              <a:rPr sz="1400" b="1" i="0">
                <a:solidFill>
                  <a:srgbClr val="0D7490"/>
                </a:solidFill>
                <a:latin typeface="Helvetica Neue"/>
              </a:rPr>
              <a:t>2:15</a:t>
            </a:r>
          </a:p>
        </p:txBody>
      </p:sp>
      <p:sp>
        <p:nvSpPr>
          <p:cNvPr id="22" name="TextBox 21"/>
          <p:cNvSpPr txBox="1"/>
          <p:nvPr/>
        </p:nvSpPr>
        <p:spPr>
          <a:xfrm>
            <a:off x="2468880" y="3886200"/>
            <a:ext cx="6858000" cy="384048"/>
          </a:xfrm>
          <a:prstGeom prst="rect">
            <a:avLst/>
          </a:prstGeom>
          <a:noFill/>
        </p:spPr>
        <p:txBody>
          <a:bodyPr wrap="square" lIns="0" rIns="0" tIns="0" bIns="0" anchor="t">
            <a:spAutoFit/>
          </a:bodyPr>
          <a:lstStyle/>
          <a:p>
            <a:pPr algn="l"/>
            <a:r>
              <a:rPr sz="1400" b="0" i="0">
                <a:solidFill>
                  <a:srgbClr val="1D1D1F"/>
                </a:solidFill>
                <a:latin typeface="Helvetica Neue"/>
              </a:rPr>
              <a:t>Smoke Test of the Control Box</a:t>
            </a:r>
          </a:p>
        </p:txBody>
      </p:sp>
      <p:sp>
        <p:nvSpPr>
          <p:cNvPr id="23" name="TextBox 22"/>
          <p:cNvSpPr txBox="1"/>
          <p:nvPr/>
        </p:nvSpPr>
        <p:spPr>
          <a:xfrm>
            <a:off x="9144000" y="3886200"/>
            <a:ext cx="2194560" cy="384048"/>
          </a:xfrm>
          <a:prstGeom prst="rect">
            <a:avLst/>
          </a:prstGeom>
          <a:noFill/>
        </p:spPr>
        <p:txBody>
          <a:bodyPr wrap="square" lIns="0" rIns="0" tIns="0" bIns="0" anchor="t">
            <a:spAutoFit/>
          </a:bodyPr>
          <a:lstStyle/>
          <a:p>
            <a:pPr algn="r"/>
            <a:r>
              <a:rPr sz="1300" b="0" i="0">
                <a:solidFill>
                  <a:srgbClr val="86868B"/>
                </a:solidFill>
                <a:latin typeface="Helvetica Neue"/>
              </a:rPr>
              <a:t>15 min</a:t>
            </a:r>
          </a:p>
        </p:txBody>
      </p:sp>
      <p:sp>
        <p:nvSpPr>
          <p:cNvPr id="24" name="TextBox 23"/>
          <p:cNvSpPr txBox="1"/>
          <p:nvPr/>
        </p:nvSpPr>
        <p:spPr>
          <a:xfrm>
            <a:off x="822960" y="4270248"/>
            <a:ext cx="1463040" cy="384048"/>
          </a:xfrm>
          <a:prstGeom prst="rect">
            <a:avLst/>
          </a:prstGeom>
          <a:noFill/>
        </p:spPr>
        <p:txBody>
          <a:bodyPr wrap="square" lIns="0" rIns="0" tIns="0" bIns="0" anchor="t">
            <a:spAutoFit/>
          </a:bodyPr>
          <a:lstStyle/>
          <a:p>
            <a:pPr algn="l"/>
            <a:r>
              <a:rPr sz="1400" b="1" i="0">
                <a:solidFill>
                  <a:srgbClr val="0D7490"/>
                </a:solidFill>
                <a:latin typeface="Helvetica Neue"/>
              </a:rPr>
              <a:t>2:30</a:t>
            </a:r>
          </a:p>
        </p:txBody>
      </p:sp>
      <p:sp>
        <p:nvSpPr>
          <p:cNvPr id="25" name="TextBox 24"/>
          <p:cNvSpPr txBox="1"/>
          <p:nvPr/>
        </p:nvSpPr>
        <p:spPr>
          <a:xfrm>
            <a:off x="2468880" y="4270248"/>
            <a:ext cx="6858000" cy="384048"/>
          </a:xfrm>
          <a:prstGeom prst="rect">
            <a:avLst/>
          </a:prstGeom>
          <a:noFill/>
        </p:spPr>
        <p:txBody>
          <a:bodyPr wrap="square" lIns="0" rIns="0" tIns="0" bIns="0" anchor="t">
            <a:spAutoFit/>
          </a:bodyPr>
          <a:lstStyle/>
          <a:p>
            <a:pPr algn="l"/>
            <a:r>
              <a:rPr sz="1400" b="0" i="0">
                <a:solidFill>
                  <a:srgbClr val="1D1D1F"/>
                </a:solidFill>
                <a:latin typeface="Helvetica Neue"/>
              </a:rPr>
              <a:t>Capsule Drop #1 + Towel Check</a:t>
            </a:r>
          </a:p>
        </p:txBody>
      </p:sp>
      <p:sp>
        <p:nvSpPr>
          <p:cNvPr id="26" name="TextBox 25"/>
          <p:cNvSpPr txBox="1"/>
          <p:nvPr/>
        </p:nvSpPr>
        <p:spPr>
          <a:xfrm>
            <a:off x="9144000" y="4270248"/>
            <a:ext cx="2194560" cy="384048"/>
          </a:xfrm>
          <a:prstGeom prst="rect">
            <a:avLst/>
          </a:prstGeom>
          <a:noFill/>
        </p:spPr>
        <p:txBody>
          <a:bodyPr wrap="square" lIns="0" rIns="0" tIns="0" bIns="0" anchor="t">
            <a:spAutoFit/>
          </a:bodyPr>
          <a:lstStyle/>
          <a:p>
            <a:pPr algn="r"/>
            <a:r>
              <a:rPr sz="1300" b="0" i="0">
                <a:solidFill>
                  <a:srgbClr val="86868B"/>
                </a:solidFill>
                <a:latin typeface="Helvetica Neue"/>
              </a:rPr>
              <a:t>20 min</a:t>
            </a:r>
          </a:p>
        </p:txBody>
      </p:sp>
      <p:sp>
        <p:nvSpPr>
          <p:cNvPr id="27" name="TextBox 26"/>
          <p:cNvSpPr txBox="1"/>
          <p:nvPr/>
        </p:nvSpPr>
        <p:spPr>
          <a:xfrm>
            <a:off x="822960" y="4654296"/>
            <a:ext cx="1463040" cy="384048"/>
          </a:xfrm>
          <a:prstGeom prst="rect">
            <a:avLst/>
          </a:prstGeom>
          <a:noFill/>
        </p:spPr>
        <p:txBody>
          <a:bodyPr wrap="square" lIns="0" rIns="0" tIns="0" bIns="0" anchor="t">
            <a:spAutoFit/>
          </a:bodyPr>
          <a:lstStyle/>
          <a:p>
            <a:pPr algn="l"/>
            <a:r>
              <a:rPr sz="1400" b="1" i="0">
                <a:solidFill>
                  <a:srgbClr val="0D7490"/>
                </a:solidFill>
                <a:latin typeface="Helvetica Neue"/>
              </a:rPr>
              <a:t>2:50</a:t>
            </a:r>
          </a:p>
        </p:txBody>
      </p:sp>
      <p:sp>
        <p:nvSpPr>
          <p:cNvPr id="28" name="TextBox 27"/>
          <p:cNvSpPr txBox="1"/>
          <p:nvPr/>
        </p:nvSpPr>
        <p:spPr>
          <a:xfrm>
            <a:off x="2468880" y="4654296"/>
            <a:ext cx="6858000" cy="384048"/>
          </a:xfrm>
          <a:prstGeom prst="rect">
            <a:avLst/>
          </a:prstGeom>
          <a:noFill/>
        </p:spPr>
        <p:txBody>
          <a:bodyPr wrap="square" lIns="0" rIns="0" tIns="0" bIns="0" anchor="t">
            <a:spAutoFit/>
          </a:bodyPr>
          <a:lstStyle/>
          <a:p>
            <a:pPr algn="l"/>
            <a:r>
              <a:rPr sz="1400" b="0" i="0">
                <a:solidFill>
                  <a:srgbClr val="1D1D1F"/>
                </a:solidFill>
                <a:latin typeface="Helvetica Neue"/>
              </a:rPr>
              <a:t>Wrap-Up at the Deck</a:t>
            </a:r>
          </a:p>
        </p:txBody>
      </p:sp>
      <p:sp>
        <p:nvSpPr>
          <p:cNvPr id="29" name="TextBox 28"/>
          <p:cNvSpPr txBox="1"/>
          <p:nvPr/>
        </p:nvSpPr>
        <p:spPr>
          <a:xfrm>
            <a:off x="9144000" y="4654296"/>
            <a:ext cx="2194560" cy="384048"/>
          </a:xfrm>
          <a:prstGeom prst="rect">
            <a:avLst/>
          </a:prstGeom>
          <a:noFill/>
        </p:spPr>
        <p:txBody>
          <a:bodyPr wrap="square" lIns="0" rIns="0" tIns="0" bIns="0" anchor="t">
            <a:spAutoFit/>
          </a:bodyPr>
          <a:lstStyle/>
          <a:p>
            <a:pPr algn="r"/>
            <a:r>
              <a:rPr sz="1300" b="0" i="0">
                <a:solidFill>
                  <a:srgbClr val="86868B"/>
                </a:solidFill>
                <a:latin typeface="Helvetica Neue"/>
              </a:rPr>
              <a:t>10 min</a:t>
            </a:r>
          </a:p>
        </p:txBody>
      </p:sp>
      <p:sp>
        <p:nvSpPr>
          <p:cNvPr id="30" name="TextBox 29"/>
          <p:cNvSpPr txBox="1"/>
          <p:nvPr/>
        </p:nvSpPr>
        <p:spPr>
          <a:xfrm>
            <a:off x="822960" y="5266944"/>
            <a:ext cx="10515600" cy="502920"/>
          </a:xfrm>
          <a:prstGeom prst="rect">
            <a:avLst/>
          </a:prstGeom>
          <a:noFill/>
        </p:spPr>
        <p:txBody>
          <a:bodyPr wrap="square" lIns="0" rIns="0" tIns="0" bIns="0" anchor="t">
            <a:spAutoFit/>
          </a:bodyPr>
          <a:lstStyle/>
          <a:p>
            <a:pPr algn="l"/>
            <a:r>
              <a:rPr sz="1250" b="0" i="1">
                <a:solidFill>
                  <a:srgbClr val="6E6E73"/>
                </a:solidFill>
                <a:latin typeface="Helvetica Neue"/>
              </a:rPr>
              <a:t>Two safety briefs today — one before the workshop, one before the pool. No exceptions on either.</a:t>
            </a:r>
          </a:p>
        </p:txBody>
      </p:sp>
      <p:cxnSp>
        <p:nvCxnSpPr>
          <p:cNvPr id="31" name="Connector 30"/>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33" name="TextBox 32"/>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7 — CAPSULE BUILD &amp; FIRST SPLASH   ·   2 /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TODAY'S ROLES</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Four jobs. Four students. Different every week.</a:t>
            </a:r>
          </a:p>
        </p:txBody>
      </p:sp>
      <p:sp>
        <p:nvSpPr>
          <p:cNvPr id="6" name="TextBox 5"/>
          <p:cNvSpPr txBox="1"/>
          <p:nvPr/>
        </p:nvSpPr>
        <p:spPr>
          <a:xfrm>
            <a:off x="822960" y="1700784"/>
            <a:ext cx="10515600" cy="457200"/>
          </a:xfrm>
          <a:prstGeom prst="rect">
            <a:avLst/>
          </a:prstGeom>
          <a:noFill/>
        </p:spPr>
        <p:txBody>
          <a:bodyPr wrap="square" lIns="0" rIns="0" tIns="0" bIns="0" anchor="t">
            <a:spAutoFit/>
          </a:bodyPr>
          <a:lstStyle/>
          <a:p>
            <a:pPr algn="l"/>
            <a:r>
              <a:rPr sz="1400" b="0" i="1">
                <a:solidFill>
                  <a:srgbClr val="6E6E73"/>
                </a:solidFill>
                <a:latin typeface="Helvetica Neue"/>
              </a:rPr>
              <a:t>Every meeting we assign these four — by season's end, every student has done every job.</a:t>
            </a:r>
          </a:p>
        </p:txBody>
      </p:sp>
      <p:sp>
        <p:nvSpPr>
          <p:cNvPr id="7" name="Rectangle 6"/>
          <p:cNvSpPr/>
          <p:nvPr/>
        </p:nvSpPr>
        <p:spPr>
          <a:xfrm>
            <a:off x="822960" y="2331720"/>
            <a:ext cx="5074920" cy="178308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606039"/>
            <a:ext cx="4434840" cy="329184"/>
          </a:xfrm>
          <a:prstGeom prst="rect">
            <a:avLst/>
          </a:prstGeom>
          <a:noFill/>
        </p:spPr>
        <p:txBody>
          <a:bodyPr wrap="square" lIns="0" rIns="0" tIns="0" bIns="0" anchor="t">
            <a:spAutoFit/>
          </a:bodyPr>
          <a:lstStyle/>
          <a:p>
            <a:pPr algn="l"/>
            <a:r>
              <a:rPr sz="1000" b="1" i="0" cap="all" spc="180">
                <a:solidFill>
                  <a:srgbClr val="0D7490"/>
                </a:solidFill>
                <a:latin typeface="Helvetica Neue"/>
              </a:rPr>
              <a:t>NOTETAKER / SCRIBE</a:t>
            </a:r>
          </a:p>
        </p:txBody>
      </p:sp>
      <p:sp>
        <p:nvSpPr>
          <p:cNvPr id="9" name="TextBox 8"/>
          <p:cNvSpPr txBox="1"/>
          <p:nvPr/>
        </p:nvSpPr>
        <p:spPr>
          <a:xfrm>
            <a:off x="1143000" y="3008376"/>
            <a:ext cx="4434840" cy="329184"/>
          </a:xfrm>
          <a:prstGeom prst="rect">
            <a:avLst/>
          </a:prstGeom>
          <a:noFill/>
        </p:spPr>
        <p:txBody>
          <a:bodyPr wrap="square" lIns="0" rIns="0" tIns="0" bIns="0" anchor="t">
            <a:spAutoFit/>
          </a:bodyPr>
          <a:lstStyle/>
          <a:p>
            <a:pPr algn="l"/>
            <a:r>
              <a:rPr sz="1100" b="0" i="0" spc="40">
                <a:solidFill>
                  <a:srgbClr val="86868B"/>
                </a:solidFill>
                <a:latin typeface="Helvetica Neue"/>
              </a:rPr>
              <a:t>TODAY:  __________________________________</a:t>
            </a:r>
          </a:p>
        </p:txBody>
      </p:sp>
      <p:sp>
        <p:nvSpPr>
          <p:cNvPr id="10" name="TextBox 9"/>
          <p:cNvSpPr txBox="1"/>
          <p:nvPr/>
        </p:nvSpPr>
        <p:spPr>
          <a:xfrm>
            <a:off x="1143000" y="3410711"/>
            <a:ext cx="4434840" cy="594359"/>
          </a:xfrm>
          <a:prstGeom prst="rect">
            <a:avLst/>
          </a:prstGeom>
          <a:noFill/>
        </p:spPr>
        <p:txBody>
          <a:bodyPr wrap="square" lIns="0" rIns="0" tIns="0" bIns="0" anchor="t">
            <a:spAutoFit/>
          </a:bodyPr>
          <a:lstStyle/>
          <a:p>
            <a:pPr algn="l"/>
            <a:r>
              <a:rPr sz="1150" b="0" i="0">
                <a:solidFill>
                  <a:srgbClr val="6E6E73"/>
                </a:solidFill>
                <a:latin typeface="Helvetica Neue"/>
              </a:rPr>
              <a:t>Captures every decision, action item, and blocker. Files notes with the CFO for the engineering notebook.</a:t>
            </a:r>
          </a:p>
        </p:txBody>
      </p:sp>
      <p:sp>
        <p:nvSpPr>
          <p:cNvPr id="11" name="Rectangle 10"/>
          <p:cNvSpPr/>
          <p:nvPr/>
        </p:nvSpPr>
        <p:spPr>
          <a:xfrm>
            <a:off x="6126480" y="2331720"/>
            <a:ext cx="5074920" cy="178308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606039"/>
            <a:ext cx="4434840" cy="329184"/>
          </a:xfrm>
          <a:prstGeom prst="rect">
            <a:avLst/>
          </a:prstGeom>
          <a:noFill/>
        </p:spPr>
        <p:txBody>
          <a:bodyPr wrap="square" lIns="0" rIns="0" tIns="0" bIns="0" anchor="t">
            <a:spAutoFit/>
          </a:bodyPr>
          <a:lstStyle/>
          <a:p>
            <a:pPr algn="l"/>
            <a:r>
              <a:rPr sz="1000" b="1" i="0" cap="all" spc="180">
                <a:solidFill>
                  <a:srgbClr val="0D7490"/>
                </a:solidFill>
                <a:latin typeface="Helvetica Neue"/>
              </a:rPr>
              <a:t>SAFETY BRIEFER</a:t>
            </a:r>
          </a:p>
        </p:txBody>
      </p:sp>
      <p:sp>
        <p:nvSpPr>
          <p:cNvPr id="13" name="TextBox 12"/>
          <p:cNvSpPr txBox="1"/>
          <p:nvPr/>
        </p:nvSpPr>
        <p:spPr>
          <a:xfrm>
            <a:off x="6446520" y="3008376"/>
            <a:ext cx="4434840" cy="329184"/>
          </a:xfrm>
          <a:prstGeom prst="rect">
            <a:avLst/>
          </a:prstGeom>
          <a:noFill/>
        </p:spPr>
        <p:txBody>
          <a:bodyPr wrap="square" lIns="0" rIns="0" tIns="0" bIns="0" anchor="t">
            <a:spAutoFit/>
          </a:bodyPr>
          <a:lstStyle/>
          <a:p>
            <a:pPr algn="l"/>
            <a:r>
              <a:rPr sz="1100" b="0" i="0" spc="40">
                <a:solidFill>
                  <a:srgbClr val="86868B"/>
                </a:solidFill>
                <a:latin typeface="Helvetica Neue"/>
              </a:rPr>
              <a:t>TODAY:  __________________________________</a:t>
            </a:r>
          </a:p>
        </p:txBody>
      </p:sp>
      <p:sp>
        <p:nvSpPr>
          <p:cNvPr id="14" name="TextBox 13"/>
          <p:cNvSpPr txBox="1"/>
          <p:nvPr/>
        </p:nvSpPr>
        <p:spPr>
          <a:xfrm>
            <a:off x="6446520" y="3410711"/>
            <a:ext cx="4434840" cy="594359"/>
          </a:xfrm>
          <a:prstGeom prst="rect">
            <a:avLst/>
          </a:prstGeom>
          <a:noFill/>
        </p:spPr>
        <p:txBody>
          <a:bodyPr wrap="square" lIns="0" rIns="0" tIns="0" bIns="0" anchor="t">
            <a:spAutoFit/>
          </a:bodyPr>
          <a:lstStyle/>
          <a:p>
            <a:pPr algn="l"/>
            <a:r>
              <a:rPr sz="1150" b="0" i="0">
                <a:solidFill>
                  <a:srgbClr val="6E6E73"/>
                </a:solidFill>
                <a:latin typeface="Helvetica Neue"/>
              </a:rPr>
              <a:t>Delivers the standing four-question safety brief at the start of the meeting.</a:t>
            </a:r>
          </a:p>
        </p:txBody>
      </p:sp>
      <p:sp>
        <p:nvSpPr>
          <p:cNvPr id="15" name="Rectangle 14"/>
          <p:cNvSpPr/>
          <p:nvPr/>
        </p:nvSpPr>
        <p:spPr>
          <a:xfrm>
            <a:off x="822960" y="4315968"/>
            <a:ext cx="5074920" cy="178308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4590288"/>
            <a:ext cx="4434840" cy="329184"/>
          </a:xfrm>
          <a:prstGeom prst="rect">
            <a:avLst/>
          </a:prstGeom>
          <a:noFill/>
        </p:spPr>
        <p:txBody>
          <a:bodyPr wrap="square" lIns="0" rIns="0" tIns="0" bIns="0" anchor="t">
            <a:spAutoFit/>
          </a:bodyPr>
          <a:lstStyle/>
          <a:p>
            <a:pPr algn="l"/>
            <a:r>
              <a:rPr sz="1000" b="1" i="0" cap="all" spc="180">
                <a:solidFill>
                  <a:srgbClr val="0D7490"/>
                </a:solidFill>
                <a:latin typeface="Helvetica Neue"/>
              </a:rPr>
              <a:t>PHOTOGRAPHER</a:t>
            </a:r>
          </a:p>
        </p:txBody>
      </p:sp>
      <p:sp>
        <p:nvSpPr>
          <p:cNvPr id="17" name="TextBox 16"/>
          <p:cNvSpPr txBox="1"/>
          <p:nvPr/>
        </p:nvSpPr>
        <p:spPr>
          <a:xfrm>
            <a:off x="1143000" y="4992624"/>
            <a:ext cx="4434840" cy="329184"/>
          </a:xfrm>
          <a:prstGeom prst="rect">
            <a:avLst/>
          </a:prstGeom>
          <a:noFill/>
        </p:spPr>
        <p:txBody>
          <a:bodyPr wrap="square" lIns="0" rIns="0" tIns="0" bIns="0" anchor="t">
            <a:spAutoFit/>
          </a:bodyPr>
          <a:lstStyle/>
          <a:p>
            <a:pPr algn="l"/>
            <a:r>
              <a:rPr sz="1100" b="0" i="0" spc="40">
                <a:solidFill>
                  <a:srgbClr val="86868B"/>
                </a:solidFill>
                <a:latin typeface="Helvetica Neue"/>
              </a:rPr>
              <a:t>TODAY:  __________________________________</a:t>
            </a:r>
          </a:p>
        </p:txBody>
      </p:sp>
      <p:sp>
        <p:nvSpPr>
          <p:cNvPr id="18" name="TextBox 17"/>
          <p:cNvSpPr txBox="1"/>
          <p:nvPr/>
        </p:nvSpPr>
        <p:spPr>
          <a:xfrm>
            <a:off x="1143000" y="5394959"/>
            <a:ext cx="4434840" cy="594359"/>
          </a:xfrm>
          <a:prstGeom prst="rect">
            <a:avLst/>
          </a:prstGeom>
          <a:noFill/>
        </p:spPr>
        <p:txBody>
          <a:bodyPr wrap="square" lIns="0" rIns="0" tIns="0" bIns="0" anchor="t">
            <a:spAutoFit/>
          </a:bodyPr>
          <a:lstStyle/>
          <a:p>
            <a:pPr algn="l"/>
            <a:r>
              <a:rPr sz="1150" b="0" i="0">
                <a:solidFill>
                  <a:srgbClr val="6E6E73"/>
                </a:solidFill>
                <a:latin typeface="Helvetica Neue"/>
              </a:rPr>
              <a:t>Captures photos and short videos throughout — feeds the engineering notebook and the marketing display.</a:t>
            </a:r>
          </a:p>
        </p:txBody>
      </p:sp>
      <p:sp>
        <p:nvSpPr>
          <p:cNvPr id="19" name="Rectangle 18"/>
          <p:cNvSpPr/>
          <p:nvPr/>
        </p:nvSpPr>
        <p:spPr>
          <a:xfrm>
            <a:off x="6126480" y="4315968"/>
            <a:ext cx="5074920" cy="178308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4590288"/>
            <a:ext cx="4434840" cy="329184"/>
          </a:xfrm>
          <a:prstGeom prst="rect">
            <a:avLst/>
          </a:prstGeom>
          <a:noFill/>
        </p:spPr>
        <p:txBody>
          <a:bodyPr wrap="square" lIns="0" rIns="0" tIns="0" bIns="0" anchor="t">
            <a:spAutoFit/>
          </a:bodyPr>
          <a:lstStyle/>
          <a:p>
            <a:pPr algn="l"/>
            <a:r>
              <a:rPr sz="1000" b="1" i="0" cap="all" spc="180">
                <a:solidFill>
                  <a:srgbClr val="0D7490"/>
                </a:solidFill>
                <a:latin typeface="Helvetica Neue"/>
              </a:rPr>
              <a:t>TIMEKEEPER</a:t>
            </a:r>
          </a:p>
        </p:txBody>
      </p:sp>
      <p:sp>
        <p:nvSpPr>
          <p:cNvPr id="21" name="TextBox 20"/>
          <p:cNvSpPr txBox="1"/>
          <p:nvPr/>
        </p:nvSpPr>
        <p:spPr>
          <a:xfrm>
            <a:off x="6446520" y="4992624"/>
            <a:ext cx="4434840" cy="329184"/>
          </a:xfrm>
          <a:prstGeom prst="rect">
            <a:avLst/>
          </a:prstGeom>
          <a:noFill/>
        </p:spPr>
        <p:txBody>
          <a:bodyPr wrap="square" lIns="0" rIns="0" tIns="0" bIns="0" anchor="t">
            <a:spAutoFit/>
          </a:bodyPr>
          <a:lstStyle/>
          <a:p>
            <a:pPr algn="l"/>
            <a:r>
              <a:rPr sz="1100" b="0" i="0" spc="40">
                <a:solidFill>
                  <a:srgbClr val="86868B"/>
                </a:solidFill>
                <a:latin typeface="Helvetica Neue"/>
              </a:rPr>
              <a:t>TODAY:  __________________________________</a:t>
            </a:r>
          </a:p>
        </p:txBody>
      </p:sp>
      <p:sp>
        <p:nvSpPr>
          <p:cNvPr id="22" name="TextBox 21"/>
          <p:cNvSpPr txBox="1"/>
          <p:nvPr/>
        </p:nvSpPr>
        <p:spPr>
          <a:xfrm>
            <a:off x="6446520" y="5394959"/>
            <a:ext cx="4434840" cy="594359"/>
          </a:xfrm>
          <a:prstGeom prst="rect">
            <a:avLst/>
          </a:prstGeom>
          <a:noFill/>
        </p:spPr>
        <p:txBody>
          <a:bodyPr wrap="square" lIns="0" rIns="0" tIns="0" bIns="0" anchor="t">
            <a:spAutoFit/>
          </a:bodyPr>
          <a:lstStyle/>
          <a:p>
            <a:pPr algn="l"/>
            <a:r>
              <a:rPr sz="1150" b="0" i="0">
                <a:solidFill>
                  <a:srgbClr val="6E6E73"/>
                </a:solidFill>
                <a:latin typeface="Helvetica Neue"/>
              </a:rPr>
              <a:t>Holds the meeting to the agenda's clock. Calls the time at each block change.</a:t>
            </a:r>
          </a:p>
        </p:txBody>
      </p:sp>
      <p:cxnSp>
        <p:nvCxnSpPr>
          <p:cNvPr id="23" name="Connector 22"/>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25" name="TextBox 24"/>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7 — CAPSULE BUILD &amp; FIRST SPLASH   ·   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822960" y="960120"/>
            <a:ext cx="365760" cy="36576"/>
          </a:xfrm>
          <a:prstGeom prst="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78992"/>
            <a:ext cx="5486400" cy="292608"/>
          </a:xfrm>
          <a:prstGeom prst="rect">
            <a:avLst/>
          </a:prstGeom>
          <a:noFill/>
        </p:spPr>
        <p:txBody>
          <a:bodyPr wrap="square" lIns="0" rIns="0" tIns="0" bIns="0" anchor="t">
            <a:spAutoFit/>
          </a:bodyPr>
          <a:lstStyle/>
          <a:p>
            <a:pPr algn="l"/>
            <a:r>
              <a:rPr sz="1200" b="1" i="0" cap="all" spc="200">
                <a:solidFill>
                  <a:srgbClr val="0D7490"/>
                </a:solidFill>
                <a:latin typeface="Helvetica Neue"/>
              </a:rPr>
              <a:t>SECTION 01</a:t>
            </a:r>
          </a:p>
        </p:txBody>
      </p:sp>
      <p:sp>
        <p:nvSpPr>
          <p:cNvPr id="6" name="TextBox 5"/>
          <p:cNvSpPr txBox="1"/>
          <p:nvPr/>
        </p:nvSpPr>
        <p:spPr>
          <a:xfrm>
            <a:off x="804672" y="14173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Welcome &amp;</a:t>
            </a:r>
          </a:p>
        </p:txBody>
      </p:sp>
      <p:sp>
        <p:nvSpPr>
          <p:cNvPr id="7" name="TextBox 6"/>
          <p:cNvSpPr txBox="1"/>
          <p:nvPr/>
        </p:nvSpPr>
        <p:spPr>
          <a:xfrm>
            <a:off x="804672" y="21031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Safety Brief</a:t>
            </a:r>
          </a:p>
        </p:txBody>
      </p:sp>
      <p:sp>
        <p:nvSpPr>
          <p:cNvPr id="8" name="Rounded Rectangle 7"/>
          <p:cNvSpPr/>
          <p:nvPr/>
        </p:nvSpPr>
        <p:spPr>
          <a:xfrm>
            <a:off x="822960" y="2880360"/>
            <a:ext cx="2743200" cy="365760"/>
          </a:xfrm>
          <a:prstGeom prst="round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80360"/>
            <a:ext cx="2743200" cy="365760"/>
          </a:xfrm>
          <a:prstGeom prst="rect">
            <a:avLst/>
          </a:prstGeom>
          <a:noFill/>
        </p:spPr>
        <p:txBody>
          <a:bodyPr wrap="square" lIns="0" rIns="0" tIns="0" bIns="0" anchor="ctr">
            <a:spAutoFit/>
          </a:bodyPr>
          <a:lstStyle/>
          <a:p>
            <a:pPr algn="ctr"/>
            <a:r>
              <a:rPr sz="1200" b="1" i="0" cap="all" spc="150">
                <a:solidFill>
                  <a:srgbClr val="FFFFFF"/>
                </a:solidFill>
                <a:latin typeface="Helvetica Neue"/>
              </a:rPr>
              <a:t>0:00 – 0:10   ·   10 MIN</a:t>
            </a:r>
          </a:p>
        </p:txBody>
      </p:sp>
      <p:sp>
        <p:nvSpPr>
          <p:cNvPr id="10" name="TextBox 9"/>
          <p:cNvSpPr txBox="1"/>
          <p:nvPr/>
        </p:nvSpPr>
        <p:spPr>
          <a:xfrm>
            <a:off x="822960" y="3520439"/>
            <a:ext cx="7315200" cy="731520"/>
          </a:xfrm>
          <a:prstGeom prst="rect">
            <a:avLst/>
          </a:prstGeom>
          <a:noFill/>
        </p:spPr>
        <p:txBody>
          <a:bodyPr wrap="square" lIns="0" rIns="0" tIns="0" bIns="0" anchor="t">
            <a:spAutoFit/>
          </a:bodyPr>
          <a:lstStyle/>
          <a:p>
            <a:pPr algn="l"/>
            <a:r>
              <a:rPr sz="1600" b="0" i="1">
                <a:solidFill>
                  <a:srgbClr val="6E6E73"/>
                </a:solidFill>
                <a:latin typeface="Helvetica Neue"/>
              </a:rPr>
              <a:t>Same ritual every meeting. We get sharper at it; the kids start running it.</a:t>
            </a:r>
          </a:p>
        </p:txBody>
      </p:sp>
      <p:sp>
        <p:nvSpPr>
          <p:cNvPr id="11" name="TextBox 10"/>
          <p:cNvSpPr txBox="1"/>
          <p:nvPr/>
        </p:nvSpPr>
        <p:spPr>
          <a:xfrm>
            <a:off x="6858000" y="914400"/>
            <a:ext cx="5330952" cy="5029200"/>
          </a:xfrm>
          <a:prstGeom prst="rect">
            <a:avLst/>
          </a:prstGeom>
          <a:noFill/>
        </p:spPr>
        <p:txBody>
          <a:bodyPr wrap="square" lIns="0" rIns="0" tIns="0" bIns="0" anchor="t">
            <a:spAutoFit/>
          </a:bodyPr>
          <a:lstStyle/>
          <a:p>
            <a:pPr algn="r"/>
            <a:r>
              <a:rPr sz="36000" b="1" i="0">
                <a:solidFill>
                  <a:srgbClr val="EEF0F1"/>
                </a:solidFill>
                <a:latin typeface="Helvetica Neue"/>
              </a:rPr>
              <a:t>01</a:t>
            </a:r>
          </a:p>
        </p:txBody>
      </p:sp>
      <p:cxnSp>
        <p:nvCxnSpPr>
          <p:cNvPr id="12" name="Connector 11"/>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4" name="TextBox 13"/>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7 — CAPSULE BUILD &amp; FIRST SPLASH   ·   4 /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THE STANDING RITUAL</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Every meeting opens with a safety brief.</a:t>
            </a:r>
          </a:p>
        </p:txBody>
      </p:sp>
      <p:sp>
        <p:nvSpPr>
          <p:cNvPr id="6" name="TextBox 5"/>
          <p:cNvSpPr txBox="1"/>
          <p:nvPr/>
        </p:nvSpPr>
        <p:spPr>
          <a:xfrm>
            <a:off x="822960" y="1783080"/>
            <a:ext cx="4754880" cy="329184"/>
          </a:xfrm>
          <a:prstGeom prst="rect">
            <a:avLst/>
          </a:prstGeom>
          <a:noFill/>
        </p:spPr>
        <p:txBody>
          <a:bodyPr wrap="square" lIns="0" rIns="0" tIns="0" bIns="0" anchor="t">
            <a:spAutoFit/>
          </a:bodyPr>
          <a:lstStyle/>
          <a:p>
            <a:pPr algn="l"/>
            <a:r>
              <a:rPr sz="1400" b="1" i="0">
                <a:solidFill>
                  <a:srgbClr val="1D1D1F"/>
                </a:solidFill>
                <a:latin typeface="Helvetica Neue"/>
              </a:rPr>
              <a:t>Why we do this</a:t>
            </a:r>
          </a:p>
        </p:txBody>
      </p:sp>
      <p:sp>
        <p:nvSpPr>
          <p:cNvPr id="7" name="TextBox 6"/>
          <p:cNvSpPr txBox="1"/>
          <p:nvPr/>
        </p:nvSpPr>
        <p:spPr>
          <a:xfrm>
            <a:off x="822960" y="2157984"/>
            <a:ext cx="4800600" cy="2011680"/>
          </a:xfrm>
          <a:prstGeom prst="rect">
            <a:avLst/>
          </a:prstGeom>
          <a:noFill/>
        </p:spPr>
        <p:txBody>
          <a:bodyPr wrap="square" lIns="0" rIns="0" tIns="0" bIns="0" anchor="t">
            <a:spAutoFit/>
          </a:bodyPr>
          <a:lstStyle/>
          <a:p>
            <a:pPr algn="l">
              <a:lnSpc>
                <a:spcPct val="125000"/>
              </a:lnSpc>
            </a:pPr>
            <a:r>
              <a:rPr sz="1150" b="0" i="0">
                <a:solidFill>
                  <a:srgbClr val="6E6E73"/>
                </a:solidFill>
                <a:latin typeface="Helvetica Neue"/>
              </a:rPr>
              <a:t>Real engineering and dive teams brief safety before every job — not because they expect to fail, but because the discipline of asking the same four questions every time is what makes a team safe in the long run. We start the habit now, when the stakes are small, so it's automatic when they aren't.</a:t>
            </a:r>
          </a:p>
        </p:txBody>
      </p:sp>
      <p:sp>
        <p:nvSpPr>
          <p:cNvPr id="8" name="Oval 7"/>
          <p:cNvSpPr/>
          <p:nvPr/>
        </p:nvSpPr>
        <p:spPr>
          <a:xfrm>
            <a:off x="822960" y="4334256"/>
            <a:ext cx="310896" cy="310896"/>
          </a:xfrm>
          <a:prstGeom prst="ellipse">
            <a:avLst/>
          </a:prstGeom>
          <a:solidFill>
            <a:srgbClr val="EA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334256"/>
            <a:ext cx="310896" cy="310896"/>
          </a:xfrm>
          <a:prstGeom prst="rect">
            <a:avLst/>
          </a:prstGeom>
          <a:noFill/>
        </p:spPr>
        <p:txBody>
          <a:bodyPr wrap="square" lIns="0" rIns="0" tIns="0" bIns="0" anchor="ctr">
            <a:spAutoFit/>
          </a:bodyPr>
          <a:lstStyle/>
          <a:p>
            <a:pPr algn="ctr"/>
            <a:r>
              <a:rPr sz="1200" b="1" i="0">
                <a:solidFill>
                  <a:srgbClr val="0D7490"/>
                </a:solidFill>
                <a:latin typeface="Helvetica Neue"/>
              </a:rPr>
              <a:t>1</a:t>
            </a:r>
          </a:p>
        </p:txBody>
      </p:sp>
      <p:sp>
        <p:nvSpPr>
          <p:cNvPr id="10" name="TextBox 9"/>
          <p:cNvSpPr txBox="1"/>
          <p:nvPr/>
        </p:nvSpPr>
        <p:spPr>
          <a:xfrm>
            <a:off x="1280160" y="4297680"/>
            <a:ext cx="4389120" cy="384048"/>
          </a:xfrm>
          <a:prstGeom prst="rect">
            <a:avLst/>
          </a:prstGeom>
          <a:noFill/>
        </p:spPr>
        <p:txBody>
          <a:bodyPr wrap="square" lIns="0" rIns="0" tIns="0" bIns="0" anchor="t">
            <a:spAutoFit/>
          </a:bodyPr>
          <a:lstStyle/>
          <a:p>
            <a:pPr algn="l"/>
            <a:r>
              <a:rPr sz="1300" b="1" i="0">
                <a:solidFill>
                  <a:srgbClr val="1D1D1F"/>
                </a:solidFill>
                <a:latin typeface="Helvetica Neue"/>
              </a:rPr>
              <a:t>What are we doing today?</a:t>
            </a:r>
          </a:p>
        </p:txBody>
      </p:sp>
      <p:sp>
        <p:nvSpPr>
          <p:cNvPr id="11" name="Oval 10"/>
          <p:cNvSpPr/>
          <p:nvPr/>
        </p:nvSpPr>
        <p:spPr>
          <a:xfrm>
            <a:off x="822960" y="4754880"/>
            <a:ext cx="310896" cy="310896"/>
          </a:xfrm>
          <a:prstGeom prst="ellipse">
            <a:avLst/>
          </a:prstGeom>
          <a:solidFill>
            <a:srgbClr val="EA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754880"/>
            <a:ext cx="310896" cy="310896"/>
          </a:xfrm>
          <a:prstGeom prst="rect">
            <a:avLst/>
          </a:prstGeom>
          <a:noFill/>
        </p:spPr>
        <p:txBody>
          <a:bodyPr wrap="square" lIns="0" rIns="0" tIns="0" bIns="0" anchor="ctr">
            <a:spAutoFit/>
          </a:bodyPr>
          <a:lstStyle/>
          <a:p>
            <a:pPr algn="ctr"/>
            <a:r>
              <a:rPr sz="1200" b="1" i="0">
                <a:solidFill>
                  <a:srgbClr val="0D7490"/>
                </a:solidFill>
                <a:latin typeface="Helvetica Neue"/>
              </a:rPr>
              <a:t>2</a:t>
            </a:r>
          </a:p>
        </p:txBody>
      </p:sp>
      <p:sp>
        <p:nvSpPr>
          <p:cNvPr id="13" name="TextBox 12"/>
          <p:cNvSpPr txBox="1"/>
          <p:nvPr/>
        </p:nvSpPr>
        <p:spPr>
          <a:xfrm>
            <a:off x="1280160" y="4718304"/>
            <a:ext cx="4389120" cy="384048"/>
          </a:xfrm>
          <a:prstGeom prst="rect">
            <a:avLst/>
          </a:prstGeom>
          <a:noFill/>
        </p:spPr>
        <p:txBody>
          <a:bodyPr wrap="square" lIns="0" rIns="0" tIns="0" bIns="0" anchor="t">
            <a:spAutoFit/>
          </a:bodyPr>
          <a:lstStyle/>
          <a:p>
            <a:pPr algn="l"/>
            <a:r>
              <a:rPr sz="1300" b="1" i="0">
                <a:solidFill>
                  <a:srgbClr val="1D1D1F"/>
                </a:solidFill>
                <a:latin typeface="Helvetica Neue"/>
              </a:rPr>
              <a:t>What could hurt someone?</a:t>
            </a:r>
          </a:p>
        </p:txBody>
      </p:sp>
      <p:sp>
        <p:nvSpPr>
          <p:cNvPr id="14" name="Oval 13"/>
          <p:cNvSpPr/>
          <p:nvPr/>
        </p:nvSpPr>
        <p:spPr>
          <a:xfrm>
            <a:off x="822960" y="5175504"/>
            <a:ext cx="310896" cy="310896"/>
          </a:xfrm>
          <a:prstGeom prst="ellipse">
            <a:avLst/>
          </a:prstGeom>
          <a:solidFill>
            <a:srgbClr val="EA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5175504"/>
            <a:ext cx="310896" cy="310896"/>
          </a:xfrm>
          <a:prstGeom prst="rect">
            <a:avLst/>
          </a:prstGeom>
          <a:noFill/>
        </p:spPr>
        <p:txBody>
          <a:bodyPr wrap="square" lIns="0" rIns="0" tIns="0" bIns="0" anchor="ctr">
            <a:spAutoFit/>
          </a:bodyPr>
          <a:lstStyle/>
          <a:p>
            <a:pPr algn="ctr"/>
            <a:r>
              <a:rPr sz="1200" b="1" i="0">
                <a:solidFill>
                  <a:srgbClr val="0D7490"/>
                </a:solidFill>
                <a:latin typeface="Helvetica Neue"/>
              </a:rPr>
              <a:t>3</a:t>
            </a:r>
          </a:p>
        </p:txBody>
      </p:sp>
      <p:sp>
        <p:nvSpPr>
          <p:cNvPr id="16" name="TextBox 15"/>
          <p:cNvSpPr txBox="1"/>
          <p:nvPr/>
        </p:nvSpPr>
        <p:spPr>
          <a:xfrm>
            <a:off x="1280160" y="5138928"/>
            <a:ext cx="4389120" cy="384048"/>
          </a:xfrm>
          <a:prstGeom prst="rect">
            <a:avLst/>
          </a:prstGeom>
          <a:noFill/>
        </p:spPr>
        <p:txBody>
          <a:bodyPr wrap="square" lIns="0" rIns="0" tIns="0" bIns="0" anchor="t">
            <a:spAutoFit/>
          </a:bodyPr>
          <a:lstStyle/>
          <a:p>
            <a:pPr algn="l"/>
            <a:r>
              <a:rPr sz="1300" b="1" i="0">
                <a:solidFill>
                  <a:srgbClr val="1D1D1F"/>
                </a:solidFill>
                <a:latin typeface="Helvetica Neue"/>
              </a:rPr>
              <a:t>How do we prevent it?</a:t>
            </a:r>
          </a:p>
        </p:txBody>
      </p:sp>
      <p:sp>
        <p:nvSpPr>
          <p:cNvPr id="17" name="Oval 16"/>
          <p:cNvSpPr/>
          <p:nvPr/>
        </p:nvSpPr>
        <p:spPr>
          <a:xfrm>
            <a:off x="822960" y="5596128"/>
            <a:ext cx="310896" cy="310896"/>
          </a:xfrm>
          <a:prstGeom prst="ellipse">
            <a:avLst/>
          </a:prstGeom>
          <a:solidFill>
            <a:srgbClr val="EA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596128"/>
            <a:ext cx="310896" cy="310896"/>
          </a:xfrm>
          <a:prstGeom prst="rect">
            <a:avLst/>
          </a:prstGeom>
          <a:noFill/>
        </p:spPr>
        <p:txBody>
          <a:bodyPr wrap="square" lIns="0" rIns="0" tIns="0" bIns="0" anchor="ctr">
            <a:spAutoFit/>
          </a:bodyPr>
          <a:lstStyle/>
          <a:p>
            <a:pPr algn="ctr"/>
            <a:r>
              <a:rPr sz="1200" b="1" i="0">
                <a:solidFill>
                  <a:srgbClr val="0D7490"/>
                </a:solidFill>
                <a:latin typeface="Helvetica Neue"/>
              </a:rPr>
              <a:t>4</a:t>
            </a:r>
          </a:p>
        </p:txBody>
      </p:sp>
      <p:sp>
        <p:nvSpPr>
          <p:cNvPr id="19" name="TextBox 18"/>
          <p:cNvSpPr txBox="1"/>
          <p:nvPr/>
        </p:nvSpPr>
        <p:spPr>
          <a:xfrm>
            <a:off x="1280160" y="5559552"/>
            <a:ext cx="4389120" cy="384048"/>
          </a:xfrm>
          <a:prstGeom prst="rect">
            <a:avLst/>
          </a:prstGeom>
          <a:noFill/>
        </p:spPr>
        <p:txBody>
          <a:bodyPr wrap="square" lIns="0" rIns="0" tIns="0" bIns="0" anchor="t">
            <a:spAutoFit/>
          </a:bodyPr>
          <a:lstStyle/>
          <a:p>
            <a:pPr algn="l"/>
            <a:r>
              <a:rPr sz="1300" b="1" i="0">
                <a:solidFill>
                  <a:srgbClr val="1D1D1F"/>
                </a:solidFill>
                <a:latin typeface="Helvetica Neue"/>
              </a:rPr>
              <a:t>Who do we tell if something happens?</a:t>
            </a:r>
          </a:p>
        </p:txBody>
      </p:sp>
      <p:sp>
        <p:nvSpPr>
          <p:cNvPr id="20" name="Rectangle 19"/>
          <p:cNvSpPr/>
          <p:nvPr/>
        </p:nvSpPr>
        <p:spPr>
          <a:xfrm>
            <a:off x="5989320" y="1783080"/>
            <a:ext cx="5376672" cy="4370832"/>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89320" y="1783080"/>
            <a:ext cx="5376672" cy="566928"/>
          </a:xfrm>
          <a:prstGeom prst="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89320" y="1783080"/>
            <a:ext cx="5376672" cy="566928"/>
          </a:xfrm>
          <a:prstGeom prst="rect">
            <a:avLst/>
          </a:prstGeom>
          <a:noFill/>
        </p:spPr>
        <p:txBody>
          <a:bodyPr wrap="square" lIns="0" rIns="0" tIns="0" bIns="0" anchor="ctr">
            <a:spAutoFit/>
          </a:bodyPr>
          <a:lstStyle/>
          <a:p>
            <a:pPr algn="ctr"/>
            <a:r>
              <a:rPr sz="1100" b="1" i="0" cap="all" spc="180">
                <a:solidFill>
                  <a:srgbClr val="FFFFFF"/>
                </a:solidFill>
                <a:latin typeface="Helvetica Neue"/>
              </a:rPr>
              <a:t>TODAY'S BRIEF  ·  MEETING 7</a:t>
            </a:r>
          </a:p>
        </p:txBody>
      </p:sp>
      <p:sp>
        <p:nvSpPr>
          <p:cNvPr id="23" name="TextBox 22"/>
          <p:cNvSpPr txBox="1"/>
          <p:nvPr/>
        </p:nvSpPr>
        <p:spPr>
          <a:xfrm>
            <a:off x="6355080" y="2496312"/>
            <a:ext cx="4645152" cy="219456"/>
          </a:xfrm>
          <a:prstGeom prst="rect">
            <a:avLst/>
          </a:prstGeom>
          <a:noFill/>
        </p:spPr>
        <p:txBody>
          <a:bodyPr wrap="square" lIns="0" rIns="0" tIns="0" bIns="0" anchor="t">
            <a:spAutoFit/>
          </a:bodyPr>
          <a:lstStyle/>
          <a:p>
            <a:pPr algn="l"/>
            <a:r>
              <a:rPr sz="950" b="1" i="0" cap="all" spc="180">
                <a:solidFill>
                  <a:srgbClr val="0D7490"/>
                </a:solidFill>
                <a:latin typeface="Helvetica Neue"/>
              </a:rPr>
              <a:t>THE WORK</a:t>
            </a:r>
          </a:p>
        </p:txBody>
      </p:sp>
      <p:sp>
        <p:nvSpPr>
          <p:cNvPr id="24" name="TextBox 23"/>
          <p:cNvSpPr txBox="1"/>
          <p:nvPr/>
        </p:nvSpPr>
        <p:spPr>
          <a:xfrm>
            <a:off x="6355080" y="2715768"/>
            <a:ext cx="4645152" cy="502920"/>
          </a:xfrm>
          <a:prstGeom prst="rect">
            <a:avLst/>
          </a:prstGeom>
          <a:noFill/>
        </p:spPr>
        <p:txBody>
          <a:bodyPr wrap="square" lIns="0" rIns="0" tIns="0" bIns="0" anchor="t">
            <a:spAutoFit/>
          </a:bodyPr>
          <a:lstStyle/>
          <a:p>
            <a:pPr algn="l">
              <a:lnSpc>
                <a:spcPct val="115000"/>
              </a:lnSpc>
            </a:pPr>
            <a:r>
              <a:rPr sz="1050" b="0" i="0">
                <a:solidFill>
                  <a:srgbClr val="6E6E73"/>
                </a:solidFill>
                <a:latin typeface="Helvetica Neue"/>
              </a:rPr>
              <a:t>Build watertight capsules: cut PVC, glue end caps with marine epoxy, set O-rings. Workshop half, then pool half.</a:t>
            </a:r>
          </a:p>
        </p:txBody>
      </p:sp>
      <p:sp>
        <p:nvSpPr>
          <p:cNvPr id="25" name="TextBox 24"/>
          <p:cNvSpPr txBox="1"/>
          <p:nvPr/>
        </p:nvSpPr>
        <p:spPr>
          <a:xfrm>
            <a:off x="6355080" y="3218688"/>
            <a:ext cx="4645152" cy="219456"/>
          </a:xfrm>
          <a:prstGeom prst="rect">
            <a:avLst/>
          </a:prstGeom>
          <a:noFill/>
        </p:spPr>
        <p:txBody>
          <a:bodyPr wrap="square" lIns="0" rIns="0" tIns="0" bIns="0" anchor="t">
            <a:spAutoFit/>
          </a:bodyPr>
          <a:lstStyle/>
          <a:p>
            <a:pPr algn="l"/>
            <a:r>
              <a:rPr sz="950" b="1" i="0" cap="all" spc="180">
                <a:solidFill>
                  <a:srgbClr val="0D7490"/>
                </a:solidFill>
                <a:latin typeface="Helvetica Neue"/>
              </a:rPr>
              <a:t>THE HAZARDS</a:t>
            </a:r>
          </a:p>
        </p:txBody>
      </p:sp>
      <p:sp>
        <p:nvSpPr>
          <p:cNvPr id="26" name="TextBox 25"/>
          <p:cNvSpPr txBox="1"/>
          <p:nvPr/>
        </p:nvSpPr>
        <p:spPr>
          <a:xfrm>
            <a:off x="6355080" y="3438144"/>
            <a:ext cx="4645152" cy="502920"/>
          </a:xfrm>
          <a:prstGeom prst="rect">
            <a:avLst/>
          </a:prstGeom>
          <a:noFill/>
        </p:spPr>
        <p:txBody>
          <a:bodyPr wrap="square" lIns="0" rIns="0" tIns="0" bIns="0" anchor="t">
            <a:spAutoFit/>
          </a:bodyPr>
          <a:lstStyle/>
          <a:p>
            <a:pPr algn="l">
              <a:lnSpc>
                <a:spcPct val="115000"/>
              </a:lnSpc>
            </a:pPr>
            <a:r>
              <a:rPr sz="1050" b="0" i="0">
                <a:solidFill>
                  <a:srgbClr val="6E6E73"/>
                </a:solidFill>
                <a:latin typeface="Helvetica Neue"/>
              </a:rPr>
              <a:t>PVC primer and marine epoxy fumes. Sharp PVC edges after cutting. Pool half: drowning risk, pool-deck slips, sun.</a:t>
            </a:r>
          </a:p>
        </p:txBody>
      </p:sp>
      <p:sp>
        <p:nvSpPr>
          <p:cNvPr id="27" name="TextBox 26"/>
          <p:cNvSpPr txBox="1"/>
          <p:nvPr/>
        </p:nvSpPr>
        <p:spPr>
          <a:xfrm>
            <a:off x="6355080" y="3941064"/>
            <a:ext cx="4645152" cy="219456"/>
          </a:xfrm>
          <a:prstGeom prst="rect">
            <a:avLst/>
          </a:prstGeom>
          <a:noFill/>
        </p:spPr>
        <p:txBody>
          <a:bodyPr wrap="square" lIns="0" rIns="0" tIns="0" bIns="0" anchor="t">
            <a:spAutoFit/>
          </a:bodyPr>
          <a:lstStyle/>
          <a:p>
            <a:pPr algn="l"/>
            <a:r>
              <a:rPr sz="950" b="1" i="0" cap="all" spc="180">
                <a:solidFill>
                  <a:srgbClr val="0D7490"/>
                </a:solidFill>
                <a:latin typeface="Helvetica Neue"/>
              </a:rPr>
              <a:t>PREVENTION</a:t>
            </a:r>
          </a:p>
        </p:txBody>
      </p:sp>
      <p:sp>
        <p:nvSpPr>
          <p:cNvPr id="28" name="TextBox 27"/>
          <p:cNvSpPr txBox="1"/>
          <p:nvPr/>
        </p:nvSpPr>
        <p:spPr>
          <a:xfrm>
            <a:off x="6355080" y="4160520"/>
            <a:ext cx="4645152" cy="502920"/>
          </a:xfrm>
          <a:prstGeom prst="rect">
            <a:avLst/>
          </a:prstGeom>
          <a:noFill/>
        </p:spPr>
        <p:txBody>
          <a:bodyPr wrap="square" lIns="0" rIns="0" tIns="0" bIns="0" anchor="t">
            <a:spAutoFit/>
          </a:bodyPr>
          <a:lstStyle/>
          <a:p>
            <a:pPr algn="l">
              <a:lnSpc>
                <a:spcPct val="115000"/>
              </a:lnSpc>
            </a:pPr>
            <a:r>
              <a:rPr sz="1050" b="0" i="0">
                <a:solidFill>
                  <a:srgbClr val="6E6E73"/>
                </a:solidFill>
                <a:latin typeface="Helvetica Neue"/>
              </a:rPr>
              <a:t>Workshop: ventilation on, gloves for epoxy, eye protection. Pool: lifeguard on duty, buddy system, dry hands at the deck edge.</a:t>
            </a:r>
          </a:p>
        </p:txBody>
      </p:sp>
      <p:sp>
        <p:nvSpPr>
          <p:cNvPr id="29" name="TextBox 28"/>
          <p:cNvSpPr txBox="1"/>
          <p:nvPr/>
        </p:nvSpPr>
        <p:spPr>
          <a:xfrm>
            <a:off x="6355080" y="4663440"/>
            <a:ext cx="4645152" cy="219456"/>
          </a:xfrm>
          <a:prstGeom prst="rect">
            <a:avLst/>
          </a:prstGeom>
          <a:noFill/>
        </p:spPr>
        <p:txBody>
          <a:bodyPr wrap="square" lIns="0" rIns="0" tIns="0" bIns="0" anchor="t">
            <a:spAutoFit/>
          </a:bodyPr>
          <a:lstStyle/>
          <a:p>
            <a:pPr algn="l"/>
            <a:r>
              <a:rPr sz="950" b="1" i="0" cap="all" spc="180">
                <a:solidFill>
                  <a:srgbClr val="0D7490"/>
                </a:solidFill>
                <a:latin typeface="Helvetica Neue"/>
              </a:rPr>
              <a:t>IF SOMETHING HAPPENS</a:t>
            </a:r>
          </a:p>
        </p:txBody>
      </p:sp>
      <p:sp>
        <p:nvSpPr>
          <p:cNvPr id="30" name="TextBox 29"/>
          <p:cNvSpPr txBox="1"/>
          <p:nvPr/>
        </p:nvSpPr>
        <p:spPr>
          <a:xfrm>
            <a:off x="6355080" y="4882896"/>
            <a:ext cx="4645152" cy="502920"/>
          </a:xfrm>
          <a:prstGeom prst="rect">
            <a:avLst/>
          </a:prstGeom>
          <a:noFill/>
        </p:spPr>
        <p:txBody>
          <a:bodyPr wrap="square" lIns="0" rIns="0" tIns="0" bIns="0" anchor="t">
            <a:spAutoFit/>
          </a:bodyPr>
          <a:lstStyle/>
          <a:p>
            <a:pPr algn="l">
              <a:lnSpc>
                <a:spcPct val="115000"/>
              </a:lnSpc>
            </a:pPr>
            <a:r>
              <a:rPr sz="1050" b="0" i="0">
                <a:solidFill>
                  <a:srgbClr val="6E6E73"/>
                </a:solidFill>
                <a:latin typeface="Helvetica Neue"/>
              </a:rPr>
              <a:t>Workshop: stop, advisor first, then first-aid kit. Pool: kid in distress → lifeguard FIRST, advisor second. Buddy stays with kid.</a:t>
            </a:r>
          </a:p>
        </p:txBody>
      </p:sp>
      <p:sp>
        <p:nvSpPr>
          <p:cNvPr id="31" name="TextBox 30"/>
          <p:cNvSpPr txBox="1"/>
          <p:nvPr/>
        </p:nvSpPr>
        <p:spPr>
          <a:xfrm>
            <a:off x="6355080" y="5385816"/>
            <a:ext cx="4645152" cy="219456"/>
          </a:xfrm>
          <a:prstGeom prst="rect">
            <a:avLst/>
          </a:prstGeom>
          <a:noFill/>
        </p:spPr>
        <p:txBody>
          <a:bodyPr wrap="square" lIns="0" rIns="0" tIns="0" bIns="0" anchor="t">
            <a:spAutoFit/>
          </a:bodyPr>
          <a:lstStyle/>
          <a:p>
            <a:pPr algn="l"/>
            <a:r>
              <a:rPr sz="950" b="1" i="0" cap="all" spc="180">
                <a:solidFill>
                  <a:srgbClr val="0D7490"/>
                </a:solidFill>
                <a:latin typeface="Helvetica Neue"/>
              </a:rPr>
              <a:t>LOOKING AHEAD</a:t>
            </a:r>
          </a:p>
        </p:txBody>
      </p:sp>
      <p:sp>
        <p:nvSpPr>
          <p:cNvPr id="32" name="TextBox 31"/>
          <p:cNvSpPr txBox="1"/>
          <p:nvPr/>
        </p:nvSpPr>
        <p:spPr>
          <a:xfrm>
            <a:off x="6355080" y="5605272"/>
            <a:ext cx="4645152" cy="502920"/>
          </a:xfrm>
          <a:prstGeom prst="rect">
            <a:avLst/>
          </a:prstGeom>
          <a:noFill/>
        </p:spPr>
        <p:txBody>
          <a:bodyPr wrap="square" lIns="0" rIns="0" tIns="0" bIns="0" anchor="t">
            <a:spAutoFit/>
          </a:bodyPr>
          <a:lstStyle/>
          <a:p>
            <a:pPr algn="l">
              <a:lnSpc>
                <a:spcPct val="115000"/>
              </a:lnSpc>
            </a:pPr>
            <a:r>
              <a:rPr sz="1050" b="0" i="0">
                <a:solidFill>
                  <a:srgbClr val="6E6E73"/>
                </a:solidFill>
                <a:latin typeface="Helvetica Neue"/>
              </a:rPr>
              <a:t>1.8 starts the Triggerfish frame and thruster integration. Capsule drop results inform whether we re-seal or move on.</a:t>
            </a:r>
          </a:p>
        </p:txBody>
      </p:sp>
      <p:cxnSp>
        <p:nvCxnSpPr>
          <p:cNvPr id="33" name="Connector 32"/>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35" name="TextBox 34"/>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7 — CAPSULE BUILD &amp; FIRST SPLASH   ·   5 /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822960" y="960120"/>
            <a:ext cx="365760" cy="36576"/>
          </a:xfrm>
          <a:prstGeom prst="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78992"/>
            <a:ext cx="5486400" cy="292608"/>
          </a:xfrm>
          <a:prstGeom prst="rect">
            <a:avLst/>
          </a:prstGeom>
          <a:noFill/>
        </p:spPr>
        <p:txBody>
          <a:bodyPr wrap="square" lIns="0" rIns="0" tIns="0" bIns="0" anchor="t">
            <a:spAutoFit/>
          </a:bodyPr>
          <a:lstStyle/>
          <a:p>
            <a:pPr algn="l"/>
            <a:r>
              <a:rPr sz="1200" b="1" i="0" cap="all" spc="200">
                <a:solidFill>
                  <a:srgbClr val="0D7490"/>
                </a:solidFill>
                <a:latin typeface="Helvetica Neue"/>
              </a:rPr>
              <a:t>SECTION 02</a:t>
            </a:r>
          </a:p>
        </p:txBody>
      </p:sp>
      <p:sp>
        <p:nvSpPr>
          <p:cNvPr id="6" name="TextBox 5"/>
          <p:cNvSpPr txBox="1"/>
          <p:nvPr/>
        </p:nvSpPr>
        <p:spPr>
          <a:xfrm>
            <a:off x="804672" y="14173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Build the</a:t>
            </a:r>
          </a:p>
        </p:txBody>
      </p:sp>
      <p:sp>
        <p:nvSpPr>
          <p:cNvPr id="7" name="TextBox 6"/>
          <p:cNvSpPr txBox="1"/>
          <p:nvPr/>
        </p:nvSpPr>
        <p:spPr>
          <a:xfrm>
            <a:off x="804672" y="21031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Capsules</a:t>
            </a:r>
          </a:p>
        </p:txBody>
      </p:sp>
      <p:sp>
        <p:nvSpPr>
          <p:cNvPr id="8" name="Rounded Rectangle 7"/>
          <p:cNvSpPr/>
          <p:nvPr/>
        </p:nvSpPr>
        <p:spPr>
          <a:xfrm>
            <a:off x="822960" y="2880360"/>
            <a:ext cx="2743200" cy="365760"/>
          </a:xfrm>
          <a:prstGeom prst="round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80360"/>
            <a:ext cx="2743200" cy="365760"/>
          </a:xfrm>
          <a:prstGeom prst="rect">
            <a:avLst/>
          </a:prstGeom>
          <a:noFill/>
        </p:spPr>
        <p:txBody>
          <a:bodyPr wrap="square" lIns="0" rIns="0" tIns="0" bIns="0" anchor="ctr">
            <a:spAutoFit/>
          </a:bodyPr>
          <a:lstStyle/>
          <a:p>
            <a:pPr algn="ctr"/>
            <a:r>
              <a:rPr sz="1200" b="1" i="0" cap="all" spc="150">
                <a:solidFill>
                  <a:srgbClr val="FFFFFF"/>
                </a:solidFill>
                <a:latin typeface="Helvetica Neue"/>
              </a:rPr>
              <a:t>0:10 – 1:10   ·   60 MIN</a:t>
            </a:r>
          </a:p>
        </p:txBody>
      </p:sp>
      <p:sp>
        <p:nvSpPr>
          <p:cNvPr id="10" name="TextBox 9"/>
          <p:cNvSpPr txBox="1"/>
          <p:nvPr/>
        </p:nvSpPr>
        <p:spPr>
          <a:xfrm>
            <a:off x="822960" y="3520439"/>
            <a:ext cx="7315200" cy="731520"/>
          </a:xfrm>
          <a:prstGeom prst="rect">
            <a:avLst/>
          </a:prstGeom>
          <a:noFill/>
        </p:spPr>
        <p:txBody>
          <a:bodyPr wrap="square" lIns="0" rIns="0" tIns="0" bIns="0" anchor="t">
            <a:spAutoFit/>
          </a:bodyPr>
          <a:lstStyle/>
          <a:p>
            <a:pPr algn="l"/>
            <a:r>
              <a:rPr sz="1600" b="0" i="1">
                <a:solidFill>
                  <a:srgbClr val="6E6E73"/>
                </a:solidFill>
                <a:latin typeface="Helvetica Neue"/>
              </a:rPr>
              <a:t>PVC, end caps, O-rings, marine epoxy. The capsule is the team's first watertight enclosure.</a:t>
            </a:r>
          </a:p>
        </p:txBody>
      </p:sp>
      <p:sp>
        <p:nvSpPr>
          <p:cNvPr id="11" name="TextBox 10"/>
          <p:cNvSpPr txBox="1"/>
          <p:nvPr/>
        </p:nvSpPr>
        <p:spPr>
          <a:xfrm>
            <a:off x="6858000" y="914400"/>
            <a:ext cx="5330952" cy="5029200"/>
          </a:xfrm>
          <a:prstGeom prst="rect">
            <a:avLst/>
          </a:prstGeom>
          <a:noFill/>
        </p:spPr>
        <p:txBody>
          <a:bodyPr wrap="square" lIns="0" rIns="0" tIns="0" bIns="0" anchor="t">
            <a:spAutoFit/>
          </a:bodyPr>
          <a:lstStyle/>
          <a:p>
            <a:pPr algn="r"/>
            <a:r>
              <a:rPr sz="36000" b="1" i="0">
                <a:solidFill>
                  <a:srgbClr val="EEF0F1"/>
                </a:solidFill>
                <a:latin typeface="Helvetica Neue"/>
              </a:rPr>
              <a:t>02</a:t>
            </a:r>
          </a:p>
        </p:txBody>
      </p:sp>
      <p:cxnSp>
        <p:nvCxnSpPr>
          <p:cNvPr id="12" name="Connector 11"/>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4" name="TextBox 13"/>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7 — CAPSULE BUILD &amp; FIRST SPLASH   ·   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WHAT THE CAPSULE IS</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The team's first watertight enclosure.</a:t>
            </a:r>
          </a:p>
        </p:txBody>
      </p:sp>
      <p:sp>
        <p:nvSpPr>
          <p:cNvPr id="6" name="TextBox 5"/>
          <p:cNvSpPr txBox="1"/>
          <p:nvPr/>
        </p:nvSpPr>
        <p:spPr>
          <a:xfrm>
            <a:off x="822960" y="1783080"/>
            <a:ext cx="10515600" cy="969264"/>
          </a:xfrm>
          <a:prstGeom prst="rect">
            <a:avLst/>
          </a:prstGeom>
          <a:noFill/>
        </p:spPr>
        <p:txBody>
          <a:bodyPr wrap="square" lIns="0" rIns="0" tIns="0" bIns="0" anchor="t">
            <a:spAutoFit/>
          </a:bodyPr>
          <a:lstStyle/>
          <a:p>
            <a:pPr algn="l">
              <a:lnSpc>
                <a:spcPct val="135000"/>
              </a:lnSpc>
            </a:pPr>
            <a:r>
              <a:rPr sz="1200" b="0" i="0">
                <a:solidFill>
                  <a:srgbClr val="6E6E73"/>
                </a:solidFill>
                <a:latin typeface="Helvetica Neue"/>
              </a:rPr>
              <a:t>A capsule is a short length of PVC pipe with end caps sealed on. We drop it in the pool, retrieve it, and check whether the towel inside came out dry. The towel is the test — if it has even a damp spot, water got in, and the seal has to be redone.</a:t>
            </a:r>
          </a:p>
        </p:txBody>
      </p:sp>
      <p:sp>
        <p:nvSpPr>
          <p:cNvPr id="7" name="TextBox 6"/>
          <p:cNvSpPr txBox="1"/>
          <p:nvPr/>
        </p:nvSpPr>
        <p:spPr>
          <a:xfrm>
            <a:off x="822960" y="2706624"/>
            <a:ext cx="10515600" cy="969264"/>
          </a:xfrm>
          <a:prstGeom prst="rect">
            <a:avLst/>
          </a:prstGeom>
          <a:noFill/>
        </p:spPr>
        <p:txBody>
          <a:bodyPr wrap="square" lIns="0" rIns="0" tIns="0" bIns="0" anchor="t">
            <a:spAutoFit/>
          </a:bodyPr>
          <a:lstStyle/>
          <a:p>
            <a:pPr algn="l">
              <a:lnSpc>
                <a:spcPct val="135000"/>
              </a:lnSpc>
            </a:pPr>
            <a:r>
              <a:rPr sz="1200" b="0" i="0">
                <a:solidFill>
                  <a:srgbClr val="6E6E73"/>
                </a:solidFill>
                <a:latin typeface="Helvetica Neue"/>
              </a:rPr>
              <a:t>Capsules are practice for the real watertight enclosure on the TriggerFish — the WTC that holds the control board. Same physics, smaller stakes. If we can't keep water out of a sealed PVC tube, we can't keep it out of a $300 enclosure with a $400 Raspberry Pi inside.</a:t>
            </a:r>
          </a:p>
        </p:txBody>
      </p:sp>
      <p:sp>
        <p:nvSpPr>
          <p:cNvPr id="8" name="TextBox 7"/>
          <p:cNvSpPr txBox="1"/>
          <p:nvPr/>
        </p:nvSpPr>
        <p:spPr>
          <a:xfrm>
            <a:off x="822960" y="3630168"/>
            <a:ext cx="10515600" cy="768096"/>
          </a:xfrm>
          <a:prstGeom prst="rect">
            <a:avLst/>
          </a:prstGeom>
          <a:noFill/>
        </p:spPr>
        <p:txBody>
          <a:bodyPr wrap="square" lIns="0" rIns="0" tIns="0" bIns="0" anchor="t">
            <a:spAutoFit/>
          </a:bodyPr>
          <a:lstStyle/>
          <a:p>
            <a:pPr algn="l">
              <a:lnSpc>
                <a:spcPct val="135000"/>
              </a:lnSpc>
            </a:pPr>
            <a:r>
              <a:rPr sz="1200" b="0" i="0">
                <a:solidFill>
                  <a:srgbClr val="6E6E73"/>
                </a:solidFill>
                <a:latin typeface="Helvetica Neue"/>
              </a:rPr>
              <a:t>Phase 1's exit gate (1.11) is three consecutive dry dives. Today is dive #1. The work tonight starts the count.</a:t>
            </a:r>
          </a:p>
        </p:txBody>
      </p:sp>
      <p:cxnSp>
        <p:nvCxnSpPr>
          <p:cNvPr id="9" name="Connector 8"/>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1" name="TextBox 10"/>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7 — CAPSULE BUILD &amp; FIRST SPLASH   ·   7 /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THE BUILD</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Six steps. Marine epoxy is the long-pole item.</a:t>
            </a:r>
          </a:p>
        </p:txBody>
      </p:sp>
      <p:sp>
        <p:nvSpPr>
          <p:cNvPr id="6" name="Oval 5"/>
          <p:cNvSpPr/>
          <p:nvPr/>
        </p:nvSpPr>
        <p:spPr>
          <a:xfrm>
            <a:off x="822960" y="201168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1</a:t>
            </a:r>
          </a:p>
        </p:txBody>
      </p:sp>
      <p:sp>
        <p:nvSpPr>
          <p:cNvPr id="8" name="TextBox 7"/>
          <p:cNvSpPr txBox="1"/>
          <p:nvPr/>
        </p:nvSpPr>
        <p:spPr>
          <a:xfrm>
            <a:off x="1417320" y="199339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Cut the PVC to length</a:t>
            </a:r>
          </a:p>
        </p:txBody>
      </p:sp>
      <p:sp>
        <p:nvSpPr>
          <p:cNvPr id="9" name="TextBox 8"/>
          <p:cNvSpPr txBox="1"/>
          <p:nvPr/>
        </p:nvSpPr>
        <p:spPr>
          <a:xfrm>
            <a:off x="1417320" y="2286000"/>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Pipe cutter or hacksaw, then deburr both ends with sandpaper. Sharp inner edges cut O-rings.</a:t>
            </a:r>
          </a:p>
        </p:txBody>
      </p:sp>
      <p:sp>
        <p:nvSpPr>
          <p:cNvPr id="10" name="Oval 9"/>
          <p:cNvSpPr/>
          <p:nvPr/>
        </p:nvSpPr>
        <p:spPr>
          <a:xfrm>
            <a:off x="822960" y="278892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78892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2</a:t>
            </a:r>
          </a:p>
        </p:txBody>
      </p:sp>
      <p:sp>
        <p:nvSpPr>
          <p:cNvPr id="12" name="TextBox 11"/>
          <p:cNvSpPr txBox="1"/>
          <p:nvPr/>
        </p:nvSpPr>
        <p:spPr>
          <a:xfrm>
            <a:off x="1417320" y="277063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Dry-fit the end caps</a:t>
            </a:r>
          </a:p>
        </p:txBody>
      </p:sp>
      <p:sp>
        <p:nvSpPr>
          <p:cNvPr id="13" name="TextBox 12"/>
          <p:cNvSpPr txBox="1"/>
          <p:nvPr/>
        </p:nvSpPr>
        <p:spPr>
          <a:xfrm>
            <a:off x="1417320" y="3063240"/>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Both ends. Caps should slide on snug but not require a hammer. If they're loose, the capsule will leak; if too tight, the O-rings won't seat.</a:t>
            </a:r>
          </a:p>
        </p:txBody>
      </p:sp>
      <p:sp>
        <p:nvSpPr>
          <p:cNvPr id="14" name="Oval 13"/>
          <p:cNvSpPr/>
          <p:nvPr/>
        </p:nvSpPr>
        <p:spPr>
          <a:xfrm>
            <a:off x="822960" y="356616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56616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3</a:t>
            </a:r>
          </a:p>
        </p:txBody>
      </p:sp>
      <p:sp>
        <p:nvSpPr>
          <p:cNvPr id="16" name="TextBox 15"/>
          <p:cNvSpPr txBox="1"/>
          <p:nvPr/>
        </p:nvSpPr>
        <p:spPr>
          <a:xfrm>
            <a:off x="1417320" y="354787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Set the O-rings</a:t>
            </a:r>
          </a:p>
        </p:txBody>
      </p:sp>
      <p:sp>
        <p:nvSpPr>
          <p:cNvPr id="17" name="TextBox 16"/>
          <p:cNvSpPr txBox="1"/>
          <p:nvPr/>
        </p:nvSpPr>
        <p:spPr>
          <a:xfrm>
            <a:off x="1417320" y="3840480"/>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Lubricate the O-ring lightly with silicone grease. Seat it in the cap's groove. Inspect: no twists, no pinches, fully seated all the way around.</a:t>
            </a:r>
          </a:p>
        </p:txBody>
      </p:sp>
      <p:sp>
        <p:nvSpPr>
          <p:cNvPr id="18" name="Oval 17"/>
          <p:cNvSpPr/>
          <p:nvPr/>
        </p:nvSpPr>
        <p:spPr>
          <a:xfrm>
            <a:off x="822960" y="434340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34340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4</a:t>
            </a:r>
          </a:p>
        </p:txBody>
      </p:sp>
      <p:sp>
        <p:nvSpPr>
          <p:cNvPr id="20" name="TextBox 19"/>
          <p:cNvSpPr txBox="1"/>
          <p:nvPr/>
        </p:nvSpPr>
        <p:spPr>
          <a:xfrm>
            <a:off x="1417320" y="432511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Mix the marine epoxy</a:t>
            </a:r>
          </a:p>
        </p:txBody>
      </p:sp>
      <p:sp>
        <p:nvSpPr>
          <p:cNvPr id="21" name="TextBox 20"/>
          <p:cNvSpPr txBox="1"/>
          <p:nvPr/>
        </p:nvSpPr>
        <p:spPr>
          <a:xfrm>
            <a:off x="1417320" y="4617720"/>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Equal parts A and B, mix for 45 seconds. Working time after mix is about 5 minutes. Don't mix until both caps are ready to set.</a:t>
            </a:r>
          </a:p>
        </p:txBody>
      </p:sp>
      <p:sp>
        <p:nvSpPr>
          <p:cNvPr id="22" name="Oval 21"/>
          <p:cNvSpPr/>
          <p:nvPr/>
        </p:nvSpPr>
        <p:spPr>
          <a:xfrm>
            <a:off x="822960" y="512064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12064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5</a:t>
            </a:r>
          </a:p>
        </p:txBody>
      </p:sp>
      <p:sp>
        <p:nvSpPr>
          <p:cNvPr id="24" name="TextBox 23"/>
          <p:cNvSpPr txBox="1"/>
          <p:nvPr/>
        </p:nvSpPr>
        <p:spPr>
          <a:xfrm>
            <a:off x="1417320" y="510235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Glue one cap, set, wait, glue the other</a:t>
            </a:r>
          </a:p>
        </p:txBody>
      </p:sp>
      <p:sp>
        <p:nvSpPr>
          <p:cNvPr id="25" name="TextBox 24"/>
          <p:cNvSpPr txBox="1"/>
          <p:nvPr/>
        </p:nvSpPr>
        <p:spPr>
          <a:xfrm>
            <a:off x="1417320" y="5394959"/>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Apply epoxy to one cap, press onto the pipe, hold 30 seconds. Set the capsule down, end-cap up. Wait 15 minutes before the second cap so the first sets in tension, not compression.</a:t>
            </a:r>
          </a:p>
        </p:txBody>
      </p:sp>
      <p:sp>
        <p:nvSpPr>
          <p:cNvPr id="26" name="Oval 25"/>
          <p:cNvSpPr/>
          <p:nvPr/>
        </p:nvSpPr>
        <p:spPr>
          <a:xfrm>
            <a:off x="822960" y="5897879"/>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897879"/>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6</a:t>
            </a:r>
          </a:p>
        </p:txBody>
      </p:sp>
      <p:sp>
        <p:nvSpPr>
          <p:cNvPr id="28" name="TextBox 27"/>
          <p:cNvSpPr txBox="1"/>
          <p:nvPr/>
        </p:nvSpPr>
        <p:spPr>
          <a:xfrm>
            <a:off x="1417320" y="587959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Insert a dry towel before the second cap goes on</a:t>
            </a:r>
          </a:p>
        </p:txBody>
      </p:sp>
      <p:sp>
        <p:nvSpPr>
          <p:cNvPr id="29" name="TextBox 28"/>
          <p:cNvSpPr txBox="1"/>
          <p:nvPr/>
        </p:nvSpPr>
        <p:spPr>
          <a:xfrm>
            <a:off x="1417320" y="6172199"/>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The towel is the test. Quartered washcloth fits a 4-inch capsule cleanly. After the towel is in, glue and set the second cap.</a:t>
            </a:r>
          </a:p>
        </p:txBody>
      </p:sp>
      <p:cxnSp>
        <p:nvCxnSpPr>
          <p:cNvPr id="30" name="Connector 29"/>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32" name="TextBox 31"/>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7 — CAPSULE BUILD &amp; FIRST SPLASH   ·   8 /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822960" y="960120"/>
            <a:ext cx="365760" cy="36576"/>
          </a:xfrm>
          <a:prstGeom prst="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78992"/>
            <a:ext cx="5486400" cy="292608"/>
          </a:xfrm>
          <a:prstGeom prst="rect">
            <a:avLst/>
          </a:prstGeom>
          <a:noFill/>
        </p:spPr>
        <p:txBody>
          <a:bodyPr wrap="square" lIns="0" rIns="0" tIns="0" bIns="0" anchor="t">
            <a:spAutoFit/>
          </a:bodyPr>
          <a:lstStyle/>
          <a:p>
            <a:pPr algn="l"/>
            <a:r>
              <a:rPr sz="1200" b="1" i="0" cap="all" spc="200">
                <a:solidFill>
                  <a:srgbClr val="0D7490"/>
                </a:solidFill>
                <a:latin typeface="Helvetica Neue"/>
              </a:rPr>
              <a:t>SECTION 03</a:t>
            </a:r>
          </a:p>
        </p:txBody>
      </p:sp>
      <p:sp>
        <p:nvSpPr>
          <p:cNvPr id="6" name="TextBox 5"/>
          <p:cNvSpPr txBox="1"/>
          <p:nvPr/>
        </p:nvSpPr>
        <p:spPr>
          <a:xfrm>
            <a:off x="804672" y="14173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Poolside</a:t>
            </a:r>
          </a:p>
        </p:txBody>
      </p:sp>
      <p:sp>
        <p:nvSpPr>
          <p:cNvPr id="7" name="TextBox 6"/>
          <p:cNvSpPr txBox="1"/>
          <p:nvPr/>
        </p:nvSpPr>
        <p:spPr>
          <a:xfrm>
            <a:off x="804672" y="21031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Safety Brief</a:t>
            </a:r>
          </a:p>
        </p:txBody>
      </p:sp>
      <p:sp>
        <p:nvSpPr>
          <p:cNvPr id="8" name="Rounded Rectangle 7"/>
          <p:cNvSpPr/>
          <p:nvPr/>
        </p:nvSpPr>
        <p:spPr>
          <a:xfrm>
            <a:off x="822960" y="2880360"/>
            <a:ext cx="2743200" cy="365760"/>
          </a:xfrm>
          <a:prstGeom prst="round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80360"/>
            <a:ext cx="2743200" cy="365760"/>
          </a:xfrm>
          <a:prstGeom prst="rect">
            <a:avLst/>
          </a:prstGeom>
          <a:noFill/>
        </p:spPr>
        <p:txBody>
          <a:bodyPr wrap="square" lIns="0" rIns="0" tIns="0" bIns="0" anchor="ctr">
            <a:spAutoFit/>
          </a:bodyPr>
          <a:lstStyle/>
          <a:p>
            <a:pPr algn="ctr"/>
            <a:r>
              <a:rPr sz="1200" b="1" i="0" cap="all" spc="150">
                <a:solidFill>
                  <a:srgbClr val="FFFFFF"/>
                </a:solidFill>
                <a:latin typeface="Helvetica Neue"/>
              </a:rPr>
              <a:t>1:30 – 1:45   ·   15 MIN</a:t>
            </a:r>
          </a:p>
        </p:txBody>
      </p:sp>
      <p:sp>
        <p:nvSpPr>
          <p:cNvPr id="10" name="TextBox 9"/>
          <p:cNvSpPr txBox="1"/>
          <p:nvPr/>
        </p:nvSpPr>
        <p:spPr>
          <a:xfrm>
            <a:off x="822960" y="3520439"/>
            <a:ext cx="7315200" cy="731520"/>
          </a:xfrm>
          <a:prstGeom prst="rect">
            <a:avLst/>
          </a:prstGeom>
          <a:noFill/>
        </p:spPr>
        <p:txBody>
          <a:bodyPr wrap="square" lIns="0" rIns="0" tIns="0" bIns="0" anchor="t">
            <a:spAutoFit/>
          </a:bodyPr>
          <a:lstStyle/>
          <a:p>
            <a:pPr algn="l"/>
            <a:r>
              <a:rPr sz="1600" b="0" i="1">
                <a:solidFill>
                  <a:srgbClr val="6E6E73"/>
                </a:solidFill>
                <a:latin typeface="Helvetica Neue"/>
              </a:rPr>
              <a:t>Pool deck rules. Lifeguard introduction. Buddy assignment. No water touches us yet.</a:t>
            </a:r>
          </a:p>
        </p:txBody>
      </p:sp>
      <p:sp>
        <p:nvSpPr>
          <p:cNvPr id="11" name="TextBox 10"/>
          <p:cNvSpPr txBox="1"/>
          <p:nvPr/>
        </p:nvSpPr>
        <p:spPr>
          <a:xfrm>
            <a:off x="6858000" y="914400"/>
            <a:ext cx="5330952" cy="5029200"/>
          </a:xfrm>
          <a:prstGeom prst="rect">
            <a:avLst/>
          </a:prstGeom>
          <a:noFill/>
        </p:spPr>
        <p:txBody>
          <a:bodyPr wrap="square" lIns="0" rIns="0" tIns="0" bIns="0" anchor="t">
            <a:spAutoFit/>
          </a:bodyPr>
          <a:lstStyle/>
          <a:p>
            <a:pPr algn="r"/>
            <a:r>
              <a:rPr sz="36000" b="1" i="0">
                <a:solidFill>
                  <a:srgbClr val="EEF0F1"/>
                </a:solidFill>
                <a:latin typeface="Helvetica Neue"/>
              </a:rPr>
              <a:t>03</a:t>
            </a:r>
          </a:p>
        </p:txBody>
      </p:sp>
      <p:cxnSp>
        <p:nvCxnSpPr>
          <p:cNvPr id="12" name="Connector 11"/>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4" name="TextBox 13"/>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7 — CAPSULE BUILD &amp; FIRST SPLASH   ·   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POOLSIDE — THE STANDING RULES</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Eight rules. Every pool session. Every time.</a:t>
            </a:r>
          </a:p>
        </p:txBody>
      </p:sp>
      <p:sp>
        <p:nvSpPr>
          <p:cNvPr id="6" name="TextBox 5"/>
          <p:cNvSpPr txBox="1"/>
          <p:nvPr/>
        </p:nvSpPr>
        <p:spPr>
          <a:xfrm>
            <a:off x="822960" y="1783080"/>
            <a:ext cx="10515600" cy="457200"/>
          </a:xfrm>
          <a:prstGeom prst="rect">
            <a:avLst/>
          </a:prstGeom>
          <a:noFill/>
        </p:spPr>
        <p:txBody>
          <a:bodyPr wrap="square" lIns="0" rIns="0" tIns="0" bIns="0" anchor="t">
            <a:spAutoFit/>
          </a:bodyPr>
          <a:lstStyle/>
          <a:p>
            <a:pPr algn="l"/>
            <a:r>
              <a:rPr sz="1400" b="0" i="1">
                <a:solidFill>
                  <a:srgbClr val="6E6E73"/>
                </a:solidFill>
                <a:latin typeface="Helvetica Neue"/>
              </a:rPr>
              <a:t>Different from the workshop safety brief. We re-do this every time we're at a pool — even when the kids think they remember.</a:t>
            </a:r>
          </a:p>
        </p:txBody>
      </p:sp>
      <p:sp>
        <p:nvSpPr>
          <p:cNvPr id="7" name="Oval 6"/>
          <p:cNvSpPr/>
          <p:nvPr/>
        </p:nvSpPr>
        <p:spPr>
          <a:xfrm>
            <a:off x="822960" y="233172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3172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1</a:t>
            </a:r>
          </a:p>
        </p:txBody>
      </p:sp>
      <p:sp>
        <p:nvSpPr>
          <p:cNvPr id="9" name="TextBox 8"/>
          <p:cNvSpPr txBox="1"/>
          <p:nvPr/>
        </p:nvSpPr>
        <p:spPr>
          <a:xfrm>
            <a:off x="1417320" y="231343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Lifeguard is the safety authority on deck</a:t>
            </a:r>
          </a:p>
        </p:txBody>
      </p:sp>
      <p:sp>
        <p:nvSpPr>
          <p:cNvPr id="10" name="TextBox 9"/>
          <p:cNvSpPr txBox="1"/>
          <p:nvPr/>
        </p:nvSpPr>
        <p:spPr>
          <a:xfrm>
            <a:off x="1417320" y="2606039"/>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If the lifeguard says move, we move. If they say out of the water, we get out. No discussion.</a:t>
            </a:r>
          </a:p>
        </p:txBody>
      </p:sp>
      <p:sp>
        <p:nvSpPr>
          <p:cNvPr id="11" name="Oval 10"/>
          <p:cNvSpPr/>
          <p:nvPr/>
        </p:nvSpPr>
        <p:spPr>
          <a:xfrm>
            <a:off x="822960" y="310896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10896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2</a:t>
            </a:r>
          </a:p>
        </p:txBody>
      </p:sp>
      <p:sp>
        <p:nvSpPr>
          <p:cNvPr id="13" name="TextBox 12"/>
          <p:cNvSpPr txBox="1"/>
          <p:nvPr/>
        </p:nvSpPr>
        <p:spPr>
          <a:xfrm>
            <a:off x="1417320" y="309067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Buddy system, always</a:t>
            </a:r>
          </a:p>
        </p:txBody>
      </p:sp>
      <p:sp>
        <p:nvSpPr>
          <p:cNvPr id="14" name="TextBox 13"/>
          <p:cNvSpPr txBox="1"/>
          <p:nvPr/>
        </p:nvSpPr>
        <p:spPr>
          <a:xfrm>
            <a:off x="1417320" y="3383279"/>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Every kid has a named buddy. You stay within arm's reach of your buddy when in the water. If your buddy gets out, you get out.</a:t>
            </a:r>
          </a:p>
        </p:txBody>
      </p:sp>
      <p:sp>
        <p:nvSpPr>
          <p:cNvPr id="15" name="Oval 14"/>
          <p:cNvSpPr/>
          <p:nvPr/>
        </p:nvSpPr>
        <p:spPr>
          <a:xfrm>
            <a:off x="822960" y="388620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88620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3</a:t>
            </a:r>
          </a:p>
        </p:txBody>
      </p:sp>
      <p:sp>
        <p:nvSpPr>
          <p:cNvPr id="17" name="TextBox 16"/>
          <p:cNvSpPr txBox="1"/>
          <p:nvPr/>
        </p:nvSpPr>
        <p:spPr>
          <a:xfrm>
            <a:off x="1417320" y="386791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Dry hands at the deck edge</a:t>
            </a:r>
          </a:p>
        </p:txBody>
      </p:sp>
      <p:sp>
        <p:nvSpPr>
          <p:cNvPr id="18" name="TextBox 17"/>
          <p:cNvSpPr txBox="1"/>
          <p:nvPr/>
        </p:nvSpPr>
        <p:spPr>
          <a:xfrm>
            <a:off x="1417320" y="4160520"/>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Wet hands on a wet deck on a wet kid is how someone goes down. Towel off before standing at the edge.</a:t>
            </a:r>
          </a:p>
        </p:txBody>
      </p:sp>
      <p:sp>
        <p:nvSpPr>
          <p:cNvPr id="19" name="Oval 18"/>
          <p:cNvSpPr/>
          <p:nvPr/>
        </p:nvSpPr>
        <p:spPr>
          <a:xfrm>
            <a:off x="822960" y="466344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66344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4</a:t>
            </a:r>
          </a:p>
        </p:txBody>
      </p:sp>
      <p:sp>
        <p:nvSpPr>
          <p:cNvPr id="21" name="TextBox 20"/>
          <p:cNvSpPr txBox="1"/>
          <p:nvPr/>
        </p:nvSpPr>
        <p:spPr>
          <a:xfrm>
            <a:off x="1417320" y="464515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Tether stays on the deck, never around a kid</a:t>
            </a:r>
          </a:p>
        </p:txBody>
      </p:sp>
      <p:sp>
        <p:nvSpPr>
          <p:cNvPr id="22" name="TextBox 21"/>
          <p:cNvSpPr txBox="1"/>
          <p:nvPr/>
        </p:nvSpPr>
        <p:spPr>
          <a:xfrm>
            <a:off x="1417320" y="4937759"/>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The team's tether and any other line stays coiled on the deck, never wrapped or draped on a swimmer.</a:t>
            </a:r>
          </a:p>
        </p:txBody>
      </p:sp>
      <p:sp>
        <p:nvSpPr>
          <p:cNvPr id="23" name="Oval 22"/>
          <p:cNvSpPr/>
          <p:nvPr/>
        </p:nvSpPr>
        <p:spPr>
          <a:xfrm>
            <a:off x="822960" y="5440679"/>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440679"/>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5</a:t>
            </a:r>
          </a:p>
        </p:txBody>
      </p:sp>
      <p:sp>
        <p:nvSpPr>
          <p:cNvPr id="25" name="TextBox 24"/>
          <p:cNvSpPr txBox="1"/>
          <p:nvPr/>
        </p:nvSpPr>
        <p:spPr>
          <a:xfrm>
            <a:off x="1417320" y="542239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Walk, don't run, on the deck</a:t>
            </a:r>
          </a:p>
        </p:txBody>
      </p:sp>
      <p:sp>
        <p:nvSpPr>
          <p:cNvPr id="26" name="TextBox 25"/>
          <p:cNvSpPr txBox="1"/>
          <p:nvPr/>
        </p:nvSpPr>
        <p:spPr>
          <a:xfrm>
            <a:off x="1417320" y="5714999"/>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Always. The pool deck is the slipperiest surface most kids encounter in a week.</a:t>
            </a:r>
          </a:p>
        </p:txBody>
      </p:sp>
      <p:sp>
        <p:nvSpPr>
          <p:cNvPr id="27" name="Oval 26"/>
          <p:cNvSpPr/>
          <p:nvPr/>
        </p:nvSpPr>
        <p:spPr>
          <a:xfrm>
            <a:off x="822960" y="6217919"/>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6217919"/>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6</a:t>
            </a:r>
          </a:p>
        </p:txBody>
      </p:sp>
      <p:sp>
        <p:nvSpPr>
          <p:cNvPr id="29" name="TextBox 28"/>
          <p:cNvSpPr txBox="1"/>
          <p:nvPr/>
        </p:nvSpPr>
        <p:spPr>
          <a:xfrm>
            <a:off x="1417320" y="6199631"/>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Hydration</a:t>
            </a:r>
          </a:p>
        </p:txBody>
      </p:sp>
      <p:sp>
        <p:nvSpPr>
          <p:cNvPr id="30" name="TextBox 29"/>
          <p:cNvSpPr txBox="1"/>
          <p:nvPr/>
        </p:nvSpPr>
        <p:spPr>
          <a:xfrm>
            <a:off x="1417320" y="6492239"/>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Water bottles on the deck, accessible. Pool air dehydrates faster than people expect.</a:t>
            </a:r>
          </a:p>
        </p:txBody>
      </p:sp>
      <p:sp>
        <p:nvSpPr>
          <p:cNvPr id="31" name="Oval 30"/>
          <p:cNvSpPr/>
          <p:nvPr/>
        </p:nvSpPr>
        <p:spPr>
          <a:xfrm>
            <a:off x="822960" y="6995159"/>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6995159"/>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7</a:t>
            </a:r>
          </a:p>
        </p:txBody>
      </p:sp>
      <p:sp>
        <p:nvSpPr>
          <p:cNvPr id="33" name="TextBox 32"/>
          <p:cNvSpPr txBox="1"/>
          <p:nvPr/>
        </p:nvSpPr>
        <p:spPr>
          <a:xfrm>
            <a:off x="1417320" y="6976871"/>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Stop and tell the advisor for anything off</a:t>
            </a:r>
          </a:p>
        </p:txBody>
      </p:sp>
      <p:sp>
        <p:nvSpPr>
          <p:cNvPr id="34" name="TextBox 33"/>
          <p:cNvSpPr txBox="1"/>
          <p:nvPr/>
        </p:nvSpPr>
        <p:spPr>
          <a:xfrm>
            <a:off x="1417320" y="7269479"/>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Earache, headache, dizziness, cold. Telling the adult earlier is always cheaper than telling them later.</a:t>
            </a:r>
          </a:p>
        </p:txBody>
      </p:sp>
      <p:sp>
        <p:nvSpPr>
          <p:cNvPr id="35" name="Oval 34"/>
          <p:cNvSpPr/>
          <p:nvPr/>
        </p:nvSpPr>
        <p:spPr>
          <a:xfrm>
            <a:off x="822960" y="7772399"/>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7772399"/>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8</a:t>
            </a:r>
          </a:p>
        </p:txBody>
      </p:sp>
      <p:sp>
        <p:nvSpPr>
          <p:cNvPr id="37" name="TextBox 36"/>
          <p:cNvSpPr txBox="1"/>
          <p:nvPr/>
        </p:nvSpPr>
        <p:spPr>
          <a:xfrm>
            <a:off x="1417320" y="7754111"/>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If a kid is in distress, lifeguard FIRST</a:t>
            </a:r>
          </a:p>
        </p:txBody>
      </p:sp>
      <p:sp>
        <p:nvSpPr>
          <p:cNvPr id="38" name="TextBox 37"/>
          <p:cNvSpPr txBox="1"/>
          <p:nvPr/>
        </p:nvSpPr>
        <p:spPr>
          <a:xfrm>
            <a:off x="1417320" y="8046719"/>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Buddy stays with the kid in the water. Anyone else: get the lifeguard. We do not jump in to rescue; the lifeguard does.</a:t>
            </a:r>
          </a:p>
        </p:txBody>
      </p:sp>
      <p:cxnSp>
        <p:nvCxnSpPr>
          <p:cNvPr id="39" name="Connector 38"/>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41" name="TextBox 40"/>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7 — CAPSULE BUILD &amp; FIRST SPLASH   ·   10 /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822960" y="960120"/>
            <a:ext cx="365760" cy="36576"/>
          </a:xfrm>
          <a:prstGeom prst="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78992"/>
            <a:ext cx="5486400" cy="292608"/>
          </a:xfrm>
          <a:prstGeom prst="rect">
            <a:avLst/>
          </a:prstGeom>
          <a:noFill/>
        </p:spPr>
        <p:txBody>
          <a:bodyPr wrap="square" lIns="0" rIns="0" tIns="0" bIns="0" anchor="t">
            <a:spAutoFit/>
          </a:bodyPr>
          <a:lstStyle/>
          <a:p>
            <a:pPr algn="l"/>
            <a:r>
              <a:rPr sz="1200" b="1" i="0" cap="all" spc="200">
                <a:solidFill>
                  <a:srgbClr val="0D7490"/>
                </a:solidFill>
                <a:latin typeface="Helvetica Neue"/>
              </a:rPr>
              <a:t>SECTION 04</a:t>
            </a:r>
          </a:p>
        </p:txBody>
      </p:sp>
      <p:sp>
        <p:nvSpPr>
          <p:cNvPr id="6" name="TextBox 5"/>
          <p:cNvSpPr txBox="1"/>
          <p:nvPr/>
        </p:nvSpPr>
        <p:spPr>
          <a:xfrm>
            <a:off x="804672" y="14173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Every Kid</a:t>
            </a:r>
          </a:p>
        </p:txBody>
      </p:sp>
      <p:sp>
        <p:nvSpPr>
          <p:cNvPr id="7" name="TextBox 6"/>
          <p:cNvSpPr txBox="1"/>
          <p:nvPr/>
        </p:nvSpPr>
        <p:spPr>
          <a:xfrm>
            <a:off x="804672" y="21031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in the Water</a:t>
            </a:r>
          </a:p>
        </p:txBody>
      </p:sp>
      <p:sp>
        <p:nvSpPr>
          <p:cNvPr id="8" name="Rounded Rectangle 7"/>
          <p:cNvSpPr/>
          <p:nvPr/>
        </p:nvSpPr>
        <p:spPr>
          <a:xfrm>
            <a:off x="822960" y="2880360"/>
            <a:ext cx="2743200" cy="365760"/>
          </a:xfrm>
          <a:prstGeom prst="round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80360"/>
            <a:ext cx="2743200" cy="365760"/>
          </a:xfrm>
          <a:prstGeom prst="rect">
            <a:avLst/>
          </a:prstGeom>
          <a:noFill/>
        </p:spPr>
        <p:txBody>
          <a:bodyPr wrap="square" lIns="0" rIns="0" tIns="0" bIns="0" anchor="ctr">
            <a:spAutoFit/>
          </a:bodyPr>
          <a:lstStyle/>
          <a:p>
            <a:pPr algn="ctr"/>
            <a:r>
              <a:rPr sz="1200" b="1" i="0" cap="all" spc="150">
                <a:solidFill>
                  <a:srgbClr val="FFFFFF"/>
                </a:solidFill>
                <a:latin typeface="Helvetica Neue"/>
              </a:rPr>
              <a:t>1:45 – 2:15   ·   30 MIN</a:t>
            </a:r>
          </a:p>
        </p:txBody>
      </p:sp>
      <p:sp>
        <p:nvSpPr>
          <p:cNvPr id="10" name="TextBox 9"/>
          <p:cNvSpPr txBox="1"/>
          <p:nvPr/>
        </p:nvSpPr>
        <p:spPr>
          <a:xfrm>
            <a:off x="822960" y="3520439"/>
            <a:ext cx="7315200" cy="731520"/>
          </a:xfrm>
          <a:prstGeom prst="rect">
            <a:avLst/>
          </a:prstGeom>
          <a:noFill/>
        </p:spPr>
        <p:txBody>
          <a:bodyPr wrap="square" lIns="0" rIns="0" tIns="0" bIns="0" anchor="t">
            <a:spAutoFit/>
          </a:bodyPr>
          <a:lstStyle/>
          <a:p>
            <a:pPr algn="l"/>
            <a:r>
              <a:rPr sz="1600" b="0" i="1">
                <a:solidFill>
                  <a:srgbClr val="6E6E73"/>
                </a:solidFill>
                <a:latin typeface="Helvetica Neue"/>
              </a:rPr>
              <a:t>Phase 1 exit gate. Comfort and familiarity first — no missions, no tasks, just being in the pool with the team.</a:t>
            </a:r>
          </a:p>
        </p:txBody>
      </p:sp>
      <p:sp>
        <p:nvSpPr>
          <p:cNvPr id="11" name="TextBox 10"/>
          <p:cNvSpPr txBox="1"/>
          <p:nvPr/>
        </p:nvSpPr>
        <p:spPr>
          <a:xfrm>
            <a:off x="6858000" y="914400"/>
            <a:ext cx="5330952" cy="5029200"/>
          </a:xfrm>
          <a:prstGeom prst="rect">
            <a:avLst/>
          </a:prstGeom>
          <a:noFill/>
        </p:spPr>
        <p:txBody>
          <a:bodyPr wrap="square" lIns="0" rIns="0" tIns="0" bIns="0" anchor="t">
            <a:spAutoFit/>
          </a:bodyPr>
          <a:lstStyle/>
          <a:p>
            <a:pPr algn="r"/>
            <a:r>
              <a:rPr sz="36000" b="1" i="0">
                <a:solidFill>
                  <a:srgbClr val="EEF0F1"/>
                </a:solidFill>
                <a:latin typeface="Helvetica Neue"/>
              </a:rPr>
              <a:t>04</a:t>
            </a:r>
          </a:p>
        </p:txBody>
      </p:sp>
      <p:cxnSp>
        <p:nvCxnSpPr>
          <p:cNvPr id="12" name="Connector 11"/>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4" name="TextBox 13"/>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7 — CAPSULE BUILD &amp; FIRST SPLASH   ·   11 /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THE WHY</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Comfort first. Tasks come later.</a:t>
            </a:r>
          </a:p>
        </p:txBody>
      </p:sp>
      <p:sp>
        <p:nvSpPr>
          <p:cNvPr id="6" name="TextBox 5"/>
          <p:cNvSpPr txBox="1"/>
          <p:nvPr/>
        </p:nvSpPr>
        <p:spPr>
          <a:xfrm>
            <a:off x="822960" y="1783080"/>
            <a:ext cx="10515600" cy="969264"/>
          </a:xfrm>
          <a:prstGeom prst="rect">
            <a:avLst/>
          </a:prstGeom>
          <a:noFill/>
        </p:spPr>
        <p:txBody>
          <a:bodyPr wrap="square" lIns="0" rIns="0" tIns="0" bIns="0" anchor="t">
            <a:spAutoFit/>
          </a:bodyPr>
          <a:lstStyle/>
          <a:p>
            <a:pPr algn="l">
              <a:lnSpc>
                <a:spcPct val="135000"/>
              </a:lnSpc>
            </a:pPr>
            <a:r>
              <a:rPr sz="1200" b="0" i="0">
                <a:solidFill>
                  <a:srgbClr val="6E6E73"/>
                </a:solidFill>
                <a:latin typeface="Helvetica Neue"/>
              </a:rPr>
              <a:t>Tonight is not a mission. It's not a test. It's every kid getting wet with the team so the water stops being a foreign environment by April. Phase 1's exit gate includes this beat explicitly: every member has been in the water before the season transitions to Phase 2.</a:t>
            </a:r>
          </a:p>
        </p:txBody>
      </p:sp>
      <p:sp>
        <p:nvSpPr>
          <p:cNvPr id="7" name="TextBox 6"/>
          <p:cNvSpPr txBox="1"/>
          <p:nvPr/>
        </p:nvSpPr>
        <p:spPr>
          <a:xfrm>
            <a:off x="822960" y="2706624"/>
            <a:ext cx="10515600" cy="768096"/>
          </a:xfrm>
          <a:prstGeom prst="rect">
            <a:avLst/>
          </a:prstGeom>
          <a:noFill/>
        </p:spPr>
        <p:txBody>
          <a:bodyPr wrap="square" lIns="0" rIns="0" tIns="0" bIns="0" anchor="t">
            <a:spAutoFit/>
          </a:bodyPr>
          <a:lstStyle/>
          <a:p>
            <a:pPr algn="l">
              <a:lnSpc>
                <a:spcPct val="135000"/>
              </a:lnSpc>
            </a:pPr>
            <a:r>
              <a:rPr sz="1200" b="0" i="0">
                <a:solidFill>
                  <a:srgbClr val="6E6E73"/>
                </a:solidFill>
                <a:latin typeface="Helvetica Neue"/>
              </a:rPr>
              <a:t>Buddy assignments are made on the deck. Stronger swimmers buddy weaker swimmers; nobody is alone. The advisor and the lifeguard each track which buddies are in and which are out.</a:t>
            </a:r>
          </a:p>
        </p:txBody>
      </p:sp>
      <p:sp>
        <p:nvSpPr>
          <p:cNvPr id="8" name="TextBox 7"/>
          <p:cNvSpPr txBox="1"/>
          <p:nvPr/>
        </p:nvSpPr>
        <p:spPr>
          <a:xfrm>
            <a:off x="822960" y="3429000"/>
            <a:ext cx="10515600" cy="768096"/>
          </a:xfrm>
          <a:prstGeom prst="rect">
            <a:avLst/>
          </a:prstGeom>
          <a:noFill/>
        </p:spPr>
        <p:txBody>
          <a:bodyPr wrap="square" lIns="0" rIns="0" tIns="0" bIns="0" anchor="t">
            <a:spAutoFit/>
          </a:bodyPr>
          <a:lstStyle/>
          <a:p>
            <a:pPr algn="l">
              <a:lnSpc>
                <a:spcPct val="135000"/>
              </a:lnSpc>
            </a:pPr>
            <a:r>
              <a:rPr sz="1200" b="0" i="0">
                <a:solidFill>
                  <a:srgbClr val="6E6E73"/>
                </a:solidFill>
                <a:latin typeface="Helvetica Neue"/>
              </a:rPr>
              <a:t>No ROV in the water tonight. No tether in the water tonight. The team gets in, swims around, gets out, dries off. We learn the deck.</a:t>
            </a:r>
          </a:p>
        </p:txBody>
      </p:sp>
      <p:cxnSp>
        <p:nvCxnSpPr>
          <p:cNvPr id="9" name="Connector 8"/>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1" name="TextBox 10"/>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7 — CAPSULE BUILD &amp; FIRST SPLASH   ·   12 /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822960" y="960120"/>
            <a:ext cx="365760" cy="36576"/>
          </a:xfrm>
          <a:prstGeom prst="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78992"/>
            <a:ext cx="5486400" cy="292608"/>
          </a:xfrm>
          <a:prstGeom prst="rect">
            <a:avLst/>
          </a:prstGeom>
          <a:noFill/>
        </p:spPr>
        <p:txBody>
          <a:bodyPr wrap="square" lIns="0" rIns="0" tIns="0" bIns="0" anchor="t">
            <a:spAutoFit/>
          </a:bodyPr>
          <a:lstStyle/>
          <a:p>
            <a:pPr algn="l"/>
            <a:r>
              <a:rPr sz="1200" b="1" i="0" cap="all" spc="200">
                <a:solidFill>
                  <a:srgbClr val="0D7490"/>
                </a:solidFill>
                <a:latin typeface="Helvetica Neue"/>
              </a:rPr>
              <a:t>SECTION 05</a:t>
            </a:r>
          </a:p>
        </p:txBody>
      </p:sp>
      <p:sp>
        <p:nvSpPr>
          <p:cNvPr id="6" name="TextBox 5"/>
          <p:cNvSpPr txBox="1"/>
          <p:nvPr/>
        </p:nvSpPr>
        <p:spPr>
          <a:xfrm>
            <a:off x="804672" y="14173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Smoke Test</a:t>
            </a:r>
          </a:p>
        </p:txBody>
      </p:sp>
      <p:sp>
        <p:nvSpPr>
          <p:cNvPr id="7" name="TextBox 6"/>
          <p:cNvSpPr txBox="1"/>
          <p:nvPr/>
        </p:nvSpPr>
        <p:spPr>
          <a:xfrm>
            <a:off x="804672" y="21031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of the Control Box</a:t>
            </a:r>
          </a:p>
        </p:txBody>
      </p:sp>
      <p:sp>
        <p:nvSpPr>
          <p:cNvPr id="8" name="Rounded Rectangle 7"/>
          <p:cNvSpPr/>
          <p:nvPr/>
        </p:nvSpPr>
        <p:spPr>
          <a:xfrm>
            <a:off x="822960" y="2880360"/>
            <a:ext cx="2743200" cy="365760"/>
          </a:xfrm>
          <a:prstGeom prst="round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80360"/>
            <a:ext cx="2743200" cy="365760"/>
          </a:xfrm>
          <a:prstGeom prst="rect">
            <a:avLst/>
          </a:prstGeom>
          <a:noFill/>
        </p:spPr>
        <p:txBody>
          <a:bodyPr wrap="square" lIns="0" rIns="0" tIns="0" bIns="0" anchor="ctr">
            <a:spAutoFit/>
          </a:bodyPr>
          <a:lstStyle/>
          <a:p>
            <a:pPr algn="ctr"/>
            <a:r>
              <a:rPr sz="1200" b="1" i="0" cap="all" spc="150">
                <a:solidFill>
                  <a:srgbClr val="FFFFFF"/>
                </a:solidFill>
                <a:latin typeface="Helvetica Neue"/>
              </a:rPr>
              <a:t>2:15 – 2:30   ·   15 MIN</a:t>
            </a:r>
          </a:p>
        </p:txBody>
      </p:sp>
      <p:sp>
        <p:nvSpPr>
          <p:cNvPr id="10" name="TextBox 9"/>
          <p:cNvSpPr txBox="1"/>
          <p:nvPr/>
        </p:nvSpPr>
        <p:spPr>
          <a:xfrm>
            <a:off x="822960" y="3520439"/>
            <a:ext cx="7315200" cy="731520"/>
          </a:xfrm>
          <a:prstGeom prst="rect">
            <a:avLst/>
          </a:prstGeom>
          <a:noFill/>
        </p:spPr>
        <p:txBody>
          <a:bodyPr wrap="square" lIns="0" rIns="0" tIns="0" bIns="0" anchor="t">
            <a:spAutoFit/>
          </a:bodyPr>
          <a:lstStyle/>
          <a:p>
            <a:pPr algn="l"/>
            <a:r>
              <a:rPr sz="1600" b="0" i="1">
                <a:solidFill>
                  <a:srgbClr val="6E6E73"/>
                </a:solidFill>
                <a:latin typeface="Helvetica Neue"/>
              </a:rPr>
              <a:t>We are NOT in the water for this. Smoke test happens on the deck, with the battery, with one person hand on the disconnect.</a:t>
            </a:r>
          </a:p>
        </p:txBody>
      </p:sp>
      <p:sp>
        <p:nvSpPr>
          <p:cNvPr id="11" name="TextBox 10"/>
          <p:cNvSpPr txBox="1"/>
          <p:nvPr/>
        </p:nvSpPr>
        <p:spPr>
          <a:xfrm>
            <a:off x="6858000" y="914400"/>
            <a:ext cx="5330952" cy="5029200"/>
          </a:xfrm>
          <a:prstGeom prst="rect">
            <a:avLst/>
          </a:prstGeom>
          <a:noFill/>
        </p:spPr>
        <p:txBody>
          <a:bodyPr wrap="square" lIns="0" rIns="0" tIns="0" bIns="0" anchor="t">
            <a:spAutoFit/>
          </a:bodyPr>
          <a:lstStyle/>
          <a:p>
            <a:pPr algn="r"/>
            <a:r>
              <a:rPr sz="36000" b="1" i="0">
                <a:solidFill>
                  <a:srgbClr val="EEF0F1"/>
                </a:solidFill>
                <a:latin typeface="Helvetica Neue"/>
              </a:rPr>
              <a:t>05</a:t>
            </a:r>
          </a:p>
        </p:txBody>
      </p:sp>
      <p:cxnSp>
        <p:nvCxnSpPr>
          <p:cNvPr id="12" name="Connector 11"/>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4" name="TextBox 13"/>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7 — CAPSULE BUILD &amp; FIRST SPLASH   ·   13 /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SMOKE TEST — THE FIRST POWER-UP</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Battery to board. Three readings. Disconnect.</a:t>
            </a:r>
          </a:p>
        </p:txBody>
      </p:sp>
      <p:sp>
        <p:nvSpPr>
          <p:cNvPr id="6" name="TextBox 5"/>
          <p:cNvSpPr txBox="1"/>
          <p:nvPr/>
        </p:nvSpPr>
        <p:spPr>
          <a:xfrm>
            <a:off x="822960" y="1783080"/>
            <a:ext cx="10515600" cy="457200"/>
          </a:xfrm>
          <a:prstGeom prst="rect">
            <a:avLst/>
          </a:prstGeom>
          <a:noFill/>
        </p:spPr>
        <p:txBody>
          <a:bodyPr wrap="square" lIns="0" rIns="0" tIns="0" bIns="0" anchor="t">
            <a:spAutoFit/>
          </a:bodyPr>
          <a:lstStyle/>
          <a:p>
            <a:pPr algn="l"/>
            <a:r>
              <a:rPr sz="1400" b="0" i="1">
                <a:solidFill>
                  <a:srgbClr val="6E6E73"/>
                </a:solidFill>
                <a:latin typeface="Helvetica Neue"/>
              </a:rPr>
              <a:t>If the meter-check from 1.6 holds, this is uneventful. That's the goal.</a:t>
            </a:r>
          </a:p>
        </p:txBody>
      </p:sp>
      <p:sp>
        <p:nvSpPr>
          <p:cNvPr id="7" name="Oval 6"/>
          <p:cNvSpPr/>
          <p:nvPr/>
        </p:nvSpPr>
        <p:spPr>
          <a:xfrm>
            <a:off x="822960" y="233172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3172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1</a:t>
            </a:r>
          </a:p>
        </p:txBody>
      </p:sp>
      <p:sp>
        <p:nvSpPr>
          <p:cNvPr id="9" name="TextBox 8"/>
          <p:cNvSpPr txBox="1"/>
          <p:nvPr/>
        </p:nvSpPr>
        <p:spPr>
          <a:xfrm>
            <a:off x="1417320" y="231343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Re-verify the meter-check from 1.6</a:t>
            </a:r>
          </a:p>
        </p:txBody>
      </p:sp>
      <p:sp>
        <p:nvSpPr>
          <p:cNvPr id="10" name="TextBox 9"/>
          <p:cNvSpPr txBox="1"/>
          <p:nvPr/>
        </p:nvSpPr>
        <p:spPr>
          <a:xfrm>
            <a:off x="1417320" y="2606039"/>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Quick pass with the multimeter on every pad — same three reads. If anything has shifted since 1.6, fix before connecting power.</a:t>
            </a:r>
          </a:p>
        </p:txBody>
      </p:sp>
      <p:sp>
        <p:nvSpPr>
          <p:cNvPr id="11" name="Oval 10"/>
          <p:cNvSpPr/>
          <p:nvPr/>
        </p:nvSpPr>
        <p:spPr>
          <a:xfrm>
            <a:off x="822960" y="310896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10896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2</a:t>
            </a:r>
          </a:p>
        </p:txBody>
      </p:sp>
      <p:sp>
        <p:nvSpPr>
          <p:cNvPr id="13" name="TextBox 12"/>
          <p:cNvSpPr txBox="1"/>
          <p:nvPr/>
        </p:nvSpPr>
        <p:spPr>
          <a:xfrm>
            <a:off x="1417320" y="309067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Connect the battery — slowly</a:t>
            </a:r>
          </a:p>
        </p:txBody>
      </p:sp>
      <p:sp>
        <p:nvSpPr>
          <p:cNvPr id="14" name="TextBox 13"/>
          <p:cNvSpPr txBox="1"/>
          <p:nvPr/>
        </p:nvSpPr>
        <p:spPr>
          <a:xfrm>
            <a:off x="1417320" y="3383279"/>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Polarity verified by two people. Battery connected at the watt meter end first, then the board end. One person watches the watt meter; one person has a hand on the disconnect.</a:t>
            </a:r>
          </a:p>
        </p:txBody>
      </p:sp>
      <p:sp>
        <p:nvSpPr>
          <p:cNvPr id="15" name="Oval 14"/>
          <p:cNvSpPr/>
          <p:nvPr/>
        </p:nvSpPr>
        <p:spPr>
          <a:xfrm>
            <a:off x="822960" y="388620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88620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3</a:t>
            </a:r>
          </a:p>
        </p:txBody>
      </p:sp>
      <p:sp>
        <p:nvSpPr>
          <p:cNvPr id="17" name="TextBox 16"/>
          <p:cNvSpPr txBox="1"/>
          <p:nvPr/>
        </p:nvSpPr>
        <p:spPr>
          <a:xfrm>
            <a:off x="1417320" y="386791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Read the watt meter for ~5 seconds</a:t>
            </a:r>
          </a:p>
        </p:txBody>
      </p:sp>
      <p:sp>
        <p:nvSpPr>
          <p:cNvPr id="18" name="TextBox 17"/>
          <p:cNvSpPr txBox="1"/>
          <p:nvPr/>
        </p:nvSpPr>
        <p:spPr>
          <a:xfrm>
            <a:off x="1417320" y="4160520"/>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Expected: small idle current, no smoke, no smell, no audible pop. Anything else → disconnect immediately.</a:t>
            </a:r>
          </a:p>
        </p:txBody>
      </p:sp>
      <p:sp>
        <p:nvSpPr>
          <p:cNvPr id="19" name="Oval 18"/>
          <p:cNvSpPr/>
          <p:nvPr/>
        </p:nvSpPr>
        <p:spPr>
          <a:xfrm>
            <a:off x="822960" y="466344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66344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4</a:t>
            </a:r>
          </a:p>
        </p:txBody>
      </p:sp>
      <p:sp>
        <p:nvSpPr>
          <p:cNvPr id="21" name="TextBox 20"/>
          <p:cNvSpPr txBox="1"/>
          <p:nvPr/>
        </p:nvSpPr>
        <p:spPr>
          <a:xfrm>
            <a:off x="1417320" y="464515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Disconnect, document the result</a:t>
            </a:r>
          </a:p>
        </p:txBody>
      </p:sp>
      <p:sp>
        <p:nvSpPr>
          <p:cNvPr id="22" name="TextBox 21"/>
          <p:cNvSpPr txBox="1"/>
          <p:nvPr/>
        </p:nvSpPr>
        <p:spPr>
          <a:xfrm>
            <a:off x="1417320" y="4937759"/>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Idle current reading + any anomalies → engineering notebook. Signed and timed. If clean, we move to capsule drop #1.</a:t>
            </a:r>
          </a:p>
        </p:txBody>
      </p:sp>
      <p:cxnSp>
        <p:nvCxnSpPr>
          <p:cNvPr id="23" name="Connector 22"/>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25" name="TextBox 24"/>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7 — CAPSULE BUILD &amp; FIRST SPLASH   ·   14 /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822960" y="960120"/>
            <a:ext cx="365760" cy="36576"/>
          </a:xfrm>
          <a:prstGeom prst="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78992"/>
            <a:ext cx="5486400" cy="292608"/>
          </a:xfrm>
          <a:prstGeom prst="rect">
            <a:avLst/>
          </a:prstGeom>
          <a:noFill/>
        </p:spPr>
        <p:txBody>
          <a:bodyPr wrap="square" lIns="0" rIns="0" tIns="0" bIns="0" anchor="t">
            <a:spAutoFit/>
          </a:bodyPr>
          <a:lstStyle/>
          <a:p>
            <a:pPr algn="l"/>
            <a:r>
              <a:rPr sz="1200" b="1" i="0" cap="all" spc="200">
                <a:solidFill>
                  <a:srgbClr val="0D7490"/>
                </a:solidFill>
                <a:latin typeface="Helvetica Neue"/>
              </a:rPr>
              <a:t>SECTION 06</a:t>
            </a:r>
          </a:p>
        </p:txBody>
      </p:sp>
      <p:sp>
        <p:nvSpPr>
          <p:cNvPr id="6" name="TextBox 5"/>
          <p:cNvSpPr txBox="1"/>
          <p:nvPr/>
        </p:nvSpPr>
        <p:spPr>
          <a:xfrm>
            <a:off x="804672" y="14173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Capsule Drop #1</a:t>
            </a:r>
          </a:p>
        </p:txBody>
      </p:sp>
      <p:sp>
        <p:nvSpPr>
          <p:cNvPr id="7" name="TextBox 6"/>
          <p:cNvSpPr txBox="1"/>
          <p:nvPr/>
        </p:nvSpPr>
        <p:spPr>
          <a:xfrm>
            <a:off x="804672" y="21031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&amp; Towel Check</a:t>
            </a:r>
          </a:p>
        </p:txBody>
      </p:sp>
      <p:sp>
        <p:nvSpPr>
          <p:cNvPr id="8" name="Rounded Rectangle 7"/>
          <p:cNvSpPr/>
          <p:nvPr/>
        </p:nvSpPr>
        <p:spPr>
          <a:xfrm>
            <a:off x="822960" y="2880360"/>
            <a:ext cx="2743200" cy="365760"/>
          </a:xfrm>
          <a:prstGeom prst="round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80360"/>
            <a:ext cx="2743200" cy="365760"/>
          </a:xfrm>
          <a:prstGeom prst="rect">
            <a:avLst/>
          </a:prstGeom>
          <a:noFill/>
        </p:spPr>
        <p:txBody>
          <a:bodyPr wrap="square" lIns="0" rIns="0" tIns="0" bIns="0" anchor="ctr">
            <a:spAutoFit/>
          </a:bodyPr>
          <a:lstStyle/>
          <a:p>
            <a:pPr algn="ctr"/>
            <a:r>
              <a:rPr sz="1200" b="1" i="0" cap="all" spc="150">
                <a:solidFill>
                  <a:srgbClr val="FFFFFF"/>
                </a:solidFill>
                <a:latin typeface="Helvetica Neue"/>
              </a:rPr>
              <a:t>2:30 – 2:50   ·   20 MIN</a:t>
            </a:r>
          </a:p>
        </p:txBody>
      </p:sp>
      <p:sp>
        <p:nvSpPr>
          <p:cNvPr id="10" name="TextBox 9"/>
          <p:cNvSpPr txBox="1"/>
          <p:nvPr/>
        </p:nvSpPr>
        <p:spPr>
          <a:xfrm>
            <a:off x="822960" y="3520439"/>
            <a:ext cx="7315200" cy="731520"/>
          </a:xfrm>
          <a:prstGeom prst="rect">
            <a:avLst/>
          </a:prstGeom>
          <a:noFill/>
        </p:spPr>
        <p:txBody>
          <a:bodyPr wrap="square" lIns="0" rIns="0" tIns="0" bIns="0" anchor="t">
            <a:spAutoFit/>
          </a:bodyPr>
          <a:lstStyle/>
          <a:p>
            <a:pPr algn="l"/>
            <a:r>
              <a:rPr sz="1600" b="0" i="1">
                <a:solidFill>
                  <a:srgbClr val="6E6E73"/>
                </a:solidFill>
                <a:latin typeface="Helvetica Neue"/>
              </a:rPr>
              <a:t>First of three consecutive dry dives needed for the Phase 1 exit gate. Today is the start of the count.</a:t>
            </a:r>
          </a:p>
        </p:txBody>
      </p:sp>
      <p:sp>
        <p:nvSpPr>
          <p:cNvPr id="11" name="TextBox 10"/>
          <p:cNvSpPr txBox="1"/>
          <p:nvPr/>
        </p:nvSpPr>
        <p:spPr>
          <a:xfrm>
            <a:off x="6858000" y="914400"/>
            <a:ext cx="5330952" cy="5029200"/>
          </a:xfrm>
          <a:prstGeom prst="rect">
            <a:avLst/>
          </a:prstGeom>
          <a:noFill/>
        </p:spPr>
        <p:txBody>
          <a:bodyPr wrap="square" lIns="0" rIns="0" tIns="0" bIns="0" anchor="t">
            <a:spAutoFit/>
          </a:bodyPr>
          <a:lstStyle/>
          <a:p>
            <a:pPr algn="r"/>
            <a:r>
              <a:rPr sz="36000" b="1" i="0">
                <a:solidFill>
                  <a:srgbClr val="EEF0F1"/>
                </a:solidFill>
                <a:latin typeface="Helvetica Neue"/>
              </a:rPr>
              <a:t>06</a:t>
            </a:r>
          </a:p>
        </p:txBody>
      </p:sp>
      <p:cxnSp>
        <p:nvCxnSpPr>
          <p:cNvPr id="12" name="Connector 11"/>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4" name="TextBox 13"/>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7 — CAPSULE BUILD &amp; FIRST SPLASH   ·   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DROP. RETRIEVE. OPEN. CHECK. LOG.</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Five moves. The towel decides.</a:t>
            </a:r>
          </a:p>
        </p:txBody>
      </p:sp>
      <p:sp>
        <p:nvSpPr>
          <p:cNvPr id="6" name="Oval 5"/>
          <p:cNvSpPr/>
          <p:nvPr/>
        </p:nvSpPr>
        <p:spPr>
          <a:xfrm>
            <a:off x="822960" y="201168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1</a:t>
            </a:r>
          </a:p>
        </p:txBody>
      </p:sp>
      <p:sp>
        <p:nvSpPr>
          <p:cNvPr id="8" name="TextBox 7"/>
          <p:cNvSpPr txBox="1"/>
          <p:nvPr/>
        </p:nvSpPr>
        <p:spPr>
          <a:xfrm>
            <a:off x="1417320" y="199339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Drop the capsule into the deepest available point</a:t>
            </a:r>
          </a:p>
        </p:txBody>
      </p:sp>
      <p:sp>
        <p:nvSpPr>
          <p:cNvPr id="9" name="TextBox 8"/>
          <p:cNvSpPr txBox="1"/>
          <p:nvPr/>
        </p:nvSpPr>
        <p:spPr>
          <a:xfrm>
            <a:off x="1417320" y="2286000"/>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Underhand toss from the deck. Capsule sinks if weighted correctly; floats if not — note which and adjust before drop #2.</a:t>
            </a:r>
          </a:p>
        </p:txBody>
      </p:sp>
      <p:sp>
        <p:nvSpPr>
          <p:cNvPr id="10" name="Oval 9"/>
          <p:cNvSpPr/>
          <p:nvPr/>
        </p:nvSpPr>
        <p:spPr>
          <a:xfrm>
            <a:off x="822960" y="278892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78892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2</a:t>
            </a:r>
          </a:p>
        </p:txBody>
      </p:sp>
      <p:sp>
        <p:nvSpPr>
          <p:cNvPr id="12" name="TextBox 11"/>
          <p:cNvSpPr txBox="1"/>
          <p:nvPr/>
        </p:nvSpPr>
        <p:spPr>
          <a:xfrm>
            <a:off x="1417320" y="277063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Retrieve after 60 seconds</a:t>
            </a:r>
          </a:p>
        </p:txBody>
      </p:sp>
      <p:sp>
        <p:nvSpPr>
          <p:cNvPr id="13" name="TextBox 12"/>
          <p:cNvSpPr txBox="1"/>
          <p:nvPr/>
        </p:nvSpPr>
        <p:spPr>
          <a:xfrm>
            <a:off x="1417320" y="3063240"/>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Pool noodle or a kid with a buddy retrieves. Capsule comes out wet on the outside — that's expected.</a:t>
            </a:r>
          </a:p>
        </p:txBody>
      </p:sp>
      <p:sp>
        <p:nvSpPr>
          <p:cNvPr id="14" name="Oval 13"/>
          <p:cNvSpPr/>
          <p:nvPr/>
        </p:nvSpPr>
        <p:spPr>
          <a:xfrm>
            <a:off x="822960" y="356616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56616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3</a:t>
            </a:r>
          </a:p>
        </p:txBody>
      </p:sp>
      <p:sp>
        <p:nvSpPr>
          <p:cNvPr id="16" name="TextBox 15"/>
          <p:cNvSpPr txBox="1"/>
          <p:nvPr/>
        </p:nvSpPr>
        <p:spPr>
          <a:xfrm>
            <a:off x="1417320" y="354787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Dry the outside before opening</a:t>
            </a:r>
          </a:p>
        </p:txBody>
      </p:sp>
      <p:sp>
        <p:nvSpPr>
          <p:cNvPr id="17" name="TextBox 16"/>
          <p:cNvSpPr txBox="1"/>
          <p:nvPr/>
        </p:nvSpPr>
        <p:spPr>
          <a:xfrm>
            <a:off x="1417320" y="3840480"/>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Wipe down the capsule completely before cracking either end cap. We don't want to introduce water during the inspection.</a:t>
            </a:r>
          </a:p>
        </p:txBody>
      </p:sp>
      <p:sp>
        <p:nvSpPr>
          <p:cNvPr id="18" name="Oval 17"/>
          <p:cNvSpPr/>
          <p:nvPr/>
        </p:nvSpPr>
        <p:spPr>
          <a:xfrm>
            <a:off x="822960" y="434340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34340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4</a:t>
            </a:r>
          </a:p>
        </p:txBody>
      </p:sp>
      <p:sp>
        <p:nvSpPr>
          <p:cNvPr id="20" name="TextBox 19"/>
          <p:cNvSpPr txBox="1"/>
          <p:nvPr/>
        </p:nvSpPr>
        <p:spPr>
          <a:xfrm>
            <a:off x="1417320" y="432511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Open the leading end cap. Inspect the towel.</a:t>
            </a:r>
          </a:p>
        </p:txBody>
      </p:sp>
      <p:sp>
        <p:nvSpPr>
          <p:cNvPr id="21" name="TextBox 20"/>
          <p:cNvSpPr txBox="1"/>
          <p:nvPr/>
        </p:nvSpPr>
        <p:spPr>
          <a:xfrm>
            <a:off x="1417320" y="4617720"/>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Bone-dry towel = pass. Damp towel = fail. Even a spot. Capsule fails, the seal gets redone before drop #2.</a:t>
            </a:r>
          </a:p>
        </p:txBody>
      </p:sp>
      <p:sp>
        <p:nvSpPr>
          <p:cNvPr id="22" name="Oval 21"/>
          <p:cNvSpPr/>
          <p:nvPr/>
        </p:nvSpPr>
        <p:spPr>
          <a:xfrm>
            <a:off x="822960" y="512064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12064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5</a:t>
            </a:r>
          </a:p>
        </p:txBody>
      </p:sp>
      <p:sp>
        <p:nvSpPr>
          <p:cNvPr id="24" name="TextBox 23"/>
          <p:cNvSpPr txBox="1"/>
          <p:nvPr/>
        </p:nvSpPr>
        <p:spPr>
          <a:xfrm>
            <a:off x="1417320" y="510235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Log the result in the engineering notebook</a:t>
            </a:r>
          </a:p>
        </p:txBody>
      </p:sp>
      <p:sp>
        <p:nvSpPr>
          <p:cNvPr id="25" name="TextBox 24"/>
          <p:cNvSpPr txBox="1"/>
          <p:nvPr/>
        </p:nvSpPr>
        <p:spPr>
          <a:xfrm>
            <a:off x="1417320" y="5394959"/>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Date, time, capsule ID (if more than one), pass/fail, photo of the towel. This log is the proof we hit the three-consecutive-dry-dives gate at 1.11.</a:t>
            </a:r>
          </a:p>
        </p:txBody>
      </p:sp>
      <p:cxnSp>
        <p:nvCxnSpPr>
          <p:cNvPr id="26" name="Connector 25"/>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28" name="TextBox 27"/>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7 — CAPSULE BUILD &amp; FIRST SPLASH   ·   16 /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822960" y="960120"/>
            <a:ext cx="365760" cy="36576"/>
          </a:xfrm>
          <a:prstGeom prst="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78992"/>
            <a:ext cx="5486400" cy="292608"/>
          </a:xfrm>
          <a:prstGeom prst="rect">
            <a:avLst/>
          </a:prstGeom>
          <a:noFill/>
        </p:spPr>
        <p:txBody>
          <a:bodyPr wrap="square" lIns="0" rIns="0" tIns="0" bIns="0" anchor="t">
            <a:spAutoFit/>
          </a:bodyPr>
          <a:lstStyle/>
          <a:p>
            <a:pPr algn="l"/>
            <a:r>
              <a:rPr sz="1200" b="1" i="0" cap="all" spc="200">
                <a:solidFill>
                  <a:srgbClr val="0D7490"/>
                </a:solidFill>
                <a:latin typeface="Helvetica Neue"/>
              </a:rPr>
              <a:t>SECTION 07</a:t>
            </a:r>
          </a:p>
        </p:txBody>
      </p:sp>
      <p:sp>
        <p:nvSpPr>
          <p:cNvPr id="6" name="TextBox 5"/>
          <p:cNvSpPr txBox="1"/>
          <p:nvPr/>
        </p:nvSpPr>
        <p:spPr>
          <a:xfrm>
            <a:off x="804672" y="14173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Wrap-Up &amp;</a:t>
            </a:r>
          </a:p>
        </p:txBody>
      </p:sp>
      <p:sp>
        <p:nvSpPr>
          <p:cNvPr id="7" name="TextBox 6"/>
          <p:cNvSpPr txBox="1"/>
          <p:nvPr/>
        </p:nvSpPr>
        <p:spPr>
          <a:xfrm>
            <a:off x="804672" y="21031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Homework</a:t>
            </a:r>
          </a:p>
        </p:txBody>
      </p:sp>
      <p:sp>
        <p:nvSpPr>
          <p:cNvPr id="8" name="Rounded Rectangle 7"/>
          <p:cNvSpPr/>
          <p:nvPr/>
        </p:nvSpPr>
        <p:spPr>
          <a:xfrm>
            <a:off x="822960" y="2880360"/>
            <a:ext cx="2743200" cy="365760"/>
          </a:xfrm>
          <a:prstGeom prst="round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80360"/>
            <a:ext cx="2743200" cy="365760"/>
          </a:xfrm>
          <a:prstGeom prst="rect">
            <a:avLst/>
          </a:prstGeom>
          <a:noFill/>
        </p:spPr>
        <p:txBody>
          <a:bodyPr wrap="square" lIns="0" rIns="0" tIns="0" bIns="0" anchor="ctr">
            <a:spAutoFit/>
          </a:bodyPr>
          <a:lstStyle/>
          <a:p>
            <a:pPr algn="ctr"/>
            <a:r>
              <a:rPr sz="1200" b="1" i="0" cap="all" spc="150">
                <a:solidFill>
                  <a:srgbClr val="FFFFFF"/>
                </a:solidFill>
                <a:latin typeface="Helvetica Neue"/>
              </a:rPr>
              <a:t>2:50 – 3:00   ·   10 MIN</a:t>
            </a:r>
          </a:p>
        </p:txBody>
      </p:sp>
      <p:sp>
        <p:nvSpPr>
          <p:cNvPr id="10" name="TextBox 9"/>
          <p:cNvSpPr txBox="1"/>
          <p:nvPr/>
        </p:nvSpPr>
        <p:spPr>
          <a:xfrm>
            <a:off x="822960" y="3520439"/>
            <a:ext cx="7315200" cy="731520"/>
          </a:xfrm>
          <a:prstGeom prst="rect">
            <a:avLst/>
          </a:prstGeom>
          <a:noFill/>
        </p:spPr>
        <p:txBody>
          <a:bodyPr wrap="square" lIns="0" rIns="0" tIns="0" bIns="0" anchor="t">
            <a:spAutoFit/>
          </a:bodyPr>
          <a:lstStyle/>
          <a:p>
            <a:pPr algn="l"/>
            <a:r>
              <a:rPr sz="1600" b="0" i="1">
                <a:solidFill>
                  <a:srgbClr val="6E6E73"/>
                </a:solidFill>
                <a:latin typeface="Helvetica Neue"/>
              </a:rPr>
              <a:t>Capture what we decided. Close the loop. Hand off the next move.</a:t>
            </a:r>
          </a:p>
        </p:txBody>
      </p:sp>
      <p:sp>
        <p:nvSpPr>
          <p:cNvPr id="11" name="TextBox 10"/>
          <p:cNvSpPr txBox="1"/>
          <p:nvPr/>
        </p:nvSpPr>
        <p:spPr>
          <a:xfrm>
            <a:off x="6858000" y="914400"/>
            <a:ext cx="5330952" cy="5029200"/>
          </a:xfrm>
          <a:prstGeom prst="rect">
            <a:avLst/>
          </a:prstGeom>
          <a:noFill/>
        </p:spPr>
        <p:txBody>
          <a:bodyPr wrap="square" lIns="0" rIns="0" tIns="0" bIns="0" anchor="t">
            <a:spAutoFit/>
          </a:bodyPr>
          <a:lstStyle/>
          <a:p>
            <a:pPr algn="r"/>
            <a:r>
              <a:rPr sz="36000" b="1" i="0">
                <a:solidFill>
                  <a:srgbClr val="EEF0F1"/>
                </a:solidFill>
                <a:latin typeface="Helvetica Neue"/>
              </a:rPr>
              <a:t>07</a:t>
            </a:r>
          </a:p>
        </p:txBody>
      </p:sp>
      <p:cxnSp>
        <p:nvCxnSpPr>
          <p:cNvPr id="12" name="Connector 11"/>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4" name="TextBox 13"/>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7 — CAPSULE BUILD &amp; FIRST SPLASH   ·   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WRAP-UP &amp; HOMEWORK</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Before we meet again.</a:t>
            </a:r>
          </a:p>
        </p:txBody>
      </p:sp>
      <p:sp>
        <p:nvSpPr>
          <p:cNvPr id="6" name="TextBox 5"/>
          <p:cNvSpPr txBox="1"/>
          <p:nvPr/>
        </p:nvSpPr>
        <p:spPr>
          <a:xfrm>
            <a:off x="822960" y="1828800"/>
            <a:ext cx="5029200" cy="320040"/>
          </a:xfrm>
          <a:prstGeom prst="rect">
            <a:avLst/>
          </a:prstGeom>
          <a:noFill/>
        </p:spPr>
        <p:txBody>
          <a:bodyPr wrap="square" lIns="0" rIns="0" tIns="0" bIns="0" anchor="t">
            <a:spAutoFit/>
          </a:bodyPr>
          <a:lstStyle/>
          <a:p>
            <a:pPr algn="l"/>
            <a:r>
              <a:rPr sz="1000" b="1" i="0" cap="all" spc="180">
                <a:solidFill>
                  <a:srgbClr val="0D7490"/>
                </a:solidFill>
                <a:latin typeface="Helvetica Neue"/>
              </a:rPr>
              <a:t>EVERY STUDENT</a:t>
            </a:r>
          </a:p>
        </p:txBody>
      </p:sp>
      <p:sp>
        <p:nvSpPr>
          <p:cNvPr id="7" name="Oval 6"/>
          <p:cNvSpPr/>
          <p:nvPr/>
        </p:nvSpPr>
        <p:spPr>
          <a:xfrm>
            <a:off x="822960" y="2240280"/>
            <a:ext cx="310896" cy="310896"/>
          </a:xfrm>
          <a:prstGeom prst="ellipse">
            <a:avLst/>
          </a:prstGeom>
          <a:solidFill>
            <a:srgbClr val="EA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10896" cy="310896"/>
          </a:xfrm>
          <a:prstGeom prst="rect">
            <a:avLst/>
          </a:prstGeom>
          <a:noFill/>
        </p:spPr>
        <p:txBody>
          <a:bodyPr wrap="square" lIns="0" rIns="0" tIns="0" bIns="0" anchor="ctr">
            <a:spAutoFit/>
          </a:bodyPr>
          <a:lstStyle/>
          <a:p>
            <a:pPr algn="ctr"/>
            <a:r>
              <a:rPr sz="1200" b="1" i="0">
                <a:solidFill>
                  <a:srgbClr val="0D7490"/>
                </a:solidFill>
                <a:latin typeface="Helvetica Neue"/>
              </a:rPr>
              <a:t>1</a:t>
            </a:r>
          </a:p>
        </p:txBody>
      </p:sp>
      <p:sp>
        <p:nvSpPr>
          <p:cNvPr id="9" name="TextBox 8"/>
          <p:cNvSpPr txBox="1"/>
          <p:nvPr/>
        </p:nvSpPr>
        <p:spPr>
          <a:xfrm>
            <a:off x="1280160" y="2221992"/>
            <a:ext cx="4389120" cy="777240"/>
          </a:xfrm>
          <a:prstGeom prst="rect">
            <a:avLst/>
          </a:prstGeom>
          <a:noFill/>
        </p:spPr>
        <p:txBody>
          <a:bodyPr wrap="square" lIns="0" rIns="0" tIns="0" bIns="0" anchor="t">
            <a:spAutoFit/>
          </a:bodyPr>
          <a:lstStyle/>
          <a:p>
            <a:pPr algn="l">
              <a:lnSpc>
                <a:spcPct val="125000"/>
              </a:lnSpc>
            </a:pPr>
            <a:r>
              <a:rPr sz="1150" b="0" i="0">
                <a:solidFill>
                  <a:srgbClr val="1D1D1F"/>
                </a:solidFill>
                <a:latin typeface="Helvetica Neue"/>
              </a:rPr>
              <a:t>If capsule drop #1 was a fail, the team that built it owns the re-seal — done before 1.8 starts.</a:t>
            </a:r>
          </a:p>
        </p:txBody>
      </p:sp>
      <p:sp>
        <p:nvSpPr>
          <p:cNvPr id="10" name="Oval 9"/>
          <p:cNvSpPr/>
          <p:nvPr/>
        </p:nvSpPr>
        <p:spPr>
          <a:xfrm>
            <a:off x="822960" y="3108960"/>
            <a:ext cx="310896" cy="310896"/>
          </a:xfrm>
          <a:prstGeom prst="ellipse">
            <a:avLst/>
          </a:prstGeom>
          <a:solidFill>
            <a:srgbClr val="EA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108960"/>
            <a:ext cx="310896" cy="310896"/>
          </a:xfrm>
          <a:prstGeom prst="rect">
            <a:avLst/>
          </a:prstGeom>
          <a:noFill/>
        </p:spPr>
        <p:txBody>
          <a:bodyPr wrap="square" lIns="0" rIns="0" tIns="0" bIns="0" anchor="ctr">
            <a:spAutoFit/>
          </a:bodyPr>
          <a:lstStyle/>
          <a:p>
            <a:pPr algn="ctr"/>
            <a:r>
              <a:rPr sz="1200" b="1" i="0">
                <a:solidFill>
                  <a:srgbClr val="0D7490"/>
                </a:solidFill>
                <a:latin typeface="Helvetica Neue"/>
              </a:rPr>
              <a:t>2</a:t>
            </a:r>
          </a:p>
        </p:txBody>
      </p:sp>
      <p:sp>
        <p:nvSpPr>
          <p:cNvPr id="12" name="TextBox 11"/>
          <p:cNvSpPr txBox="1"/>
          <p:nvPr/>
        </p:nvSpPr>
        <p:spPr>
          <a:xfrm>
            <a:off x="1280160" y="3090672"/>
            <a:ext cx="4389120" cy="777240"/>
          </a:xfrm>
          <a:prstGeom prst="rect">
            <a:avLst/>
          </a:prstGeom>
          <a:noFill/>
        </p:spPr>
        <p:txBody>
          <a:bodyPr wrap="square" lIns="0" rIns="0" tIns="0" bIns="0" anchor="t">
            <a:spAutoFit/>
          </a:bodyPr>
          <a:lstStyle/>
          <a:p>
            <a:pPr algn="l">
              <a:lnSpc>
                <a:spcPct val="125000"/>
              </a:lnSpc>
            </a:pPr>
            <a:r>
              <a:rPr sz="1150" b="0" i="0">
                <a:solidFill>
                  <a:srgbClr val="1D1D1F"/>
                </a:solidFill>
                <a:latin typeface="Helvetica Neue"/>
              </a:rPr>
              <a:t>Photographer: upload pool-deck and capsule photos to the team folder TONIGHT — sun-dried colors fade fast in the camera roll.</a:t>
            </a:r>
          </a:p>
        </p:txBody>
      </p:sp>
      <p:sp>
        <p:nvSpPr>
          <p:cNvPr id="13" name="Oval 12"/>
          <p:cNvSpPr/>
          <p:nvPr/>
        </p:nvSpPr>
        <p:spPr>
          <a:xfrm>
            <a:off x="822960" y="3977640"/>
            <a:ext cx="310896" cy="310896"/>
          </a:xfrm>
          <a:prstGeom prst="ellipse">
            <a:avLst/>
          </a:prstGeom>
          <a:solidFill>
            <a:srgbClr val="EA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977640"/>
            <a:ext cx="310896" cy="310896"/>
          </a:xfrm>
          <a:prstGeom prst="rect">
            <a:avLst/>
          </a:prstGeom>
          <a:noFill/>
        </p:spPr>
        <p:txBody>
          <a:bodyPr wrap="square" lIns="0" rIns="0" tIns="0" bIns="0" anchor="ctr">
            <a:spAutoFit/>
          </a:bodyPr>
          <a:lstStyle/>
          <a:p>
            <a:pPr algn="ctr"/>
            <a:r>
              <a:rPr sz="1200" b="1" i="0">
                <a:solidFill>
                  <a:srgbClr val="0D7490"/>
                </a:solidFill>
                <a:latin typeface="Helvetica Neue"/>
              </a:rPr>
              <a:t>3</a:t>
            </a:r>
          </a:p>
        </p:txBody>
      </p:sp>
      <p:sp>
        <p:nvSpPr>
          <p:cNvPr id="15" name="TextBox 14"/>
          <p:cNvSpPr txBox="1"/>
          <p:nvPr/>
        </p:nvSpPr>
        <p:spPr>
          <a:xfrm>
            <a:off x="1280160" y="3959352"/>
            <a:ext cx="4389120" cy="777240"/>
          </a:xfrm>
          <a:prstGeom prst="rect">
            <a:avLst/>
          </a:prstGeom>
          <a:noFill/>
        </p:spPr>
        <p:txBody>
          <a:bodyPr wrap="square" lIns="0" rIns="0" tIns="0" bIns="0" anchor="t">
            <a:spAutoFit/>
          </a:bodyPr>
          <a:lstStyle/>
          <a:p>
            <a:pPr algn="l">
              <a:lnSpc>
                <a:spcPct val="125000"/>
              </a:lnSpc>
            </a:pPr>
            <a:r>
              <a:rPr sz="1150" b="0" i="0">
                <a:solidFill>
                  <a:srgbClr val="1D1D1F"/>
                </a:solidFill>
                <a:latin typeface="Helvetica Neue"/>
              </a:rPr>
              <a:t>Bring closed-toe shoes for 1.8 — back to the workshop for the Triggerfish frame and thruster integration.</a:t>
            </a:r>
          </a:p>
        </p:txBody>
      </p:sp>
      <p:sp>
        <p:nvSpPr>
          <p:cNvPr id="16" name="Rectangle 15"/>
          <p:cNvSpPr/>
          <p:nvPr/>
        </p:nvSpPr>
        <p:spPr>
          <a:xfrm>
            <a:off x="5989320" y="1828800"/>
            <a:ext cx="5376672" cy="150876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920240"/>
            <a:ext cx="4846320" cy="320040"/>
          </a:xfrm>
          <a:prstGeom prst="rect">
            <a:avLst/>
          </a:prstGeom>
          <a:noFill/>
        </p:spPr>
        <p:txBody>
          <a:bodyPr wrap="square" lIns="0" rIns="0" tIns="0" bIns="0" anchor="t">
            <a:spAutoFit/>
          </a:bodyPr>
          <a:lstStyle/>
          <a:p>
            <a:pPr algn="l"/>
            <a:r>
              <a:rPr sz="1000" b="1" i="0" cap="all" spc="180">
                <a:solidFill>
                  <a:srgbClr val="0D7490"/>
                </a:solidFill>
                <a:latin typeface="Helvetica Neue"/>
              </a:rPr>
              <a:t>THE PARALLEL TRACK  ·  LEADS &amp; ADVISORS</a:t>
            </a:r>
          </a:p>
        </p:txBody>
      </p:sp>
      <p:sp>
        <p:nvSpPr>
          <p:cNvPr id="18" name="TextBox 17"/>
          <p:cNvSpPr txBox="1"/>
          <p:nvPr/>
        </p:nvSpPr>
        <p:spPr>
          <a:xfrm>
            <a:off x="6263640" y="2240280"/>
            <a:ext cx="4846320" cy="1051560"/>
          </a:xfrm>
          <a:prstGeom prst="rect">
            <a:avLst/>
          </a:prstGeom>
          <a:noFill/>
        </p:spPr>
        <p:txBody>
          <a:bodyPr wrap="square" lIns="0" rIns="0" tIns="0" bIns="0" anchor="t">
            <a:spAutoFit/>
          </a:bodyPr>
          <a:lstStyle/>
          <a:p>
            <a:pPr algn="l">
              <a:lnSpc>
                <a:spcPct val="130000"/>
              </a:lnSpc>
            </a:pPr>
            <a:r>
              <a:rPr sz="1150" b="0" i="0">
                <a:solidFill>
                  <a:srgbClr val="6E6E73"/>
                </a:solidFill>
                <a:latin typeface="Helvetica Neue"/>
              </a:rPr>
              <a:t>Advisors: thank the lifeguard and the host individually before leaving. Confirm pool access for the rest of Phase 1 — 1.9 (capsule dive #2) needs the same host. If host availability is shaky, lock the deep-water alternate now.</a:t>
            </a:r>
          </a:p>
        </p:txBody>
      </p:sp>
      <p:sp>
        <p:nvSpPr>
          <p:cNvPr id="19" name="Rectangle 18"/>
          <p:cNvSpPr/>
          <p:nvPr/>
        </p:nvSpPr>
        <p:spPr>
          <a:xfrm>
            <a:off x="5989320" y="3474720"/>
            <a:ext cx="5376672" cy="228600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3566160"/>
            <a:ext cx="4846320" cy="320040"/>
          </a:xfrm>
          <a:prstGeom prst="rect">
            <a:avLst/>
          </a:prstGeom>
          <a:noFill/>
        </p:spPr>
        <p:txBody>
          <a:bodyPr wrap="square" lIns="0" rIns="0" tIns="0" bIns="0" anchor="t">
            <a:spAutoFit/>
          </a:bodyPr>
          <a:lstStyle/>
          <a:p>
            <a:pPr algn="l"/>
            <a:r>
              <a:rPr sz="1000" b="1" i="0" cap="all" spc="180">
                <a:solidFill>
                  <a:srgbClr val="0D7490"/>
                </a:solidFill>
                <a:latin typeface="Helvetica Neue"/>
              </a:rPr>
              <a:t>NEXT MEETING  ·  WEEK 8</a:t>
            </a:r>
          </a:p>
        </p:txBody>
      </p:sp>
      <p:sp>
        <p:nvSpPr>
          <p:cNvPr id="21" name="TextBox 20"/>
          <p:cNvSpPr txBox="1"/>
          <p:nvPr/>
        </p:nvSpPr>
        <p:spPr>
          <a:xfrm>
            <a:off x="6263640" y="3886200"/>
            <a:ext cx="4846320" cy="502920"/>
          </a:xfrm>
          <a:prstGeom prst="rect">
            <a:avLst/>
          </a:prstGeom>
          <a:noFill/>
        </p:spPr>
        <p:txBody>
          <a:bodyPr wrap="square" lIns="0" rIns="0" tIns="0" bIns="0" anchor="t">
            <a:spAutoFit/>
          </a:bodyPr>
          <a:lstStyle/>
          <a:p>
            <a:pPr algn="l">
              <a:lnSpc>
                <a:spcPct val="105000"/>
              </a:lnSpc>
            </a:pPr>
            <a:r>
              <a:rPr sz="2000" b="1" i="0">
                <a:solidFill>
                  <a:srgbClr val="1D1D1F"/>
                </a:solidFill>
                <a:latin typeface="Helvetica Neue"/>
              </a:rPr>
              <a:t>Build &amp; Iterate I</a:t>
            </a:r>
          </a:p>
        </p:txBody>
      </p:sp>
      <p:sp>
        <p:nvSpPr>
          <p:cNvPr id="22" name="TextBox 21"/>
          <p:cNvSpPr txBox="1"/>
          <p:nvPr/>
        </p:nvSpPr>
        <p:spPr>
          <a:xfrm>
            <a:off x="6263640" y="4663440"/>
            <a:ext cx="4846320" cy="1097280"/>
          </a:xfrm>
          <a:prstGeom prst="rect">
            <a:avLst/>
          </a:prstGeom>
          <a:noFill/>
        </p:spPr>
        <p:txBody>
          <a:bodyPr wrap="square" lIns="0" rIns="0" tIns="0" bIns="0" anchor="t">
            <a:spAutoFit/>
          </a:bodyPr>
          <a:lstStyle/>
          <a:p>
            <a:pPr algn="l">
              <a:lnSpc>
                <a:spcPct val="130000"/>
              </a:lnSpc>
            </a:pPr>
            <a:r>
              <a:rPr sz="1150" b="0" i="1">
                <a:solidFill>
                  <a:srgbClr val="6E6E73"/>
                </a:solidFill>
                <a:latin typeface="Helvetica Neue"/>
              </a:rPr>
              <a:t>Triggerfish frame, thrusters, tether — the first full build. Pool ops and deck discipline carry forward.</a:t>
            </a:r>
          </a:p>
        </p:txBody>
      </p:sp>
      <p:cxnSp>
        <p:nvCxnSpPr>
          <p:cNvPr id="23" name="Connector 22"/>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25" name="TextBox 24"/>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7 — CAPSULE BUILD &amp; FIRST SPLASH   ·   18 /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ACTION ITEMS</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What we decided. Who owns it. When it's due.</a:t>
            </a:r>
          </a:p>
        </p:txBody>
      </p:sp>
      <p:sp>
        <p:nvSpPr>
          <p:cNvPr id="6" name="TextBox 5"/>
          <p:cNvSpPr txBox="1"/>
          <p:nvPr/>
        </p:nvSpPr>
        <p:spPr>
          <a:xfrm>
            <a:off x="822960" y="1700784"/>
            <a:ext cx="10515600" cy="457200"/>
          </a:xfrm>
          <a:prstGeom prst="rect">
            <a:avLst/>
          </a:prstGeom>
          <a:noFill/>
        </p:spPr>
        <p:txBody>
          <a:bodyPr wrap="square" lIns="0" rIns="0" tIns="0" bIns="0" anchor="t">
            <a:spAutoFit/>
          </a:bodyPr>
          <a:lstStyle/>
          <a:p>
            <a:pPr algn="l"/>
            <a:r>
              <a:rPr sz="1400" b="0" i="1">
                <a:solidFill>
                  <a:srgbClr val="6E6E73"/>
                </a:solidFill>
                <a:latin typeface="Helvetica Neue"/>
              </a:rPr>
              <a:t>The Notetaker fills these in during the meeting and reads them back before we leave.</a:t>
            </a:r>
          </a:p>
        </p:txBody>
      </p:sp>
      <p:sp>
        <p:nvSpPr>
          <p:cNvPr id="7" name="Rectangle 6"/>
          <p:cNvSpPr/>
          <p:nvPr/>
        </p:nvSpPr>
        <p:spPr>
          <a:xfrm>
            <a:off x="822960" y="2423160"/>
            <a:ext cx="10543032" cy="384048"/>
          </a:xfrm>
          <a:prstGeom prst="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 y="2459736"/>
            <a:ext cx="5486400" cy="310896"/>
          </a:xfrm>
          <a:prstGeom prst="rect">
            <a:avLst/>
          </a:prstGeom>
          <a:noFill/>
        </p:spPr>
        <p:txBody>
          <a:bodyPr wrap="square" lIns="0" rIns="0" tIns="0" bIns="0" anchor="t">
            <a:spAutoFit/>
          </a:bodyPr>
          <a:lstStyle/>
          <a:p>
            <a:pPr algn="l"/>
            <a:r>
              <a:rPr sz="1000" b="1" i="0" cap="all" spc="180">
                <a:solidFill>
                  <a:srgbClr val="FFFFFF"/>
                </a:solidFill>
                <a:latin typeface="Helvetica Neue"/>
              </a:rPr>
              <a:t>ITEM</a:t>
            </a:r>
          </a:p>
        </p:txBody>
      </p:sp>
      <p:sp>
        <p:nvSpPr>
          <p:cNvPr id="9" name="TextBox 8"/>
          <p:cNvSpPr txBox="1"/>
          <p:nvPr/>
        </p:nvSpPr>
        <p:spPr>
          <a:xfrm>
            <a:off x="6784848" y="2459736"/>
            <a:ext cx="2011680" cy="310896"/>
          </a:xfrm>
          <a:prstGeom prst="rect">
            <a:avLst/>
          </a:prstGeom>
          <a:noFill/>
        </p:spPr>
        <p:txBody>
          <a:bodyPr wrap="square" lIns="0" rIns="0" tIns="0" bIns="0" anchor="t">
            <a:spAutoFit/>
          </a:bodyPr>
          <a:lstStyle/>
          <a:p>
            <a:pPr algn="l"/>
            <a:r>
              <a:rPr sz="1000" b="1" i="0" cap="all" spc="180">
                <a:solidFill>
                  <a:srgbClr val="FFFFFF"/>
                </a:solidFill>
                <a:latin typeface="Helvetica Neue"/>
              </a:rPr>
              <a:t>OWNER</a:t>
            </a:r>
          </a:p>
        </p:txBody>
      </p:sp>
      <p:sp>
        <p:nvSpPr>
          <p:cNvPr id="10" name="TextBox 9"/>
          <p:cNvSpPr txBox="1"/>
          <p:nvPr/>
        </p:nvSpPr>
        <p:spPr>
          <a:xfrm>
            <a:off x="9070848" y="2459736"/>
            <a:ext cx="2221992" cy="310896"/>
          </a:xfrm>
          <a:prstGeom prst="rect">
            <a:avLst/>
          </a:prstGeom>
          <a:noFill/>
        </p:spPr>
        <p:txBody>
          <a:bodyPr wrap="square" lIns="0" rIns="0" tIns="0" bIns="0" anchor="t">
            <a:spAutoFit/>
          </a:bodyPr>
          <a:lstStyle/>
          <a:p>
            <a:pPr algn="l"/>
            <a:r>
              <a:rPr sz="1000" b="1" i="0" cap="all" spc="180">
                <a:solidFill>
                  <a:srgbClr val="FFFFFF"/>
                </a:solidFill>
                <a:latin typeface="Helvetica Neue"/>
              </a:rPr>
              <a:t>DUE</a:t>
            </a:r>
          </a:p>
        </p:txBody>
      </p:sp>
      <p:cxnSp>
        <p:nvCxnSpPr>
          <p:cNvPr id="11" name="Connector 10"/>
          <p:cNvCxnSpPr/>
          <p:nvPr/>
        </p:nvCxnSpPr>
        <p:spPr>
          <a:xfrm>
            <a:off x="822960" y="3374136"/>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83680" y="2807208"/>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869680" y="2807208"/>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24128" y="3209544"/>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784848" y="3209544"/>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070848" y="3209544"/>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22960" y="3941063"/>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583680" y="3374136"/>
            <a:ext cx="0" cy="566927"/>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869680" y="3374136"/>
            <a:ext cx="0" cy="566927"/>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24128" y="3776472"/>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784848" y="3776472"/>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070848" y="3776472"/>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22960" y="4507992"/>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583680" y="3941063"/>
            <a:ext cx="0" cy="566929"/>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869680" y="3941063"/>
            <a:ext cx="0" cy="566929"/>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24128" y="4343400"/>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784848" y="4343400"/>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070848" y="4343400"/>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22960" y="5074920"/>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583680" y="4507992"/>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869680" y="4507992"/>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24128" y="4910328"/>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784848" y="4910328"/>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070848" y="4910328"/>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22960" y="5641848"/>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583680" y="5074920"/>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869680" y="5074920"/>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24128" y="5477256"/>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784848" y="5477256"/>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070848" y="5477256"/>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43" name="TextBox 42"/>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7 — CAPSULE BUILD &amp; FIRST SPLASH   ·   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BEFORE WE LEAVE</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Tools accounted for. Shop reset.</a:t>
            </a:r>
          </a:p>
        </p:txBody>
      </p:sp>
      <p:sp>
        <p:nvSpPr>
          <p:cNvPr id="6" name="TextBox 5"/>
          <p:cNvSpPr txBox="1"/>
          <p:nvPr/>
        </p:nvSpPr>
        <p:spPr>
          <a:xfrm>
            <a:off x="822960" y="1700784"/>
            <a:ext cx="10515600" cy="457200"/>
          </a:xfrm>
          <a:prstGeom prst="rect">
            <a:avLst/>
          </a:prstGeom>
          <a:noFill/>
        </p:spPr>
        <p:txBody>
          <a:bodyPr wrap="square" lIns="0" rIns="0" tIns="0" bIns="0" anchor="t">
            <a:spAutoFit/>
          </a:bodyPr>
          <a:lstStyle/>
          <a:p>
            <a:pPr algn="l"/>
            <a:r>
              <a:rPr sz="1400" b="0" i="1">
                <a:solidFill>
                  <a:srgbClr val="6E6E73"/>
                </a:solidFill>
                <a:latin typeface="Helvetica Neue"/>
              </a:rPr>
              <a:t>We do this together, every meeting. No exceptions — the Tool Steward leads.</a:t>
            </a:r>
          </a:p>
        </p:txBody>
      </p:sp>
      <p:sp>
        <p:nvSpPr>
          <p:cNvPr id="7" name="Rectangle 6"/>
          <p:cNvSpPr/>
          <p:nvPr/>
        </p:nvSpPr>
        <p:spPr>
          <a:xfrm>
            <a:off x="822960" y="2423160"/>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08176" y="2404872"/>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All capsules accounted for; failed ones bagged for re-seal at home.</a:t>
            </a:r>
          </a:p>
        </p:txBody>
      </p:sp>
      <p:sp>
        <p:nvSpPr>
          <p:cNvPr id="9" name="Rectangle 8"/>
          <p:cNvSpPr/>
          <p:nvPr/>
        </p:nvSpPr>
        <p:spPr>
          <a:xfrm>
            <a:off x="822960" y="2990088"/>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8176" y="2971800"/>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Engineering notebook entries signed for smoke test and capsule drop.</a:t>
            </a:r>
          </a:p>
        </p:txBody>
      </p:sp>
      <p:sp>
        <p:nvSpPr>
          <p:cNvPr id="11" name="Rectangle 10"/>
          <p:cNvSpPr/>
          <p:nvPr/>
        </p:nvSpPr>
        <p:spPr>
          <a:xfrm>
            <a:off x="822960" y="3557015"/>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08176" y="3538727"/>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Battery DISCONNECTED, secured, transported back to the workshop.</a:t>
            </a:r>
          </a:p>
        </p:txBody>
      </p:sp>
      <p:sp>
        <p:nvSpPr>
          <p:cNvPr id="13" name="Rectangle 12"/>
          <p:cNvSpPr/>
          <p:nvPr/>
        </p:nvSpPr>
        <p:spPr>
          <a:xfrm>
            <a:off x="822960" y="4123944"/>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08176" y="4105656"/>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Multimeter, watt meter, towels, first-aid kit packed.</a:t>
            </a:r>
          </a:p>
        </p:txBody>
      </p:sp>
      <p:sp>
        <p:nvSpPr>
          <p:cNvPr id="15" name="Rectangle 14"/>
          <p:cNvSpPr/>
          <p:nvPr/>
        </p:nvSpPr>
        <p:spPr>
          <a:xfrm>
            <a:off x="822960" y="4690872"/>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08176" y="4672584"/>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Pool deck swept; team area returned cleaner than we found it.</a:t>
            </a:r>
          </a:p>
        </p:txBody>
      </p:sp>
      <p:sp>
        <p:nvSpPr>
          <p:cNvPr id="17" name="Rectangle 16"/>
          <p:cNvSpPr/>
          <p:nvPr/>
        </p:nvSpPr>
        <p:spPr>
          <a:xfrm>
            <a:off x="822960" y="5257800"/>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08176" y="5239512"/>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Photos uploaded to the team folder tonight, not tomorrow.</a:t>
            </a:r>
          </a:p>
        </p:txBody>
      </p:sp>
      <p:sp>
        <p:nvSpPr>
          <p:cNvPr id="19" name="Rectangle 18"/>
          <p:cNvSpPr/>
          <p:nvPr/>
        </p:nvSpPr>
        <p:spPr>
          <a:xfrm>
            <a:off x="822960" y="5824727"/>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08176" y="5806440"/>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Thank-you to the lifeguard and the pool host delivered in person.</a:t>
            </a:r>
          </a:p>
        </p:txBody>
      </p:sp>
      <p:cxnSp>
        <p:nvCxnSpPr>
          <p:cNvPr id="21" name="Connector 20"/>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23" name="TextBox 22"/>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7 — CAPSULE BUILD &amp; FIRST SPLASH   ·   20 /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695" cy="6858000"/>
          </a:xfrm>
          <a:prstGeom prst="rect">
            <a:avLst/>
          </a:prstGeom>
          <a:solidFill>
            <a:srgbClr val="095D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194560"/>
            <a:ext cx="12191695" cy="457200"/>
          </a:xfrm>
          <a:prstGeom prst="rect">
            <a:avLst/>
          </a:prstGeom>
          <a:noFill/>
        </p:spPr>
        <p:txBody>
          <a:bodyPr wrap="square" lIns="0" rIns="0" tIns="0" bIns="0" anchor="t">
            <a:spAutoFit/>
          </a:bodyPr>
          <a:lstStyle/>
          <a:p>
            <a:pPr algn="ctr"/>
            <a:r>
              <a:rPr sz="1400" b="1" i="0" cap="all" spc="240">
                <a:solidFill>
                  <a:srgbClr val="9FCEDA"/>
                </a:solidFill>
                <a:latin typeface="Helvetica Neue"/>
              </a:rPr>
              <a:t>EVERY KID WET. FIRST DIVE LOGGED.</a:t>
            </a:r>
          </a:p>
        </p:txBody>
      </p:sp>
      <p:sp>
        <p:nvSpPr>
          <p:cNvPr id="6" name="TextBox 5"/>
          <p:cNvSpPr txBox="1"/>
          <p:nvPr/>
        </p:nvSpPr>
        <p:spPr>
          <a:xfrm>
            <a:off x="0" y="2651760"/>
            <a:ext cx="12191695" cy="822960"/>
          </a:xfrm>
          <a:prstGeom prst="rect">
            <a:avLst/>
          </a:prstGeom>
          <a:noFill/>
        </p:spPr>
        <p:txBody>
          <a:bodyPr wrap="square" lIns="0" rIns="0" tIns="0" bIns="0" anchor="t">
            <a:spAutoFit/>
          </a:bodyPr>
          <a:lstStyle/>
          <a:p>
            <a:pPr algn="ctr">
              <a:lnSpc>
                <a:spcPct val="100000"/>
              </a:lnSpc>
            </a:pPr>
            <a:r>
              <a:rPr sz="5600" b="1" i="0">
                <a:solidFill>
                  <a:srgbClr val="FFFFFF"/>
                </a:solidFill>
                <a:latin typeface="Helvetica Neue"/>
              </a:rPr>
              <a:t>The pool is not foreign anymore.</a:t>
            </a:r>
          </a:p>
        </p:txBody>
      </p:sp>
      <p:sp>
        <p:nvSpPr>
          <p:cNvPr id="7" name="TextBox 6"/>
          <p:cNvSpPr txBox="1"/>
          <p:nvPr/>
        </p:nvSpPr>
        <p:spPr>
          <a:xfrm>
            <a:off x="914400" y="3931920"/>
            <a:ext cx="10362895" cy="914400"/>
          </a:xfrm>
          <a:prstGeom prst="rect">
            <a:avLst/>
          </a:prstGeom>
          <a:noFill/>
        </p:spPr>
        <p:txBody>
          <a:bodyPr wrap="square" lIns="0" rIns="0" tIns="0" bIns="0" anchor="t">
            <a:spAutoFit/>
          </a:bodyPr>
          <a:lstStyle/>
          <a:p>
            <a:pPr algn="ctr">
              <a:lnSpc>
                <a:spcPct val="135000"/>
              </a:lnSpc>
            </a:pPr>
            <a:r>
              <a:rPr sz="1600" b="0" i="1">
                <a:solidFill>
                  <a:srgbClr val="C9E3EA"/>
                </a:solidFill>
                <a:latin typeface="Helvetica Neue"/>
              </a:rPr>
              <a:t>Two safety briefs delivered. Smoke test clean. Drop #1 logged. The Phase 1 gate is in sight.</a:t>
            </a:r>
          </a:p>
        </p:txBody>
      </p:sp>
      <p:sp>
        <p:nvSpPr>
          <p:cNvPr id="8" name="TextBox 7"/>
          <p:cNvSpPr txBox="1"/>
          <p:nvPr/>
        </p:nvSpPr>
        <p:spPr>
          <a:xfrm>
            <a:off x="0" y="6355080"/>
            <a:ext cx="12191695" cy="274320"/>
          </a:xfrm>
          <a:prstGeom prst="rect">
            <a:avLst/>
          </a:prstGeom>
          <a:noFill/>
        </p:spPr>
        <p:txBody>
          <a:bodyPr wrap="square" lIns="0" rIns="0" tIns="0" bIns="0" anchor="t">
            <a:spAutoFit/>
          </a:bodyPr>
          <a:lstStyle/>
          <a:p>
            <a:pPr algn="ctr"/>
            <a:r>
              <a:rPr sz="900" b="1" i="0" cap="all" spc="180">
                <a:solidFill>
                  <a:srgbClr val="9FCEDA"/>
                </a:solidFill>
                <a:latin typeface="Helvetica Neue"/>
              </a:rPr>
              <a:t>SAY WATT ROBOTICS  ·  ROV TEAM      |      NEXT MEETING — WEEK 8, BUILD &amp; ITERATE 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