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students. This is Meeting 1 of roughly 45 for the season. Keep the open warm and short — the title slide is just the doorway. Move to the agenda within a minute or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once, top to bottom, so the team can see the whole shape of the meeting. Point out that every block carries a time — we start and end on time, and that discipline is itself part of running an engineering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Short and deliberate. The point of this block is not the content — it is establishing the ritual that will open all 45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reusable safety-brief template — it returns at the start of every weekly deck with the right-hand card updated for that meeting. Read the four questions aloud. Then walk today's brief card. Keep it to ~60-90 seconds; the goal is rhythm, not 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Orientation. By the end of this block every student can say what MATE is, what the RANGER class asks for, and where the season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team in the real-world framing: these are real ocean-industry problems, not a toy contest. Mention that the regional feeds a world championship so they grasp the scale. Point them to the official site as the source of truth for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idea: RANGER is not 'build a robot.' It is five deliverables. Students often picture only the ROV — make sure they leave knowing documentation, presentation, and the marketing display are scored too. The float surprises people; flag it as a whole second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deadline real and physical: a place, a date, a long drive. Ten months sounds generous until you divide it by the work. The 'forty-five meetings' line is meant to land — it reframes every meeting as roughly two percent of the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heart of the meeting. By the end every student has a role. Protect this time; do not let earlier blocks eat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mindset shift of the whole season. Sell it. The quote is the line to slow down on — say it, then pause. Students who 'get' the company framing self-manage; students who don't will wait to be told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team the whole map before any detail. Read each role's one-liner. Tell them the next two slides go deeper, and that they will pick at the end of the block — so listen for the one that pulls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per slide so each gets real attention. Read OWNS and A GOOD FIT for each. The 'good fit' column is doing the recruiting — let students hear themselves in it. These three are the non-build roles; reassure students they are every bit as central as the engineering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build roles. These usually claim themselves fast — watch that quieter students still get a fair look. Note that leads do not work alone; every lead has teammates. The lead is accountable, not solitary.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activity live in this block — don't just describe it. Hand out paper for the top-two picks. If the team is small, a student may hold two roles, or a role may be shared; say so plainly. End the block only when every student knows their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break — let them move. Use the ten minutes to confirm the role assignments landed cleanly and to reset for the season-overview block. Start again exactly on time; that is the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Zoom out to the full season, then back in to where we stand. Students should leave able to name Phase 1's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all six phases briskly — the team does not need detail on Phase 5 today, just the shape. Land on the truth that the contest robot is not ordered until Phase 3: the fall is about people and skills, not the competition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weeks, six themes. Point out the build of difficulty: talk this week, soldering next, a real ROV kit in week 3 — every member in the pool by week 3. The capsule in week 5 is the seed of the Phase 2 float; flag that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season block here. The relief in this slide is deliberate: no one has to build a winning robot this summer. Phase 1 succeeds if the team, the starter ROV, and real hand skills exist. Say that plainly — it lowers fear and raises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The morning's brief was the ritual; this block is the everyday habits. Keep it concrete and tied to the work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concrete — tie each habit to something the team will actually do this summer. The buddy rule matters most once pool sessions start in week 3. The right-hand card raises the stakes: safety is not advice, it is a gate to competing.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Short but important. The single action item: the log opens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concrete action, not a concept. Open the actual log in the room — today's meeting is entry one, written live. Hand ownership to the Communications Lead before the team leaves. Four columns only; the log must stay easy enough that it actually gets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Land the meeting cleanly. Make sure every student leaves knowing their role and their three homework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close tight. Read the three student items — they are small on purpose so they actually get done. Mention the parallel track so students see the adults are carrying real work too. Preview Week 2 with energy: irons in hand is what they have been waiting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and brief. The team walked in as individuals and leaves as a company with roles, a calendar, a safety habit, and an open outreach log. Thank them, then end on time — model the discipline one last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r>
          <p:cNvPicPr>
            <a:picLocks noChangeAspect="1"/>
          </p:cNvPicPr>
          <p:nvPr/>
        </p:nvPicPr>
        <p:blipFill>
          <a:blip r:embed="rId1"/>
          <a:stretch>
            <a:fillRect/>
          </a:stretch>
        </p:blipFill>
        <p:spPr>
          <a:xfrm>
            <a:off x="5387188" y="749808"/>
            <a:ext cx="1417320" cy="1417320"/>
          </a:xfrm>
          <a:prstGeom prst="rect">
            <a:avLst/>
          </a:prstGeom>
        </p:spPr>
      </p:pic>
      <p:sp>
        <p:nvSpPr>
          <p:cNvPr id="3" name="Text 0"/>
          <p:cNvSpPr/>
          <p:nvPr/>
        </p:nvSpPr>
        <p:spPr>
          <a:xfrm>
            <a:off x="0" y="2505456"/>
            <a:ext cx="12191695" cy="329184"/>
          </a:xfrm>
          <a:prstGeom prst="rect">
            <a:avLst/>
          </a:prstGeom>
          <a:noFill/>
          <a:ln/>
        </p:spPr>
        <p:txBody>
          <a:bodyPr wrap="square" lIns="0" tIns="0" rIns="0" bIns="0" rtlCol="0" anchor="ctr"/>
          <a:lstStyle/>
          <a:p>
            <a:pPr algn="ctr" indent="0" marL="0">
              <a:buNone/>
            </a:pPr>
            <a:r>
              <a:rPr lang="en-US" sz="1300" b="1" spc="350" kern="0" dirty="0">
                <a:solidFill>
                  <a:srgbClr val="9FCEDA"/>
                </a:solidFill>
                <a:latin typeface="Helvetica Neue" pitchFamily="34" charset="0"/>
                <a:ea typeface="Helvetica Neue" pitchFamily="34" charset="-122"/>
                <a:cs typeface="Helvetica Neue" pitchFamily="34" charset="-120"/>
              </a:rPr>
              <a:t>PHASE 1 — FOUNDATION</a:t>
            </a:r>
            <a:endParaRPr lang="en-US" sz="1300" dirty="0"/>
          </a:p>
        </p:txBody>
      </p:sp>
      <p:sp>
        <p:nvSpPr>
          <p:cNvPr id="4" name="Text 1"/>
          <p:cNvSpPr/>
          <p:nvPr/>
        </p:nvSpPr>
        <p:spPr>
          <a:xfrm>
            <a:off x="0" y="2852928"/>
            <a:ext cx="12191695" cy="1005840"/>
          </a:xfrm>
          <a:prstGeom prst="rect">
            <a:avLst/>
          </a:prstGeom>
          <a:noFill/>
          <a:ln/>
        </p:spPr>
        <p:txBody>
          <a:bodyPr wrap="square" lIns="0" tIns="0" rIns="0" bIns="0" rtlCol="0" anchor="ctr"/>
          <a:lstStyle/>
          <a:p>
            <a:pPr algn="ctr" indent="0" marL="0">
              <a:buNone/>
            </a:pPr>
            <a:r>
              <a:rPr lang="en-US" sz="5600" b="1" dirty="0">
                <a:solidFill>
                  <a:srgbClr val="FFFFFF"/>
                </a:solidFill>
                <a:latin typeface="Helvetica Neue" pitchFamily="34" charset="0"/>
                <a:ea typeface="Helvetica Neue" pitchFamily="34" charset="-122"/>
                <a:cs typeface="Helvetica Neue" pitchFamily="34" charset="-120"/>
              </a:rPr>
              <a:t>Week 1 — Kickoff</a:t>
            </a:r>
            <a:endParaRPr lang="en-US" sz="5600" dirty="0"/>
          </a:p>
        </p:txBody>
      </p:sp>
      <p:sp>
        <p:nvSpPr>
          <p:cNvPr id="5" name="Text 2"/>
          <p:cNvSpPr/>
          <p:nvPr/>
        </p:nvSpPr>
        <p:spPr>
          <a:xfrm>
            <a:off x="0" y="3877056"/>
            <a:ext cx="12191695" cy="548640"/>
          </a:xfrm>
          <a:prstGeom prst="rect">
            <a:avLst/>
          </a:prstGeom>
          <a:noFill/>
          <a:ln/>
        </p:spPr>
        <p:txBody>
          <a:bodyPr wrap="square" lIns="0" tIns="0" rIns="0" bIns="0" rtlCol="0" anchor="ctr"/>
          <a:lstStyle/>
          <a:p>
            <a:pPr algn="ctr" indent="0" marL="0">
              <a:buNone/>
            </a:pPr>
            <a:r>
              <a:rPr lang="en-US" sz="2300" dirty="0">
                <a:solidFill>
                  <a:srgbClr val="C9E3EA"/>
                </a:solidFill>
                <a:latin typeface="Helvetica Neue" pitchFamily="34" charset="0"/>
                <a:ea typeface="Helvetica Neue" pitchFamily="34" charset="-122"/>
                <a:cs typeface="Helvetica Neue" pitchFamily="34" charset="-120"/>
              </a:rPr>
              <a:t>Forming the Company</a:t>
            </a:r>
            <a:endParaRPr lang="en-US" sz="2300" dirty="0"/>
          </a:p>
        </p:txBody>
      </p:sp>
      <p:sp>
        <p:nvSpPr>
          <p:cNvPr id="6" name="Shape 3"/>
          <p:cNvSpPr/>
          <p:nvPr/>
        </p:nvSpPr>
        <p:spPr>
          <a:xfrm>
            <a:off x="5455768" y="4681728"/>
            <a:ext cx="1280160" cy="0"/>
          </a:xfrm>
          <a:prstGeom prst="line">
            <a:avLst/>
          </a:prstGeom>
          <a:noFill/>
          <a:ln w="12700">
            <a:solidFill>
              <a:srgbClr val="3E7E91"/>
            </a:solidFill>
            <a:prstDash val="solid"/>
          </a:ln>
        </p:spPr>
      </p:sp>
      <p:sp>
        <p:nvSpPr>
          <p:cNvPr id="7" name="Text 4"/>
          <p:cNvSpPr/>
          <p:nvPr/>
        </p:nvSpPr>
        <p:spPr>
          <a:xfrm>
            <a:off x="0" y="4901184"/>
            <a:ext cx="12191695" cy="329184"/>
          </a:xfrm>
          <a:prstGeom prst="rect">
            <a:avLst/>
          </a:prstGeom>
          <a:noFill/>
          <a:ln/>
        </p:spPr>
        <p:txBody>
          <a:bodyPr wrap="square" lIns="0" tIns="0" rIns="0" bIns="0" rtlCol="0" anchor="ctr"/>
          <a:lstStyle/>
          <a:p>
            <a:pPr algn="ctr" indent="0" marL="0">
              <a:buNone/>
            </a:pPr>
            <a:r>
              <a:rPr lang="en-US" sz="1300" spc="50" kern="0" dirty="0">
                <a:solidFill>
                  <a:srgbClr val="9FCEDA"/>
                </a:solidFill>
                <a:latin typeface="Helvetica Neue" pitchFamily="34" charset="0"/>
                <a:ea typeface="Helvetica Neue" pitchFamily="34" charset="-122"/>
                <a:cs typeface="Helvetica Neue" pitchFamily="34" charset="-120"/>
              </a:rPr>
              <a:t>Say Watt Robotics  ·  ROV Team      |      2026–2027 MATE ROV Season</a:t>
            </a:r>
            <a:endParaRPr lang="en-US" sz="1300" dirty="0"/>
          </a:p>
        </p:txBody>
      </p:sp>
      <p:sp>
        <p:nvSpPr>
          <p:cNvPr id="8" name="Text 5"/>
          <p:cNvSpPr/>
          <p:nvPr/>
        </p:nvSpPr>
        <p:spPr>
          <a:xfrm>
            <a:off x="0" y="5943600"/>
            <a:ext cx="12191695" cy="310896"/>
          </a:xfrm>
          <a:prstGeom prst="rect">
            <a:avLst/>
          </a:prstGeom>
          <a:noFill/>
          <a:ln/>
        </p:spPr>
        <p:txBody>
          <a:bodyPr wrap="square" lIns="0" tIns="0" rIns="0" bIns="0" rtlCol="0" anchor="ctr"/>
          <a:lstStyle/>
          <a:p>
            <a:pPr algn="ctr" indent="0" marL="0">
              <a:buNone/>
            </a:pPr>
            <a:r>
              <a:rPr lang="en-US" sz="950" spc="250" kern="0" dirty="0">
                <a:solidFill>
                  <a:srgbClr val="6BA0AF"/>
                </a:solidFill>
                <a:latin typeface="Helvetica Neue" pitchFamily="34" charset="0"/>
                <a:ea typeface="Helvetica Neue" pitchFamily="34" charset="-122"/>
                <a:cs typeface="Helvetica Neue" pitchFamily="34" charset="-120"/>
              </a:rPr>
              <a:t>MEETING 1   ·   THREE HOURS   ·   MADISON, ALABAMA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MEETING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Three hours, eight stops.</a:t>
            </a:r>
            <a:endParaRPr lang="en-US" sz="3000" dirty="0"/>
          </a:p>
        </p:txBody>
      </p:sp>
      <p:sp>
        <p:nvSpPr>
          <p:cNvPr id="4" name="Text 2"/>
          <p:cNvSpPr/>
          <p:nvPr/>
        </p:nvSpPr>
        <p:spPr>
          <a:xfrm>
            <a:off x="822960" y="184708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0:00</a:t>
            </a:r>
            <a:endParaRPr lang="en-US" sz="1700" dirty="0"/>
          </a:p>
        </p:txBody>
      </p:sp>
      <p:sp>
        <p:nvSpPr>
          <p:cNvPr id="5" name="Text 3"/>
          <p:cNvSpPr/>
          <p:nvPr/>
        </p:nvSpPr>
        <p:spPr>
          <a:xfrm>
            <a:off x="2148840" y="184708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Welcome &amp; Safety Brief</a:t>
            </a:r>
            <a:endParaRPr lang="en-US" sz="1600" dirty="0"/>
          </a:p>
        </p:txBody>
      </p:sp>
      <p:sp>
        <p:nvSpPr>
          <p:cNvPr id="6" name="Text 4"/>
          <p:cNvSpPr/>
          <p:nvPr/>
        </p:nvSpPr>
        <p:spPr>
          <a:xfrm>
            <a:off x="9601200" y="184708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7" name="Shape 5"/>
          <p:cNvSpPr/>
          <p:nvPr/>
        </p:nvSpPr>
        <p:spPr>
          <a:xfrm>
            <a:off x="822960" y="2400300"/>
            <a:ext cx="10545775" cy="0"/>
          </a:xfrm>
          <a:prstGeom prst="line">
            <a:avLst/>
          </a:prstGeom>
          <a:noFill/>
          <a:ln w="9525">
            <a:solidFill>
              <a:srgbClr val="E3E3E6"/>
            </a:solidFill>
            <a:prstDash val="solid"/>
          </a:ln>
        </p:spPr>
      </p:sp>
      <p:sp>
        <p:nvSpPr>
          <p:cNvPr id="8" name="Text 6"/>
          <p:cNvSpPr/>
          <p:nvPr/>
        </p:nvSpPr>
        <p:spPr>
          <a:xfrm>
            <a:off x="822960" y="240030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0:15</a:t>
            </a:r>
            <a:endParaRPr lang="en-US" sz="1700" dirty="0"/>
          </a:p>
        </p:txBody>
      </p:sp>
      <p:sp>
        <p:nvSpPr>
          <p:cNvPr id="9" name="Text 7"/>
          <p:cNvSpPr/>
          <p:nvPr/>
        </p:nvSpPr>
        <p:spPr>
          <a:xfrm>
            <a:off x="2148840" y="240030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What We're Joining — MATE ROV &amp; the RANGER class</a:t>
            </a:r>
            <a:endParaRPr lang="en-US" sz="1600" dirty="0"/>
          </a:p>
        </p:txBody>
      </p:sp>
      <p:sp>
        <p:nvSpPr>
          <p:cNvPr id="10" name="Text 8"/>
          <p:cNvSpPr/>
          <p:nvPr/>
        </p:nvSpPr>
        <p:spPr>
          <a:xfrm>
            <a:off x="9601200" y="240030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30 min</a:t>
            </a:r>
            <a:endParaRPr lang="en-US" sz="1150" dirty="0"/>
          </a:p>
        </p:txBody>
      </p:sp>
      <p:sp>
        <p:nvSpPr>
          <p:cNvPr id="11" name="Shape 9"/>
          <p:cNvSpPr/>
          <p:nvPr/>
        </p:nvSpPr>
        <p:spPr>
          <a:xfrm>
            <a:off x="822960" y="2953512"/>
            <a:ext cx="10545775" cy="0"/>
          </a:xfrm>
          <a:prstGeom prst="line">
            <a:avLst/>
          </a:prstGeom>
          <a:noFill/>
          <a:ln w="9525">
            <a:solidFill>
              <a:srgbClr val="E3E3E6"/>
            </a:solidFill>
            <a:prstDash val="solid"/>
          </a:ln>
        </p:spPr>
      </p:sp>
      <p:sp>
        <p:nvSpPr>
          <p:cNvPr id="12" name="Text 10"/>
          <p:cNvSpPr/>
          <p:nvPr/>
        </p:nvSpPr>
        <p:spPr>
          <a:xfrm>
            <a:off x="822960" y="295351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0:45</a:t>
            </a:r>
            <a:endParaRPr lang="en-US" sz="1700" dirty="0"/>
          </a:p>
        </p:txBody>
      </p:sp>
      <p:sp>
        <p:nvSpPr>
          <p:cNvPr id="13" name="Text 11"/>
          <p:cNvSpPr/>
          <p:nvPr/>
        </p:nvSpPr>
        <p:spPr>
          <a:xfrm>
            <a:off x="2148840" y="295351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We Are a Company — the six roles</a:t>
            </a:r>
            <a:endParaRPr lang="en-US" sz="1600" dirty="0"/>
          </a:p>
        </p:txBody>
      </p:sp>
      <p:sp>
        <p:nvSpPr>
          <p:cNvPr id="14" name="Text 12"/>
          <p:cNvSpPr/>
          <p:nvPr/>
        </p:nvSpPr>
        <p:spPr>
          <a:xfrm>
            <a:off x="9601200" y="295351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45 min</a:t>
            </a:r>
            <a:endParaRPr lang="en-US" sz="1150" dirty="0"/>
          </a:p>
        </p:txBody>
      </p:sp>
      <p:sp>
        <p:nvSpPr>
          <p:cNvPr id="15" name="Shape 13"/>
          <p:cNvSpPr/>
          <p:nvPr/>
        </p:nvSpPr>
        <p:spPr>
          <a:xfrm>
            <a:off x="822960" y="3506724"/>
            <a:ext cx="10545775" cy="0"/>
          </a:xfrm>
          <a:prstGeom prst="line">
            <a:avLst/>
          </a:prstGeom>
          <a:noFill/>
          <a:ln w="9525">
            <a:solidFill>
              <a:srgbClr val="E3E3E6"/>
            </a:solidFill>
            <a:prstDash val="solid"/>
          </a:ln>
        </p:spPr>
      </p:sp>
      <p:sp>
        <p:nvSpPr>
          <p:cNvPr id="16" name="Text 14"/>
          <p:cNvSpPr/>
          <p:nvPr/>
        </p:nvSpPr>
        <p:spPr>
          <a:xfrm>
            <a:off x="822960" y="3506724"/>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1:30</a:t>
            </a:r>
            <a:endParaRPr lang="en-US" sz="1700" dirty="0"/>
          </a:p>
        </p:txBody>
      </p:sp>
      <p:sp>
        <p:nvSpPr>
          <p:cNvPr id="17" name="Text 15"/>
          <p:cNvSpPr/>
          <p:nvPr/>
        </p:nvSpPr>
        <p:spPr>
          <a:xfrm>
            <a:off x="2148840" y="3506724"/>
            <a:ext cx="7360920" cy="553212"/>
          </a:xfrm>
          <a:prstGeom prst="rect">
            <a:avLst/>
          </a:prstGeom>
          <a:noFill/>
          <a:ln/>
        </p:spPr>
        <p:txBody>
          <a:bodyPr wrap="square" lIns="0" tIns="0" rIns="0" bIns="0" rtlCol="0" anchor="ctr"/>
          <a:lstStyle/>
          <a:p>
            <a:pPr indent="0" marL="0">
              <a:buNone/>
            </a:pPr>
            <a:r>
              <a:rPr lang="en-US" sz="1600" i="1" dirty="0">
                <a:solidFill>
                  <a:srgbClr val="86868B"/>
                </a:solidFill>
                <a:latin typeface="Helvetica Neue" pitchFamily="34" charset="0"/>
                <a:ea typeface="Helvetica Neue" pitchFamily="34" charset="-122"/>
                <a:cs typeface="Helvetica Neue" pitchFamily="34" charset="-120"/>
              </a:rPr>
              <a:t>Break</a:t>
            </a:r>
            <a:endParaRPr lang="en-US" sz="1600" dirty="0"/>
          </a:p>
        </p:txBody>
      </p:sp>
      <p:sp>
        <p:nvSpPr>
          <p:cNvPr id="18" name="Text 16"/>
          <p:cNvSpPr/>
          <p:nvPr/>
        </p:nvSpPr>
        <p:spPr>
          <a:xfrm>
            <a:off x="9601200" y="3506724"/>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19" name="Shape 17"/>
          <p:cNvSpPr/>
          <p:nvPr/>
        </p:nvSpPr>
        <p:spPr>
          <a:xfrm>
            <a:off x="822960" y="4059936"/>
            <a:ext cx="10545775" cy="0"/>
          </a:xfrm>
          <a:prstGeom prst="line">
            <a:avLst/>
          </a:prstGeom>
          <a:noFill/>
          <a:ln w="9525">
            <a:solidFill>
              <a:srgbClr val="E3E3E6"/>
            </a:solidFill>
            <a:prstDash val="solid"/>
          </a:ln>
        </p:spPr>
      </p:sp>
      <p:sp>
        <p:nvSpPr>
          <p:cNvPr id="20" name="Text 18"/>
          <p:cNvSpPr/>
          <p:nvPr/>
        </p:nvSpPr>
        <p:spPr>
          <a:xfrm>
            <a:off x="822960" y="4059936"/>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1:40</a:t>
            </a:r>
            <a:endParaRPr lang="en-US" sz="1700" dirty="0"/>
          </a:p>
        </p:txBody>
      </p:sp>
      <p:sp>
        <p:nvSpPr>
          <p:cNvPr id="21" name="Text 19"/>
          <p:cNvSpPr/>
          <p:nvPr/>
        </p:nvSpPr>
        <p:spPr>
          <a:xfrm>
            <a:off x="2148840" y="4059936"/>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The Season Ahead — six phases</a:t>
            </a:r>
            <a:endParaRPr lang="en-US" sz="1600" dirty="0"/>
          </a:p>
        </p:txBody>
      </p:sp>
      <p:sp>
        <p:nvSpPr>
          <p:cNvPr id="22" name="Text 20"/>
          <p:cNvSpPr/>
          <p:nvPr/>
        </p:nvSpPr>
        <p:spPr>
          <a:xfrm>
            <a:off x="9601200" y="4059936"/>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35 min</a:t>
            </a:r>
            <a:endParaRPr lang="en-US" sz="1150" dirty="0"/>
          </a:p>
        </p:txBody>
      </p:sp>
      <p:sp>
        <p:nvSpPr>
          <p:cNvPr id="23" name="Shape 21"/>
          <p:cNvSpPr/>
          <p:nvPr/>
        </p:nvSpPr>
        <p:spPr>
          <a:xfrm>
            <a:off x="822960" y="4613148"/>
            <a:ext cx="10545775" cy="0"/>
          </a:xfrm>
          <a:prstGeom prst="line">
            <a:avLst/>
          </a:prstGeom>
          <a:noFill/>
          <a:ln w="9525">
            <a:solidFill>
              <a:srgbClr val="E3E3E6"/>
            </a:solidFill>
            <a:prstDash val="solid"/>
          </a:ln>
        </p:spPr>
      </p:sp>
      <p:sp>
        <p:nvSpPr>
          <p:cNvPr id="24" name="Text 22"/>
          <p:cNvSpPr/>
          <p:nvPr/>
        </p:nvSpPr>
        <p:spPr>
          <a:xfrm>
            <a:off x="822960" y="4613148"/>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2:15</a:t>
            </a:r>
            <a:endParaRPr lang="en-US" sz="1700" dirty="0"/>
          </a:p>
        </p:txBody>
      </p:sp>
      <p:sp>
        <p:nvSpPr>
          <p:cNvPr id="25" name="Text 23"/>
          <p:cNvSpPr/>
          <p:nvPr/>
        </p:nvSpPr>
        <p:spPr>
          <a:xfrm>
            <a:off x="2148840" y="4613148"/>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Building Our Safety Culture</a:t>
            </a:r>
            <a:endParaRPr lang="en-US" sz="1600" dirty="0"/>
          </a:p>
        </p:txBody>
      </p:sp>
      <p:sp>
        <p:nvSpPr>
          <p:cNvPr id="26" name="Text 24"/>
          <p:cNvSpPr/>
          <p:nvPr/>
        </p:nvSpPr>
        <p:spPr>
          <a:xfrm>
            <a:off x="9601200" y="4613148"/>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20 min</a:t>
            </a:r>
            <a:endParaRPr lang="en-US" sz="1150" dirty="0"/>
          </a:p>
        </p:txBody>
      </p:sp>
      <p:sp>
        <p:nvSpPr>
          <p:cNvPr id="27" name="Shape 25"/>
          <p:cNvSpPr/>
          <p:nvPr/>
        </p:nvSpPr>
        <p:spPr>
          <a:xfrm>
            <a:off x="822960" y="5166360"/>
            <a:ext cx="10545775" cy="0"/>
          </a:xfrm>
          <a:prstGeom prst="line">
            <a:avLst/>
          </a:prstGeom>
          <a:noFill/>
          <a:ln w="9525">
            <a:solidFill>
              <a:srgbClr val="E3E3E6"/>
            </a:solidFill>
            <a:prstDash val="solid"/>
          </a:ln>
        </p:spPr>
      </p:sp>
      <p:sp>
        <p:nvSpPr>
          <p:cNvPr id="28" name="Text 26"/>
          <p:cNvSpPr/>
          <p:nvPr/>
        </p:nvSpPr>
        <p:spPr>
          <a:xfrm>
            <a:off x="822960" y="5166360"/>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2:35</a:t>
            </a:r>
            <a:endParaRPr lang="en-US" sz="1700" dirty="0"/>
          </a:p>
        </p:txBody>
      </p:sp>
      <p:sp>
        <p:nvSpPr>
          <p:cNvPr id="29" name="Text 27"/>
          <p:cNvSpPr/>
          <p:nvPr/>
        </p:nvSpPr>
        <p:spPr>
          <a:xfrm>
            <a:off x="2148840" y="5166360"/>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The Community Outreach Log</a:t>
            </a:r>
            <a:endParaRPr lang="en-US" sz="1600" dirty="0"/>
          </a:p>
        </p:txBody>
      </p:sp>
      <p:sp>
        <p:nvSpPr>
          <p:cNvPr id="30" name="Text 28"/>
          <p:cNvSpPr/>
          <p:nvPr/>
        </p:nvSpPr>
        <p:spPr>
          <a:xfrm>
            <a:off x="9601200" y="5166360"/>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15 min</a:t>
            </a:r>
            <a:endParaRPr lang="en-US" sz="1150" dirty="0"/>
          </a:p>
        </p:txBody>
      </p:sp>
      <p:sp>
        <p:nvSpPr>
          <p:cNvPr id="31" name="Shape 29"/>
          <p:cNvSpPr/>
          <p:nvPr/>
        </p:nvSpPr>
        <p:spPr>
          <a:xfrm>
            <a:off x="822960" y="5719572"/>
            <a:ext cx="10545775" cy="0"/>
          </a:xfrm>
          <a:prstGeom prst="line">
            <a:avLst/>
          </a:prstGeom>
          <a:noFill/>
          <a:ln w="9525">
            <a:solidFill>
              <a:srgbClr val="E3E3E6"/>
            </a:solidFill>
            <a:prstDash val="solid"/>
          </a:ln>
        </p:spPr>
      </p:sp>
      <p:sp>
        <p:nvSpPr>
          <p:cNvPr id="32" name="Text 30"/>
          <p:cNvSpPr/>
          <p:nvPr/>
        </p:nvSpPr>
        <p:spPr>
          <a:xfrm>
            <a:off x="822960" y="5719572"/>
            <a:ext cx="1143000" cy="553212"/>
          </a:xfrm>
          <a:prstGeom prst="rect">
            <a:avLst/>
          </a:prstGeom>
          <a:noFill/>
          <a:ln/>
        </p:spPr>
        <p:txBody>
          <a:bodyPr wrap="square" lIns="0" tIns="0" rIns="0" bIns="0" rtlCol="0" anchor="ctr"/>
          <a:lstStyle/>
          <a:p>
            <a:pPr indent="0" marL="0">
              <a:buNone/>
            </a:pPr>
            <a:r>
              <a:rPr lang="en-US" sz="1700" b="1" dirty="0">
                <a:solidFill>
                  <a:srgbClr val="0D7490"/>
                </a:solidFill>
                <a:latin typeface="Helvetica Neue" pitchFamily="34" charset="0"/>
                <a:ea typeface="Helvetica Neue" pitchFamily="34" charset="-122"/>
                <a:cs typeface="Helvetica Neue" pitchFamily="34" charset="-120"/>
              </a:rPr>
              <a:t>2:50</a:t>
            </a:r>
            <a:endParaRPr lang="en-US" sz="1700" dirty="0"/>
          </a:p>
        </p:txBody>
      </p:sp>
      <p:sp>
        <p:nvSpPr>
          <p:cNvPr id="33" name="Text 31"/>
          <p:cNvSpPr/>
          <p:nvPr/>
        </p:nvSpPr>
        <p:spPr>
          <a:xfrm>
            <a:off x="2148840" y="5719572"/>
            <a:ext cx="7360920" cy="553212"/>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Wrap-Up &amp; Homework</a:t>
            </a:r>
            <a:endParaRPr lang="en-US" sz="1600" dirty="0"/>
          </a:p>
        </p:txBody>
      </p:sp>
      <p:sp>
        <p:nvSpPr>
          <p:cNvPr id="34" name="Text 32"/>
          <p:cNvSpPr/>
          <p:nvPr/>
        </p:nvSpPr>
        <p:spPr>
          <a:xfrm>
            <a:off x="9601200" y="5719572"/>
            <a:ext cx="1764792" cy="553212"/>
          </a:xfrm>
          <a:prstGeom prst="rect">
            <a:avLst/>
          </a:prstGeom>
          <a:noFill/>
          <a:ln/>
        </p:spPr>
        <p:txBody>
          <a:bodyPr wrap="square" lIns="0" tIns="0" rIns="0" bIns="0" rtlCol="0" anchor="ctr"/>
          <a:lstStyle/>
          <a:p>
            <a:pPr algn="r" indent="0" marL="0">
              <a:buNone/>
            </a:pPr>
            <a:r>
              <a:rPr lang="en-US" sz="1150" b="1" spc="50" kern="0" dirty="0">
                <a:solidFill>
                  <a:srgbClr val="6E6E73"/>
                </a:solidFill>
                <a:latin typeface="Helvetica Neue" pitchFamily="34" charset="0"/>
                <a:ea typeface="Helvetica Neue" pitchFamily="34" charset="-122"/>
                <a:cs typeface="Helvetica Neue" pitchFamily="34" charset="-120"/>
              </a:rPr>
              <a:t>10 min</a:t>
            </a:r>
            <a:endParaRPr lang="en-US" sz="1150" dirty="0"/>
          </a:p>
        </p:txBody>
      </p:sp>
      <p:sp>
        <p:nvSpPr>
          <p:cNvPr id="35" name="Text 33"/>
          <p:cNvSpPr/>
          <p:nvPr/>
        </p:nvSpPr>
        <p:spPr>
          <a:xfrm>
            <a:off x="822960" y="6327648"/>
            <a:ext cx="10545775" cy="0"/>
          </a:xfrm>
          <a:prstGeom prst="rect">
            <a:avLst/>
          </a:prstGeom>
          <a:noFill/>
          <a:ln/>
        </p:spPr>
        <p:txBody>
          <a:bodyPr wrap="square" lIns="0" tIns="0" rIns="0" bIns="0" rtlCol="0" anchor="ctr"/>
          <a:lstStyle/>
          <a:p>
            <a:pPr indent="0" marL="0">
              <a:buNone/>
            </a:pPr>
            <a:r>
              <a:rPr lang="en-US" sz="10" dirty="0">
                <a:solidFill>
                  <a:srgbClr val="FFFFFF"/>
                </a:solidFill>
                <a:latin typeface="Helvetica Neue" pitchFamily="34" charset="0"/>
                <a:ea typeface="Helvetica Neue" pitchFamily="34" charset="-122"/>
                <a:cs typeface="Helvetica Neue" pitchFamily="34" charset="-120"/>
              </a:rPr>
              <a:t>We run on time. Every block has a clock, and we hold to it — that habit is part of the engineering.</a:t>
            </a:r>
            <a:endParaRPr lang="en-US" sz="10" dirty="0"/>
          </a:p>
        </p:txBody>
      </p:sp>
      <p:sp>
        <p:nvSpPr>
          <p:cNvPr id="36" name="Shape 34"/>
          <p:cNvSpPr/>
          <p:nvPr/>
        </p:nvSpPr>
        <p:spPr>
          <a:xfrm>
            <a:off x="822960" y="6437376"/>
            <a:ext cx="10545775" cy="0"/>
          </a:xfrm>
          <a:prstGeom prst="line">
            <a:avLst/>
          </a:prstGeom>
          <a:noFill/>
          <a:ln w="9525">
            <a:solidFill>
              <a:srgbClr val="E3E3E6"/>
            </a:solidFill>
            <a:prstDash val="solid"/>
          </a:ln>
        </p:spPr>
      </p:sp>
      <p:sp>
        <p:nvSpPr>
          <p:cNvPr id="37" name="Text 3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8" name="Text 3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 / 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01</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01</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Welcome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Brief</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0:00 – 0:15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Every meeting we ever hold will begin in exactly this place.</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3 / 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STANDING RITUAL</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Every meeting opens with a safety brief.</a:t>
            </a:r>
            <a:endParaRPr lang="en-US" sz="3000" dirty="0"/>
          </a:p>
        </p:txBody>
      </p:sp>
      <p:sp>
        <p:nvSpPr>
          <p:cNvPr id="4" name="Text 2"/>
          <p:cNvSpPr/>
          <p:nvPr/>
        </p:nvSpPr>
        <p:spPr>
          <a:xfrm>
            <a:off x="822960" y="1783080"/>
            <a:ext cx="4754880" cy="329184"/>
          </a:xfrm>
          <a:prstGeom prst="rect">
            <a:avLst/>
          </a:prstGeom>
          <a:noFill/>
          <a:ln/>
        </p:spPr>
        <p:txBody>
          <a:bodyPr wrap="square" lIns="0" tIns="0" rIns="0" bIns="0" rtlCol="0" anchor="ctr"/>
          <a:lstStyle/>
          <a:p>
            <a:pPr indent="0" marL="0">
              <a:buNone/>
            </a:pPr>
            <a:r>
              <a:rPr lang="en-US" sz="1500" b="1" dirty="0">
                <a:solidFill>
                  <a:srgbClr val="1D1D1F"/>
                </a:solidFill>
                <a:latin typeface="Helvetica Neue" pitchFamily="34" charset="0"/>
                <a:ea typeface="Helvetica Neue" pitchFamily="34" charset="-122"/>
                <a:cs typeface="Helvetica Neue" pitchFamily="34" charset="-120"/>
              </a:rPr>
              <a:t>Why we do this</a:t>
            </a:r>
            <a:endParaRPr lang="en-US" sz="1500" dirty="0"/>
          </a:p>
        </p:txBody>
      </p:sp>
      <p:sp>
        <p:nvSpPr>
          <p:cNvPr id="5" name="Text 3"/>
          <p:cNvSpPr/>
          <p:nvPr/>
        </p:nvSpPr>
        <p:spPr>
          <a:xfrm>
            <a:off x="822960" y="2157984"/>
            <a:ext cx="4800600" cy="2377440"/>
          </a:xfrm>
          <a:prstGeom prst="rect">
            <a:avLst/>
          </a:prstGeom>
          <a:noFill/>
          <a:ln/>
        </p:spPr>
        <p:txBody>
          <a:bodyPr wrap="square" lIns="0" tIns="0" rIns="0" bIns="0" rtlCol="0" anchor="ctr"/>
          <a:lstStyle/>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Real engineering and dive teams brief safety before every job — not because something went wrong, but so it never does. We adopt the same habit on day one. Sixty seconds, every meeting, no exceptions.</a:t>
            </a:r>
            <a:endParaRPr lang="en-US" sz="1350" dirty="0"/>
          </a:p>
          <a:p>
            <a:pPr indent="0" marL="0">
              <a:lnSpc>
                <a:spcPts val="2000"/>
              </a:lnSpc>
              <a:buNone/>
            </a:pPr>
            <a:endParaRPr lang="en-US" sz="1350" dirty="0"/>
          </a:p>
          <a:p>
            <a:pPr indent="0" marL="0">
              <a:lnSpc>
                <a:spcPts val="2000"/>
              </a:lnSpc>
              <a:buNone/>
            </a:pPr>
            <a:r>
              <a:rPr lang="en-US" sz="1350" dirty="0">
                <a:solidFill>
                  <a:srgbClr val="6E6E73"/>
                </a:solidFill>
                <a:latin typeface="Helvetica Neue" pitchFamily="34" charset="0"/>
                <a:ea typeface="Helvetica Neue" pitchFamily="34" charset="-122"/>
                <a:cs typeface="Helvetica Neue" pitchFamily="34" charset="-120"/>
              </a:rPr>
              <a:t>Each brief answers the same four questions, so the team always knows what to expect.</a:t>
            </a:r>
            <a:endParaRPr lang="en-US" sz="1350" dirty="0"/>
          </a:p>
        </p:txBody>
      </p:sp>
      <p:sp>
        <p:nvSpPr>
          <p:cNvPr id="6" name="Shape 4"/>
          <p:cNvSpPr/>
          <p:nvPr/>
        </p:nvSpPr>
        <p:spPr>
          <a:xfrm>
            <a:off x="822960" y="4334256"/>
            <a:ext cx="310896" cy="310896"/>
          </a:xfrm>
          <a:prstGeom prst="ellipse">
            <a:avLst/>
          </a:prstGeom>
          <a:solidFill>
            <a:srgbClr val="EAF2F4"/>
          </a:solidFill>
          <a:ln/>
        </p:spPr>
      </p:sp>
      <p:sp>
        <p:nvSpPr>
          <p:cNvPr id="7" name="Text 5"/>
          <p:cNvSpPr/>
          <p:nvPr/>
        </p:nvSpPr>
        <p:spPr>
          <a:xfrm>
            <a:off x="822960" y="4334256"/>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1</a:t>
            </a:r>
            <a:endParaRPr lang="en-US" sz="952" dirty="0"/>
          </a:p>
        </p:txBody>
      </p:sp>
      <p:sp>
        <p:nvSpPr>
          <p:cNvPr id="8" name="Text 6"/>
          <p:cNvSpPr/>
          <p:nvPr/>
        </p:nvSpPr>
        <p:spPr>
          <a:xfrm>
            <a:off x="1280160" y="4297680"/>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are we doing today?</a:t>
            </a:r>
            <a:endParaRPr lang="en-US" sz="1250" dirty="0"/>
          </a:p>
        </p:txBody>
      </p:sp>
      <p:sp>
        <p:nvSpPr>
          <p:cNvPr id="9" name="Shape 7"/>
          <p:cNvSpPr/>
          <p:nvPr/>
        </p:nvSpPr>
        <p:spPr>
          <a:xfrm>
            <a:off x="822960" y="4754880"/>
            <a:ext cx="310896" cy="310896"/>
          </a:xfrm>
          <a:prstGeom prst="ellipse">
            <a:avLst/>
          </a:prstGeom>
          <a:solidFill>
            <a:srgbClr val="EAF2F4"/>
          </a:solidFill>
          <a:ln/>
        </p:spPr>
      </p:sp>
      <p:sp>
        <p:nvSpPr>
          <p:cNvPr id="10" name="Text 8"/>
          <p:cNvSpPr/>
          <p:nvPr/>
        </p:nvSpPr>
        <p:spPr>
          <a:xfrm>
            <a:off x="822960" y="4754880"/>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2</a:t>
            </a:r>
            <a:endParaRPr lang="en-US" sz="952" dirty="0"/>
          </a:p>
        </p:txBody>
      </p:sp>
      <p:sp>
        <p:nvSpPr>
          <p:cNvPr id="11" name="Text 9"/>
          <p:cNvSpPr/>
          <p:nvPr/>
        </p:nvSpPr>
        <p:spPr>
          <a:xfrm>
            <a:off x="1280160" y="4718304"/>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What could hurt someone?</a:t>
            </a:r>
            <a:endParaRPr lang="en-US" sz="1250" dirty="0"/>
          </a:p>
        </p:txBody>
      </p:sp>
      <p:sp>
        <p:nvSpPr>
          <p:cNvPr id="12" name="Shape 10"/>
          <p:cNvSpPr/>
          <p:nvPr/>
        </p:nvSpPr>
        <p:spPr>
          <a:xfrm>
            <a:off x="822960" y="5175504"/>
            <a:ext cx="310896" cy="310896"/>
          </a:xfrm>
          <a:prstGeom prst="ellipse">
            <a:avLst/>
          </a:prstGeom>
          <a:solidFill>
            <a:srgbClr val="EAF2F4"/>
          </a:solidFill>
          <a:ln/>
        </p:spPr>
      </p:sp>
      <p:sp>
        <p:nvSpPr>
          <p:cNvPr id="13" name="Text 11"/>
          <p:cNvSpPr/>
          <p:nvPr/>
        </p:nvSpPr>
        <p:spPr>
          <a:xfrm>
            <a:off x="822960" y="5175504"/>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3</a:t>
            </a:r>
            <a:endParaRPr lang="en-US" sz="952" dirty="0"/>
          </a:p>
        </p:txBody>
      </p:sp>
      <p:sp>
        <p:nvSpPr>
          <p:cNvPr id="14" name="Text 12"/>
          <p:cNvSpPr/>
          <p:nvPr/>
        </p:nvSpPr>
        <p:spPr>
          <a:xfrm>
            <a:off x="1280160" y="5138928"/>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How do we prevent it?</a:t>
            </a:r>
            <a:endParaRPr lang="en-US" sz="1250" dirty="0"/>
          </a:p>
        </p:txBody>
      </p:sp>
      <p:sp>
        <p:nvSpPr>
          <p:cNvPr id="15" name="Shape 13"/>
          <p:cNvSpPr/>
          <p:nvPr/>
        </p:nvSpPr>
        <p:spPr>
          <a:xfrm>
            <a:off x="822960" y="5596128"/>
            <a:ext cx="310896" cy="310896"/>
          </a:xfrm>
          <a:prstGeom prst="ellipse">
            <a:avLst/>
          </a:prstGeom>
          <a:solidFill>
            <a:srgbClr val="EAF2F4"/>
          </a:solidFill>
          <a:ln/>
        </p:spPr>
      </p:sp>
      <p:sp>
        <p:nvSpPr>
          <p:cNvPr id="16" name="Text 14"/>
          <p:cNvSpPr/>
          <p:nvPr/>
        </p:nvSpPr>
        <p:spPr>
          <a:xfrm>
            <a:off x="822960" y="5596128"/>
            <a:ext cx="310896" cy="310896"/>
          </a:xfrm>
          <a:prstGeom prst="rect">
            <a:avLst/>
          </a:prstGeom>
          <a:noFill/>
          <a:ln/>
        </p:spPr>
        <p:txBody>
          <a:bodyPr wrap="square" lIns="0" tIns="0" rIns="0" bIns="0" rtlCol="0" anchor="ctr"/>
          <a:lstStyle/>
          <a:p>
            <a:pPr algn="ctr" indent="0" marL="0">
              <a:buNone/>
            </a:pPr>
            <a:r>
              <a:rPr lang="en-US" sz="952" b="1" dirty="0">
                <a:solidFill>
                  <a:srgbClr val="0D7490"/>
                </a:solidFill>
                <a:latin typeface="Helvetica Neue" pitchFamily="34" charset="0"/>
                <a:ea typeface="Helvetica Neue" pitchFamily="34" charset="-122"/>
                <a:cs typeface="Helvetica Neue" pitchFamily="34" charset="-120"/>
              </a:rPr>
              <a:t>4</a:t>
            </a:r>
            <a:endParaRPr lang="en-US" sz="952" dirty="0"/>
          </a:p>
        </p:txBody>
      </p:sp>
      <p:sp>
        <p:nvSpPr>
          <p:cNvPr id="17" name="Text 15"/>
          <p:cNvSpPr/>
          <p:nvPr/>
        </p:nvSpPr>
        <p:spPr>
          <a:xfrm>
            <a:off x="1280160" y="5559552"/>
            <a:ext cx="4389120" cy="384048"/>
          </a:xfrm>
          <a:prstGeom prst="rect">
            <a:avLst/>
          </a:prstGeom>
          <a:noFill/>
          <a:ln/>
        </p:spPr>
        <p:txBody>
          <a:bodyPr wrap="square" lIns="0" tIns="0" rIns="0" bIns="0" rtlCol="0" anchor="ctr"/>
          <a:lstStyle/>
          <a:p>
            <a:pPr indent="0" marL="0">
              <a:buNone/>
            </a:pPr>
            <a:r>
              <a:rPr lang="en-US" sz="1250" dirty="0">
                <a:solidFill>
                  <a:srgbClr val="1D1D1F"/>
                </a:solidFill>
                <a:latin typeface="Helvetica Neue" pitchFamily="34" charset="0"/>
                <a:ea typeface="Helvetica Neue" pitchFamily="34" charset="-122"/>
                <a:cs typeface="Helvetica Neue" pitchFamily="34" charset="-120"/>
              </a:rPr>
              <a:t>Who do we tell if something happens?</a:t>
            </a:r>
            <a:endParaRPr lang="en-US" sz="1250" dirty="0"/>
          </a:p>
        </p:txBody>
      </p:sp>
      <p:sp>
        <p:nvSpPr>
          <p:cNvPr id="18" name="Shape 16"/>
          <p:cNvSpPr/>
          <p:nvPr/>
        </p:nvSpPr>
        <p:spPr>
          <a:xfrm>
            <a:off x="5989320" y="1783080"/>
            <a:ext cx="5376672" cy="4370832"/>
          </a:xfrm>
          <a:prstGeom prst="roundRect">
            <a:avLst>
              <a:gd name="adj" fmla="val 2301"/>
            </a:avLst>
          </a:prstGeom>
          <a:solidFill>
            <a:srgbClr val="EAF2F4"/>
          </a:solidFill>
          <a:ln w="12700">
            <a:solidFill>
              <a:srgbClr val="EAF2F4"/>
            </a:solidFill>
            <a:prstDash val="solid"/>
          </a:ln>
        </p:spPr>
      </p:sp>
      <p:sp>
        <p:nvSpPr>
          <p:cNvPr id="19" name="Shape 17"/>
          <p:cNvSpPr/>
          <p:nvPr/>
        </p:nvSpPr>
        <p:spPr>
          <a:xfrm>
            <a:off x="5989320" y="1783080"/>
            <a:ext cx="5376672" cy="566928"/>
          </a:xfrm>
          <a:prstGeom prst="rect">
            <a:avLst/>
          </a:prstGeom>
          <a:solidFill>
            <a:srgbClr val="0D7490"/>
          </a:solidFill>
          <a:ln/>
        </p:spPr>
      </p:sp>
      <p:sp>
        <p:nvSpPr>
          <p:cNvPr id="20" name="Text 18"/>
          <p:cNvSpPr/>
          <p:nvPr/>
        </p:nvSpPr>
        <p:spPr>
          <a:xfrm>
            <a:off x="5989320" y="1783080"/>
            <a:ext cx="5376672" cy="566928"/>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Helvetica Neue" pitchFamily="34" charset="0"/>
                <a:ea typeface="Helvetica Neue" pitchFamily="34" charset="-122"/>
                <a:cs typeface="Helvetica Neue" pitchFamily="34" charset="-120"/>
              </a:rPr>
              <a:t>TODAY'S BRIEF  ·  MEETING 1</a:t>
            </a:r>
            <a:endParaRPr lang="en-US" sz="1200" dirty="0"/>
          </a:p>
        </p:txBody>
      </p:sp>
      <p:sp>
        <p:nvSpPr>
          <p:cNvPr id="21" name="Text 19"/>
          <p:cNvSpPr/>
          <p:nvPr/>
        </p:nvSpPr>
        <p:spPr>
          <a:xfrm>
            <a:off x="6355080" y="257860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WORK</a:t>
            </a:r>
            <a:endParaRPr lang="en-US" sz="1000" dirty="0"/>
          </a:p>
        </p:txBody>
      </p:sp>
      <p:sp>
        <p:nvSpPr>
          <p:cNvPr id="22" name="Text 20"/>
          <p:cNvSpPr/>
          <p:nvPr/>
        </p:nvSpPr>
        <p:spPr>
          <a:xfrm>
            <a:off x="6355080" y="282549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Setup, talking, and planning — no power tools in the room today.</a:t>
            </a:r>
            <a:endParaRPr lang="en-US" sz="1150" dirty="0"/>
          </a:p>
        </p:txBody>
      </p:sp>
      <p:sp>
        <p:nvSpPr>
          <p:cNvPr id="23" name="Text 21"/>
          <p:cNvSpPr/>
          <p:nvPr/>
        </p:nvSpPr>
        <p:spPr>
          <a:xfrm>
            <a:off x="6355080" y="328726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THE HAZARDS</a:t>
            </a:r>
            <a:endParaRPr lang="en-US" sz="1000" dirty="0"/>
          </a:p>
        </p:txBody>
      </p:sp>
      <p:sp>
        <p:nvSpPr>
          <p:cNvPr id="24" name="Text 22"/>
          <p:cNvSpPr/>
          <p:nvPr/>
        </p:nvSpPr>
        <p:spPr>
          <a:xfrm>
            <a:off x="6355080" y="353415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Hand tools and box cutters at the build table. The walk to and from the workspace.</a:t>
            </a:r>
            <a:endParaRPr lang="en-US" sz="1150" dirty="0"/>
          </a:p>
        </p:txBody>
      </p:sp>
      <p:sp>
        <p:nvSpPr>
          <p:cNvPr id="25" name="Text 23"/>
          <p:cNvSpPr/>
          <p:nvPr/>
        </p:nvSpPr>
        <p:spPr>
          <a:xfrm>
            <a:off x="6355080" y="399592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PREVENTION</a:t>
            </a:r>
            <a:endParaRPr lang="en-US" sz="1000" dirty="0"/>
          </a:p>
        </p:txBody>
      </p:sp>
      <p:sp>
        <p:nvSpPr>
          <p:cNvPr id="26" name="Text 24"/>
          <p:cNvSpPr/>
          <p:nvPr/>
        </p:nvSpPr>
        <p:spPr>
          <a:xfrm>
            <a:off x="6355080" y="424281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Tools stay capped until needed. Closed-toe shoes. Clear the floor of bags and cords.</a:t>
            </a:r>
            <a:endParaRPr lang="en-US" sz="1150" dirty="0"/>
          </a:p>
        </p:txBody>
      </p:sp>
      <p:sp>
        <p:nvSpPr>
          <p:cNvPr id="27" name="Text 25"/>
          <p:cNvSpPr/>
          <p:nvPr/>
        </p:nvSpPr>
        <p:spPr>
          <a:xfrm>
            <a:off x="6355080" y="470458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IF SOMETHING HAPPENS</a:t>
            </a:r>
            <a:endParaRPr lang="en-US" sz="1000" dirty="0"/>
          </a:p>
        </p:txBody>
      </p:sp>
      <p:sp>
        <p:nvSpPr>
          <p:cNvPr id="28" name="Text 26"/>
          <p:cNvSpPr/>
          <p:nvPr/>
        </p:nvSpPr>
        <p:spPr>
          <a:xfrm>
            <a:off x="6355080" y="495147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Stop, speak up immediately, and tell the advisor. Small problems get reported too.</a:t>
            </a:r>
            <a:endParaRPr lang="en-US" sz="1150" dirty="0"/>
          </a:p>
        </p:txBody>
      </p:sp>
      <p:sp>
        <p:nvSpPr>
          <p:cNvPr id="29" name="Text 27"/>
          <p:cNvSpPr/>
          <p:nvPr/>
        </p:nvSpPr>
        <p:spPr>
          <a:xfrm>
            <a:off x="6355080" y="5413248"/>
            <a:ext cx="466344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LOOKING AHEAD</a:t>
            </a:r>
            <a:endParaRPr lang="en-US" sz="1000" dirty="0"/>
          </a:p>
        </p:txBody>
      </p:sp>
      <p:sp>
        <p:nvSpPr>
          <p:cNvPr id="30" name="Text 28"/>
          <p:cNvSpPr/>
          <p:nvPr/>
        </p:nvSpPr>
        <p:spPr>
          <a:xfrm>
            <a:off x="6355080" y="5660136"/>
            <a:ext cx="4681728" cy="45720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Soldering irons next week and pool sessions soon — the brief grows as the work does.</a:t>
            </a:r>
            <a:endParaRPr lang="en-US" sz="1150" dirty="0"/>
          </a:p>
        </p:txBody>
      </p:sp>
      <p:sp>
        <p:nvSpPr>
          <p:cNvPr id="31" name="Shape 29"/>
          <p:cNvSpPr/>
          <p:nvPr/>
        </p:nvSpPr>
        <p:spPr>
          <a:xfrm>
            <a:off x="822960" y="6437376"/>
            <a:ext cx="10545775" cy="0"/>
          </a:xfrm>
          <a:prstGeom prst="line">
            <a:avLst/>
          </a:prstGeom>
          <a:noFill/>
          <a:ln w="9525">
            <a:solidFill>
              <a:srgbClr val="E3E3E6"/>
            </a:solidFill>
            <a:prstDash val="solid"/>
          </a:ln>
        </p:spPr>
      </p:sp>
      <p:sp>
        <p:nvSpPr>
          <p:cNvPr id="32" name="Text 3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3" name="Text 3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4 / 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02</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02</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What We're</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Joining</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0:15 – 0:45   ·   30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Before we build anything, the team should know exactly what it has signed up for.</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5 / 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WE'RE JOINING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MATE ROV Competition.</a:t>
            </a:r>
            <a:endParaRPr lang="en-US" sz="3000" dirty="0"/>
          </a:p>
        </p:txBody>
      </p:sp>
      <p:sp>
        <p:nvSpPr>
          <p:cNvPr id="4" name="Text 2"/>
          <p:cNvSpPr/>
          <p:nvPr/>
        </p:nvSpPr>
        <p:spPr>
          <a:xfrm>
            <a:off x="822960" y="1828800"/>
            <a:ext cx="5669280" cy="173736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MATE stands for Marine Advanced Technology Education. The MATE ROV Competition is an international contest in which student teams design and build a remotely operated vehicle — an underwater robot — and pilot it through a set of real ocean-industry missions.</a:t>
            </a:r>
            <a:endParaRPr lang="en-US" sz="1500" dirty="0"/>
          </a:p>
        </p:txBody>
      </p:sp>
      <p:sp>
        <p:nvSpPr>
          <p:cNvPr id="5" name="Text 3"/>
          <p:cNvSpPr/>
          <p:nvPr/>
        </p:nvSpPr>
        <p:spPr>
          <a:xfrm>
            <a:off x="822960" y="3611880"/>
            <a:ext cx="5669280" cy="1554480"/>
          </a:xfrm>
          <a:prstGeom prst="rect">
            <a:avLst/>
          </a:prstGeom>
          <a:noFill/>
          <a:ln/>
        </p:spPr>
        <p:txBody>
          <a:bodyPr wrap="square" lIns="0" tIns="0" rIns="0" bIns="0" rtlCol="0" anchor="ctr"/>
          <a:lstStyle/>
          <a:p>
            <a:pPr indent="0" marL="0">
              <a:lnSpc>
                <a:spcPts val="2300"/>
              </a:lnSpc>
              <a:buNone/>
            </a:pPr>
            <a:r>
              <a:rPr lang="en-US" sz="1500" dirty="0">
                <a:solidFill>
                  <a:srgbClr val="6E6E73"/>
                </a:solidFill>
                <a:latin typeface="Helvetica Neue" pitchFamily="34" charset="0"/>
                <a:ea typeface="Helvetica Neue" pitchFamily="34" charset="-122"/>
                <a:cs typeface="Helvetica Neue" pitchFamily="34" charset="-120"/>
              </a:rPr>
              <a:t>The mission tasks are not made up. Each year they mirror real work being done in ocean observation, renewable energy, and keeping waterways healthy. We are practicing the actual job, scaled to a pool.</a:t>
            </a:r>
            <a:endParaRPr lang="en-US" sz="1500" dirty="0"/>
          </a:p>
        </p:txBody>
      </p:sp>
      <p:sp>
        <p:nvSpPr>
          <p:cNvPr id="6" name="Text 4"/>
          <p:cNvSpPr/>
          <p:nvPr/>
        </p:nvSpPr>
        <p:spPr>
          <a:xfrm>
            <a:off x="822960" y="5212080"/>
            <a:ext cx="5669280" cy="640080"/>
          </a:xfrm>
          <a:prstGeom prst="rect">
            <a:avLst/>
          </a:prstGeom>
          <a:noFill/>
          <a:ln/>
        </p:spPr>
        <p:txBody>
          <a:bodyPr wrap="square" lIns="0" tIns="0" rIns="0" bIns="0" rtlCol="0" anchor="ctr"/>
          <a:lstStyle/>
          <a:p>
            <a:pPr indent="0" marL="0">
              <a:lnSpc>
                <a:spcPts val="2000"/>
              </a:lnSpc>
              <a:buNone/>
            </a:pPr>
            <a:r>
              <a:rPr lang="en-US" sz="1400" b="1" dirty="0">
                <a:solidFill>
                  <a:srgbClr val="1D1D1F"/>
                </a:solidFill>
                <a:latin typeface="Helvetica Neue" pitchFamily="34" charset="0"/>
                <a:ea typeface="Helvetica Neue" pitchFamily="34" charset="-122"/>
                <a:cs typeface="Helvetica Neue" pitchFamily="34" charset="-120"/>
              </a:rPr>
              <a:t>Teams advance from a regional contest toward the MATE World Championship.</a:t>
            </a:r>
            <a:endParaRPr lang="en-US" sz="1400" dirty="0"/>
          </a:p>
        </p:txBody>
      </p:sp>
      <p:sp>
        <p:nvSpPr>
          <p:cNvPr id="7" name="Shape 5"/>
          <p:cNvSpPr/>
          <p:nvPr/>
        </p:nvSpPr>
        <p:spPr>
          <a:xfrm>
            <a:off x="6858000" y="1828800"/>
            <a:ext cx="4507992" cy="4160520"/>
          </a:xfrm>
          <a:prstGeom prst="roundRect">
            <a:avLst>
              <a:gd name="adj" fmla="val 2418"/>
            </a:avLst>
          </a:prstGeom>
          <a:solidFill>
            <a:srgbClr val="095D75"/>
          </a:solidFill>
          <a:ln w="12700">
            <a:solidFill>
              <a:srgbClr val="095D75"/>
            </a:solidFill>
            <a:prstDash val="solid"/>
          </a:ln>
        </p:spPr>
      </p:sp>
      <p:sp>
        <p:nvSpPr>
          <p:cNvPr id="8" name="Text 6"/>
          <p:cNvSpPr/>
          <p:nvPr/>
        </p:nvSpPr>
        <p:spPr>
          <a:xfrm>
            <a:off x="7223760" y="2212848"/>
            <a:ext cx="3840480"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IN ONE SENTENCE</a:t>
            </a:r>
            <a:endParaRPr lang="en-US" sz="1050" dirty="0"/>
          </a:p>
        </p:txBody>
      </p:sp>
      <p:sp>
        <p:nvSpPr>
          <p:cNvPr id="9" name="Text 7"/>
          <p:cNvSpPr/>
          <p:nvPr/>
        </p:nvSpPr>
        <p:spPr>
          <a:xfrm>
            <a:off x="7223760" y="2578608"/>
            <a:ext cx="3794760" cy="2103120"/>
          </a:xfrm>
          <a:prstGeom prst="rect">
            <a:avLst/>
          </a:prstGeom>
          <a:noFill/>
          <a:ln/>
        </p:spPr>
        <p:txBody>
          <a:bodyPr wrap="square" lIns="0" tIns="0" rIns="0" bIns="0" rtlCol="0" anchor="ctr"/>
          <a:lstStyle/>
          <a:p>
            <a:pPr indent="0" marL="0">
              <a:lnSpc>
                <a:spcPts val="2700"/>
              </a:lnSpc>
              <a:buNone/>
            </a:pPr>
            <a:r>
              <a:rPr lang="en-US" sz="2100" b="1" dirty="0">
                <a:solidFill>
                  <a:srgbClr val="FFFFFF"/>
                </a:solidFill>
                <a:latin typeface="Helvetica Neue" pitchFamily="34" charset="0"/>
                <a:ea typeface="Helvetica Neue" pitchFamily="34" charset="-122"/>
                <a:cs typeface="Helvetica Neue" pitchFamily="34" charset="-120"/>
              </a:rPr>
              <a:t>Design and build an underwater robot — then prove it on real ocean missions.</a:t>
            </a:r>
            <a:endParaRPr lang="en-US" sz="2100" dirty="0"/>
          </a:p>
        </p:txBody>
      </p:sp>
      <p:sp>
        <p:nvSpPr>
          <p:cNvPr id="10" name="Shape 8"/>
          <p:cNvSpPr/>
          <p:nvPr/>
        </p:nvSpPr>
        <p:spPr>
          <a:xfrm>
            <a:off x="7223760" y="4617720"/>
            <a:ext cx="3776472" cy="0"/>
          </a:xfrm>
          <a:prstGeom prst="line">
            <a:avLst/>
          </a:prstGeom>
          <a:noFill/>
          <a:ln w="12700">
            <a:solidFill>
              <a:srgbClr val="3E7E91"/>
            </a:solidFill>
            <a:prstDash val="solid"/>
          </a:ln>
        </p:spPr>
      </p:sp>
      <p:sp>
        <p:nvSpPr>
          <p:cNvPr id="11" name="Text 9"/>
          <p:cNvSpPr/>
          <p:nvPr/>
        </p:nvSpPr>
        <p:spPr>
          <a:xfrm>
            <a:off x="7223760" y="4800600"/>
            <a:ext cx="3794760" cy="292608"/>
          </a:xfrm>
          <a:prstGeom prst="rect">
            <a:avLst/>
          </a:prstGeom>
          <a:noFill/>
          <a:ln/>
        </p:spPr>
        <p:txBody>
          <a:bodyPr wrap="square" lIns="0" tIns="0" rIns="0" bIns="0" rtlCol="0" anchor="ctr"/>
          <a:lstStyle/>
          <a:p>
            <a:pPr indent="0" marL="0">
              <a:buNone/>
            </a:pPr>
            <a:r>
              <a:rPr lang="en-US" sz="1200" dirty="0">
                <a:solidFill>
                  <a:srgbClr val="9FCEDA"/>
                </a:solidFill>
                <a:latin typeface="Helvetica Neue" pitchFamily="34" charset="0"/>
                <a:ea typeface="Helvetica Neue" pitchFamily="34" charset="-122"/>
                <a:cs typeface="Helvetica Neue" pitchFamily="34" charset="-120"/>
              </a:rPr>
              <a:t>materovcompetition.org</a:t>
            </a:r>
            <a:endParaRPr lang="en-US" sz="1200" dirty="0"/>
          </a:p>
        </p:txBody>
      </p:sp>
      <p:sp>
        <p:nvSpPr>
          <p:cNvPr id="12" name="Text 10"/>
          <p:cNvSpPr/>
          <p:nvPr/>
        </p:nvSpPr>
        <p:spPr>
          <a:xfrm>
            <a:off x="7223760" y="5084064"/>
            <a:ext cx="3794760" cy="731520"/>
          </a:xfrm>
          <a:prstGeom prst="rect">
            <a:avLst/>
          </a:prstGeom>
          <a:noFill/>
          <a:ln/>
        </p:spPr>
        <p:txBody>
          <a:bodyPr wrap="square" lIns="0" tIns="0" rIns="0" bIns="0" rtlCol="0" anchor="ctr"/>
          <a:lstStyle/>
          <a:p>
            <a:pPr indent="0" marL="0">
              <a:lnSpc>
                <a:spcPts val="1500"/>
              </a:lnSpc>
              <a:buNone/>
            </a:pPr>
            <a:r>
              <a:rPr lang="en-US" sz="1100" dirty="0">
                <a:solidFill>
                  <a:srgbClr val="C9E3EA"/>
                </a:solidFill>
                <a:latin typeface="Helvetica Neue" pitchFamily="34" charset="0"/>
                <a:ea typeface="Helvetica Neue" pitchFamily="34" charset="-122"/>
                <a:cs typeface="Helvetica Neue" pitchFamily="34" charset="-120"/>
              </a:rPr>
              <a:t>The official site — manuals, rules, and the mission specs we will live inside all season.</a:t>
            </a:r>
            <a:endParaRPr lang="en-US" sz="1100" dirty="0"/>
          </a:p>
        </p:txBody>
      </p:sp>
      <p:sp>
        <p:nvSpPr>
          <p:cNvPr id="13" name="Shape 11"/>
          <p:cNvSpPr/>
          <p:nvPr/>
        </p:nvSpPr>
        <p:spPr>
          <a:xfrm>
            <a:off x="822960" y="6437376"/>
            <a:ext cx="10545775" cy="0"/>
          </a:xfrm>
          <a:prstGeom prst="line">
            <a:avLst/>
          </a:prstGeom>
          <a:noFill/>
          <a:ln w="9525">
            <a:solidFill>
              <a:srgbClr val="E3E3E6"/>
            </a:solidFill>
            <a:prstDash val="solid"/>
          </a:ln>
        </p:spPr>
      </p:sp>
      <p:sp>
        <p:nvSpPr>
          <p:cNvPr id="14" name="Text 1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5" name="Text 1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6 / 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WE'RE JOINING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Our division: the RANGER class.</a:t>
            </a:r>
            <a:endParaRPr lang="en-US" sz="3000" dirty="0"/>
          </a:p>
        </p:txBody>
      </p:sp>
      <p:sp>
        <p:nvSpPr>
          <p:cNvPr id="4" name="Text 2"/>
          <p:cNvSpPr/>
          <p:nvPr/>
        </p:nvSpPr>
        <p:spPr>
          <a:xfrm>
            <a:off x="822960" y="1783080"/>
            <a:ext cx="10515600" cy="868680"/>
          </a:xfrm>
          <a:prstGeom prst="rect">
            <a:avLst/>
          </a:prstGeom>
          <a:noFill/>
          <a:ln/>
        </p:spPr>
        <p:txBody>
          <a:bodyPr wrap="square" lIns="0" tIns="0" rIns="0" bIns="0" rtlCol="0" anchor="ctr"/>
          <a:lstStyle/>
          <a:p>
            <a:pPr indent="0" marL="0">
              <a:lnSpc>
                <a:spcPts val="2200"/>
              </a:lnSpc>
              <a:buNone/>
            </a:pPr>
            <a:r>
              <a:rPr lang="en-US" sz="1500" dirty="0">
                <a:solidFill>
                  <a:srgbClr val="6E6E73"/>
                </a:solidFill>
                <a:latin typeface="Helvetica Neue" pitchFamily="34" charset="0"/>
                <a:ea typeface="Helvetica Neue" pitchFamily="34" charset="-122"/>
                <a:cs typeface="Helvetica Neue" pitchFamily="34" charset="-120"/>
              </a:rPr>
              <a:t>MATE runs several competition classes. RANGER is the class built for new and intermediate teams — that is us. And RANGER asks for far more than a robot. Five deliverables, one season.</a:t>
            </a:r>
            <a:endParaRPr lang="en-US" sz="1500" dirty="0"/>
          </a:p>
        </p:txBody>
      </p:sp>
      <p:sp>
        <p:nvSpPr>
          <p:cNvPr id="5" name="Shape 3"/>
          <p:cNvSpPr/>
          <p:nvPr/>
        </p:nvSpPr>
        <p:spPr>
          <a:xfrm>
            <a:off x="822960" y="2880360"/>
            <a:ext cx="1993392" cy="2971800"/>
          </a:xfrm>
          <a:prstGeom prst="roundRect">
            <a:avLst>
              <a:gd name="adj" fmla="val 5046"/>
            </a:avLst>
          </a:prstGeom>
          <a:solidFill>
            <a:srgbClr val="FBFBFD"/>
          </a:solidFill>
          <a:ln w="12700">
            <a:solidFill>
              <a:srgbClr val="E3E3E6"/>
            </a:solidFill>
            <a:prstDash val="solid"/>
          </a:ln>
        </p:spPr>
      </p:sp>
      <p:sp>
        <p:nvSpPr>
          <p:cNvPr id="6" name="Shape 4"/>
          <p:cNvSpPr/>
          <p:nvPr/>
        </p:nvSpPr>
        <p:spPr>
          <a:xfrm>
            <a:off x="1078992" y="3154680"/>
            <a:ext cx="420624" cy="420624"/>
          </a:xfrm>
          <a:prstGeom prst="ellipse">
            <a:avLst/>
          </a:prstGeom>
          <a:solidFill>
            <a:srgbClr val="EAF2F4"/>
          </a:solidFill>
          <a:ln/>
        </p:spPr>
      </p:sp>
      <p:sp>
        <p:nvSpPr>
          <p:cNvPr id="7" name="Text 5"/>
          <p:cNvSpPr/>
          <p:nvPr/>
        </p:nvSpPr>
        <p:spPr>
          <a:xfrm>
            <a:off x="1078992"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1</a:t>
            </a:r>
            <a:endParaRPr lang="en-US" sz="1288" dirty="0"/>
          </a:p>
        </p:txBody>
      </p:sp>
      <p:sp>
        <p:nvSpPr>
          <p:cNvPr id="8" name="Text 6"/>
          <p:cNvSpPr/>
          <p:nvPr/>
        </p:nvSpPr>
        <p:spPr>
          <a:xfrm>
            <a:off x="1060704"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The ROV</a:t>
            </a:r>
            <a:endParaRPr lang="en-US" sz="1400" dirty="0"/>
          </a:p>
        </p:txBody>
      </p:sp>
      <p:sp>
        <p:nvSpPr>
          <p:cNvPr id="9" name="Text 7"/>
          <p:cNvSpPr/>
          <p:nvPr/>
        </p:nvSpPr>
        <p:spPr>
          <a:xfrm>
            <a:off x="1060704"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The underwater robot itself — piloted on a tether to run the mission tasks.</a:t>
            </a:r>
            <a:endParaRPr lang="en-US" sz="1050" dirty="0"/>
          </a:p>
        </p:txBody>
      </p:sp>
      <p:sp>
        <p:nvSpPr>
          <p:cNvPr id="10" name="Shape 8"/>
          <p:cNvSpPr/>
          <p:nvPr/>
        </p:nvSpPr>
        <p:spPr>
          <a:xfrm>
            <a:off x="2967228" y="2880360"/>
            <a:ext cx="1993392" cy="2971800"/>
          </a:xfrm>
          <a:prstGeom prst="roundRect">
            <a:avLst>
              <a:gd name="adj" fmla="val 5046"/>
            </a:avLst>
          </a:prstGeom>
          <a:solidFill>
            <a:srgbClr val="FBFBFD"/>
          </a:solidFill>
          <a:ln w="12700">
            <a:solidFill>
              <a:srgbClr val="E3E3E6"/>
            </a:solidFill>
            <a:prstDash val="solid"/>
          </a:ln>
        </p:spPr>
      </p:sp>
      <p:sp>
        <p:nvSpPr>
          <p:cNvPr id="11" name="Shape 9"/>
          <p:cNvSpPr/>
          <p:nvPr/>
        </p:nvSpPr>
        <p:spPr>
          <a:xfrm>
            <a:off x="3223260" y="3154680"/>
            <a:ext cx="420624" cy="420624"/>
          </a:xfrm>
          <a:prstGeom prst="ellipse">
            <a:avLst/>
          </a:prstGeom>
          <a:solidFill>
            <a:srgbClr val="EAF2F4"/>
          </a:solidFill>
          <a:ln/>
        </p:spPr>
      </p:sp>
      <p:sp>
        <p:nvSpPr>
          <p:cNvPr id="12" name="Text 10"/>
          <p:cNvSpPr/>
          <p:nvPr/>
        </p:nvSpPr>
        <p:spPr>
          <a:xfrm>
            <a:off x="3223260"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2</a:t>
            </a:r>
            <a:endParaRPr lang="en-US" sz="1288" dirty="0"/>
          </a:p>
        </p:txBody>
      </p:sp>
      <p:sp>
        <p:nvSpPr>
          <p:cNvPr id="13" name="Text 11"/>
          <p:cNvSpPr/>
          <p:nvPr/>
        </p:nvSpPr>
        <p:spPr>
          <a:xfrm>
            <a:off x="3204972"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A profiling float</a:t>
            </a:r>
            <a:endParaRPr lang="en-US" sz="1400" dirty="0"/>
          </a:p>
        </p:txBody>
      </p:sp>
      <p:sp>
        <p:nvSpPr>
          <p:cNvPr id="14" name="Text 12"/>
          <p:cNvSpPr/>
          <p:nvPr/>
        </p:nvSpPr>
        <p:spPr>
          <a:xfrm>
            <a:off x="3204972"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second, untethered device that sinks and rises on its own, reporting depth.</a:t>
            </a:r>
            <a:endParaRPr lang="en-US" sz="1050" dirty="0"/>
          </a:p>
        </p:txBody>
      </p:sp>
      <p:sp>
        <p:nvSpPr>
          <p:cNvPr id="15" name="Shape 13"/>
          <p:cNvSpPr/>
          <p:nvPr/>
        </p:nvSpPr>
        <p:spPr>
          <a:xfrm>
            <a:off x="5111496" y="2880360"/>
            <a:ext cx="1993392" cy="2971800"/>
          </a:xfrm>
          <a:prstGeom prst="roundRect">
            <a:avLst>
              <a:gd name="adj" fmla="val 5046"/>
            </a:avLst>
          </a:prstGeom>
          <a:solidFill>
            <a:srgbClr val="FBFBFD"/>
          </a:solidFill>
          <a:ln w="12700">
            <a:solidFill>
              <a:srgbClr val="E3E3E6"/>
            </a:solidFill>
            <a:prstDash val="solid"/>
          </a:ln>
        </p:spPr>
      </p:sp>
      <p:sp>
        <p:nvSpPr>
          <p:cNvPr id="16" name="Shape 14"/>
          <p:cNvSpPr/>
          <p:nvPr/>
        </p:nvSpPr>
        <p:spPr>
          <a:xfrm>
            <a:off x="5367528" y="3154680"/>
            <a:ext cx="420624" cy="420624"/>
          </a:xfrm>
          <a:prstGeom prst="ellipse">
            <a:avLst/>
          </a:prstGeom>
          <a:solidFill>
            <a:srgbClr val="EAF2F4"/>
          </a:solidFill>
          <a:ln/>
        </p:spPr>
      </p:sp>
      <p:sp>
        <p:nvSpPr>
          <p:cNvPr id="17" name="Text 15"/>
          <p:cNvSpPr/>
          <p:nvPr/>
        </p:nvSpPr>
        <p:spPr>
          <a:xfrm>
            <a:off x="5367528"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3</a:t>
            </a:r>
            <a:endParaRPr lang="en-US" sz="1288" dirty="0"/>
          </a:p>
        </p:txBody>
      </p:sp>
      <p:sp>
        <p:nvSpPr>
          <p:cNvPr id="18" name="Text 16"/>
          <p:cNvSpPr/>
          <p:nvPr/>
        </p:nvSpPr>
        <p:spPr>
          <a:xfrm>
            <a:off x="5349240"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Technical documentation</a:t>
            </a:r>
            <a:endParaRPr lang="en-US" sz="1400" dirty="0"/>
          </a:p>
        </p:txBody>
      </p:sp>
      <p:sp>
        <p:nvSpPr>
          <p:cNvPr id="19" name="Text 17"/>
          <p:cNvSpPr/>
          <p:nvPr/>
        </p:nvSpPr>
        <p:spPr>
          <a:xfrm>
            <a:off x="5349240"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written engineering report — student-written, decisions explained.</a:t>
            </a:r>
            <a:endParaRPr lang="en-US" sz="1050" dirty="0"/>
          </a:p>
        </p:txBody>
      </p:sp>
      <p:sp>
        <p:nvSpPr>
          <p:cNvPr id="20" name="Shape 18"/>
          <p:cNvSpPr/>
          <p:nvPr/>
        </p:nvSpPr>
        <p:spPr>
          <a:xfrm>
            <a:off x="7255764" y="2880360"/>
            <a:ext cx="1993392" cy="2971800"/>
          </a:xfrm>
          <a:prstGeom prst="roundRect">
            <a:avLst>
              <a:gd name="adj" fmla="val 5046"/>
            </a:avLst>
          </a:prstGeom>
          <a:solidFill>
            <a:srgbClr val="FBFBFD"/>
          </a:solidFill>
          <a:ln w="12700">
            <a:solidFill>
              <a:srgbClr val="E3E3E6"/>
            </a:solidFill>
            <a:prstDash val="solid"/>
          </a:ln>
        </p:spPr>
      </p:sp>
      <p:sp>
        <p:nvSpPr>
          <p:cNvPr id="21" name="Shape 19"/>
          <p:cNvSpPr/>
          <p:nvPr/>
        </p:nvSpPr>
        <p:spPr>
          <a:xfrm>
            <a:off x="7511796" y="3154680"/>
            <a:ext cx="420624" cy="420624"/>
          </a:xfrm>
          <a:prstGeom prst="ellipse">
            <a:avLst/>
          </a:prstGeom>
          <a:solidFill>
            <a:srgbClr val="EAF2F4"/>
          </a:solidFill>
          <a:ln/>
        </p:spPr>
      </p:sp>
      <p:sp>
        <p:nvSpPr>
          <p:cNvPr id="22" name="Text 20"/>
          <p:cNvSpPr/>
          <p:nvPr/>
        </p:nvSpPr>
        <p:spPr>
          <a:xfrm>
            <a:off x="7511796"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4</a:t>
            </a:r>
            <a:endParaRPr lang="en-US" sz="1288" dirty="0"/>
          </a:p>
        </p:txBody>
      </p:sp>
      <p:sp>
        <p:nvSpPr>
          <p:cNvPr id="23" name="Text 21"/>
          <p:cNvSpPr/>
          <p:nvPr/>
        </p:nvSpPr>
        <p:spPr>
          <a:xfrm>
            <a:off x="7493508"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Engineering presentation</a:t>
            </a:r>
            <a:endParaRPr lang="en-US" sz="1400" dirty="0"/>
          </a:p>
        </p:txBody>
      </p:sp>
      <p:sp>
        <p:nvSpPr>
          <p:cNvPr id="24" name="Text 22"/>
          <p:cNvSpPr/>
          <p:nvPr/>
        </p:nvSpPr>
        <p:spPr>
          <a:xfrm>
            <a:off x="7493508"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live, spoken presentation to judges. No slides allowed.</a:t>
            </a:r>
            <a:endParaRPr lang="en-US" sz="1050" dirty="0"/>
          </a:p>
        </p:txBody>
      </p:sp>
      <p:sp>
        <p:nvSpPr>
          <p:cNvPr id="25" name="Shape 23"/>
          <p:cNvSpPr/>
          <p:nvPr/>
        </p:nvSpPr>
        <p:spPr>
          <a:xfrm>
            <a:off x="9400032" y="2880360"/>
            <a:ext cx="1993392" cy="2971800"/>
          </a:xfrm>
          <a:prstGeom prst="roundRect">
            <a:avLst>
              <a:gd name="adj" fmla="val 5046"/>
            </a:avLst>
          </a:prstGeom>
          <a:solidFill>
            <a:srgbClr val="FBFBFD"/>
          </a:solidFill>
          <a:ln w="12700">
            <a:solidFill>
              <a:srgbClr val="E3E3E6"/>
            </a:solidFill>
            <a:prstDash val="solid"/>
          </a:ln>
        </p:spPr>
      </p:sp>
      <p:sp>
        <p:nvSpPr>
          <p:cNvPr id="26" name="Shape 24"/>
          <p:cNvSpPr/>
          <p:nvPr/>
        </p:nvSpPr>
        <p:spPr>
          <a:xfrm>
            <a:off x="9656064" y="3154680"/>
            <a:ext cx="420624" cy="420624"/>
          </a:xfrm>
          <a:prstGeom prst="ellipse">
            <a:avLst/>
          </a:prstGeom>
          <a:solidFill>
            <a:srgbClr val="EAF2F4"/>
          </a:solidFill>
          <a:ln/>
        </p:spPr>
      </p:sp>
      <p:sp>
        <p:nvSpPr>
          <p:cNvPr id="27" name="Text 25"/>
          <p:cNvSpPr/>
          <p:nvPr/>
        </p:nvSpPr>
        <p:spPr>
          <a:xfrm>
            <a:off x="9656064" y="315468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5</a:t>
            </a:r>
            <a:endParaRPr lang="en-US" sz="1288" dirty="0"/>
          </a:p>
        </p:txBody>
      </p:sp>
      <p:sp>
        <p:nvSpPr>
          <p:cNvPr id="28" name="Text 26"/>
          <p:cNvSpPr/>
          <p:nvPr/>
        </p:nvSpPr>
        <p:spPr>
          <a:xfrm>
            <a:off x="9637776" y="3721608"/>
            <a:ext cx="1536192" cy="713232"/>
          </a:xfrm>
          <a:prstGeom prst="rect">
            <a:avLst/>
          </a:prstGeom>
          <a:noFill/>
          <a:ln/>
        </p:spPr>
        <p:txBody>
          <a:bodyPr wrap="square" lIns="0" tIns="0" rIns="0" bIns="0" rtlCol="0" anchor="ctr"/>
          <a:lstStyle/>
          <a:p>
            <a:pPr indent="0" marL="0">
              <a:lnSpc>
                <a:spcPts val="1700"/>
              </a:lnSpc>
              <a:buNone/>
            </a:pPr>
            <a:r>
              <a:rPr lang="en-US" sz="1400" b="1" dirty="0">
                <a:solidFill>
                  <a:srgbClr val="1D1D1F"/>
                </a:solidFill>
                <a:latin typeface="Helvetica Neue" pitchFamily="34" charset="0"/>
                <a:ea typeface="Helvetica Neue" pitchFamily="34" charset="-122"/>
                <a:cs typeface="Helvetica Neue" pitchFamily="34" charset="-120"/>
              </a:rPr>
              <a:t>Marketing display</a:t>
            </a:r>
            <a:endParaRPr lang="en-US" sz="1400" dirty="0"/>
          </a:p>
        </p:txBody>
      </p:sp>
      <p:sp>
        <p:nvSpPr>
          <p:cNvPr id="29" name="Text 27"/>
          <p:cNvSpPr/>
          <p:nvPr/>
        </p:nvSpPr>
        <p:spPr>
          <a:xfrm>
            <a:off x="9637776" y="4361688"/>
            <a:ext cx="1536192" cy="1371600"/>
          </a:xfrm>
          <a:prstGeom prst="rect">
            <a:avLst/>
          </a:prstGeom>
          <a:noFill/>
          <a:ln/>
        </p:spPr>
        <p:txBody>
          <a:bodyPr wrap="square" lIns="0" tIns="0" rIns="0" bIns="0" rtlCol="0" anchor="ctr"/>
          <a:lstStyle/>
          <a:p>
            <a:pPr indent="0" marL="0">
              <a:lnSpc>
                <a:spcPts val="1400"/>
              </a:lnSpc>
              <a:buNone/>
            </a:pPr>
            <a:r>
              <a:rPr lang="en-US" sz="1050" dirty="0">
                <a:solidFill>
                  <a:srgbClr val="6E6E73"/>
                </a:solidFill>
                <a:latin typeface="Helvetica Neue" pitchFamily="34" charset="0"/>
                <a:ea typeface="Helvetica Neue" pitchFamily="34" charset="-122"/>
                <a:cs typeface="Helvetica Neue" pitchFamily="34" charset="-120"/>
              </a:rPr>
              <a:t>A printed display and digital copy that tells the team's story.</a:t>
            </a:r>
            <a:endParaRPr lang="en-US" sz="1050" dirty="0"/>
          </a:p>
        </p:txBody>
      </p:sp>
      <p:sp>
        <p:nvSpPr>
          <p:cNvPr id="30" name="Shape 28"/>
          <p:cNvSpPr/>
          <p:nvPr/>
        </p:nvSpPr>
        <p:spPr>
          <a:xfrm>
            <a:off x="822960" y="6437376"/>
            <a:ext cx="10545775" cy="0"/>
          </a:xfrm>
          <a:prstGeom prst="line">
            <a:avLst/>
          </a:prstGeom>
          <a:noFill/>
          <a:ln w="9525">
            <a:solidFill>
              <a:srgbClr val="E3E3E6"/>
            </a:solidFill>
            <a:prstDash val="solid"/>
          </a:ln>
        </p:spPr>
      </p:sp>
      <p:sp>
        <p:nvSpPr>
          <p:cNvPr id="31" name="Text 2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2" name="Text 3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7 / 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WHAT WE'RE JOINING</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Where this season is headed.</a:t>
            </a:r>
            <a:endParaRPr lang="en-US" sz="3000" dirty="0"/>
          </a:p>
        </p:txBody>
      </p:sp>
      <p:sp>
        <p:nvSpPr>
          <p:cNvPr id="4" name="Shape 2"/>
          <p:cNvSpPr/>
          <p:nvPr/>
        </p:nvSpPr>
        <p:spPr>
          <a:xfrm>
            <a:off x="822960" y="2057400"/>
            <a:ext cx="3310128" cy="3246120"/>
          </a:xfrm>
          <a:prstGeom prst="roundRect">
            <a:avLst>
              <a:gd name="adj" fmla="val 3099"/>
            </a:avLst>
          </a:prstGeom>
          <a:solidFill>
            <a:srgbClr val="FBFBFD"/>
          </a:solidFill>
          <a:ln w="12700">
            <a:solidFill>
              <a:srgbClr val="E3E3E6"/>
            </a:solidFill>
            <a:prstDash val="solid"/>
          </a:ln>
        </p:spPr>
      </p:sp>
      <p:sp>
        <p:nvSpPr>
          <p:cNvPr id="5" name="Text 3"/>
          <p:cNvSpPr/>
          <p:nvPr/>
        </p:nvSpPr>
        <p:spPr>
          <a:xfrm>
            <a:off x="113385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WHERE</a:t>
            </a:r>
            <a:endParaRPr lang="en-US" sz="1050" dirty="0"/>
          </a:p>
        </p:txBody>
      </p:sp>
      <p:sp>
        <p:nvSpPr>
          <p:cNvPr id="6" name="Text 4"/>
          <p:cNvSpPr/>
          <p:nvPr/>
        </p:nvSpPr>
        <p:spPr>
          <a:xfrm>
            <a:off x="113385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Dauphin Island</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Sea Lab</a:t>
            </a:r>
            <a:endParaRPr lang="en-US" sz="2700" dirty="0"/>
          </a:p>
        </p:txBody>
      </p:sp>
      <p:sp>
        <p:nvSpPr>
          <p:cNvPr id="7" name="Text 5"/>
          <p:cNvSpPr/>
          <p:nvPr/>
        </p:nvSpPr>
        <p:spPr>
          <a:xfrm>
            <a:off x="113385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On the Alabama Gulf coast — about a six-hour drive south. The Northern Gulf Coast Regional.</a:t>
            </a:r>
            <a:endParaRPr lang="en-US" sz="1200" dirty="0"/>
          </a:p>
        </p:txBody>
      </p:sp>
      <p:sp>
        <p:nvSpPr>
          <p:cNvPr id="8" name="Shape 6"/>
          <p:cNvSpPr/>
          <p:nvPr/>
        </p:nvSpPr>
        <p:spPr>
          <a:xfrm>
            <a:off x="4434840" y="2057400"/>
            <a:ext cx="3310128" cy="3246120"/>
          </a:xfrm>
          <a:prstGeom prst="roundRect">
            <a:avLst>
              <a:gd name="adj" fmla="val 3099"/>
            </a:avLst>
          </a:prstGeom>
          <a:solidFill>
            <a:srgbClr val="0D7490"/>
          </a:solidFill>
          <a:ln w="12700">
            <a:solidFill>
              <a:srgbClr val="0D7490"/>
            </a:solidFill>
            <a:prstDash val="solid"/>
          </a:ln>
        </p:spPr>
      </p:sp>
      <p:sp>
        <p:nvSpPr>
          <p:cNvPr id="9" name="Text 7"/>
          <p:cNvSpPr/>
          <p:nvPr/>
        </p:nvSpPr>
        <p:spPr>
          <a:xfrm>
            <a:off x="4745736" y="2386584"/>
            <a:ext cx="2688336" cy="274320"/>
          </a:xfrm>
          <a:prstGeom prst="rect">
            <a:avLst/>
          </a:prstGeom>
          <a:noFill/>
          <a:ln/>
        </p:spPr>
        <p:txBody>
          <a:bodyPr wrap="square" lIns="0" tIns="0" rIns="0" bIns="0" rtlCol="0" anchor="ctr"/>
          <a:lstStyle/>
          <a:p>
            <a:pPr indent="0" marL="0">
              <a:buNone/>
            </a:pPr>
            <a:r>
              <a:rPr lang="en-US" sz="1050" b="1" spc="200" kern="0" dirty="0">
                <a:solidFill>
                  <a:srgbClr val="9FCEDA"/>
                </a:solidFill>
                <a:latin typeface="Helvetica Neue" pitchFamily="34" charset="0"/>
                <a:ea typeface="Helvetica Neue" pitchFamily="34" charset="-122"/>
                <a:cs typeface="Helvetica Neue" pitchFamily="34" charset="-120"/>
              </a:rPr>
              <a:t>WHEN</a:t>
            </a:r>
            <a:endParaRPr lang="en-US" sz="1050" dirty="0"/>
          </a:p>
        </p:txBody>
      </p:sp>
      <p:sp>
        <p:nvSpPr>
          <p:cNvPr id="10" name="Text 8"/>
          <p:cNvSpPr/>
          <p:nvPr/>
        </p:nvSpPr>
        <p:spPr>
          <a:xfrm>
            <a:off x="474573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Late</a:t>
            </a:r>
            <a:endParaRPr lang="en-US" sz="2700" dirty="0"/>
          </a:p>
          <a:p>
            <a:pPr indent="0" marL="0">
              <a:lnSpc>
                <a:spcPts val="3000"/>
              </a:lnSpc>
              <a:buNone/>
            </a:pPr>
            <a:r>
              <a:rPr lang="en-US" sz="2700" b="1" dirty="0">
                <a:solidFill>
                  <a:srgbClr val="FFFFFF"/>
                </a:solidFill>
                <a:latin typeface="Helvetica Neue" pitchFamily="34" charset="0"/>
                <a:ea typeface="Helvetica Neue" pitchFamily="34" charset="-122"/>
                <a:cs typeface="Helvetica Neue" pitchFamily="34" charset="-120"/>
              </a:rPr>
              <a:t>April 2027</a:t>
            </a:r>
            <a:endParaRPr lang="en-US" sz="2700" dirty="0"/>
          </a:p>
        </p:txBody>
      </p:sp>
      <p:sp>
        <p:nvSpPr>
          <p:cNvPr id="11" name="Text 9"/>
          <p:cNvSpPr/>
          <p:nvPr/>
        </p:nvSpPr>
        <p:spPr>
          <a:xfrm>
            <a:off x="474573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EAF2F4"/>
                </a:solidFill>
                <a:latin typeface="Helvetica Neue" pitchFamily="34" charset="0"/>
                <a:ea typeface="Helvetica Neue" pitchFamily="34" charset="-122"/>
                <a:cs typeface="Helvetica Neue" pitchFamily="34" charset="-120"/>
              </a:rPr>
              <a:t>Roughly ten months from today. Everything we do is measured back from that weekend.</a:t>
            </a:r>
            <a:endParaRPr lang="en-US" sz="1200" dirty="0"/>
          </a:p>
        </p:txBody>
      </p:sp>
      <p:sp>
        <p:nvSpPr>
          <p:cNvPr id="12" name="Shape 10"/>
          <p:cNvSpPr/>
          <p:nvPr/>
        </p:nvSpPr>
        <p:spPr>
          <a:xfrm>
            <a:off x="8046720" y="2057400"/>
            <a:ext cx="3310128" cy="3246120"/>
          </a:xfrm>
          <a:prstGeom prst="roundRect">
            <a:avLst>
              <a:gd name="adj" fmla="val 3099"/>
            </a:avLst>
          </a:prstGeom>
          <a:solidFill>
            <a:srgbClr val="FBFBFD"/>
          </a:solidFill>
          <a:ln w="12700">
            <a:solidFill>
              <a:srgbClr val="E3E3E6"/>
            </a:solidFill>
            <a:prstDash val="solid"/>
          </a:ln>
        </p:spPr>
      </p:sp>
      <p:sp>
        <p:nvSpPr>
          <p:cNvPr id="13" name="Text 11"/>
          <p:cNvSpPr/>
          <p:nvPr/>
        </p:nvSpPr>
        <p:spPr>
          <a:xfrm>
            <a:off x="8357616" y="2386584"/>
            <a:ext cx="2688336" cy="274320"/>
          </a:xfrm>
          <a:prstGeom prst="rect">
            <a:avLst/>
          </a:prstGeom>
          <a:noFill/>
          <a:ln/>
        </p:spPr>
        <p:txBody>
          <a:bodyPr wrap="square" lIns="0" tIns="0" rIns="0" bIns="0" rtlCol="0" anchor="ctr"/>
          <a:lstStyle/>
          <a:p>
            <a:pPr indent="0" marL="0">
              <a:buNone/>
            </a:pPr>
            <a:r>
              <a:rPr lang="en-US" sz="1050" b="1" spc="200" kern="0" dirty="0">
                <a:solidFill>
                  <a:srgbClr val="0D7490"/>
                </a:solidFill>
                <a:latin typeface="Helvetica Neue" pitchFamily="34" charset="0"/>
                <a:ea typeface="Helvetica Neue" pitchFamily="34" charset="-122"/>
                <a:cs typeface="Helvetica Neue" pitchFamily="34" charset="-120"/>
              </a:rPr>
              <a:t>WHAT'S AT STAKE</a:t>
            </a:r>
            <a:endParaRPr lang="en-US" sz="1050" dirty="0"/>
          </a:p>
        </p:txBody>
      </p:sp>
      <p:sp>
        <p:nvSpPr>
          <p:cNvPr id="14" name="Text 12"/>
          <p:cNvSpPr/>
          <p:nvPr/>
        </p:nvSpPr>
        <p:spPr>
          <a:xfrm>
            <a:off x="8357616" y="2734056"/>
            <a:ext cx="2688336" cy="1371600"/>
          </a:xfrm>
          <a:prstGeom prst="rect">
            <a:avLst/>
          </a:prstGeom>
          <a:noFill/>
          <a:ln/>
        </p:spPr>
        <p:txBody>
          <a:bodyPr wrap="square" lIns="0" tIns="0" rIns="0" bIns="0" rtlCol="0" anchor="ctr"/>
          <a:lstStyle/>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Advance to</a:t>
            </a:r>
            <a:endParaRPr lang="en-US" sz="2700" dirty="0"/>
          </a:p>
          <a:p>
            <a:pPr indent="0" marL="0">
              <a:lnSpc>
                <a:spcPts val="3000"/>
              </a:lnSpc>
              <a:buNone/>
            </a:pPr>
            <a:r>
              <a:rPr lang="en-US" sz="2700" b="1" dirty="0">
                <a:solidFill>
                  <a:srgbClr val="1D1D1F"/>
                </a:solidFill>
                <a:latin typeface="Helvetica Neue" pitchFamily="34" charset="0"/>
                <a:ea typeface="Helvetica Neue" pitchFamily="34" charset="-122"/>
                <a:cs typeface="Helvetica Neue" pitchFamily="34" charset="-120"/>
              </a:rPr>
              <a:t>Worlds</a:t>
            </a:r>
            <a:endParaRPr lang="en-US" sz="2700" dirty="0"/>
          </a:p>
        </p:txBody>
      </p:sp>
      <p:sp>
        <p:nvSpPr>
          <p:cNvPr id="15" name="Text 13"/>
          <p:cNvSpPr/>
          <p:nvPr/>
        </p:nvSpPr>
        <p:spPr>
          <a:xfrm>
            <a:off x="8357616" y="4050792"/>
            <a:ext cx="2688336" cy="1097280"/>
          </a:xfrm>
          <a:prstGeom prst="rect">
            <a:avLst/>
          </a:prstGeom>
          <a:noFill/>
          <a:ln/>
        </p:spPr>
        <p:txBody>
          <a:bodyPr wrap="square" lIns="0" tIns="0" rIns="0" bIns="0" rtlCol="0" anchor="ctr"/>
          <a:lstStyle/>
          <a:p>
            <a:pPr indent="0" marL="0">
              <a:lnSpc>
                <a:spcPts val="1700"/>
              </a:lnSpc>
              <a:buNone/>
            </a:pPr>
            <a:r>
              <a:rPr lang="en-US" sz="1200" dirty="0">
                <a:solidFill>
                  <a:srgbClr val="6E6E73"/>
                </a:solidFill>
                <a:latin typeface="Helvetica Neue" pitchFamily="34" charset="0"/>
                <a:ea typeface="Helvetica Neue" pitchFamily="34" charset="-122"/>
                <a:cs typeface="Helvetica Neue" pitchFamily="34" charset="-120"/>
              </a:rPr>
              <a:t>A strong regional can send the team on to the MATE World Championship.</a:t>
            </a:r>
            <a:endParaRPr lang="en-US" sz="1200" dirty="0"/>
          </a:p>
        </p:txBody>
      </p:sp>
      <p:sp>
        <p:nvSpPr>
          <p:cNvPr id="16" name="Text 14"/>
          <p:cNvSpPr/>
          <p:nvPr/>
        </p:nvSpPr>
        <p:spPr>
          <a:xfrm>
            <a:off x="822960" y="5577840"/>
            <a:ext cx="10515600" cy="457200"/>
          </a:xfrm>
          <a:prstGeom prst="rect">
            <a:avLst/>
          </a:prstGeom>
          <a:noFill/>
          <a:ln/>
        </p:spPr>
        <p:txBody>
          <a:bodyPr wrap="square" lIns="0" tIns="0" rIns="0" bIns="0" rtlCol="0" anchor="ctr"/>
          <a:lstStyle/>
          <a:p>
            <a:pPr algn="ctr" indent="0" marL="0">
              <a:buNone/>
            </a:pPr>
            <a:r>
              <a:rPr lang="en-US" sz="1400" b="1" dirty="0">
                <a:solidFill>
                  <a:srgbClr val="1D1D1F"/>
                </a:solidFill>
                <a:latin typeface="Helvetica Neue" pitchFamily="34" charset="0"/>
                <a:ea typeface="Helvetica Neue" pitchFamily="34" charset="-122"/>
                <a:cs typeface="Helvetica Neue" pitchFamily="34" charset="-120"/>
              </a:rPr>
              <a:t>Ten months. Around forty-five weekly meetings. We start counting today.</a:t>
            </a:r>
            <a:endParaRPr lang="en-US" sz="1400" dirty="0"/>
          </a:p>
        </p:txBody>
      </p:sp>
      <p:sp>
        <p:nvSpPr>
          <p:cNvPr id="17" name="Shape 15"/>
          <p:cNvSpPr/>
          <p:nvPr/>
        </p:nvSpPr>
        <p:spPr>
          <a:xfrm>
            <a:off x="822960" y="6437376"/>
            <a:ext cx="10545775" cy="0"/>
          </a:xfrm>
          <a:prstGeom prst="line">
            <a:avLst/>
          </a:prstGeom>
          <a:noFill/>
          <a:ln w="9525">
            <a:solidFill>
              <a:srgbClr val="E3E3E6"/>
            </a:solidFill>
            <a:prstDash val="solid"/>
          </a:ln>
        </p:spPr>
      </p:sp>
      <p:sp>
        <p:nvSpPr>
          <p:cNvPr id="18" name="Text 16"/>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9" name="Text 17"/>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8 / 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03</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03</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We Are</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a Company</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0:45 – 1:30   ·   45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This is the longest block of the day — and the one that decides how the team works.</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9 / 26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MATE asks you to run a company.</a:t>
            </a:r>
            <a:endParaRPr lang="en-US" sz="3000" dirty="0"/>
          </a:p>
        </p:txBody>
      </p:sp>
      <p:sp>
        <p:nvSpPr>
          <p:cNvPr id="4" name="Shape 2"/>
          <p:cNvSpPr/>
          <p:nvPr/>
        </p:nvSpPr>
        <p:spPr>
          <a:xfrm>
            <a:off x="822960" y="1874520"/>
            <a:ext cx="10545775" cy="1417320"/>
          </a:xfrm>
          <a:prstGeom prst="roundRect">
            <a:avLst>
              <a:gd name="adj" fmla="val 7097"/>
            </a:avLst>
          </a:prstGeom>
          <a:solidFill>
            <a:srgbClr val="095D75"/>
          </a:solidFill>
          <a:ln w="12700">
            <a:solidFill>
              <a:srgbClr val="095D75"/>
            </a:solidFill>
            <a:prstDash val="solid"/>
          </a:ln>
        </p:spPr>
      </p:sp>
      <p:sp>
        <p:nvSpPr>
          <p:cNvPr id="5" name="Text 3"/>
          <p:cNvSpPr/>
          <p:nvPr/>
        </p:nvSpPr>
        <p:spPr>
          <a:xfrm>
            <a:off x="1234440" y="1874520"/>
            <a:ext cx="9692640" cy="1417320"/>
          </a:xfrm>
          <a:prstGeom prst="rect">
            <a:avLst/>
          </a:prstGeom>
          <a:noFill/>
          <a:ln/>
        </p:spPr>
        <p:txBody>
          <a:bodyPr wrap="square" lIns="0" tIns="0" rIns="0" bIns="0" rtlCol="0" anchor="ctr"/>
          <a:lstStyle/>
          <a:p>
            <a:pPr indent="0" marL="0">
              <a:lnSpc>
                <a:spcPts val="2700"/>
              </a:lnSpc>
              <a:buNone/>
            </a:pPr>
            <a:r>
              <a:rPr lang="en-US" sz="2100" b="1" i="1" dirty="0">
                <a:solidFill>
                  <a:srgbClr val="FFFFFF"/>
                </a:solidFill>
                <a:latin typeface="Helvetica Neue" pitchFamily="34" charset="0"/>
                <a:ea typeface="Helvetica Neue" pitchFamily="34" charset="-122"/>
                <a:cs typeface="Helvetica Neue" pitchFamily="34" charset="-120"/>
              </a:rPr>
              <a:t>“You will not have a teacher running this. You will have a boss — and the boss is each other.”</a:t>
            </a:r>
            <a:endParaRPr lang="en-US" sz="2100" dirty="0"/>
          </a:p>
        </p:txBody>
      </p:sp>
      <p:sp>
        <p:nvSpPr>
          <p:cNvPr id="6" name="Text 4"/>
          <p:cNvSpPr/>
          <p:nvPr/>
        </p:nvSpPr>
        <p:spPr>
          <a:xfrm>
            <a:off x="822960" y="3520440"/>
            <a:ext cx="10545775" cy="7772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MATE deliberately asks teams to operate like a real engineering company, not a class. The reason is simple: it is the fastest way to turn students into engineers. Three things become real the moment we do this.</a:t>
            </a:r>
            <a:endParaRPr lang="en-US" sz="1400" dirty="0"/>
          </a:p>
        </p:txBody>
      </p:sp>
      <p:sp>
        <p:nvSpPr>
          <p:cNvPr id="7" name="Shape 5"/>
          <p:cNvSpPr/>
          <p:nvPr/>
        </p:nvSpPr>
        <p:spPr>
          <a:xfrm>
            <a:off x="822960" y="4434840"/>
            <a:ext cx="3310128" cy="1600200"/>
          </a:xfrm>
          <a:prstGeom prst="roundRect">
            <a:avLst>
              <a:gd name="adj" fmla="val 6286"/>
            </a:avLst>
          </a:prstGeom>
          <a:solidFill>
            <a:srgbClr val="FBFBFD"/>
          </a:solidFill>
          <a:ln w="12700">
            <a:solidFill>
              <a:srgbClr val="E3E3E6"/>
            </a:solidFill>
            <a:prstDash val="solid"/>
          </a:ln>
        </p:spPr>
      </p:sp>
      <p:sp>
        <p:nvSpPr>
          <p:cNvPr id="8" name="Text 6"/>
          <p:cNvSpPr/>
          <p:nvPr/>
        </p:nvSpPr>
        <p:spPr>
          <a:xfrm>
            <a:off x="109728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Every job is owned</a:t>
            </a:r>
            <a:endParaRPr lang="en-US" sz="1400" dirty="0"/>
          </a:p>
        </p:txBody>
      </p:sp>
      <p:sp>
        <p:nvSpPr>
          <p:cNvPr id="9" name="Text 7"/>
          <p:cNvSpPr/>
          <p:nvPr/>
        </p:nvSpPr>
        <p:spPr>
          <a:xfrm>
            <a:off x="109728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No task is 'someone's' job by accident. Each one has a name attached, and that person answers for it.</a:t>
            </a:r>
            <a:endParaRPr lang="en-US" sz="1150" dirty="0"/>
          </a:p>
        </p:txBody>
      </p:sp>
      <p:sp>
        <p:nvSpPr>
          <p:cNvPr id="10" name="Shape 8"/>
          <p:cNvSpPr/>
          <p:nvPr/>
        </p:nvSpPr>
        <p:spPr>
          <a:xfrm>
            <a:off x="4434840" y="4434840"/>
            <a:ext cx="3310128" cy="1600200"/>
          </a:xfrm>
          <a:prstGeom prst="roundRect">
            <a:avLst>
              <a:gd name="adj" fmla="val 6286"/>
            </a:avLst>
          </a:prstGeom>
          <a:solidFill>
            <a:srgbClr val="FBFBFD"/>
          </a:solidFill>
          <a:ln w="12700">
            <a:solidFill>
              <a:srgbClr val="E3E3E6"/>
            </a:solidFill>
            <a:prstDash val="solid"/>
          </a:ln>
        </p:spPr>
      </p:sp>
      <p:sp>
        <p:nvSpPr>
          <p:cNvPr id="11" name="Text 9"/>
          <p:cNvSpPr/>
          <p:nvPr/>
        </p:nvSpPr>
        <p:spPr>
          <a:xfrm>
            <a:off x="470916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The pressure is real</a:t>
            </a:r>
            <a:endParaRPr lang="en-US" sz="1400" dirty="0"/>
          </a:p>
        </p:txBody>
      </p:sp>
      <p:sp>
        <p:nvSpPr>
          <p:cNvPr id="12" name="Text 10"/>
          <p:cNvSpPr/>
          <p:nvPr/>
        </p:nvSpPr>
        <p:spPr>
          <a:xfrm>
            <a:off x="470916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Real budget, real deadlines, real reputation. The float either surfaces or it doesn't.</a:t>
            </a:r>
            <a:endParaRPr lang="en-US" sz="1150" dirty="0"/>
          </a:p>
        </p:txBody>
      </p:sp>
      <p:sp>
        <p:nvSpPr>
          <p:cNvPr id="13" name="Shape 11"/>
          <p:cNvSpPr/>
          <p:nvPr/>
        </p:nvSpPr>
        <p:spPr>
          <a:xfrm>
            <a:off x="8046720" y="4434840"/>
            <a:ext cx="3310128" cy="1600200"/>
          </a:xfrm>
          <a:prstGeom prst="roundRect">
            <a:avLst>
              <a:gd name="adj" fmla="val 6286"/>
            </a:avLst>
          </a:prstGeom>
          <a:solidFill>
            <a:srgbClr val="FBFBFD"/>
          </a:solidFill>
          <a:ln w="12700">
            <a:solidFill>
              <a:srgbClr val="E3E3E6"/>
            </a:solidFill>
            <a:prstDash val="solid"/>
          </a:ln>
        </p:spPr>
      </p:sp>
      <p:sp>
        <p:nvSpPr>
          <p:cNvPr id="14" name="Text 12"/>
          <p:cNvSpPr/>
          <p:nvPr/>
        </p:nvSpPr>
        <p:spPr>
          <a:xfrm>
            <a:off x="8321040" y="4654296"/>
            <a:ext cx="2761488" cy="329184"/>
          </a:xfrm>
          <a:prstGeom prst="rect">
            <a:avLst/>
          </a:prstGeom>
          <a:noFill/>
          <a:ln/>
        </p:spPr>
        <p:txBody>
          <a:bodyPr wrap="square" lIns="0" tIns="0" rIns="0" bIns="0" rtlCol="0" anchor="ctr"/>
          <a:lstStyle/>
          <a:p>
            <a:pPr indent="0" marL="0">
              <a:buNone/>
            </a:pPr>
            <a:r>
              <a:rPr lang="en-US" sz="1400" b="1" dirty="0">
                <a:solidFill>
                  <a:srgbClr val="095D75"/>
                </a:solidFill>
                <a:latin typeface="Helvetica Neue" pitchFamily="34" charset="0"/>
                <a:ea typeface="Helvetica Neue" pitchFamily="34" charset="-122"/>
                <a:cs typeface="Helvetica Neue" pitchFamily="34" charset="-120"/>
              </a:rPr>
              <a:t>You rise together</a:t>
            </a:r>
            <a:endParaRPr lang="en-US" sz="1400" dirty="0"/>
          </a:p>
        </p:txBody>
      </p:sp>
      <p:sp>
        <p:nvSpPr>
          <p:cNvPr id="15" name="Text 13"/>
          <p:cNvSpPr/>
          <p:nvPr/>
        </p:nvSpPr>
        <p:spPr>
          <a:xfrm>
            <a:off x="8321040" y="5001768"/>
            <a:ext cx="2761488" cy="914400"/>
          </a:xfrm>
          <a:prstGeom prst="rect">
            <a:avLst/>
          </a:prstGeom>
          <a:noFill/>
          <a:ln/>
        </p:spPr>
        <p:txBody>
          <a:bodyPr wrap="square" lIns="0" tIns="0" rIns="0" bIns="0" rtlCol="0" anchor="ctr"/>
          <a:lstStyle/>
          <a:p>
            <a:pPr indent="0" marL="0">
              <a:lnSpc>
                <a:spcPts val="1550"/>
              </a:lnSpc>
              <a:buNone/>
            </a:pPr>
            <a:r>
              <a:rPr lang="en-US" sz="1150" dirty="0">
                <a:solidFill>
                  <a:srgbClr val="6E6E73"/>
                </a:solidFill>
                <a:latin typeface="Helvetica Neue" pitchFamily="34" charset="0"/>
                <a:ea typeface="Helvetica Neue" pitchFamily="34" charset="-122"/>
                <a:cs typeface="Helvetica Neue" pitchFamily="34" charset="-120"/>
              </a:rPr>
              <a:t>A company succeeds as a unit. Your best work means nothing if the team around it fails.</a:t>
            </a:r>
            <a:endParaRPr lang="en-US" sz="1150" dirty="0"/>
          </a:p>
        </p:txBody>
      </p:sp>
      <p:sp>
        <p:nvSpPr>
          <p:cNvPr id="16" name="Shape 14"/>
          <p:cNvSpPr/>
          <p:nvPr/>
        </p:nvSpPr>
        <p:spPr>
          <a:xfrm>
            <a:off x="822960" y="6437376"/>
            <a:ext cx="10545775" cy="0"/>
          </a:xfrm>
          <a:prstGeom prst="line">
            <a:avLst/>
          </a:prstGeom>
          <a:noFill/>
          <a:ln w="9525">
            <a:solidFill>
              <a:srgbClr val="E3E3E6"/>
            </a:solidFill>
            <a:prstDash val="solid"/>
          </a:ln>
        </p:spPr>
      </p:sp>
      <p:sp>
        <p:nvSpPr>
          <p:cNvPr id="17" name="Text 1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8" name="Text 1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10 / 26</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Six roles. Every student owns one.</a:t>
            </a:r>
            <a:endParaRPr lang="en-US" sz="3000" dirty="0"/>
          </a:p>
        </p:txBody>
      </p:sp>
      <p:sp>
        <p:nvSpPr>
          <p:cNvPr id="4" name="Shape 2"/>
          <p:cNvSpPr/>
          <p:nvPr/>
        </p:nvSpPr>
        <p:spPr>
          <a:xfrm>
            <a:off x="822960" y="1755648"/>
            <a:ext cx="3310128" cy="2121408"/>
          </a:xfrm>
          <a:prstGeom prst="roundRect">
            <a:avLst>
              <a:gd name="adj" fmla="val 4741"/>
            </a:avLst>
          </a:prstGeom>
          <a:solidFill>
            <a:srgbClr val="FBFBFD"/>
          </a:solidFill>
          <a:ln w="12700">
            <a:solidFill>
              <a:srgbClr val="E3E3E6"/>
            </a:solidFill>
            <a:prstDash val="solid"/>
          </a:ln>
        </p:spPr>
      </p:sp>
      <p:sp>
        <p:nvSpPr>
          <p:cNvPr id="5" name="Shape 3"/>
          <p:cNvSpPr/>
          <p:nvPr/>
        </p:nvSpPr>
        <p:spPr>
          <a:xfrm>
            <a:off x="1097280" y="2029968"/>
            <a:ext cx="402336" cy="402336"/>
          </a:xfrm>
          <a:prstGeom prst="ellipse">
            <a:avLst/>
          </a:prstGeom>
          <a:solidFill>
            <a:srgbClr val="0D7490"/>
          </a:solidFill>
          <a:ln/>
        </p:spPr>
      </p:sp>
      <p:sp>
        <p:nvSpPr>
          <p:cNvPr id="6" name="Text 4"/>
          <p:cNvSpPr/>
          <p:nvPr/>
        </p:nvSpPr>
        <p:spPr>
          <a:xfrm>
            <a:off x="109728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1</a:t>
            </a:r>
            <a:endParaRPr lang="en-US" sz="1232" dirty="0"/>
          </a:p>
        </p:txBody>
      </p:sp>
      <p:sp>
        <p:nvSpPr>
          <p:cNvPr id="7" name="Text 5"/>
          <p:cNvSpPr/>
          <p:nvPr/>
        </p:nvSpPr>
        <p:spPr>
          <a:xfrm>
            <a:off x="162763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CEO</a:t>
            </a:r>
            <a:endParaRPr lang="en-US" sz="1550" dirty="0"/>
          </a:p>
        </p:txBody>
      </p:sp>
      <p:sp>
        <p:nvSpPr>
          <p:cNvPr id="8" name="Text 6"/>
          <p:cNvSpPr/>
          <p:nvPr/>
        </p:nvSpPr>
        <p:spPr>
          <a:xfrm>
            <a:off x="109728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CHIEF EXECUTIVE</a:t>
            </a:r>
            <a:endParaRPr lang="en-US" sz="900" dirty="0"/>
          </a:p>
        </p:txBody>
      </p:sp>
      <p:sp>
        <p:nvSpPr>
          <p:cNvPr id="9" name="Text 7"/>
          <p:cNvSpPr/>
          <p:nvPr/>
        </p:nvSpPr>
        <p:spPr>
          <a:xfrm>
            <a:off x="109728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schedule, runs the meetings, keeps every sub-team moving toward the deadline.</a:t>
            </a:r>
            <a:endParaRPr lang="en-US" sz="1100" dirty="0"/>
          </a:p>
        </p:txBody>
      </p:sp>
      <p:sp>
        <p:nvSpPr>
          <p:cNvPr id="10" name="Shape 8"/>
          <p:cNvSpPr/>
          <p:nvPr/>
        </p:nvSpPr>
        <p:spPr>
          <a:xfrm>
            <a:off x="4434840" y="1755648"/>
            <a:ext cx="3310128" cy="2121408"/>
          </a:xfrm>
          <a:prstGeom prst="roundRect">
            <a:avLst>
              <a:gd name="adj" fmla="val 4741"/>
            </a:avLst>
          </a:prstGeom>
          <a:solidFill>
            <a:srgbClr val="FBFBFD"/>
          </a:solidFill>
          <a:ln w="12700">
            <a:solidFill>
              <a:srgbClr val="E3E3E6"/>
            </a:solidFill>
            <a:prstDash val="solid"/>
          </a:ln>
        </p:spPr>
      </p:sp>
      <p:sp>
        <p:nvSpPr>
          <p:cNvPr id="11" name="Shape 9"/>
          <p:cNvSpPr/>
          <p:nvPr/>
        </p:nvSpPr>
        <p:spPr>
          <a:xfrm>
            <a:off x="4709160" y="2029968"/>
            <a:ext cx="402336" cy="402336"/>
          </a:xfrm>
          <a:prstGeom prst="ellipse">
            <a:avLst/>
          </a:prstGeom>
          <a:solidFill>
            <a:srgbClr val="0D7490"/>
          </a:solidFill>
          <a:ln/>
        </p:spPr>
      </p:sp>
      <p:sp>
        <p:nvSpPr>
          <p:cNvPr id="12" name="Text 10"/>
          <p:cNvSpPr/>
          <p:nvPr/>
        </p:nvSpPr>
        <p:spPr>
          <a:xfrm>
            <a:off x="470916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2</a:t>
            </a:r>
            <a:endParaRPr lang="en-US" sz="1232" dirty="0"/>
          </a:p>
        </p:txBody>
      </p:sp>
      <p:sp>
        <p:nvSpPr>
          <p:cNvPr id="13" name="Text 11"/>
          <p:cNvSpPr/>
          <p:nvPr/>
        </p:nvSpPr>
        <p:spPr>
          <a:xfrm>
            <a:off x="523951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CFO</a:t>
            </a:r>
            <a:endParaRPr lang="en-US" sz="1550" dirty="0"/>
          </a:p>
        </p:txBody>
      </p:sp>
      <p:sp>
        <p:nvSpPr>
          <p:cNvPr id="14" name="Text 12"/>
          <p:cNvSpPr/>
          <p:nvPr/>
        </p:nvSpPr>
        <p:spPr>
          <a:xfrm>
            <a:off x="470916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CHIEF FINANCIAL</a:t>
            </a:r>
            <a:endParaRPr lang="en-US" sz="900" dirty="0"/>
          </a:p>
        </p:txBody>
      </p:sp>
      <p:sp>
        <p:nvSpPr>
          <p:cNvPr id="15" name="Text 13"/>
          <p:cNvSpPr/>
          <p:nvPr/>
        </p:nvSpPr>
        <p:spPr>
          <a:xfrm>
            <a:off x="470916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budget and every purchase. Tracks what is spent against what was raised.</a:t>
            </a:r>
            <a:endParaRPr lang="en-US" sz="1100" dirty="0"/>
          </a:p>
        </p:txBody>
      </p:sp>
      <p:sp>
        <p:nvSpPr>
          <p:cNvPr id="16" name="Shape 14"/>
          <p:cNvSpPr/>
          <p:nvPr/>
        </p:nvSpPr>
        <p:spPr>
          <a:xfrm>
            <a:off x="8046720" y="1755648"/>
            <a:ext cx="3310128" cy="2121408"/>
          </a:xfrm>
          <a:prstGeom prst="roundRect">
            <a:avLst>
              <a:gd name="adj" fmla="val 4741"/>
            </a:avLst>
          </a:prstGeom>
          <a:solidFill>
            <a:srgbClr val="FBFBFD"/>
          </a:solidFill>
          <a:ln w="12700">
            <a:solidFill>
              <a:srgbClr val="E3E3E6"/>
            </a:solidFill>
            <a:prstDash val="solid"/>
          </a:ln>
        </p:spPr>
      </p:sp>
      <p:sp>
        <p:nvSpPr>
          <p:cNvPr id="17" name="Shape 15"/>
          <p:cNvSpPr/>
          <p:nvPr/>
        </p:nvSpPr>
        <p:spPr>
          <a:xfrm>
            <a:off x="8321040" y="2029968"/>
            <a:ext cx="402336" cy="402336"/>
          </a:xfrm>
          <a:prstGeom prst="ellipse">
            <a:avLst/>
          </a:prstGeom>
          <a:solidFill>
            <a:srgbClr val="0D7490"/>
          </a:solidFill>
          <a:ln/>
        </p:spPr>
      </p:sp>
      <p:sp>
        <p:nvSpPr>
          <p:cNvPr id="18" name="Text 16"/>
          <p:cNvSpPr/>
          <p:nvPr/>
        </p:nvSpPr>
        <p:spPr>
          <a:xfrm>
            <a:off x="8321040" y="2029968"/>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3</a:t>
            </a:r>
            <a:endParaRPr lang="en-US" sz="1232" dirty="0"/>
          </a:p>
        </p:txBody>
      </p:sp>
      <p:sp>
        <p:nvSpPr>
          <p:cNvPr id="19" name="Text 17"/>
          <p:cNvSpPr/>
          <p:nvPr/>
        </p:nvSpPr>
        <p:spPr>
          <a:xfrm>
            <a:off x="8851392" y="2002536"/>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Mechanical Lead</a:t>
            </a:r>
            <a:endParaRPr lang="en-US" sz="1550" dirty="0"/>
          </a:p>
        </p:txBody>
      </p:sp>
      <p:sp>
        <p:nvSpPr>
          <p:cNvPr id="20" name="Text 18"/>
          <p:cNvSpPr/>
          <p:nvPr/>
        </p:nvSpPr>
        <p:spPr>
          <a:xfrm>
            <a:off x="8321040" y="2542032"/>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STRUCTURE &amp; TOOLS</a:t>
            </a:r>
            <a:endParaRPr lang="en-US" sz="900" dirty="0"/>
          </a:p>
        </p:txBody>
      </p:sp>
      <p:sp>
        <p:nvSpPr>
          <p:cNvPr id="21" name="Text 19"/>
          <p:cNvSpPr/>
          <p:nvPr/>
        </p:nvSpPr>
        <p:spPr>
          <a:xfrm>
            <a:off x="8321040" y="2834640"/>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frame, the float body, and the manipulator — everything that moves or holds.</a:t>
            </a:r>
            <a:endParaRPr lang="en-US" sz="1100" dirty="0"/>
          </a:p>
        </p:txBody>
      </p:sp>
      <p:sp>
        <p:nvSpPr>
          <p:cNvPr id="22" name="Shape 20"/>
          <p:cNvSpPr/>
          <p:nvPr/>
        </p:nvSpPr>
        <p:spPr>
          <a:xfrm>
            <a:off x="822960" y="4123944"/>
            <a:ext cx="3310128" cy="2121408"/>
          </a:xfrm>
          <a:prstGeom prst="roundRect">
            <a:avLst>
              <a:gd name="adj" fmla="val 4741"/>
            </a:avLst>
          </a:prstGeom>
          <a:solidFill>
            <a:srgbClr val="FBFBFD"/>
          </a:solidFill>
          <a:ln w="12700">
            <a:solidFill>
              <a:srgbClr val="E3E3E6"/>
            </a:solidFill>
            <a:prstDash val="solid"/>
          </a:ln>
        </p:spPr>
      </p:sp>
      <p:sp>
        <p:nvSpPr>
          <p:cNvPr id="23" name="Shape 21"/>
          <p:cNvSpPr/>
          <p:nvPr/>
        </p:nvSpPr>
        <p:spPr>
          <a:xfrm>
            <a:off x="1097280" y="4398264"/>
            <a:ext cx="402336" cy="402336"/>
          </a:xfrm>
          <a:prstGeom prst="ellipse">
            <a:avLst/>
          </a:prstGeom>
          <a:solidFill>
            <a:srgbClr val="0D7490"/>
          </a:solidFill>
          <a:ln/>
        </p:spPr>
      </p:sp>
      <p:sp>
        <p:nvSpPr>
          <p:cNvPr id="24" name="Text 22"/>
          <p:cNvSpPr/>
          <p:nvPr/>
        </p:nvSpPr>
        <p:spPr>
          <a:xfrm>
            <a:off x="109728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4</a:t>
            </a:r>
            <a:endParaRPr lang="en-US" sz="1232" dirty="0"/>
          </a:p>
        </p:txBody>
      </p:sp>
      <p:sp>
        <p:nvSpPr>
          <p:cNvPr id="25" name="Text 23"/>
          <p:cNvSpPr/>
          <p:nvPr/>
        </p:nvSpPr>
        <p:spPr>
          <a:xfrm>
            <a:off x="162763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Electrical Lead</a:t>
            </a:r>
            <a:endParaRPr lang="en-US" sz="1550" dirty="0"/>
          </a:p>
        </p:txBody>
      </p:sp>
      <p:sp>
        <p:nvSpPr>
          <p:cNvPr id="26" name="Text 24"/>
          <p:cNvSpPr/>
          <p:nvPr/>
        </p:nvSpPr>
        <p:spPr>
          <a:xfrm>
            <a:off x="109728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POWER &amp; WIRING</a:t>
            </a:r>
            <a:endParaRPr lang="en-US" sz="900" dirty="0"/>
          </a:p>
        </p:txBody>
      </p:sp>
      <p:sp>
        <p:nvSpPr>
          <p:cNvPr id="27" name="Text 25"/>
          <p:cNvSpPr/>
          <p:nvPr/>
        </p:nvSpPr>
        <p:spPr>
          <a:xfrm>
            <a:off x="109728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tether, the control box, and every connection that carries current.</a:t>
            </a:r>
            <a:endParaRPr lang="en-US" sz="1100" dirty="0"/>
          </a:p>
        </p:txBody>
      </p:sp>
      <p:sp>
        <p:nvSpPr>
          <p:cNvPr id="28" name="Shape 26"/>
          <p:cNvSpPr/>
          <p:nvPr/>
        </p:nvSpPr>
        <p:spPr>
          <a:xfrm>
            <a:off x="4434840" y="4123944"/>
            <a:ext cx="3310128" cy="2121408"/>
          </a:xfrm>
          <a:prstGeom prst="roundRect">
            <a:avLst>
              <a:gd name="adj" fmla="val 4741"/>
            </a:avLst>
          </a:prstGeom>
          <a:solidFill>
            <a:srgbClr val="FBFBFD"/>
          </a:solidFill>
          <a:ln w="12700">
            <a:solidFill>
              <a:srgbClr val="E3E3E6"/>
            </a:solidFill>
            <a:prstDash val="solid"/>
          </a:ln>
        </p:spPr>
      </p:sp>
      <p:sp>
        <p:nvSpPr>
          <p:cNvPr id="29" name="Shape 27"/>
          <p:cNvSpPr/>
          <p:nvPr/>
        </p:nvSpPr>
        <p:spPr>
          <a:xfrm>
            <a:off x="4709160" y="4398264"/>
            <a:ext cx="402336" cy="402336"/>
          </a:xfrm>
          <a:prstGeom prst="ellipse">
            <a:avLst/>
          </a:prstGeom>
          <a:solidFill>
            <a:srgbClr val="0D7490"/>
          </a:solidFill>
          <a:ln/>
        </p:spPr>
      </p:sp>
      <p:sp>
        <p:nvSpPr>
          <p:cNvPr id="30" name="Text 28"/>
          <p:cNvSpPr/>
          <p:nvPr/>
        </p:nvSpPr>
        <p:spPr>
          <a:xfrm>
            <a:off x="470916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5</a:t>
            </a:r>
            <a:endParaRPr lang="en-US" sz="1232" dirty="0"/>
          </a:p>
        </p:txBody>
      </p:sp>
      <p:sp>
        <p:nvSpPr>
          <p:cNvPr id="31" name="Text 29"/>
          <p:cNvSpPr/>
          <p:nvPr/>
        </p:nvSpPr>
        <p:spPr>
          <a:xfrm>
            <a:off x="523951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Software Lead</a:t>
            </a:r>
            <a:endParaRPr lang="en-US" sz="1550" dirty="0"/>
          </a:p>
        </p:txBody>
      </p:sp>
      <p:sp>
        <p:nvSpPr>
          <p:cNvPr id="32" name="Text 30"/>
          <p:cNvSpPr/>
          <p:nvPr/>
        </p:nvSpPr>
        <p:spPr>
          <a:xfrm>
            <a:off x="470916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CODE &amp; VISION</a:t>
            </a:r>
            <a:endParaRPr lang="en-US" sz="900" dirty="0"/>
          </a:p>
        </p:txBody>
      </p:sp>
      <p:sp>
        <p:nvSpPr>
          <p:cNvPr id="33" name="Text 31"/>
          <p:cNvSpPr/>
          <p:nvPr/>
        </p:nvSpPr>
        <p:spPr>
          <a:xfrm>
            <a:off x="470916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control code and the computer-vision work that reads the camera feed.</a:t>
            </a:r>
            <a:endParaRPr lang="en-US" sz="1100" dirty="0"/>
          </a:p>
        </p:txBody>
      </p:sp>
      <p:sp>
        <p:nvSpPr>
          <p:cNvPr id="34" name="Shape 32"/>
          <p:cNvSpPr/>
          <p:nvPr/>
        </p:nvSpPr>
        <p:spPr>
          <a:xfrm>
            <a:off x="8046720" y="4123944"/>
            <a:ext cx="3310128" cy="2121408"/>
          </a:xfrm>
          <a:prstGeom prst="roundRect">
            <a:avLst>
              <a:gd name="adj" fmla="val 4741"/>
            </a:avLst>
          </a:prstGeom>
          <a:solidFill>
            <a:srgbClr val="FBFBFD"/>
          </a:solidFill>
          <a:ln w="12700">
            <a:solidFill>
              <a:srgbClr val="E3E3E6"/>
            </a:solidFill>
            <a:prstDash val="solid"/>
          </a:ln>
        </p:spPr>
      </p:sp>
      <p:sp>
        <p:nvSpPr>
          <p:cNvPr id="35" name="Shape 33"/>
          <p:cNvSpPr/>
          <p:nvPr/>
        </p:nvSpPr>
        <p:spPr>
          <a:xfrm>
            <a:off x="8321040" y="4398264"/>
            <a:ext cx="402336" cy="402336"/>
          </a:xfrm>
          <a:prstGeom prst="ellipse">
            <a:avLst/>
          </a:prstGeom>
          <a:solidFill>
            <a:srgbClr val="0D7490"/>
          </a:solidFill>
          <a:ln/>
        </p:spPr>
      </p:sp>
      <p:sp>
        <p:nvSpPr>
          <p:cNvPr id="36" name="Text 34"/>
          <p:cNvSpPr/>
          <p:nvPr/>
        </p:nvSpPr>
        <p:spPr>
          <a:xfrm>
            <a:off x="8321040" y="4398264"/>
            <a:ext cx="402336" cy="402336"/>
          </a:xfrm>
          <a:prstGeom prst="rect">
            <a:avLst/>
          </a:prstGeom>
          <a:noFill/>
          <a:ln/>
        </p:spPr>
        <p:txBody>
          <a:bodyPr wrap="square" lIns="0" tIns="0" rIns="0" bIns="0" rtlCol="0" anchor="ctr"/>
          <a:lstStyle/>
          <a:p>
            <a:pPr algn="ctr" indent="0" marL="0">
              <a:buNone/>
            </a:pPr>
            <a:r>
              <a:rPr lang="en-US" sz="1232" b="1" dirty="0">
                <a:solidFill>
                  <a:srgbClr val="FFFFFF"/>
                </a:solidFill>
                <a:latin typeface="Helvetica Neue" pitchFamily="34" charset="0"/>
                <a:ea typeface="Helvetica Neue" pitchFamily="34" charset="-122"/>
                <a:cs typeface="Helvetica Neue" pitchFamily="34" charset="-120"/>
              </a:rPr>
              <a:t>6</a:t>
            </a:r>
            <a:endParaRPr lang="en-US" sz="1232" dirty="0"/>
          </a:p>
        </p:txBody>
      </p:sp>
      <p:sp>
        <p:nvSpPr>
          <p:cNvPr id="37" name="Text 35"/>
          <p:cNvSpPr/>
          <p:nvPr/>
        </p:nvSpPr>
        <p:spPr>
          <a:xfrm>
            <a:off x="8851392" y="4370832"/>
            <a:ext cx="2304288" cy="365760"/>
          </a:xfrm>
          <a:prstGeom prst="rect">
            <a:avLst/>
          </a:prstGeom>
          <a:noFill/>
          <a:ln/>
        </p:spPr>
        <p:txBody>
          <a:bodyPr wrap="square" lIns="0" tIns="0" rIns="0" bIns="0" rtlCol="0" anchor="ctr"/>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Communications Lead</a:t>
            </a:r>
            <a:endParaRPr lang="en-US" sz="1550" dirty="0"/>
          </a:p>
        </p:txBody>
      </p:sp>
      <p:sp>
        <p:nvSpPr>
          <p:cNvPr id="38" name="Text 36"/>
          <p:cNvSpPr/>
          <p:nvPr/>
        </p:nvSpPr>
        <p:spPr>
          <a:xfrm>
            <a:off x="8321040" y="4910328"/>
            <a:ext cx="2761488" cy="274320"/>
          </a:xfrm>
          <a:prstGeom prst="rect">
            <a:avLst/>
          </a:prstGeom>
          <a:noFill/>
          <a:ln/>
        </p:spPr>
        <p:txBody>
          <a:bodyPr wrap="square" lIns="0" tIns="0" rIns="0" bIns="0" rtlCol="0" anchor="ctr"/>
          <a:lstStyle/>
          <a:p>
            <a:pPr indent="0" marL="0">
              <a:buNone/>
            </a:pPr>
            <a:r>
              <a:rPr lang="en-US" sz="900" b="1" spc="150" kern="0" dirty="0">
                <a:solidFill>
                  <a:srgbClr val="0D7490"/>
                </a:solidFill>
                <a:latin typeface="Helvetica Neue" pitchFamily="34" charset="0"/>
                <a:ea typeface="Helvetica Neue" pitchFamily="34" charset="-122"/>
                <a:cs typeface="Helvetica Neue" pitchFamily="34" charset="-120"/>
              </a:rPr>
              <a:t>STORY &amp; OUTREACH</a:t>
            </a:r>
            <a:endParaRPr lang="en-US" sz="900" dirty="0"/>
          </a:p>
        </p:txBody>
      </p:sp>
      <p:sp>
        <p:nvSpPr>
          <p:cNvPr id="39" name="Text 37"/>
          <p:cNvSpPr/>
          <p:nvPr/>
        </p:nvSpPr>
        <p:spPr>
          <a:xfrm>
            <a:off x="8321040" y="5202936"/>
            <a:ext cx="2779776" cy="914400"/>
          </a:xfrm>
          <a:prstGeom prst="rect">
            <a:avLst/>
          </a:prstGeom>
          <a:noFill/>
          <a:ln/>
        </p:spPr>
        <p:txBody>
          <a:bodyPr wrap="square" lIns="0" tIns="0" rIns="0" bIns="0" rtlCol="0" anchor="ctr"/>
          <a:lstStyle/>
          <a:p>
            <a:pPr indent="0" marL="0">
              <a:lnSpc>
                <a:spcPts val="1500"/>
              </a:lnSpc>
              <a:buNone/>
            </a:pPr>
            <a:r>
              <a:rPr lang="en-US" sz="1100" dirty="0">
                <a:solidFill>
                  <a:srgbClr val="6E6E73"/>
                </a:solidFill>
                <a:latin typeface="Helvetica Neue" pitchFamily="34" charset="0"/>
                <a:ea typeface="Helvetica Neue" pitchFamily="34" charset="-122"/>
                <a:cs typeface="Helvetica Neue" pitchFamily="34" charset="-120"/>
              </a:rPr>
              <a:t>Owns the project notebook, the outreach log, and the team's marketing story.</a:t>
            </a:r>
            <a:endParaRPr lang="en-US" sz="1100" dirty="0"/>
          </a:p>
        </p:txBody>
      </p:sp>
      <p:sp>
        <p:nvSpPr>
          <p:cNvPr id="40" name="Shape 38"/>
          <p:cNvSpPr/>
          <p:nvPr/>
        </p:nvSpPr>
        <p:spPr>
          <a:xfrm>
            <a:off x="822960" y="6437376"/>
            <a:ext cx="10545775" cy="0"/>
          </a:xfrm>
          <a:prstGeom prst="line">
            <a:avLst/>
          </a:prstGeom>
          <a:noFill/>
          <a:ln w="9525">
            <a:solidFill>
              <a:srgbClr val="E3E3E6"/>
            </a:solidFill>
            <a:prstDash val="solid"/>
          </a:ln>
        </p:spPr>
      </p:sp>
      <p:sp>
        <p:nvSpPr>
          <p:cNvPr id="41" name="Text 39"/>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2" name="Text 40"/>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11 / 26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roles, up close — leadership &amp; story.</a:t>
            </a:r>
            <a:endParaRPr lang="en-US" sz="3000" dirty="0"/>
          </a:p>
        </p:txBody>
      </p:sp>
      <p:sp>
        <p:nvSpPr>
          <p:cNvPr id="4" name="Shape 2"/>
          <p:cNvSpPr/>
          <p:nvPr/>
        </p:nvSpPr>
        <p:spPr>
          <a:xfrm>
            <a:off x="822960" y="1828800"/>
            <a:ext cx="10545775" cy="1335024"/>
          </a:xfrm>
          <a:prstGeom prst="roundRect">
            <a:avLst>
              <a:gd name="adj" fmla="val 7534"/>
            </a:avLst>
          </a:prstGeom>
          <a:solidFill>
            <a:srgbClr val="FBFBFD"/>
          </a:solidFill>
          <a:ln w="12700">
            <a:solidFill>
              <a:srgbClr val="E3E3E6"/>
            </a:solidFill>
            <a:prstDash val="solid"/>
          </a:ln>
        </p:spPr>
      </p:sp>
      <p:sp>
        <p:nvSpPr>
          <p:cNvPr id="5" name="Shape 3"/>
          <p:cNvSpPr/>
          <p:nvPr/>
        </p:nvSpPr>
        <p:spPr>
          <a:xfrm>
            <a:off x="822960" y="1828800"/>
            <a:ext cx="77724" cy="1335024"/>
          </a:xfrm>
          <a:prstGeom prst="rect">
            <a:avLst/>
          </a:prstGeom>
          <a:solidFill>
            <a:srgbClr val="0D7490"/>
          </a:solidFill>
          <a:ln/>
        </p:spPr>
      </p:sp>
      <p:sp>
        <p:nvSpPr>
          <p:cNvPr id="6" name="Text 4"/>
          <p:cNvSpPr/>
          <p:nvPr/>
        </p:nvSpPr>
        <p:spPr>
          <a:xfrm>
            <a:off x="1143000" y="2011680"/>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CEO</a:t>
            </a:r>
            <a:endParaRPr lang="en-US" sz="1700" dirty="0"/>
          </a:p>
        </p:txBody>
      </p:sp>
      <p:sp>
        <p:nvSpPr>
          <p:cNvPr id="7" name="Text 5"/>
          <p:cNvSpPr/>
          <p:nvPr/>
        </p:nvSpPr>
        <p:spPr>
          <a:xfrm>
            <a:off x="1143000" y="2450592"/>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Chief Executive Officer</a:t>
            </a:r>
            <a:endParaRPr lang="en-US" sz="1050" dirty="0"/>
          </a:p>
        </p:txBody>
      </p:sp>
      <p:sp>
        <p:nvSpPr>
          <p:cNvPr id="8" name="Text 6"/>
          <p:cNvSpPr/>
          <p:nvPr/>
        </p:nvSpPr>
        <p:spPr>
          <a:xfrm>
            <a:off x="3977640" y="2020824"/>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9" name="Text 7"/>
          <p:cNvSpPr/>
          <p:nvPr/>
        </p:nvSpPr>
        <p:spPr>
          <a:xfrm>
            <a:off x="3977640" y="2240280"/>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season schedule, the meeting agenda, and the health of every sub-team. The CEO unblocks people.</a:t>
            </a:r>
            <a:endParaRPr lang="en-US" sz="1150" dirty="0"/>
          </a:p>
        </p:txBody>
      </p:sp>
      <p:sp>
        <p:nvSpPr>
          <p:cNvPr id="10" name="Text 8"/>
          <p:cNvSpPr/>
          <p:nvPr/>
        </p:nvSpPr>
        <p:spPr>
          <a:xfrm>
            <a:off x="7680960" y="2020824"/>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1" name="Text 9"/>
          <p:cNvSpPr/>
          <p:nvPr/>
        </p:nvSpPr>
        <p:spPr>
          <a:xfrm>
            <a:off x="7680960" y="2240280"/>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keeping people organized, enjoy seeing the whole picture, and will chase a deadline.</a:t>
            </a:r>
            <a:endParaRPr lang="en-US" sz="1150" dirty="0"/>
          </a:p>
        </p:txBody>
      </p:sp>
      <p:sp>
        <p:nvSpPr>
          <p:cNvPr id="12" name="Shape 10"/>
          <p:cNvSpPr/>
          <p:nvPr/>
        </p:nvSpPr>
        <p:spPr>
          <a:xfrm>
            <a:off x="822960" y="3310128"/>
            <a:ext cx="10545775" cy="1335024"/>
          </a:xfrm>
          <a:prstGeom prst="roundRect">
            <a:avLst>
              <a:gd name="adj" fmla="val 7534"/>
            </a:avLst>
          </a:prstGeom>
          <a:solidFill>
            <a:srgbClr val="FBFBFD"/>
          </a:solidFill>
          <a:ln w="12700">
            <a:solidFill>
              <a:srgbClr val="E3E3E6"/>
            </a:solidFill>
            <a:prstDash val="solid"/>
          </a:ln>
        </p:spPr>
      </p:sp>
      <p:sp>
        <p:nvSpPr>
          <p:cNvPr id="13" name="Shape 11"/>
          <p:cNvSpPr/>
          <p:nvPr/>
        </p:nvSpPr>
        <p:spPr>
          <a:xfrm>
            <a:off x="822960" y="3310128"/>
            <a:ext cx="77724" cy="1335024"/>
          </a:xfrm>
          <a:prstGeom prst="rect">
            <a:avLst/>
          </a:prstGeom>
          <a:solidFill>
            <a:srgbClr val="0D7490"/>
          </a:solidFill>
          <a:ln/>
        </p:spPr>
      </p:sp>
      <p:sp>
        <p:nvSpPr>
          <p:cNvPr id="14" name="Text 12"/>
          <p:cNvSpPr/>
          <p:nvPr/>
        </p:nvSpPr>
        <p:spPr>
          <a:xfrm>
            <a:off x="1143000" y="3493008"/>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CFO</a:t>
            </a:r>
            <a:endParaRPr lang="en-US" sz="1700" dirty="0"/>
          </a:p>
        </p:txBody>
      </p:sp>
      <p:sp>
        <p:nvSpPr>
          <p:cNvPr id="15" name="Text 13"/>
          <p:cNvSpPr/>
          <p:nvPr/>
        </p:nvSpPr>
        <p:spPr>
          <a:xfrm>
            <a:off x="1143000" y="3931920"/>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Chief Financial Officer</a:t>
            </a:r>
            <a:endParaRPr lang="en-US" sz="1050" dirty="0"/>
          </a:p>
        </p:txBody>
      </p:sp>
      <p:sp>
        <p:nvSpPr>
          <p:cNvPr id="16" name="Text 14"/>
          <p:cNvSpPr/>
          <p:nvPr/>
        </p:nvSpPr>
        <p:spPr>
          <a:xfrm>
            <a:off x="3977640" y="3502152"/>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17" name="Text 15"/>
          <p:cNvSpPr/>
          <p:nvPr/>
        </p:nvSpPr>
        <p:spPr>
          <a:xfrm>
            <a:off x="3977640" y="3721608"/>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budget, every purchase order, and the running tally of money spent against money raised.</a:t>
            </a:r>
            <a:endParaRPr lang="en-US" sz="1150" dirty="0"/>
          </a:p>
        </p:txBody>
      </p:sp>
      <p:sp>
        <p:nvSpPr>
          <p:cNvPr id="18" name="Text 16"/>
          <p:cNvSpPr/>
          <p:nvPr/>
        </p:nvSpPr>
        <p:spPr>
          <a:xfrm>
            <a:off x="7680960" y="3502152"/>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9" name="Text 17"/>
          <p:cNvSpPr/>
          <p:nvPr/>
        </p:nvSpPr>
        <p:spPr>
          <a:xfrm>
            <a:off x="7680960" y="3721608"/>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are careful with numbers, like a tidy spreadsheet, and don't mind asking 'do we really need this?'</a:t>
            </a:r>
            <a:endParaRPr lang="en-US" sz="1150" dirty="0"/>
          </a:p>
        </p:txBody>
      </p:sp>
      <p:sp>
        <p:nvSpPr>
          <p:cNvPr id="20" name="Shape 18"/>
          <p:cNvSpPr/>
          <p:nvPr/>
        </p:nvSpPr>
        <p:spPr>
          <a:xfrm>
            <a:off x="822960" y="4791456"/>
            <a:ext cx="10545775" cy="1335024"/>
          </a:xfrm>
          <a:prstGeom prst="roundRect">
            <a:avLst>
              <a:gd name="adj" fmla="val 7534"/>
            </a:avLst>
          </a:prstGeom>
          <a:solidFill>
            <a:srgbClr val="FBFBFD"/>
          </a:solidFill>
          <a:ln w="12700">
            <a:solidFill>
              <a:srgbClr val="E3E3E6"/>
            </a:solidFill>
            <a:prstDash val="solid"/>
          </a:ln>
        </p:spPr>
      </p:sp>
      <p:sp>
        <p:nvSpPr>
          <p:cNvPr id="21" name="Shape 19"/>
          <p:cNvSpPr/>
          <p:nvPr/>
        </p:nvSpPr>
        <p:spPr>
          <a:xfrm>
            <a:off x="822960" y="4791456"/>
            <a:ext cx="77724" cy="1335024"/>
          </a:xfrm>
          <a:prstGeom prst="rect">
            <a:avLst/>
          </a:prstGeom>
          <a:solidFill>
            <a:srgbClr val="0D7490"/>
          </a:solidFill>
          <a:ln/>
        </p:spPr>
      </p:sp>
      <p:sp>
        <p:nvSpPr>
          <p:cNvPr id="22" name="Text 20"/>
          <p:cNvSpPr/>
          <p:nvPr/>
        </p:nvSpPr>
        <p:spPr>
          <a:xfrm>
            <a:off x="1143000" y="4974336"/>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Communications Lead</a:t>
            </a:r>
            <a:endParaRPr lang="en-US" sz="1700" dirty="0"/>
          </a:p>
        </p:txBody>
      </p:sp>
      <p:sp>
        <p:nvSpPr>
          <p:cNvPr id="23" name="Text 21"/>
          <p:cNvSpPr/>
          <p:nvPr/>
        </p:nvSpPr>
        <p:spPr>
          <a:xfrm>
            <a:off x="1143000" y="5413248"/>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Story &amp; Outreach</a:t>
            </a:r>
            <a:endParaRPr lang="en-US" sz="1050" dirty="0"/>
          </a:p>
        </p:txBody>
      </p:sp>
      <p:sp>
        <p:nvSpPr>
          <p:cNvPr id="24" name="Text 22"/>
          <p:cNvSpPr/>
          <p:nvPr/>
        </p:nvSpPr>
        <p:spPr>
          <a:xfrm>
            <a:off x="3977640" y="4983480"/>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25" name="Text 23"/>
          <p:cNvSpPr/>
          <p:nvPr/>
        </p:nvSpPr>
        <p:spPr>
          <a:xfrm>
            <a:off x="3977640" y="5202936"/>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project notebook, the community-outreach log, and the marketing display and presentation story.</a:t>
            </a:r>
            <a:endParaRPr lang="en-US" sz="1150" dirty="0"/>
          </a:p>
        </p:txBody>
      </p:sp>
      <p:sp>
        <p:nvSpPr>
          <p:cNvPr id="26" name="Text 24"/>
          <p:cNvSpPr/>
          <p:nvPr/>
        </p:nvSpPr>
        <p:spPr>
          <a:xfrm>
            <a:off x="7680960" y="4983480"/>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27" name="Text 25"/>
          <p:cNvSpPr/>
          <p:nvPr/>
        </p:nvSpPr>
        <p:spPr>
          <a:xfrm>
            <a:off x="7680960" y="5202936"/>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writing, photography, or talking to people — and want the team's work to be seen.</a:t>
            </a:r>
            <a:endParaRPr lang="en-US" sz="1150" dirty="0"/>
          </a:p>
        </p:txBody>
      </p:sp>
      <p:sp>
        <p:nvSpPr>
          <p:cNvPr id="28" name="Shape 26"/>
          <p:cNvSpPr/>
          <p:nvPr/>
        </p:nvSpPr>
        <p:spPr>
          <a:xfrm>
            <a:off x="822960" y="6437376"/>
            <a:ext cx="10545775" cy="0"/>
          </a:xfrm>
          <a:prstGeom prst="line">
            <a:avLst/>
          </a:prstGeom>
          <a:noFill/>
          <a:ln w="9525">
            <a:solidFill>
              <a:srgbClr val="E3E3E6"/>
            </a:solidFill>
            <a:prstDash val="solid"/>
          </a:ln>
        </p:spPr>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12 / 26</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roles, up close — the engineering build.</a:t>
            </a:r>
            <a:endParaRPr lang="en-US" sz="3000" dirty="0"/>
          </a:p>
        </p:txBody>
      </p:sp>
      <p:sp>
        <p:nvSpPr>
          <p:cNvPr id="4" name="Shape 2"/>
          <p:cNvSpPr/>
          <p:nvPr/>
        </p:nvSpPr>
        <p:spPr>
          <a:xfrm>
            <a:off x="822960" y="1828800"/>
            <a:ext cx="10545775" cy="1335024"/>
          </a:xfrm>
          <a:prstGeom prst="roundRect">
            <a:avLst>
              <a:gd name="adj" fmla="val 7534"/>
            </a:avLst>
          </a:prstGeom>
          <a:solidFill>
            <a:srgbClr val="FBFBFD"/>
          </a:solidFill>
          <a:ln w="12700">
            <a:solidFill>
              <a:srgbClr val="E3E3E6"/>
            </a:solidFill>
            <a:prstDash val="solid"/>
          </a:ln>
        </p:spPr>
      </p:sp>
      <p:sp>
        <p:nvSpPr>
          <p:cNvPr id="5" name="Shape 3"/>
          <p:cNvSpPr/>
          <p:nvPr/>
        </p:nvSpPr>
        <p:spPr>
          <a:xfrm>
            <a:off x="822960" y="1828800"/>
            <a:ext cx="77724" cy="1335024"/>
          </a:xfrm>
          <a:prstGeom prst="rect">
            <a:avLst/>
          </a:prstGeom>
          <a:solidFill>
            <a:srgbClr val="0D7490"/>
          </a:solidFill>
          <a:ln/>
        </p:spPr>
      </p:sp>
      <p:sp>
        <p:nvSpPr>
          <p:cNvPr id="6" name="Text 4"/>
          <p:cNvSpPr/>
          <p:nvPr/>
        </p:nvSpPr>
        <p:spPr>
          <a:xfrm>
            <a:off x="1143000" y="2011680"/>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Mechanical Lead</a:t>
            </a:r>
            <a:endParaRPr lang="en-US" sz="1700" dirty="0"/>
          </a:p>
        </p:txBody>
      </p:sp>
      <p:sp>
        <p:nvSpPr>
          <p:cNvPr id="7" name="Text 5"/>
          <p:cNvSpPr/>
          <p:nvPr/>
        </p:nvSpPr>
        <p:spPr>
          <a:xfrm>
            <a:off x="1143000" y="2450592"/>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Structure &amp; Tools</a:t>
            </a:r>
            <a:endParaRPr lang="en-US" sz="1050" dirty="0"/>
          </a:p>
        </p:txBody>
      </p:sp>
      <p:sp>
        <p:nvSpPr>
          <p:cNvPr id="8" name="Text 6"/>
          <p:cNvSpPr/>
          <p:nvPr/>
        </p:nvSpPr>
        <p:spPr>
          <a:xfrm>
            <a:off x="3977640" y="2020824"/>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9" name="Text 7"/>
          <p:cNvSpPr/>
          <p:nvPr/>
        </p:nvSpPr>
        <p:spPr>
          <a:xfrm>
            <a:off x="3977640" y="2240280"/>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ROV frame, the float body, the gripper — every part that holds together, moves, or grabs.</a:t>
            </a:r>
            <a:endParaRPr lang="en-US" sz="1150" dirty="0"/>
          </a:p>
        </p:txBody>
      </p:sp>
      <p:sp>
        <p:nvSpPr>
          <p:cNvPr id="10" name="Text 8"/>
          <p:cNvSpPr/>
          <p:nvPr/>
        </p:nvSpPr>
        <p:spPr>
          <a:xfrm>
            <a:off x="7680960" y="2020824"/>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1" name="Text 9"/>
          <p:cNvSpPr/>
          <p:nvPr/>
        </p:nvSpPr>
        <p:spPr>
          <a:xfrm>
            <a:off x="7680960" y="2240280"/>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building physical things, sketching designs, and figuring out how parts fit.</a:t>
            </a:r>
            <a:endParaRPr lang="en-US" sz="1150" dirty="0"/>
          </a:p>
        </p:txBody>
      </p:sp>
      <p:sp>
        <p:nvSpPr>
          <p:cNvPr id="12" name="Shape 10"/>
          <p:cNvSpPr/>
          <p:nvPr/>
        </p:nvSpPr>
        <p:spPr>
          <a:xfrm>
            <a:off x="822960" y="3310128"/>
            <a:ext cx="10545775" cy="1335024"/>
          </a:xfrm>
          <a:prstGeom prst="roundRect">
            <a:avLst>
              <a:gd name="adj" fmla="val 7534"/>
            </a:avLst>
          </a:prstGeom>
          <a:solidFill>
            <a:srgbClr val="FBFBFD"/>
          </a:solidFill>
          <a:ln w="12700">
            <a:solidFill>
              <a:srgbClr val="E3E3E6"/>
            </a:solidFill>
            <a:prstDash val="solid"/>
          </a:ln>
        </p:spPr>
      </p:sp>
      <p:sp>
        <p:nvSpPr>
          <p:cNvPr id="13" name="Shape 11"/>
          <p:cNvSpPr/>
          <p:nvPr/>
        </p:nvSpPr>
        <p:spPr>
          <a:xfrm>
            <a:off x="822960" y="3310128"/>
            <a:ext cx="77724" cy="1335024"/>
          </a:xfrm>
          <a:prstGeom prst="rect">
            <a:avLst/>
          </a:prstGeom>
          <a:solidFill>
            <a:srgbClr val="0D7490"/>
          </a:solidFill>
          <a:ln/>
        </p:spPr>
      </p:sp>
      <p:sp>
        <p:nvSpPr>
          <p:cNvPr id="14" name="Text 12"/>
          <p:cNvSpPr/>
          <p:nvPr/>
        </p:nvSpPr>
        <p:spPr>
          <a:xfrm>
            <a:off x="1143000" y="3493008"/>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Electrical Lead</a:t>
            </a:r>
            <a:endParaRPr lang="en-US" sz="1700" dirty="0"/>
          </a:p>
        </p:txBody>
      </p:sp>
      <p:sp>
        <p:nvSpPr>
          <p:cNvPr id="15" name="Text 13"/>
          <p:cNvSpPr/>
          <p:nvPr/>
        </p:nvSpPr>
        <p:spPr>
          <a:xfrm>
            <a:off x="1143000" y="3931920"/>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Power &amp; Wiring</a:t>
            </a:r>
            <a:endParaRPr lang="en-US" sz="1050" dirty="0"/>
          </a:p>
        </p:txBody>
      </p:sp>
      <p:sp>
        <p:nvSpPr>
          <p:cNvPr id="16" name="Text 14"/>
          <p:cNvSpPr/>
          <p:nvPr/>
        </p:nvSpPr>
        <p:spPr>
          <a:xfrm>
            <a:off x="3977640" y="3502152"/>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17" name="Text 15"/>
          <p:cNvSpPr/>
          <p:nvPr/>
        </p:nvSpPr>
        <p:spPr>
          <a:xfrm>
            <a:off x="3977640" y="3721608"/>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tether, the topside control box, fuses, and every wire termination that carries current.</a:t>
            </a:r>
            <a:endParaRPr lang="en-US" sz="1150" dirty="0"/>
          </a:p>
        </p:txBody>
      </p:sp>
      <p:sp>
        <p:nvSpPr>
          <p:cNvPr id="18" name="Text 16"/>
          <p:cNvSpPr/>
          <p:nvPr/>
        </p:nvSpPr>
        <p:spPr>
          <a:xfrm>
            <a:off x="7680960" y="3502152"/>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19" name="Text 17"/>
          <p:cNvSpPr/>
          <p:nvPr/>
        </p:nvSpPr>
        <p:spPr>
          <a:xfrm>
            <a:off x="7680960" y="3721608"/>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are patient with detail work, like soldering and wiring, and respect that electricity is serious.</a:t>
            </a:r>
            <a:endParaRPr lang="en-US" sz="1150" dirty="0"/>
          </a:p>
        </p:txBody>
      </p:sp>
      <p:sp>
        <p:nvSpPr>
          <p:cNvPr id="20" name="Shape 18"/>
          <p:cNvSpPr/>
          <p:nvPr/>
        </p:nvSpPr>
        <p:spPr>
          <a:xfrm>
            <a:off x="822960" y="4791456"/>
            <a:ext cx="10545775" cy="1335024"/>
          </a:xfrm>
          <a:prstGeom prst="roundRect">
            <a:avLst>
              <a:gd name="adj" fmla="val 7534"/>
            </a:avLst>
          </a:prstGeom>
          <a:solidFill>
            <a:srgbClr val="FBFBFD"/>
          </a:solidFill>
          <a:ln w="12700">
            <a:solidFill>
              <a:srgbClr val="E3E3E6"/>
            </a:solidFill>
            <a:prstDash val="solid"/>
          </a:ln>
        </p:spPr>
      </p:sp>
      <p:sp>
        <p:nvSpPr>
          <p:cNvPr id="21" name="Shape 19"/>
          <p:cNvSpPr/>
          <p:nvPr/>
        </p:nvSpPr>
        <p:spPr>
          <a:xfrm>
            <a:off x="822960" y="4791456"/>
            <a:ext cx="77724" cy="1335024"/>
          </a:xfrm>
          <a:prstGeom prst="rect">
            <a:avLst/>
          </a:prstGeom>
          <a:solidFill>
            <a:srgbClr val="0D7490"/>
          </a:solidFill>
          <a:ln/>
        </p:spPr>
      </p:sp>
      <p:sp>
        <p:nvSpPr>
          <p:cNvPr id="22" name="Text 20"/>
          <p:cNvSpPr/>
          <p:nvPr/>
        </p:nvSpPr>
        <p:spPr>
          <a:xfrm>
            <a:off x="1143000" y="4974336"/>
            <a:ext cx="2606040" cy="457200"/>
          </a:xfrm>
          <a:prstGeom prst="rect">
            <a:avLst/>
          </a:prstGeom>
          <a:noFill/>
          <a:ln/>
        </p:spPr>
        <p:txBody>
          <a:bodyPr wrap="square" lIns="0" tIns="0" rIns="0" bIns="0" rtlCol="0" anchor="ctr"/>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Software Lead</a:t>
            </a:r>
            <a:endParaRPr lang="en-US" sz="1700" dirty="0"/>
          </a:p>
        </p:txBody>
      </p:sp>
      <p:sp>
        <p:nvSpPr>
          <p:cNvPr id="23" name="Text 21"/>
          <p:cNvSpPr/>
          <p:nvPr/>
        </p:nvSpPr>
        <p:spPr>
          <a:xfrm>
            <a:off x="1143000" y="5413248"/>
            <a:ext cx="2606040" cy="594360"/>
          </a:xfrm>
          <a:prstGeom prst="rect">
            <a:avLst/>
          </a:prstGeom>
          <a:noFill/>
          <a:ln/>
        </p:spPr>
        <p:txBody>
          <a:bodyPr wrap="square" lIns="0" tIns="0" rIns="0" bIns="0" rtlCol="0" anchor="ctr"/>
          <a:lstStyle/>
          <a:p>
            <a:pPr indent="0" marL="0">
              <a:lnSpc>
                <a:spcPts val="1300"/>
              </a:lnSpc>
              <a:buNone/>
            </a:pPr>
            <a:r>
              <a:rPr lang="en-US" sz="1050" b="1" dirty="0">
                <a:solidFill>
                  <a:srgbClr val="0D7490"/>
                </a:solidFill>
                <a:latin typeface="Helvetica Neue" pitchFamily="34" charset="0"/>
                <a:ea typeface="Helvetica Neue" pitchFamily="34" charset="-122"/>
                <a:cs typeface="Helvetica Neue" pitchFamily="34" charset="-120"/>
              </a:rPr>
              <a:t>Code &amp; Vision</a:t>
            </a:r>
            <a:endParaRPr lang="en-US" sz="1050" dirty="0"/>
          </a:p>
        </p:txBody>
      </p:sp>
      <p:sp>
        <p:nvSpPr>
          <p:cNvPr id="24" name="Text 22"/>
          <p:cNvSpPr/>
          <p:nvPr/>
        </p:nvSpPr>
        <p:spPr>
          <a:xfrm>
            <a:off x="3977640" y="4983480"/>
            <a:ext cx="329184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OWNS</a:t>
            </a:r>
            <a:endParaRPr lang="en-US" sz="900" dirty="0"/>
          </a:p>
        </p:txBody>
      </p:sp>
      <p:sp>
        <p:nvSpPr>
          <p:cNvPr id="25" name="Text 23"/>
          <p:cNvSpPr/>
          <p:nvPr/>
        </p:nvSpPr>
        <p:spPr>
          <a:xfrm>
            <a:off x="3977640" y="5202936"/>
            <a:ext cx="3429000" cy="868680"/>
          </a:xfrm>
          <a:prstGeom prst="rect">
            <a:avLst/>
          </a:prstGeom>
          <a:noFill/>
          <a:ln/>
        </p:spPr>
        <p:txBody>
          <a:bodyPr wrap="square" lIns="0" tIns="0" rIns="0" bIns="0" rtlCol="0" anchor="ctr"/>
          <a:lstStyle/>
          <a:p>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The control code that drives the ROV and the computer-vision program that reads the camera.</a:t>
            </a:r>
            <a:endParaRPr lang="en-US" sz="1150" dirty="0"/>
          </a:p>
        </p:txBody>
      </p:sp>
      <p:sp>
        <p:nvSpPr>
          <p:cNvPr id="26" name="Text 24"/>
          <p:cNvSpPr/>
          <p:nvPr/>
        </p:nvSpPr>
        <p:spPr>
          <a:xfrm>
            <a:off x="7680960" y="4983480"/>
            <a:ext cx="3474720" cy="237744"/>
          </a:xfrm>
          <a:prstGeom prst="rect">
            <a:avLst/>
          </a:prstGeom>
          <a:noFill/>
          <a:ln/>
        </p:spPr>
        <p:txBody>
          <a:bodyPr wrap="square" lIns="0" tIns="0" rIns="0" bIns="0" rtlCol="0" anchor="ctr"/>
          <a:lstStyle/>
          <a:p>
            <a:pPr indent="0" marL="0">
              <a:buNone/>
            </a:pPr>
            <a:r>
              <a:rPr lang="en-US" sz="900" b="1" spc="150" kern="0" dirty="0">
                <a:solidFill>
                  <a:srgbClr val="86868B"/>
                </a:solidFill>
                <a:latin typeface="Helvetica Neue" pitchFamily="34" charset="0"/>
                <a:ea typeface="Helvetica Neue" pitchFamily="34" charset="-122"/>
                <a:cs typeface="Helvetica Neue" pitchFamily="34" charset="-120"/>
              </a:rPr>
              <a:t>A GOOD FIT IF YOU</a:t>
            </a:r>
            <a:endParaRPr lang="en-US" sz="900" dirty="0"/>
          </a:p>
        </p:txBody>
      </p:sp>
      <p:sp>
        <p:nvSpPr>
          <p:cNvPr id="27" name="Text 25"/>
          <p:cNvSpPr/>
          <p:nvPr/>
        </p:nvSpPr>
        <p:spPr>
          <a:xfrm>
            <a:off x="7680960" y="5202936"/>
            <a:ext cx="3520440" cy="868680"/>
          </a:xfrm>
          <a:prstGeom prst="rect">
            <a:avLst/>
          </a:prstGeom>
          <a:noFill/>
          <a:ln/>
        </p:spPr>
        <p:txBody>
          <a:bodyPr wrap="square" lIns="0" tIns="0" rIns="0" bIns="0" rtlCol="0" anchor="ctr"/>
          <a:lstStyle/>
          <a:p>
            <a:pPr indent="0" marL="0">
              <a:lnSpc>
                <a:spcPts val="1500"/>
              </a:lnSpc>
              <a:buNone/>
            </a:pPr>
            <a:r>
              <a:rPr lang="en-US" sz="1150" dirty="0">
                <a:solidFill>
                  <a:srgbClr val="6E6E73"/>
                </a:solidFill>
                <a:latin typeface="Helvetica Neue" pitchFamily="34" charset="0"/>
                <a:ea typeface="Helvetica Neue" pitchFamily="34" charset="-122"/>
                <a:cs typeface="Helvetica Neue" pitchFamily="34" charset="-120"/>
              </a:rPr>
              <a:t>like programming, want to learn Python and OpenCV, and enjoy debugging until it works.</a:t>
            </a:r>
            <a:endParaRPr lang="en-US" sz="1150" dirty="0"/>
          </a:p>
        </p:txBody>
      </p:sp>
      <p:sp>
        <p:nvSpPr>
          <p:cNvPr id="28" name="Shape 26"/>
          <p:cNvSpPr/>
          <p:nvPr/>
        </p:nvSpPr>
        <p:spPr>
          <a:xfrm>
            <a:off x="822960" y="6437376"/>
            <a:ext cx="10545775" cy="0"/>
          </a:xfrm>
          <a:prstGeom prst="line">
            <a:avLst/>
          </a:prstGeom>
          <a:noFill/>
          <a:ln w="9525">
            <a:solidFill>
              <a:srgbClr val="E3E3E6"/>
            </a:solidFill>
            <a:prstDash val="solid"/>
          </a:ln>
        </p:spPr>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13 / 26</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WE ARE A COMPANY</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How we choose — today, before we leave.</a:t>
            </a:r>
            <a:endParaRPr lang="en-US" sz="3000" dirty="0"/>
          </a:p>
        </p:txBody>
      </p:sp>
      <p:sp>
        <p:nvSpPr>
          <p:cNvPr id="4" name="Shape 2"/>
          <p:cNvSpPr/>
          <p:nvPr/>
        </p:nvSpPr>
        <p:spPr>
          <a:xfrm>
            <a:off x="822960" y="1865376"/>
            <a:ext cx="457200" cy="457200"/>
          </a:xfrm>
          <a:prstGeom prst="ellipse">
            <a:avLst/>
          </a:prstGeom>
          <a:solidFill>
            <a:srgbClr val="0D7490"/>
          </a:solidFill>
          <a:ln/>
        </p:spPr>
      </p:sp>
      <p:sp>
        <p:nvSpPr>
          <p:cNvPr id="5" name="Text 3"/>
          <p:cNvSpPr/>
          <p:nvPr/>
        </p:nvSpPr>
        <p:spPr>
          <a:xfrm>
            <a:off x="822960" y="18653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6" name="Text 4"/>
          <p:cNvSpPr/>
          <p:nvPr/>
        </p:nvSpPr>
        <p:spPr>
          <a:xfrm>
            <a:off x="1481328" y="1828800"/>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Hear all six</a:t>
            </a:r>
            <a:endParaRPr lang="en-US" sz="1600" dirty="0"/>
          </a:p>
        </p:txBody>
      </p:sp>
      <p:sp>
        <p:nvSpPr>
          <p:cNvPr id="7" name="Text 5"/>
          <p:cNvSpPr/>
          <p:nvPr/>
        </p:nvSpPr>
        <p:spPr>
          <a:xfrm>
            <a:off x="5212080" y="1810512"/>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We have just walked every role. Sit with all of them for a moment — no rush.</a:t>
            </a:r>
            <a:endParaRPr lang="en-US" sz="1250" dirty="0"/>
          </a:p>
        </p:txBody>
      </p:sp>
      <p:sp>
        <p:nvSpPr>
          <p:cNvPr id="8" name="Shape 6"/>
          <p:cNvSpPr/>
          <p:nvPr/>
        </p:nvSpPr>
        <p:spPr>
          <a:xfrm>
            <a:off x="1051560" y="2395728"/>
            <a:ext cx="0" cy="384048"/>
          </a:xfrm>
          <a:prstGeom prst="line">
            <a:avLst/>
          </a:prstGeom>
          <a:noFill/>
          <a:ln w="19050">
            <a:solidFill>
              <a:srgbClr val="D6E7EB"/>
            </a:solidFill>
            <a:prstDash val="solid"/>
          </a:ln>
        </p:spPr>
      </p:sp>
      <p:sp>
        <p:nvSpPr>
          <p:cNvPr id="9" name="Shape 7"/>
          <p:cNvSpPr/>
          <p:nvPr/>
        </p:nvSpPr>
        <p:spPr>
          <a:xfrm>
            <a:off x="822960" y="2816352"/>
            <a:ext cx="457200" cy="457200"/>
          </a:xfrm>
          <a:prstGeom prst="ellipse">
            <a:avLst/>
          </a:prstGeom>
          <a:solidFill>
            <a:srgbClr val="0D7490"/>
          </a:solidFill>
          <a:ln/>
        </p:spPr>
      </p:sp>
      <p:sp>
        <p:nvSpPr>
          <p:cNvPr id="10" name="Text 8"/>
          <p:cNvSpPr/>
          <p:nvPr/>
        </p:nvSpPr>
        <p:spPr>
          <a:xfrm>
            <a:off x="822960" y="2816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2</a:t>
            </a:r>
            <a:endParaRPr lang="en-US" sz="1400" dirty="0"/>
          </a:p>
        </p:txBody>
      </p:sp>
      <p:sp>
        <p:nvSpPr>
          <p:cNvPr id="11" name="Text 9"/>
          <p:cNvSpPr/>
          <p:nvPr/>
        </p:nvSpPr>
        <p:spPr>
          <a:xfrm>
            <a:off x="1481328" y="2779776"/>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Write your top two</a:t>
            </a:r>
            <a:endParaRPr lang="en-US" sz="1600" dirty="0"/>
          </a:p>
        </p:txBody>
      </p:sp>
      <p:sp>
        <p:nvSpPr>
          <p:cNvPr id="12" name="Text 10"/>
          <p:cNvSpPr/>
          <p:nvPr/>
        </p:nvSpPr>
        <p:spPr>
          <a:xfrm>
            <a:off x="5212080" y="2761488"/>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Each student writes a first and second choice on paper. Two, not one — it keeps us flexible.</a:t>
            </a:r>
            <a:endParaRPr lang="en-US" sz="1250" dirty="0"/>
          </a:p>
        </p:txBody>
      </p:sp>
      <p:sp>
        <p:nvSpPr>
          <p:cNvPr id="13" name="Shape 11"/>
          <p:cNvSpPr/>
          <p:nvPr/>
        </p:nvSpPr>
        <p:spPr>
          <a:xfrm>
            <a:off x="1051560" y="3346704"/>
            <a:ext cx="0" cy="384048"/>
          </a:xfrm>
          <a:prstGeom prst="line">
            <a:avLst/>
          </a:prstGeom>
          <a:noFill/>
          <a:ln w="19050">
            <a:solidFill>
              <a:srgbClr val="D6E7EB"/>
            </a:solidFill>
            <a:prstDash val="solid"/>
          </a:ln>
        </p:spPr>
      </p:sp>
      <p:sp>
        <p:nvSpPr>
          <p:cNvPr id="14" name="Shape 12"/>
          <p:cNvSpPr/>
          <p:nvPr/>
        </p:nvSpPr>
        <p:spPr>
          <a:xfrm>
            <a:off x="822960" y="3767328"/>
            <a:ext cx="457200" cy="457200"/>
          </a:xfrm>
          <a:prstGeom prst="ellipse">
            <a:avLst/>
          </a:prstGeom>
          <a:solidFill>
            <a:srgbClr val="0D7490"/>
          </a:solidFill>
          <a:ln/>
        </p:spPr>
      </p:sp>
      <p:sp>
        <p:nvSpPr>
          <p:cNvPr id="15" name="Text 13"/>
          <p:cNvSpPr/>
          <p:nvPr/>
        </p:nvSpPr>
        <p:spPr>
          <a:xfrm>
            <a:off x="822960" y="3767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3</a:t>
            </a:r>
            <a:endParaRPr lang="en-US" sz="1400" dirty="0"/>
          </a:p>
        </p:txBody>
      </p:sp>
      <p:sp>
        <p:nvSpPr>
          <p:cNvPr id="16" name="Text 14"/>
          <p:cNvSpPr/>
          <p:nvPr/>
        </p:nvSpPr>
        <p:spPr>
          <a:xfrm>
            <a:off x="1481328" y="3730752"/>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Talk it through</a:t>
            </a:r>
            <a:endParaRPr lang="en-US" sz="1600" dirty="0"/>
          </a:p>
        </p:txBody>
      </p:sp>
      <p:sp>
        <p:nvSpPr>
          <p:cNvPr id="17" name="Text 15"/>
          <p:cNvSpPr/>
          <p:nvPr/>
        </p:nvSpPr>
        <p:spPr>
          <a:xfrm>
            <a:off x="5212080" y="3712464"/>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We compare picks out loud. Where two students want one seat, we discuss; where a seat is empty, we recruit.</a:t>
            </a:r>
            <a:endParaRPr lang="en-US" sz="1250" dirty="0"/>
          </a:p>
        </p:txBody>
      </p:sp>
      <p:sp>
        <p:nvSpPr>
          <p:cNvPr id="18" name="Shape 16"/>
          <p:cNvSpPr/>
          <p:nvPr/>
        </p:nvSpPr>
        <p:spPr>
          <a:xfrm>
            <a:off x="1051560" y="4297680"/>
            <a:ext cx="0" cy="384048"/>
          </a:xfrm>
          <a:prstGeom prst="line">
            <a:avLst/>
          </a:prstGeom>
          <a:noFill/>
          <a:ln w="19050">
            <a:solidFill>
              <a:srgbClr val="D6E7EB"/>
            </a:solidFill>
            <a:prstDash val="solid"/>
          </a:ln>
        </p:spPr>
      </p:sp>
      <p:sp>
        <p:nvSpPr>
          <p:cNvPr id="19" name="Shape 17"/>
          <p:cNvSpPr/>
          <p:nvPr/>
        </p:nvSpPr>
        <p:spPr>
          <a:xfrm>
            <a:off x="822960" y="4718304"/>
            <a:ext cx="457200" cy="457200"/>
          </a:xfrm>
          <a:prstGeom prst="ellipse">
            <a:avLst/>
          </a:prstGeom>
          <a:solidFill>
            <a:srgbClr val="0D7490"/>
          </a:solidFill>
          <a:ln/>
        </p:spPr>
      </p:sp>
      <p:sp>
        <p:nvSpPr>
          <p:cNvPr id="20" name="Text 18"/>
          <p:cNvSpPr/>
          <p:nvPr/>
        </p:nvSpPr>
        <p:spPr>
          <a:xfrm>
            <a:off x="822960" y="47183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4</a:t>
            </a:r>
            <a:endParaRPr lang="en-US" sz="1400" dirty="0"/>
          </a:p>
        </p:txBody>
      </p:sp>
      <p:sp>
        <p:nvSpPr>
          <p:cNvPr id="21" name="Text 19"/>
          <p:cNvSpPr/>
          <p:nvPr/>
        </p:nvSpPr>
        <p:spPr>
          <a:xfrm>
            <a:off x="1481328" y="4681728"/>
            <a:ext cx="3657600" cy="457200"/>
          </a:xfrm>
          <a:prstGeom prst="rect">
            <a:avLst/>
          </a:prstGeom>
          <a:noFill/>
          <a:ln/>
        </p:spPr>
        <p:txBody>
          <a:bodyPr wrap="square" lIns="0" tIns="0" rIns="0" bIns="0" rtlCol="0" anchor="ctr"/>
          <a:lstStyle/>
          <a:p>
            <a:pPr indent="0" marL="0">
              <a:buNone/>
            </a:pPr>
            <a:r>
              <a:rPr lang="en-US" sz="1600" b="1" dirty="0">
                <a:solidFill>
                  <a:srgbClr val="1D1D1F"/>
                </a:solidFill>
                <a:latin typeface="Helvetica Neue" pitchFamily="34" charset="0"/>
                <a:ea typeface="Helvetica Neue" pitchFamily="34" charset="-122"/>
                <a:cs typeface="Helvetica Neue" pitchFamily="34" charset="-120"/>
              </a:rPr>
              <a:t>Advisor confirms</a:t>
            </a:r>
            <a:endParaRPr lang="en-US" sz="1600" dirty="0"/>
          </a:p>
        </p:txBody>
      </p:sp>
      <p:sp>
        <p:nvSpPr>
          <p:cNvPr id="22" name="Text 20"/>
          <p:cNvSpPr/>
          <p:nvPr/>
        </p:nvSpPr>
        <p:spPr>
          <a:xfrm>
            <a:off x="5212080" y="4663440"/>
            <a:ext cx="6126480" cy="594360"/>
          </a:xfrm>
          <a:prstGeom prst="rect">
            <a:avLst/>
          </a:prstGeom>
          <a:noFill/>
          <a:ln/>
        </p:spPr>
        <p:txBody>
          <a:bodyPr wrap="square" lIns="0" tIns="0" rIns="0" bIns="0" rtlCol="0" anchor="ctr"/>
          <a:lstStyle/>
          <a:p>
            <a:pPr indent="0" marL="0">
              <a:lnSpc>
                <a:spcPts val="1600"/>
              </a:lnSpc>
              <a:buNone/>
            </a:pPr>
            <a:r>
              <a:rPr lang="en-US" sz="1250" dirty="0">
                <a:solidFill>
                  <a:srgbClr val="6E6E73"/>
                </a:solidFill>
                <a:latin typeface="Helvetica Neue" pitchFamily="34" charset="0"/>
                <a:ea typeface="Helvetica Neue" pitchFamily="34" charset="-122"/>
                <a:cs typeface="Helvetica Neue" pitchFamily="34" charset="-120"/>
              </a:rPr>
              <a:t>The advisor confirms the final set so every role is filled and every student is placed.</a:t>
            </a:r>
            <a:endParaRPr lang="en-US" sz="1250" dirty="0"/>
          </a:p>
        </p:txBody>
      </p:sp>
      <p:sp>
        <p:nvSpPr>
          <p:cNvPr id="23" name="Shape 21"/>
          <p:cNvSpPr/>
          <p:nvPr/>
        </p:nvSpPr>
        <p:spPr>
          <a:xfrm>
            <a:off x="822960" y="5650992"/>
            <a:ext cx="10545775" cy="658368"/>
          </a:xfrm>
          <a:prstGeom prst="roundRect">
            <a:avLst>
              <a:gd name="adj" fmla="val 15278"/>
            </a:avLst>
          </a:prstGeom>
          <a:solidFill>
            <a:srgbClr val="EAF2F4"/>
          </a:solidFill>
          <a:ln w="12700">
            <a:solidFill>
              <a:srgbClr val="EAF2F4"/>
            </a:solidFill>
            <a:prstDash val="solid"/>
          </a:ln>
        </p:spPr>
      </p:sp>
      <p:sp>
        <p:nvSpPr>
          <p:cNvPr id="24" name="Text 22"/>
          <p:cNvSpPr/>
          <p:nvPr/>
        </p:nvSpPr>
        <p:spPr>
          <a:xfrm>
            <a:off x="1143000" y="5650992"/>
            <a:ext cx="9966960" cy="658368"/>
          </a:xfrm>
          <a:prstGeom prst="rect">
            <a:avLst/>
          </a:prstGeom>
          <a:noFill/>
          <a:ln/>
        </p:spPr>
        <p:txBody>
          <a:bodyPr wrap="square" lIns="0" tIns="0" rIns="0" bIns="0" rtlCol="0" anchor="ctr"/>
          <a:lstStyle/>
          <a:p>
            <a:pPr indent="0" marL="0">
              <a:lnSpc>
                <a:spcPts val="1500"/>
              </a:lnSpc>
              <a:buNone/>
            </a:pPr>
            <a:r>
              <a:rPr lang="en-US" sz="1150" b="1" dirty="0">
                <a:solidFill>
                  <a:srgbClr val="095D75"/>
                </a:solidFill>
                <a:latin typeface="Helvetica Neue" pitchFamily="34" charset="0"/>
                <a:ea typeface="Helvetica Neue" pitchFamily="34" charset="-122"/>
                <a:cs typeface="Helvetica Neue" pitchFamily="34" charset="-120"/>
              </a:rPr>
              <a:t>Two things to remember.  </a:t>
            </a:r>
            <a:pPr indent="0" marL="0">
              <a:lnSpc>
                <a:spcPts val="1500"/>
              </a:lnSpc>
              <a:buNone/>
            </a:pPr>
            <a:r>
              <a:rPr lang="en-US" sz="1150" dirty="0">
                <a:solidFill>
                  <a:srgbClr val="1D1D1F"/>
                </a:solidFill>
                <a:latin typeface="Helvetica Neue" pitchFamily="34" charset="0"/>
                <a:ea typeface="Helvetica Neue" pitchFamily="34" charset="-122"/>
                <a:cs typeface="Helvetica Neue" pitchFamily="34" charset="-120"/>
              </a:rPr>
              <a:t>No role is lesser than another — and roles can rotate at phase boundaries, so a choice today is not a cage for the season.</a:t>
            </a:r>
            <a:endParaRPr lang="en-US" sz="1150" dirty="0"/>
          </a:p>
        </p:txBody>
      </p:sp>
      <p:sp>
        <p:nvSpPr>
          <p:cNvPr id="25" name="Shape 23"/>
          <p:cNvSpPr/>
          <p:nvPr/>
        </p:nvSpPr>
        <p:spPr>
          <a:xfrm>
            <a:off x="822960" y="6437376"/>
            <a:ext cx="10545775" cy="0"/>
          </a:xfrm>
          <a:prstGeom prst="line">
            <a:avLst/>
          </a:prstGeom>
          <a:noFill/>
          <a:ln w="9525">
            <a:solidFill>
              <a:srgbClr val="E3E3E6"/>
            </a:solidFill>
            <a:prstDash val="solid"/>
          </a:ln>
        </p:spPr>
      </p:sp>
      <p:sp>
        <p:nvSpPr>
          <p:cNvPr id="26" name="Text 24"/>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7" name="Text 25"/>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14 / 26</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0" y="2286000"/>
            <a:ext cx="12191695" cy="457200"/>
          </a:xfrm>
          <a:prstGeom prst="rect">
            <a:avLst/>
          </a:prstGeom>
          <a:noFill/>
          <a:ln/>
        </p:spPr>
        <p:txBody>
          <a:bodyPr wrap="square" lIns="0" tIns="0" rIns="0" bIns="0" rtlCol="0" anchor="ctr"/>
          <a:lstStyle/>
          <a:p>
            <a:pPr algn="ctr" indent="0" marL="0">
              <a:buNone/>
            </a:pPr>
            <a:r>
              <a:rPr lang="en-US" sz="1500" b="1" spc="500" kern="0" dirty="0">
                <a:solidFill>
                  <a:srgbClr val="0D7490"/>
                </a:solidFill>
                <a:latin typeface="Helvetica Neue" pitchFamily="34" charset="0"/>
                <a:ea typeface="Helvetica Neue" pitchFamily="34" charset="-122"/>
                <a:cs typeface="Helvetica Neue" pitchFamily="34" charset="-120"/>
              </a:rPr>
              <a:t>BREAK</a:t>
            </a:r>
            <a:endParaRPr lang="en-US" sz="1500" dirty="0"/>
          </a:p>
        </p:txBody>
      </p:sp>
      <p:sp>
        <p:nvSpPr>
          <p:cNvPr id="3" name="Text 1"/>
          <p:cNvSpPr/>
          <p:nvPr/>
        </p:nvSpPr>
        <p:spPr>
          <a:xfrm>
            <a:off x="0" y="2697480"/>
            <a:ext cx="12191695" cy="1005840"/>
          </a:xfrm>
          <a:prstGeom prst="rect">
            <a:avLst/>
          </a:prstGeom>
          <a:noFill/>
          <a:ln/>
        </p:spPr>
        <p:txBody>
          <a:bodyPr wrap="square" lIns="0" tIns="0" rIns="0" bIns="0" rtlCol="0" anchor="ctr"/>
          <a:lstStyle/>
          <a:p>
            <a:pPr algn="ctr" indent="0" marL="0">
              <a:buNone/>
            </a:pPr>
            <a:r>
              <a:rPr lang="en-US" sz="5200" b="1" dirty="0">
                <a:solidFill>
                  <a:srgbClr val="1D1D1F"/>
                </a:solidFill>
                <a:latin typeface="Helvetica Neue" pitchFamily="34" charset="0"/>
                <a:ea typeface="Helvetica Neue" pitchFamily="34" charset="-122"/>
                <a:cs typeface="Helvetica Neue" pitchFamily="34" charset="-120"/>
              </a:rPr>
              <a:t>Ten minutes.</a:t>
            </a:r>
            <a:endParaRPr lang="en-US" sz="5200" dirty="0"/>
          </a:p>
        </p:txBody>
      </p:sp>
      <p:sp>
        <p:nvSpPr>
          <p:cNvPr id="4" name="Shape 2"/>
          <p:cNvSpPr/>
          <p:nvPr/>
        </p:nvSpPr>
        <p:spPr>
          <a:xfrm>
            <a:off x="5455768" y="3977640"/>
            <a:ext cx="1280160" cy="0"/>
          </a:xfrm>
          <a:prstGeom prst="line">
            <a:avLst/>
          </a:prstGeom>
          <a:noFill/>
          <a:ln w="12700">
            <a:solidFill>
              <a:srgbClr val="E3E3E6"/>
            </a:solidFill>
            <a:prstDash val="solid"/>
          </a:ln>
        </p:spPr>
      </p:sp>
      <p:sp>
        <p:nvSpPr>
          <p:cNvPr id="5" name="Text 3"/>
          <p:cNvSpPr/>
          <p:nvPr/>
        </p:nvSpPr>
        <p:spPr>
          <a:xfrm>
            <a:off x="0" y="4206240"/>
            <a:ext cx="12191695" cy="457200"/>
          </a:xfrm>
          <a:prstGeom prst="rect">
            <a:avLst/>
          </a:prstGeom>
          <a:noFill/>
          <a:ln/>
        </p:spPr>
        <p:txBody>
          <a:bodyPr wrap="square" lIns="0" tIns="0" rIns="0" bIns="0" rtlCol="0" anchor="ctr"/>
          <a:lstStyle/>
          <a:p>
            <a:pPr algn="ctr" indent="0" marL="0">
              <a:buNone/>
            </a:pPr>
            <a:r>
              <a:rPr lang="en-US" sz="1500" dirty="0">
                <a:solidFill>
                  <a:srgbClr val="6E6E73"/>
                </a:solidFill>
                <a:latin typeface="Helvetica Neue" pitchFamily="34" charset="0"/>
                <a:ea typeface="Helvetica Neue" pitchFamily="34" charset="-122"/>
                <a:cs typeface="Helvetica Neue" pitchFamily="34" charset="-120"/>
              </a:rPr>
              <a:t>We resume at 1:40 — and, like always, we start on time.</a:t>
            </a:r>
            <a:endParaRPr lang="en-US" sz="1500" dirty="0"/>
          </a:p>
        </p:txBody>
      </p:sp>
      <p:sp>
        <p:nvSpPr>
          <p:cNvPr id="6" name="Shape 4"/>
          <p:cNvSpPr/>
          <p:nvPr/>
        </p:nvSpPr>
        <p:spPr>
          <a:xfrm>
            <a:off x="822960" y="6437376"/>
            <a:ext cx="10545775" cy="0"/>
          </a:xfrm>
          <a:prstGeom prst="line">
            <a:avLst/>
          </a:prstGeom>
          <a:noFill/>
          <a:ln w="9525">
            <a:solidFill>
              <a:srgbClr val="E3E3E6"/>
            </a:solidFill>
            <a:prstDash val="solid"/>
          </a:ln>
        </p:spPr>
      </p:sp>
      <p:sp>
        <p:nvSpPr>
          <p:cNvPr id="7" name="Text 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8" name="Text 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15 / 26</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04</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04</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Season</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Ahead</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1:40 – 2:15   ·   35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Six phases carry the team from an empty room to the regional. Here is the whole map.</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16 / 26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SEASON AHEAD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Six phases, June to April.</a:t>
            </a:r>
            <a:endParaRPr lang="en-US" sz="3000" dirty="0"/>
          </a:p>
        </p:txBody>
      </p:sp>
      <p:sp>
        <p:nvSpPr>
          <p:cNvPr id="4" name="Shape 2"/>
          <p:cNvSpPr/>
          <p:nvPr/>
        </p:nvSpPr>
        <p:spPr>
          <a:xfrm>
            <a:off x="822960" y="1755648"/>
            <a:ext cx="10545775" cy="667512"/>
          </a:xfrm>
          <a:prstGeom prst="roundRect">
            <a:avLst>
              <a:gd name="adj" fmla="val 15068"/>
            </a:avLst>
          </a:prstGeom>
          <a:solidFill>
            <a:srgbClr val="EAF2F4"/>
          </a:solidFill>
          <a:ln w="12700">
            <a:solidFill>
              <a:srgbClr val="EAF2F4"/>
            </a:solidFill>
            <a:prstDash val="solid"/>
          </a:ln>
        </p:spPr>
      </p:sp>
      <p:sp>
        <p:nvSpPr>
          <p:cNvPr id="5" name="Shape 3"/>
          <p:cNvSpPr/>
          <p:nvPr/>
        </p:nvSpPr>
        <p:spPr>
          <a:xfrm>
            <a:off x="987552" y="1874520"/>
            <a:ext cx="457200" cy="457200"/>
          </a:xfrm>
          <a:prstGeom prst="ellipse">
            <a:avLst/>
          </a:prstGeom>
          <a:solidFill>
            <a:srgbClr val="0D7490"/>
          </a:solidFill>
          <a:ln/>
        </p:spPr>
      </p:sp>
      <p:sp>
        <p:nvSpPr>
          <p:cNvPr id="6" name="Text 4"/>
          <p:cNvSpPr/>
          <p:nvPr/>
        </p:nvSpPr>
        <p:spPr>
          <a:xfrm>
            <a:off x="987552"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1691640" y="1801368"/>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1 — Foundation</a:t>
            </a:r>
            <a:endParaRPr lang="en-US" sz="1450" dirty="0"/>
          </a:p>
        </p:txBody>
      </p:sp>
      <p:sp>
        <p:nvSpPr>
          <p:cNvPr id="8" name="Text 6"/>
          <p:cNvSpPr/>
          <p:nvPr/>
        </p:nvSpPr>
        <p:spPr>
          <a:xfrm>
            <a:off x="1691640" y="2121408"/>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Jun – Jul 2026</a:t>
            </a:r>
            <a:endParaRPr lang="en-US" sz="1050" dirty="0"/>
          </a:p>
        </p:txBody>
      </p:sp>
      <p:sp>
        <p:nvSpPr>
          <p:cNvPr id="9" name="Text 7"/>
          <p:cNvSpPr/>
          <p:nvPr/>
        </p:nvSpPr>
        <p:spPr>
          <a:xfrm>
            <a:off x="5029200" y="1792224"/>
            <a:ext cx="6126480" cy="219456"/>
          </a:xfrm>
          <a:prstGeom prst="rect">
            <a:avLst/>
          </a:prstGeom>
          <a:noFill/>
          <a:ln/>
        </p:spPr>
        <p:txBody>
          <a:bodyPr wrap="square" lIns="0" tIns="0" rIns="0" bIns="0" rtlCol="0" anchor="ctr"/>
          <a:lstStyle/>
          <a:p>
            <a:pPr indent="0" marL="0">
              <a:buNone/>
            </a:pPr>
            <a:r>
              <a:rPr lang="en-US" sz="800" b="1" spc="200" kern="0" dirty="0">
                <a:solidFill>
                  <a:srgbClr val="095D75"/>
                </a:solidFill>
                <a:latin typeface="Helvetica Neue" pitchFamily="34" charset="0"/>
                <a:ea typeface="Helvetica Neue" pitchFamily="34" charset="-122"/>
                <a:cs typeface="Helvetica Neue" pitchFamily="34" charset="-120"/>
              </a:rPr>
              <a:t>WE ARE HERE</a:t>
            </a:r>
            <a:endParaRPr lang="en-US" sz="800" dirty="0"/>
          </a:p>
        </p:txBody>
      </p:sp>
      <p:sp>
        <p:nvSpPr>
          <p:cNvPr id="10" name="Text 8"/>
          <p:cNvSpPr/>
          <p:nvPr/>
        </p:nvSpPr>
        <p:spPr>
          <a:xfrm>
            <a:off x="5029200" y="1956816"/>
            <a:ext cx="6126480" cy="457200"/>
          </a:xfrm>
          <a:prstGeom prst="rect">
            <a:avLst/>
          </a:prstGeom>
          <a:noFill/>
          <a:ln/>
        </p:spPr>
        <p:txBody>
          <a:bodyPr wrap="square" lIns="0" tIns="0" rIns="0" bIns="0" rtlCol="0" anchor="ctr"/>
          <a:lstStyle/>
          <a:p>
            <a:pPr indent="0" marL="0">
              <a:lnSpc>
                <a:spcPts val="1600"/>
              </a:lnSpc>
              <a:buNone/>
            </a:pPr>
            <a:r>
              <a:rPr lang="en-US" sz="1200" b="1" dirty="0">
                <a:solidFill>
                  <a:srgbClr val="1D1D1F"/>
                </a:solidFill>
                <a:latin typeface="Helvetica Neue" pitchFamily="34" charset="0"/>
                <a:ea typeface="Helvetica Neue" pitchFamily="34" charset="-122"/>
                <a:cs typeface="Helvetica Neue" pitchFamily="34" charset="-120"/>
              </a:rPr>
              <a:t>A team that exists, a starter ROV wet, and kids who have soldered.</a:t>
            </a:r>
            <a:endParaRPr lang="en-US" sz="1200" dirty="0"/>
          </a:p>
        </p:txBody>
      </p:sp>
      <p:sp>
        <p:nvSpPr>
          <p:cNvPr id="11" name="Shape 9"/>
          <p:cNvSpPr/>
          <p:nvPr/>
        </p:nvSpPr>
        <p:spPr>
          <a:xfrm>
            <a:off x="987552" y="2596896"/>
            <a:ext cx="457200" cy="457200"/>
          </a:xfrm>
          <a:prstGeom prst="ellipse">
            <a:avLst/>
          </a:prstGeom>
          <a:solidFill>
            <a:srgbClr val="FFFFFF"/>
          </a:solidFill>
          <a:ln/>
        </p:spPr>
      </p:sp>
      <p:sp>
        <p:nvSpPr>
          <p:cNvPr id="12" name="Text 10"/>
          <p:cNvSpPr/>
          <p:nvPr/>
        </p:nvSpPr>
        <p:spPr>
          <a:xfrm>
            <a:off x="987552" y="2596896"/>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2</a:t>
            </a:r>
            <a:endParaRPr lang="en-US" sz="1400" dirty="0"/>
          </a:p>
        </p:txBody>
      </p:sp>
      <p:sp>
        <p:nvSpPr>
          <p:cNvPr id="13" name="Shape 11"/>
          <p:cNvSpPr/>
          <p:nvPr/>
        </p:nvSpPr>
        <p:spPr>
          <a:xfrm>
            <a:off x="987552" y="2596896"/>
            <a:ext cx="457200" cy="457200"/>
          </a:xfrm>
          <a:prstGeom prst="ellipse">
            <a:avLst/>
          </a:prstGeom>
          <a:solidFill>
            <a:srgbClr val="FFFFFF"/>
          </a:solidFill>
          <a:ln w="15875">
            <a:solidFill>
              <a:srgbClr val="D6E7EB"/>
            </a:solidFill>
            <a:prstDash val="solid"/>
          </a:ln>
        </p:spPr>
      </p:sp>
      <p:sp>
        <p:nvSpPr>
          <p:cNvPr id="14" name="Text 12"/>
          <p:cNvSpPr/>
          <p:nvPr/>
        </p:nvSpPr>
        <p:spPr>
          <a:xfrm>
            <a:off x="987552" y="2596896"/>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2</a:t>
            </a:r>
            <a:endParaRPr lang="en-US" sz="1400" dirty="0"/>
          </a:p>
        </p:txBody>
      </p:sp>
      <p:sp>
        <p:nvSpPr>
          <p:cNvPr id="15" name="Text 13"/>
          <p:cNvSpPr/>
          <p:nvPr/>
        </p:nvSpPr>
        <p:spPr>
          <a:xfrm>
            <a:off x="1691640" y="2523744"/>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2 — Capability</a:t>
            </a:r>
            <a:endParaRPr lang="en-US" sz="1450" dirty="0"/>
          </a:p>
        </p:txBody>
      </p:sp>
      <p:sp>
        <p:nvSpPr>
          <p:cNvPr id="16" name="Text 14"/>
          <p:cNvSpPr/>
          <p:nvPr/>
        </p:nvSpPr>
        <p:spPr>
          <a:xfrm>
            <a:off x="1691640" y="2843784"/>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Aug – mid-Oct 2026</a:t>
            </a:r>
            <a:endParaRPr lang="en-US" sz="1050" dirty="0"/>
          </a:p>
        </p:txBody>
      </p:sp>
      <p:sp>
        <p:nvSpPr>
          <p:cNvPr id="17" name="Text 15"/>
          <p:cNvSpPr/>
          <p:nvPr/>
        </p:nvSpPr>
        <p:spPr>
          <a:xfrm>
            <a:off x="5029200" y="2478024"/>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Weekly cadence returns. Each sub-team takes a skill-building mini-project.</a:t>
            </a:r>
            <a:endParaRPr lang="en-US" sz="1200" dirty="0"/>
          </a:p>
        </p:txBody>
      </p:sp>
      <p:sp>
        <p:nvSpPr>
          <p:cNvPr id="18" name="Shape 16"/>
          <p:cNvSpPr/>
          <p:nvPr/>
        </p:nvSpPr>
        <p:spPr>
          <a:xfrm>
            <a:off x="987552" y="3319272"/>
            <a:ext cx="457200" cy="457200"/>
          </a:xfrm>
          <a:prstGeom prst="ellipse">
            <a:avLst/>
          </a:prstGeom>
          <a:solidFill>
            <a:srgbClr val="FFFFFF"/>
          </a:solidFill>
          <a:ln/>
        </p:spPr>
      </p:sp>
      <p:sp>
        <p:nvSpPr>
          <p:cNvPr id="19" name="Text 17"/>
          <p:cNvSpPr/>
          <p:nvPr/>
        </p:nvSpPr>
        <p:spPr>
          <a:xfrm>
            <a:off x="987552" y="3319272"/>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3</a:t>
            </a:r>
            <a:endParaRPr lang="en-US" sz="1400" dirty="0"/>
          </a:p>
        </p:txBody>
      </p:sp>
      <p:sp>
        <p:nvSpPr>
          <p:cNvPr id="20" name="Shape 18"/>
          <p:cNvSpPr/>
          <p:nvPr/>
        </p:nvSpPr>
        <p:spPr>
          <a:xfrm>
            <a:off x="987552" y="3319272"/>
            <a:ext cx="457200" cy="457200"/>
          </a:xfrm>
          <a:prstGeom prst="ellipse">
            <a:avLst/>
          </a:prstGeom>
          <a:solidFill>
            <a:srgbClr val="FFFFFF"/>
          </a:solidFill>
          <a:ln w="15875">
            <a:solidFill>
              <a:srgbClr val="D6E7EB"/>
            </a:solidFill>
            <a:prstDash val="solid"/>
          </a:ln>
        </p:spPr>
      </p:sp>
      <p:sp>
        <p:nvSpPr>
          <p:cNvPr id="21" name="Text 19"/>
          <p:cNvSpPr/>
          <p:nvPr/>
        </p:nvSpPr>
        <p:spPr>
          <a:xfrm>
            <a:off x="987552" y="3319272"/>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3</a:t>
            </a:r>
            <a:endParaRPr lang="en-US" sz="1400" dirty="0"/>
          </a:p>
        </p:txBody>
      </p:sp>
      <p:sp>
        <p:nvSpPr>
          <p:cNvPr id="22" name="Text 20"/>
          <p:cNvSpPr/>
          <p:nvPr/>
        </p:nvSpPr>
        <p:spPr>
          <a:xfrm>
            <a:off x="1691640" y="3246120"/>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3 — Design</a:t>
            </a:r>
            <a:endParaRPr lang="en-US" sz="1450" dirty="0"/>
          </a:p>
        </p:txBody>
      </p:sp>
      <p:sp>
        <p:nvSpPr>
          <p:cNvPr id="23" name="Text 21"/>
          <p:cNvSpPr/>
          <p:nvPr/>
        </p:nvSpPr>
        <p:spPr>
          <a:xfrm>
            <a:off x="1691640" y="3566160"/>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mid-Oct 2026 – mid-Jan 2027</a:t>
            </a:r>
            <a:endParaRPr lang="en-US" sz="1050" dirty="0"/>
          </a:p>
        </p:txBody>
      </p:sp>
      <p:sp>
        <p:nvSpPr>
          <p:cNvPr id="24" name="Text 22"/>
          <p:cNvSpPr/>
          <p:nvPr/>
        </p:nvSpPr>
        <p:spPr>
          <a:xfrm>
            <a:off x="5029200" y="3200400"/>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The 2027 manual drops. Decompose missions, run trade studies, lock CAD.</a:t>
            </a:r>
            <a:endParaRPr lang="en-US" sz="1200" dirty="0"/>
          </a:p>
        </p:txBody>
      </p:sp>
      <p:sp>
        <p:nvSpPr>
          <p:cNvPr id="25" name="Shape 23"/>
          <p:cNvSpPr/>
          <p:nvPr/>
        </p:nvSpPr>
        <p:spPr>
          <a:xfrm>
            <a:off x="987552" y="4041648"/>
            <a:ext cx="457200" cy="457200"/>
          </a:xfrm>
          <a:prstGeom prst="ellipse">
            <a:avLst/>
          </a:prstGeom>
          <a:solidFill>
            <a:srgbClr val="FFFFFF"/>
          </a:solidFill>
          <a:ln/>
        </p:spPr>
      </p:sp>
      <p:sp>
        <p:nvSpPr>
          <p:cNvPr id="26" name="Text 24"/>
          <p:cNvSpPr/>
          <p:nvPr/>
        </p:nvSpPr>
        <p:spPr>
          <a:xfrm>
            <a:off x="987552" y="4041648"/>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4</a:t>
            </a:r>
            <a:endParaRPr lang="en-US" sz="1400" dirty="0"/>
          </a:p>
        </p:txBody>
      </p:sp>
      <p:sp>
        <p:nvSpPr>
          <p:cNvPr id="27" name="Shape 25"/>
          <p:cNvSpPr/>
          <p:nvPr/>
        </p:nvSpPr>
        <p:spPr>
          <a:xfrm>
            <a:off x="987552" y="4041648"/>
            <a:ext cx="457200" cy="457200"/>
          </a:xfrm>
          <a:prstGeom prst="ellipse">
            <a:avLst/>
          </a:prstGeom>
          <a:solidFill>
            <a:srgbClr val="FFFFFF"/>
          </a:solidFill>
          <a:ln w="15875">
            <a:solidFill>
              <a:srgbClr val="D6E7EB"/>
            </a:solidFill>
            <a:prstDash val="solid"/>
          </a:ln>
        </p:spPr>
      </p:sp>
      <p:sp>
        <p:nvSpPr>
          <p:cNvPr id="28" name="Text 26"/>
          <p:cNvSpPr/>
          <p:nvPr/>
        </p:nvSpPr>
        <p:spPr>
          <a:xfrm>
            <a:off x="987552" y="4041648"/>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4</a:t>
            </a:r>
            <a:endParaRPr lang="en-US" sz="1400" dirty="0"/>
          </a:p>
        </p:txBody>
      </p:sp>
      <p:sp>
        <p:nvSpPr>
          <p:cNvPr id="29" name="Text 27"/>
          <p:cNvSpPr/>
          <p:nvPr/>
        </p:nvSpPr>
        <p:spPr>
          <a:xfrm>
            <a:off x="1691640" y="3968496"/>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4 — Build</a:t>
            </a:r>
            <a:endParaRPr lang="en-US" sz="1450" dirty="0"/>
          </a:p>
        </p:txBody>
      </p:sp>
      <p:sp>
        <p:nvSpPr>
          <p:cNvPr id="30" name="Text 28"/>
          <p:cNvSpPr/>
          <p:nvPr/>
        </p:nvSpPr>
        <p:spPr>
          <a:xfrm>
            <a:off x="1691640" y="4288536"/>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mid-Jan – Feb 2027</a:t>
            </a:r>
            <a:endParaRPr lang="en-US" sz="1050" dirty="0"/>
          </a:p>
        </p:txBody>
      </p:sp>
      <p:sp>
        <p:nvSpPr>
          <p:cNvPr id="31" name="Text 29"/>
          <p:cNvSpPr/>
          <p:nvPr/>
        </p:nvSpPr>
        <p:spPr>
          <a:xfrm>
            <a:off x="5029200" y="3922776"/>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Construction. Frame, electronics, tether, float, and manipulator come together.</a:t>
            </a:r>
            <a:endParaRPr lang="en-US" sz="1200" dirty="0"/>
          </a:p>
        </p:txBody>
      </p:sp>
      <p:sp>
        <p:nvSpPr>
          <p:cNvPr id="32" name="Shape 30"/>
          <p:cNvSpPr/>
          <p:nvPr/>
        </p:nvSpPr>
        <p:spPr>
          <a:xfrm>
            <a:off x="987552" y="4764024"/>
            <a:ext cx="457200" cy="457200"/>
          </a:xfrm>
          <a:prstGeom prst="ellipse">
            <a:avLst/>
          </a:prstGeom>
          <a:solidFill>
            <a:srgbClr val="FFFFFF"/>
          </a:solidFill>
          <a:ln/>
        </p:spPr>
      </p:sp>
      <p:sp>
        <p:nvSpPr>
          <p:cNvPr id="33" name="Text 31"/>
          <p:cNvSpPr/>
          <p:nvPr/>
        </p:nvSpPr>
        <p:spPr>
          <a:xfrm>
            <a:off x="987552" y="4764024"/>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5</a:t>
            </a:r>
            <a:endParaRPr lang="en-US" sz="1400" dirty="0"/>
          </a:p>
        </p:txBody>
      </p:sp>
      <p:sp>
        <p:nvSpPr>
          <p:cNvPr id="34" name="Shape 32"/>
          <p:cNvSpPr/>
          <p:nvPr/>
        </p:nvSpPr>
        <p:spPr>
          <a:xfrm>
            <a:off x="987552" y="4764024"/>
            <a:ext cx="457200" cy="457200"/>
          </a:xfrm>
          <a:prstGeom prst="ellipse">
            <a:avLst/>
          </a:prstGeom>
          <a:solidFill>
            <a:srgbClr val="FFFFFF"/>
          </a:solidFill>
          <a:ln w="15875">
            <a:solidFill>
              <a:srgbClr val="D6E7EB"/>
            </a:solidFill>
            <a:prstDash val="solid"/>
          </a:ln>
        </p:spPr>
      </p:sp>
      <p:sp>
        <p:nvSpPr>
          <p:cNvPr id="35" name="Text 33"/>
          <p:cNvSpPr/>
          <p:nvPr/>
        </p:nvSpPr>
        <p:spPr>
          <a:xfrm>
            <a:off x="987552" y="4764024"/>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5</a:t>
            </a:r>
            <a:endParaRPr lang="en-US" sz="1400" dirty="0"/>
          </a:p>
        </p:txBody>
      </p:sp>
      <p:sp>
        <p:nvSpPr>
          <p:cNvPr id="36" name="Text 34"/>
          <p:cNvSpPr/>
          <p:nvPr/>
        </p:nvSpPr>
        <p:spPr>
          <a:xfrm>
            <a:off x="1691640" y="4690872"/>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5 — Test &amp; Document</a:t>
            </a:r>
            <a:endParaRPr lang="en-US" sz="1450" dirty="0"/>
          </a:p>
        </p:txBody>
      </p:sp>
      <p:sp>
        <p:nvSpPr>
          <p:cNvPr id="37" name="Text 35"/>
          <p:cNvSpPr/>
          <p:nvPr/>
        </p:nvSpPr>
        <p:spPr>
          <a:xfrm>
            <a:off x="1691640" y="5010912"/>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March 2027</a:t>
            </a:r>
            <a:endParaRPr lang="en-US" sz="1050" dirty="0"/>
          </a:p>
        </p:txBody>
      </p:sp>
      <p:sp>
        <p:nvSpPr>
          <p:cNvPr id="38" name="Text 36"/>
          <p:cNvSpPr/>
          <p:nvPr/>
        </p:nvSpPr>
        <p:spPr>
          <a:xfrm>
            <a:off x="5029200" y="4645152"/>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Full-mission rehearsals, the JSEA, and the technical documentation.</a:t>
            </a:r>
            <a:endParaRPr lang="en-US" sz="1200" dirty="0"/>
          </a:p>
        </p:txBody>
      </p:sp>
      <p:sp>
        <p:nvSpPr>
          <p:cNvPr id="39" name="Shape 37"/>
          <p:cNvSpPr/>
          <p:nvPr/>
        </p:nvSpPr>
        <p:spPr>
          <a:xfrm>
            <a:off x="987552" y="5486400"/>
            <a:ext cx="457200" cy="457200"/>
          </a:xfrm>
          <a:prstGeom prst="ellipse">
            <a:avLst/>
          </a:prstGeom>
          <a:solidFill>
            <a:srgbClr val="FFFFFF"/>
          </a:solidFill>
          <a:ln/>
        </p:spPr>
      </p:sp>
      <p:sp>
        <p:nvSpPr>
          <p:cNvPr id="40" name="Text 38"/>
          <p:cNvSpPr/>
          <p:nvPr/>
        </p:nvSpPr>
        <p:spPr>
          <a:xfrm>
            <a:off x="987552" y="5486400"/>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6</a:t>
            </a:r>
            <a:endParaRPr lang="en-US" sz="1400" dirty="0"/>
          </a:p>
        </p:txBody>
      </p:sp>
      <p:sp>
        <p:nvSpPr>
          <p:cNvPr id="41" name="Shape 39"/>
          <p:cNvSpPr/>
          <p:nvPr/>
        </p:nvSpPr>
        <p:spPr>
          <a:xfrm>
            <a:off x="987552" y="5486400"/>
            <a:ext cx="457200" cy="457200"/>
          </a:xfrm>
          <a:prstGeom prst="ellipse">
            <a:avLst/>
          </a:prstGeom>
          <a:solidFill>
            <a:srgbClr val="FFFFFF"/>
          </a:solidFill>
          <a:ln w="15875">
            <a:solidFill>
              <a:srgbClr val="D6E7EB"/>
            </a:solidFill>
            <a:prstDash val="solid"/>
          </a:ln>
        </p:spPr>
      </p:sp>
      <p:sp>
        <p:nvSpPr>
          <p:cNvPr id="42" name="Text 40"/>
          <p:cNvSpPr/>
          <p:nvPr/>
        </p:nvSpPr>
        <p:spPr>
          <a:xfrm>
            <a:off x="987552" y="5486400"/>
            <a:ext cx="457200" cy="457200"/>
          </a:xfrm>
          <a:prstGeom prst="rect">
            <a:avLst/>
          </a:prstGeom>
          <a:noFill/>
          <a:ln/>
        </p:spPr>
        <p:txBody>
          <a:bodyPr wrap="square" lIns="0" tIns="0" rIns="0" bIns="0" rtlCol="0" anchor="ctr"/>
          <a:lstStyle/>
          <a:p>
            <a:pPr algn="ctr" indent="0" marL="0">
              <a:buNone/>
            </a:pPr>
            <a:r>
              <a:rPr lang="en-US" sz="1400" b="1" dirty="0">
                <a:solidFill>
                  <a:srgbClr val="0D7490"/>
                </a:solidFill>
                <a:latin typeface="Helvetica Neue" pitchFamily="34" charset="0"/>
                <a:ea typeface="Helvetica Neue" pitchFamily="34" charset="-122"/>
                <a:cs typeface="Helvetica Neue" pitchFamily="34" charset="-120"/>
              </a:rPr>
              <a:t>6</a:t>
            </a:r>
            <a:endParaRPr lang="en-US" sz="1400" dirty="0"/>
          </a:p>
        </p:txBody>
      </p:sp>
      <p:sp>
        <p:nvSpPr>
          <p:cNvPr id="43" name="Text 41"/>
          <p:cNvSpPr/>
          <p:nvPr/>
        </p:nvSpPr>
        <p:spPr>
          <a:xfrm>
            <a:off x="1691640" y="5413248"/>
            <a:ext cx="3200400" cy="329184"/>
          </a:xfrm>
          <a:prstGeom prst="rect">
            <a:avLst/>
          </a:prstGeom>
          <a:noFill/>
          <a:ln/>
        </p:spPr>
        <p:txBody>
          <a:bodyPr wrap="square" lIns="0" tIns="0" rIns="0" bIns="0" rtlCol="0" anchor="ctr"/>
          <a:lstStyle/>
          <a:p>
            <a:pPr indent="0" marL="0">
              <a:buNone/>
            </a:pPr>
            <a:r>
              <a:rPr lang="en-US" sz="1450" b="1" dirty="0">
                <a:solidFill>
                  <a:srgbClr val="1D1D1F"/>
                </a:solidFill>
                <a:latin typeface="Helvetica Neue" pitchFamily="34" charset="0"/>
                <a:ea typeface="Helvetica Neue" pitchFamily="34" charset="-122"/>
                <a:cs typeface="Helvetica Neue" pitchFamily="34" charset="-120"/>
              </a:rPr>
              <a:t>Phase 6 — Polish &amp; Compete</a:t>
            </a:r>
            <a:endParaRPr lang="en-US" sz="1450" dirty="0"/>
          </a:p>
        </p:txBody>
      </p:sp>
      <p:sp>
        <p:nvSpPr>
          <p:cNvPr id="44" name="Text 42"/>
          <p:cNvSpPr/>
          <p:nvPr/>
        </p:nvSpPr>
        <p:spPr>
          <a:xfrm>
            <a:off x="1691640" y="5733288"/>
            <a:ext cx="3200400" cy="274320"/>
          </a:xfrm>
          <a:prstGeom prst="rect">
            <a:avLst/>
          </a:prstGeom>
          <a:noFill/>
          <a:ln/>
        </p:spPr>
        <p:txBody>
          <a:bodyPr wrap="square" lIns="0" tIns="0" rIns="0" bIns="0" rtlCol="0" anchor="ctr"/>
          <a:lstStyle/>
          <a:p>
            <a:pPr indent="0" marL="0">
              <a:buNone/>
            </a:pPr>
            <a:r>
              <a:rPr lang="en-US" sz="1050" dirty="0">
                <a:solidFill>
                  <a:srgbClr val="0D7490"/>
                </a:solidFill>
                <a:latin typeface="Helvetica Neue" pitchFamily="34" charset="0"/>
                <a:ea typeface="Helvetica Neue" pitchFamily="34" charset="-122"/>
                <a:cs typeface="Helvetica Neue" pitchFamily="34" charset="-120"/>
              </a:rPr>
              <a:t>April 2027</a:t>
            </a:r>
            <a:endParaRPr lang="en-US" sz="1050" dirty="0"/>
          </a:p>
        </p:txBody>
      </p:sp>
      <p:sp>
        <p:nvSpPr>
          <p:cNvPr id="45" name="Text 43"/>
          <p:cNvSpPr/>
          <p:nvPr/>
        </p:nvSpPr>
        <p:spPr>
          <a:xfrm>
            <a:off x="5029200" y="5367528"/>
            <a:ext cx="6126480" cy="630936"/>
          </a:xfrm>
          <a:prstGeom prst="rect">
            <a:avLst/>
          </a:prstGeom>
          <a:noFill/>
          <a:ln/>
        </p:spPr>
        <p:txBody>
          <a:bodyPr wrap="square" lIns="0" tIns="0" rIns="0" bIns="0" rtlCol="0" anchor="ctr"/>
          <a:lstStyle/>
          <a:p>
            <a:pPr indent="0" marL="0">
              <a:lnSpc>
                <a:spcPts val="1600"/>
              </a:lnSpc>
              <a:buNone/>
            </a:pPr>
            <a:r>
              <a:rPr lang="en-US" sz="1200" dirty="0">
                <a:solidFill>
                  <a:srgbClr val="6E6E73"/>
                </a:solidFill>
                <a:latin typeface="Helvetica Neue" pitchFamily="34" charset="0"/>
                <a:ea typeface="Helvetica Neue" pitchFamily="34" charset="-122"/>
                <a:cs typeface="Helvetica Neue" pitchFamily="34" charset="-120"/>
              </a:rPr>
              <a:t>Documents in, display printed, presentation rehearsed — travel to Dauphin Island.</a:t>
            </a:r>
            <a:endParaRPr lang="en-US" sz="1200" dirty="0"/>
          </a:p>
        </p:txBody>
      </p:sp>
      <p:sp>
        <p:nvSpPr>
          <p:cNvPr id="46" name="Shape 44"/>
          <p:cNvSpPr/>
          <p:nvPr/>
        </p:nvSpPr>
        <p:spPr>
          <a:xfrm>
            <a:off x="822960" y="6437376"/>
            <a:ext cx="10545775" cy="0"/>
          </a:xfrm>
          <a:prstGeom prst="line">
            <a:avLst/>
          </a:prstGeom>
          <a:noFill/>
          <a:ln w="9525">
            <a:solidFill>
              <a:srgbClr val="E3E3E6"/>
            </a:solidFill>
            <a:prstDash val="solid"/>
          </a:ln>
        </p:spPr>
      </p:sp>
      <p:sp>
        <p:nvSpPr>
          <p:cNvPr id="47" name="Text 45"/>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8" name="Text 46"/>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17 / 26</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SEASON AHEAD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Phase 1 — our first six weeks.</a:t>
            </a:r>
            <a:endParaRPr lang="en-US" sz="3000" dirty="0"/>
          </a:p>
        </p:txBody>
      </p:sp>
      <p:sp>
        <p:nvSpPr>
          <p:cNvPr id="4" name="Text 2"/>
          <p:cNvSpPr/>
          <p:nvPr/>
        </p:nvSpPr>
        <p:spPr>
          <a:xfrm>
            <a:off x="822960" y="1755648"/>
            <a:ext cx="10515600" cy="457200"/>
          </a:xfrm>
          <a:prstGeom prst="rect">
            <a:avLst/>
          </a:prstGeom>
          <a:noFill/>
          <a:ln/>
        </p:spPr>
        <p:txBody>
          <a:bodyPr wrap="square" lIns="0" tIns="0" rIns="0" bIns="0" rtlCol="0" anchor="ctr"/>
          <a:lstStyle/>
          <a:p>
            <a:pPr indent="0" marL="0">
              <a:buNone/>
            </a:pPr>
            <a:r>
              <a:rPr lang="en-US" sz="1400" dirty="0">
                <a:solidFill>
                  <a:srgbClr val="6E6E73"/>
                </a:solidFill>
                <a:latin typeface="Helvetica Neue" pitchFamily="34" charset="0"/>
                <a:ea typeface="Helvetica Neue" pitchFamily="34" charset="-122"/>
                <a:cs typeface="Helvetica Neue" pitchFamily="34" charset="-120"/>
              </a:rPr>
              <a:t>Phase 1 runs mid-June through July. Six weeks, six themes. We are inside Week 1 right now.</a:t>
            </a:r>
            <a:endParaRPr lang="en-US" sz="1400" dirty="0"/>
          </a:p>
        </p:txBody>
      </p:sp>
      <p:sp>
        <p:nvSpPr>
          <p:cNvPr id="5" name="Shape 3"/>
          <p:cNvSpPr/>
          <p:nvPr/>
        </p:nvSpPr>
        <p:spPr>
          <a:xfrm>
            <a:off x="822960" y="2395728"/>
            <a:ext cx="1627632" cy="3063240"/>
          </a:xfrm>
          <a:prstGeom prst="roundRect">
            <a:avLst>
              <a:gd name="adj" fmla="val 6180"/>
            </a:avLst>
          </a:prstGeom>
          <a:solidFill>
            <a:srgbClr val="0D7490"/>
          </a:solidFill>
          <a:ln w="12700">
            <a:solidFill>
              <a:srgbClr val="0D7490"/>
            </a:solidFill>
            <a:prstDash val="solid"/>
          </a:ln>
        </p:spPr>
      </p:sp>
      <p:sp>
        <p:nvSpPr>
          <p:cNvPr id="6" name="Text 4"/>
          <p:cNvSpPr/>
          <p:nvPr/>
        </p:nvSpPr>
        <p:spPr>
          <a:xfrm>
            <a:off x="1024128" y="2633472"/>
            <a:ext cx="1225296" cy="219456"/>
          </a:xfrm>
          <a:prstGeom prst="rect">
            <a:avLst/>
          </a:prstGeom>
          <a:noFill/>
          <a:ln/>
        </p:spPr>
        <p:txBody>
          <a:bodyPr wrap="square" lIns="0" tIns="0" rIns="0" bIns="0" rtlCol="0" anchor="ctr"/>
          <a:lstStyle/>
          <a:p>
            <a:pPr indent="0" marL="0">
              <a:buNone/>
            </a:pPr>
            <a:r>
              <a:rPr lang="en-US" sz="800" b="1" spc="150" kern="0" dirty="0">
                <a:solidFill>
                  <a:srgbClr val="9FCEDA"/>
                </a:solidFill>
                <a:latin typeface="Helvetica Neue" pitchFamily="34" charset="0"/>
                <a:ea typeface="Helvetica Neue" pitchFamily="34" charset="-122"/>
                <a:cs typeface="Helvetica Neue" pitchFamily="34" charset="-120"/>
              </a:rPr>
              <a:t>WEEK</a:t>
            </a:r>
            <a:endParaRPr lang="en-US" sz="800" dirty="0"/>
          </a:p>
        </p:txBody>
      </p:sp>
      <p:sp>
        <p:nvSpPr>
          <p:cNvPr id="7" name="Text 5"/>
          <p:cNvSpPr/>
          <p:nvPr/>
        </p:nvSpPr>
        <p:spPr>
          <a:xfrm>
            <a:off x="1024128" y="2798064"/>
            <a:ext cx="1225296" cy="640080"/>
          </a:xfrm>
          <a:prstGeom prst="rect">
            <a:avLst/>
          </a:prstGeom>
          <a:noFill/>
          <a:ln/>
        </p:spPr>
        <p:txBody>
          <a:bodyPr wrap="square" lIns="0" tIns="0" rIns="0" bIns="0" rtlCol="0" anchor="ctr"/>
          <a:lstStyle/>
          <a:p>
            <a:pPr indent="0" marL="0">
              <a:buNone/>
            </a:pPr>
            <a:r>
              <a:rPr lang="en-US" sz="3400" b="1" dirty="0">
                <a:solidFill>
                  <a:srgbClr val="FFFFFF"/>
                </a:solidFill>
                <a:latin typeface="Helvetica Neue" pitchFamily="34" charset="0"/>
                <a:ea typeface="Helvetica Neue" pitchFamily="34" charset="-122"/>
                <a:cs typeface="Helvetica Neue" pitchFamily="34" charset="-120"/>
              </a:rPr>
              <a:t>1</a:t>
            </a:r>
            <a:endParaRPr lang="en-US" sz="3400" dirty="0"/>
          </a:p>
        </p:txBody>
      </p:sp>
      <p:sp>
        <p:nvSpPr>
          <p:cNvPr id="8" name="Shape 6"/>
          <p:cNvSpPr/>
          <p:nvPr/>
        </p:nvSpPr>
        <p:spPr>
          <a:xfrm>
            <a:off x="1024128" y="3529584"/>
            <a:ext cx="1225296" cy="0"/>
          </a:xfrm>
          <a:prstGeom prst="line">
            <a:avLst/>
          </a:prstGeom>
          <a:noFill/>
          <a:ln w="9525">
            <a:solidFill>
              <a:srgbClr val="3E7E91"/>
            </a:solidFill>
            <a:prstDash val="solid"/>
          </a:ln>
        </p:spPr>
      </p:sp>
      <p:sp>
        <p:nvSpPr>
          <p:cNvPr id="9" name="Text 7"/>
          <p:cNvSpPr/>
          <p:nvPr/>
        </p:nvSpPr>
        <p:spPr>
          <a:xfrm>
            <a:off x="1005840"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Helvetica Neue" pitchFamily="34" charset="0"/>
                <a:ea typeface="Helvetica Neue" pitchFamily="34" charset="-122"/>
                <a:cs typeface="Helvetica Neue" pitchFamily="34" charset="-120"/>
              </a:rPr>
              <a:t>Kickoff</a:t>
            </a:r>
            <a:endParaRPr lang="en-US" sz="1150" dirty="0"/>
          </a:p>
        </p:txBody>
      </p:sp>
      <p:sp>
        <p:nvSpPr>
          <p:cNvPr id="10" name="Text 8"/>
          <p:cNvSpPr/>
          <p:nvPr/>
        </p:nvSpPr>
        <p:spPr>
          <a:xfrm>
            <a:off x="1024128"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EAF2F4"/>
                </a:solidFill>
                <a:latin typeface="Helvetica Neue" pitchFamily="34" charset="0"/>
                <a:ea typeface="Helvetica Neue" pitchFamily="34" charset="-122"/>
                <a:cs typeface="Helvetica Neue" pitchFamily="34" charset="-120"/>
              </a:rPr>
              <a:t>Form the company, set the safety habit.</a:t>
            </a:r>
            <a:endParaRPr lang="en-US" sz="950" dirty="0"/>
          </a:p>
        </p:txBody>
      </p:sp>
      <p:sp>
        <p:nvSpPr>
          <p:cNvPr id="11" name="Shape 9"/>
          <p:cNvSpPr/>
          <p:nvPr/>
        </p:nvSpPr>
        <p:spPr>
          <a:xfrm>
            <a:off x="1005840" y="4983480"/>
            <a:ext cx="1261872" cy="292608"/>
          </a:xfrm>
          <a:prstGeom prst="roundRect">
            <a:avLst>
              <a:gd name="adj" fmla="val 50000"/>
            </a:avLst>
          </a:prstGeom>
          <a:solidFill>
            <a:srgbClr val="FFFFFF"/>
          </a:solidFill>
          <a:ln/>
        </p:spPr>
      </p:sp>
      <p:sp>
        <p:nvSpPr>
          <p:cNvPr id="12" name="Text 10"/>
          <p:cNvSpPr/>
          <p:nvPr/>
        </p:nvSpPr>
        <p:spPr>
          <a:xfrm>
            <a:off x="1005840" y="4983480"/>
            <a:ext cx="1261872" cy="292608"/>
          </a:xfrm>
          <a:prstGeom prst="rect">
            <a:avLst/>
          </a:prstGeom>
          <a:noFill/>
          <a:ln/>
        </p:spPr>
        <p:txBody>
          <a:bodyPr wrap="square" lIns="0" tIns="0" rIns="0" bIns="0" rtlCol="0" anchor="ctr"/>
          <a:lstStyle/>
          <a:p>
            <a:pPr algn="ctr" indent="0" marL="0">
              <a:buNone/>
            </a:pPr>
            <a:r>
              <a:rPr lang="en-US" sz="1050" b="1" spc="150" kern="0" dirty="0">
                <a:solidFill>
                  <a:srgbClr val="095D75"/>
                </a:solidFill>
                <a:latin typeface="Helvetica Neue" pitchFamily="34" charset="0"/>
                <a:ea typeface="Helvetica Neue" pitchFamily="34" charset="-122"/>
                <a:cs typeface="Helvetica Neue" pitchFamily="34" charset="-120"/>
              </a:rPr>
              <a:t>WE ARE HERE</a:t>
            </a:r>
            <a:endParaRPr lang="en-US" sz="1050" dirty="0"/>
          </a:p>
        </p:txBody>
      </p:sp>
      <p:sp>
        <p:nvSpPr>
          <p:cNvPr id="13" name="Shape 11"/>
          <p:cNvSpPr/>
          <p:nvPr/>
        </p:nvSpPr>
        <p:spPr>
          <a:xfrm>
            <a:off x="2581351" y="2395728"/>
            <a:ext cx="1627632" cy="3063240"/>
          </a:xfrm>
          <a:prstGeom prst="roundRect">
            <a:avLst>
              <a:gd name="adj" fmla="val 6180"/>
            </a:avLst>
          </a:prstGeom>
          <a:solidFill>
            <a:srgbClr val="FBFBFD"/>
          </a:solidFill>
          <a:ln w="12700">
            <a:solidFill>
              <a:srgbClr val="E3E3E6"/>
            </a:solidFill>
            <a:prstDash val="solid"/>
          </a:ln>
        </p:spPr>
      </p:sp>
      <p:sp>
        <p:nvSpPr>
          <p:cNvPr id="14" name="Text 12"/>
          <p:cNvSpPr/>
          <p:nvPr/>
        </p:nvSpPr>
        <p:spPr>
          <a:xfrm>
            <a:off x="2782519"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15" name="Text 13"/>
          <p:cNvSpPr/>
          <p:nvPr/>
        </p:nvSpPr>
        <p:spPr>
          <a:xfrm>
            <a:off x="2782519"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2</a:t>
            </a:r>
            <a:endParaRPr lang="en-US" sz="3400" dirty="0"/>
          </a:p>
        </p:txBody>
      </p:sp>
      <p:sp>
        <p:nvSpPr>
          <p:cNvPr id="16" name="Shape 14"/>
          <p:cNvSpPr/>
          <p:nvPr/>
        </p:nvSpPr>
        <p:spPr>
          <a:xfrm>
            <a:off x="2782519" y="3529584"/>
            <a:ext cx="1225296" cy="0"/>
          </a:xfrm>
          <a:prstGeom prst="line">
            <a:avLst/>
          </a:prstGeom>
          <a:noFill/>
          <a:ln w="9525">
            <a:solidFill>
              <a:srgbClr val="E3E3E6"/>
            </a:solidFill>
            <a:prstDash val="solid"/>
          </a:ln>
        </p:spPr>
      </p:sp>
      <p:sp>
        <p:nvSpPr>
          <p:cNvPr id="17" name="Text 15"/>
          <p:cNvSpPr/>
          <p:nvPr/>
        </p:nvSpPr>
        <p:spPr>
          <a:xfrm>
            <a:off x="2764231"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Soldering</a:t>
            </a:r>
            <a:endParaRPr lang="en-US" sz="1150" dirty="0"/>
          </a:p>
        </p:txBody>
      </p:sp>
      <p:sp>
        <p:nvSpPr>
          <p:cNvPr id="18" name="Text 16"/>
          <p:cNvSpPr/>
          <p:nvPr/>
        </p:nvSpPr>
        <p:spPr>
          <a:xfrm>
            <a:off x="2782519"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Soldering bootcamp on junk boards.</a:t>
            </a:r>
            <a:endParaRPr lang="en-US" sz="950" dirty="0"/>
          </a:p>
        </p:txBody>
      </p:sp>
      <p:sp>
        <p:nvSpPr>
          <p:cNvPr id="19" name="Shape 17"/>
          <p:cNvSpPr/>
          <p:nvPr/>
        </p:nvSpPr>
        <p:spPr>
          <a:xfrm>
            <a:off x="4339742" y="2395728"/>
            <a:ext cx="1627632" cy="3063240"/>
          </a:xfrm>
          <a:prstGeom prst="roundRect">
            <a:avLst>
              <a:gd name="adj" fmla="val 6180"/>
            </a:avLst>
          </a:prstGeom>
          <a:solidFill>
            <a:srgbClr val="FBFBFD"/>
          </a:solidFill>
          <a:ln w="12700">
            <a:solidFill>
              <a:srgbClr val="E3E3E6"/>
            </a:solidFill>
            <a:prstDash val="solid"/>
          </a:ln>
        </p:spPr>
      </p:sp>
      <p:sp>
        <p:nvSpPr>
          <p:cNvPr id="20" name="Text 18"/>
          <p:cNvSpPr/>
          <p:nvPr/>
        </p:nvSpPr>
        <p:spPr>
          <a:xfrm>
            <a:off x="4540910"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21" name="Text 19"/>
          <p:cNvSpPr/>
          <p:nvPr/>
        </p:nvSpPr>
        <p:spPr>
          <a:xfrm>
            <a:off x="4540910"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3</a:t>
            </a:r>
            <a:endParaRPr lang="en-US" sz="3400" dirty="0"/>
          </a:p>
        </p:txBody>
      </p:sp>
      <p:sp>
        <p:nvSpPr>
          <p:cNvPr id="22" name="Shape 20"/>
          <p:cNvSpPr/>
          <p:nvPr/>
        </p:nvSpPr>
        <p:spPr>
          <a:xfrm>
            <a:off x="4540910" y="3529584"/>
            <a:ext cx="1225296" cy="0"/>
          </a:xfrm>
          <a:prstGeom prst="line">
            <a:avLst/>
          </a:prstGeom>
          <a:noFill/>
          <a:ln w="9525">
            <a:solidFill>
              <a:srgbClr val="E3E3E6"/>
            </a:solidFill>
            <a:prstDash val="solid"/>
          </a:ln>
        </p:spPr>
      </p:sp>
      <p:sp>
        <p:nvSpPr>
          <p:cNvPr id="23" name="Text 21"/>
          <p:cNvSpPr/>
          <p:nvPr/>
        </p:nvSpPr>
        <p:spPr>
          <a:xfrm>
            <a:off x="4522622"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Starter ROV</a:t>
            </a:r>
            <a:endParaRPr lang="en-US" sz="1150" dirty="0"/>
          </a:p>
        </p:txBody>
      </p:sp>
      <p:sp>
        <p:nvSpPr>
          <p:cNvPr id="24" name="Text 22"/>
          <p:cNvSpPr/>
          <p:nvPr/>
        </p:nvSpPr>
        <p:spPr>
          <a:xfrm>
            <a:off x="4540910"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Build the SeaMATE Triggerfish kit.</a:t>
            </a:r>
            <a:endParaRPr lang="en-US" sz="950" dirty="0"/>
          </a:p>
        </p:txBody>
      </p:sp>
      <p:sp>
        <p:nvSpPr>
          <p:cNvPr id="25" name="Shape 23"/>
          <p:cNvSpPr/>
          <p:nvPr/>
        </p:nvSpPr>
        <p:spPr>
          <a:xfrm>
            <a:off x="6098134" y="2395728"/>
            <a:ext cx="1627632" cy="3063240"/>
          </a:xfrm>
          <a:prstGeom prst="roundRect">
            <a:avLst>
              <a:gd name="adj" fmla="val 6180"/>
            </a:avLst>
          </a:prstGeom>
          <a:solidFill>
            <a:srgbClr val="FBFBFD"/>
          </a:solidFill>
          <a:ln w="12700">
            <a:solidFill>
              <a:srgbClr val="E3E3E6"/>
            </a:solidFill>
            <a:prstDash val="solid"/>
          </a:ln>
        </p:spPr>
      </p:sp>
      <p:sp>
        <p:nvSpPr>
          <p:cNvPr id="26" name="Text 24"/>
          <p:cNvSpPr/>
          <p:nvPr/>
        </p:nvSpPr>
        <p:spPr>
          <a:xfrm>
            <a:off x="6299302"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27" name="Text 25"/>
          <p:cNvSpPr/>
          <p:nvPr/>
        </p:nvSpPr>
        <p:spPr>
          <a:xfrm>
            <a:off x="6299302"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4</a:t>
            </a:r>
            <a:endParaRPr lang="en-US" sz="3400" dirty="0"/>
          </a:p>
        </p:txBody>
      </p:sp>
      <p:sp>
        <p:nvSpPr>
          <p:cNvPr id="28" name="Shape 26"/>
          <p:cNvSpPr/>
          <p:nvPr/>
        </p:nvSpPr>
        <p:spPr>
          <a:xfrm>
            <a:off x="6299302" y="3529584"/>
            <a:ext cx="1225296" cy="0"/>
          </a:xfrm>
          <a:prstGeom prst="line">
            <a:avLst/>
          </a:prstGeom>
          <a:noFill/>
          <a:ln w="9525">
            <a:solidFill>
              <a:srgbClr val="E3E3E6"/>
            </a:solidFill>
            <a:prstDash val="solid"/>
          </a:ln>
        </p:spPr>
      </p:sp>
      <p:sp>
        <p:nvSpPr>
          <p:cNvPr id="29" name="Text 27"/>
          <p:cNvSpPr/>
          <p:nvPr/>
        </p:nvSpPr>
        <p:spPr>
          <a:xfrm>
            <a:off x="6281014"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Electronics</a:t>
            </a:r>
            <a:endParaRPr lang="en-US" sz="1150" dirty="0"/>
          </a:p>
        </p:txBody>
      </p:sp>
      <p:sp>
        <p:nvSpPr>
          <p:cNvPr id="30" name="Text 28"/>
          <p:cNvSpPr/>
          <p:nvPr/>
        </p:nvSpPr>
        <p:spPr>
          <a:xfrm>
            <a:off x="6299302"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Multimeters and the project notebook.</a:t>
            </a:r>
            <a:endParaRPr lang="en-US" sz="950" dirty="0"/>
          </a:p>
        </p:txBody>
      </p:sp>
      <p:sp>
        <p:nvSpPr>
          <p:cNvPr id="31" name="Shape 29"/>
          <p:cNvSpPr/>
          <p:nvPr/>
        </p:nvSpPr>
        <p:spPr>
          <a:xfrm>
            <a:off x="7856525" y="2395728"/>
            <a:ext cx="1627632" cy="3063240"/>
          </a:xfrm>
          <a:prstGeom prst="roundRect">
            <a:avLst>
              <a:gd name="adj" fmla="val 6180"/>
            </a:avLst>
          </a:prstGeom>
          <a:solidFill>
            <a:srgbClr val="FBFBFD"/>
          </a:solidFill>
          <a:ln w="12700">
            <a:solidFill>
              <a:srgbClr val="E3E3E6"/>
            </a:solidFill>
            <a:prstDash val="solid"/>
          </a:ln>
        </p:spPr>
      </p:sp>
      <p:sp>
        <p:nvSpPr>
          <p:cNvPr id="32" name="Text 30"/>
          <p:cNvSpPr/>
          <p:nvPr/>
        </p:nvSpPr>
        <p:spPr>
          <a:xfrm>
            <a:off x="8057693"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33" name="Text 31"/>
          <p:cNvSpPr/>
          <p:nvPr/>
        </p:nvSpPr>
        <p:spPr>
          <a:xfrm>
            <a:off x="8057693"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5</a:t>
            </a:r>
            <a:endParaRPr lang="en-US" sz="3400" dirty="0"/>
          </a:p>
        </p:txBody>
      </p:sp>
      <p:sp>
        <p:nvSpPr>
          <p:cNvPr id="34" name="Shape 32"/>
          <p:cNvSpPr/>
          <p:nvPr/>
        </p:nvSpPr>
        <p:spPr>
          <a:xfrm>
            <a:off x="8057693" y="3529584"/>
            <a:ext cx="1225296" cy="0"/>
          </a:xfrm>
          <a:prstGeom prst="line">
            <a:avLst/>
          </a:prstGeom>
          <a:noFill/>
          <a:ln w="9525">
            <a:solidFill>
              <a:srgbClr val="E3E3E6"/>
            </a:solidFill>
            <a:prstDash val="solid"/>
          </a:ln>
        </p:spPr>
      </p:sp>
      <p:sp>
        <p:nvSpPr>
          <p:cNvPr id="35" name="Text 33"/>
          <p:cNvSpPr/>
          <p:nvPr/>
        </p:nvSpPr>
        <p:spPr>
          <a:xfrm>
            <a:off x="8039405"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Waterproofing</a:t>
            </a:r>
            <a:endParaRPr lang="en-US" sz="1150" dirty="0"/>
          </a:p>
        </p:txBody>
      </p:sp>
      <p:sp>
        <p:nvSpPr>
          <p:cNvPr id="36" name="Text 34"/>
          <p:cNvSpPr/>
          <p:nvPr/>
        </p:nvSpPr>
        <p:spPr>
          <a:xfrm>
            <a:off x="8057693"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Seal a PVC capsule — three dry dives.</a:t>
            </a:r>
            <a:endParaRPr lang="en-US" sz="950" dirty="0"/>
          </a:p>
        </p:txBody>
      </p:sp>
      <p:sp>
        <p:nvSpPr>
          <p:cNvPr id="37" name="Shape 35"/>
          <p:cNvSpPr/>
          <p:nvPr/>
        </p:nvSpPr>
        <p:spPr>
          <a:xfrm>
            <a:off x="9614916" y="2395728"/>
            <a:ext cx="1627632" cy="3063240"/>
          </a:xfrm>
          <a:prstGeom prst="roundRect">
            <a:avLst>
              <a:gd name="adj" fmla="val 6180"/>
            </a:avLst>
          </a:prstGeom>
          <a:solidFill>
            <a:srgbClr val="FBFBFD"/>
          </a:solidFill>
          <a:ln w="12700">
            <a:solidFill>
              <a:srgbClr val="E3E3E6"/>
            </a:solidFill>
            <a:prstDash val="solid"/>
          </a:ln>
        </p:spPr>
      </p:sp>
      <p:sp>
        <p:nvSpPr>
          <p:cNvPr id="38" name="Text 36"/>
          <p:cNvSpPr/>
          <p:nvPr/>
        </p:nvSpPr>
        <p:spPr>
          <a:xfrm>
            <a:off x="9816084" y="2633472"/>
            <a:ext cx="1225296" cy="219456"/>
          </a:xfrm>
          <a:prstGeom prst="rect">
            <a:avLst/>
          </a:prstGeom>
          <a:noFill/>
          <a:ln/>
        </p:spPr>
        <p:txBody>
          <a:bodyPr wrap="square" lIns="0" tIns="0" rIns="0" bIns="0" rtlCol="0" anchor="ctr"/>
          <a:lstStyle/>
          <a:p>
            <a:pPr indent="0" marL="0">
              <a:buNone/>
            </a:pPr>
            <a:r>
              <a:rPr lang="en-US" sz="800" b="1" spc="150" kern="0" dirty="0">
                <a:solidFill>
                  <a:srgbClr val="86868B"/>
                </a:solidFill>
                <a:latin typeface="Helvetica Neue" pitchFamily="34" charset="0"/>
                <a:ea typeface="Helvetica Neue" pitchFamily="34" charset="-122"/>
                <a:cs typeface="Helvetica Neue" pitchFamily="34" charset="-120"/>
              </a:rPr>
              <a:t>WEEK</a:t>
            </a:r>
            <a:endParaRPr lang="en-US" sz="800" dirty="0"/>
          </a:p>
        </p:txBody>
      </p:sp>
      <p:sp>
        <p:nvSpPr>
          <p:cNvPr id="39" name="Text 37"/>
          <p:cNvSpPr/>
          <p:nvPr/>
        </p:nvSpPr>
        <p:spPr>
          <a:xfrm>
            <a:off x="9816084" y="2798064"/>
            <a:ext cx="1225296" cy="640080"/>
          </a:xfrm>
          <a:prstGeom prst="rect">
            <a:avLst/>
          </a:prstGeom>
          <a:noFill/>
          <a:ln/>
        </p:spPr>
        <p:txBody>
          <a:bodyPr wrap="square" lIns="0" tIns="0" rIns="0" bIns="0" rtlCol="0" anchor="ctr"/>
          <a:lstStyle/>
          <a:p>
            <a:pPr indent="0" marL="0">
              <a:buNone/>
            </a:pPr>
            <a:r>
              <a:rPr lang="en-US" sz="3400" b="1" dirty="0">
                <a:solidFill>
                  <a:srgbClr val="0D7490"/>
                </a:solidFill>
                <a:latin typeface="Helvetica Neue" pitchFamily="34" charset="0"/>
                <a:ea typeface="Helvetica Neue" pitchFamily="34" charset="-122"/>
                <a:cs typeface="Helvetica Neue" pitchFamily="34" charset="-120"/>
              </a:rPr>
              <a:t>6</a:t>
            </a:r>
            <a:endParaRPr lang="en-US" sz="3400" dirty="0"/>
          </a:p>
        </p:txBody>
      </p:sp>
      <p:sp>
        <p:nvSpPr>
          <p:cNvPr id="40" name="Shape 38"/>
          <p:cNvSpPr/>
          <p:nvPr/>
        </p:nvSpPr>
        <p:spPr>
          <a:xfrm>
            <a:off x="9816084" y="3529584"/>
            <a:ext cx="1225296" cy="0"/>
          </a:xfrm>
          <a:prstGeom prst="line">
            <a:avLst/>
          </a:prstGeom>
          <a:noFill/>
          <a:ln w="9525">
            <a:solidFill>
              <a:srgbClr val="E3E3E6"/>
            </a:solidFill>
            <a:prstDash val="solid"/>
          </a:ln>
        </p:spPr>
      </p:sp>
      <p:sp>
        <p:nvSpPr>
          <p:cNvPr id="41" name="Text 39"/>
          <p:cNvSpPr/>
          <p:nvPr/>
        </p:nvSpPr>
        <p:spPr>
          <a:xfrm>
            <a:off x="9797796" y="3639312"/>
            <a:ext cx="1335024" cy="457200"/>
          </a:xfrm>
          <a:prstGeom prst="rect">
            <a:avLst/>
          </a:prstGeom>
          <a:noFill/>
          <a:ln/>
        </p:spPr>
        <p:txBody>
          <a:bodyPr wrap="square" lIns="0" tIns="0" rIns="0" bIns="0" rtlCol="0" anchor="ctr"/>
          <a:lstStyle/>
          <a:p>
            <a:pPr indent="0" marL="0">
              <a:lnSpc>
                <a:spcPts val="1400"/>
              </a:lnSpc>
              <a:buNone/>
            </a:pPr>
            <a:r>
              <a:rPr lang="en-US" sz="1150" b="1" dirty="0">
                <a:solidFill>
                  <a:srgbClr val="1D1D1F"/>
                </a:solidFill>
                <a:latin typeface="Helvetica Neue" pitchFamily="34" charset="0"/>
                <a:ea typeface="Helvetica Neue" pitchFamily="34" charset="-122"/>
                <a:cs typeface="Helvetica Neue" pitchFamily="34" charset="-120"/>
              </a:rPr>
              <a:t>Setup</a:t>
            </a:r>
            <a:endParaRPr lang="en-US" sz="1150" dirty="0"/>
          </a:p>
        </p:txBody>
      </p:sp>
      <p:sp>
        <p:nvSpPr>
          <p:cNvPr id="42" name="Text 40"/>
          <p:cNvSpPr/>
          <p:nvPr/>
        </p:nvSpPr>
        <p:spPr>
          <a:xfrm>
            <a:off x="9816084" y="4187952"/>
            <a:ext cx="1261872" cy="1097280"/>
          </a:xfrm>
          <a:prstGeom prst="rect">
            <a:avLst/>
          </a:prstGeom>
          <a:noFill/>
          <a:ln/>
        </p:spPr>
        <p:txBody>
          <a:bodyPr wrap="square" lIns="0" tIns="0" rIns="0" bIns="0" rtlCol="0" anchor="ctr"/>
          <a:lstStyle/>
          <a:p>
            <a:pPr indent="0" marL="0">
              <a:lnSpc>
                <a:spcPts val="1300"/>
              </a:lnSpc>
              <a:buNone/>
            </a:pPr>
            <a:r>
              <a:rPr lang="en-US" sz="950" dirty="0">
                <a:solidFill>
                  <a:srgbClr val="6E6E73"/>
                </a:solidFill>
                <a:latin typeface="Helvetica Neue" pitchFamily="34" charset="0"/>
                <a:ea typeface="Helvetica Neue" pitchFamily="34" charset="-122"/>
                <a:cs typeface="Helvetica Neue" pitchFamily="34" charset="-120"/>
              </a:rPr>
              <a:t>Lock pool access and the season's logistics.</a:t>
            </a:r>
            <a:endParaRPr lang="en-US" sz="950" dirty="0"/>
          </a:p>
        </p:txBody>
      </p:sp>
      <p:sp>
        <p:nvSpPr>
          <p:cNvPr id="43" name="Shape 41"/>
          <p:cNvSpPr/>
          <p:nvPr/>
        </p:nvSpPr>
        <p:spPr>
          <a:xfrm>
            <a:off x="822960" y="6437376"/>
            <a:ext cx="10545775" cy="0"/>
          </a:xfrm>
          <a:prstGeom prst="line">
            <a:avLst/>
          </a:prstGeom>
          <a:noFill/>
          <a:ln w="9525">
            <a:solidFill>
              <a:srgbClr val="E3E3E6"/>
            </a:solidFill>
            <a:prstDash val="solid"/>
          </a:ln>
        </p:spPr>
      </p:sp>
      <p:sp>
        <p:nvSpPr>
          <p:cNvPr id="44" name="Text 42"/>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45" name="Text 43"/>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18 / 26</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THE SEASON AHEAD</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What Phase 1 must produce.</a:t>
            </a:r>
            <a:endParaRPr lang="en-US" sz="3000" dirty="0"/>
          </a:p>
        </p:txBody>
      </p:sp>
      <p:sp>
        <p:nvSpPr>
          <p:cNvPr id="4" name="Shape 2"/>
          <p:cNvSpPr/>
          <p:nvPr/>
        </p:nvSpPr>
        <p:spPr>
          <a:xfrm>
            <a:off x="822960" y="1783080"/>
            <a:ext cx="10545775" cy="1371600"/>
          </a:xfrm>
          <a:prstGeom prst="roundRect">
            <a:avLst>
              <a:gd name="adj" fmla="val 7333"/>
            </a:avLst>
          </a:prstGeom>
          <a:solidFill>
            <a:srgbClr val="095D75"/>
          </a:solidFill>
          <a:ln w="12700">
            <a:solidFill>
              <a:srgbClr val="095D75"/>
            </a:solidFill>
            <a:prstDash val="solid"/>
          </a:ln>
        </p:spPr>
      </p:sp>
      <p:sp>
        <p:nvSpPr>
          <p:cNvPr id="5" name="Text 3"/>
          <p:cNvSpPr/>
          <p:nvPr/>
        </p:nvSpPr>
        <p:spPr>
          <a:xfrm>
            <a:off x="1234440" y="1783080"/>
            <a:ext cx="9692640" cy="1371600"/>
          </a:xfrm>
          <a:prstGeom prst="rect">
            <a:avLst/>
          </a:prstGeom>
          <a:noFill/>
          <a:ln/>
        </p:spPr>
        <p:txBody>
          <a:bodyPr wrap="square" lIns="0" tIns="0" rIns="0" bIns="0" rtlCol="0" anchor="ctr"/>
          <a:lstStyle/>
          <a:p>
            <a:pPr indent="0" marL="0">
              <a:lnSpc>
                <a:spcPts val="2700"/>
              </a:lnSpc>
              <a:buNone/>
            </a:pPr>
            <a:r>
              <a:rPr lang="en-US" sz="2100" b="1" i="1" dirty="0">
                <a:solidFill>
                  <a:srgbClr val="FFFFFF"/>
                </a:solidFill>
                <a:latin typeface="Helvetica Neue" pitchFamily="34" charset="0"/>
                <a:ea typeface="Helvetica Neue" pitchFamily="34" charset="-122"/>
                <a:cs typeface="Helvetica Neue" pitchFamily="34" charset="-120"/>
              </a:rPr>
              <a:t>“The goal of Phase 1 is not a competition ROV. It is a team that exists.”</a:t>
            </a:r>
            <a:endParaRPr lang="en-US" sz="2100" dirty="0"/>
          </a:p>
        </p:txBody>
      </p:sp>
      <p:sp>
        <p:nvSpPr>
          <p:cNvPr id="6" name="Text 4"/>
          <p:cNvSpPr/>
          <p:nvPr/>
        </p:nvSpPr>
        <p:spPr>
          <a:xfrm>
            <a:off x="822960" y="3419856"/>
            <a:ext cx="10515600" cy="457200"/>
          </a:xfrm>
          <a:prstGeom prst="rect">
            <a:avLst/>
          </a:prstGeom>
          <a:noFill/>
          <a:ln/>
        </p:spPr>
        <p:txBody>
          <a:bodyPr wrap="square" lIns="0" tIns="0" rIns="0" bIns="0" rtlCol="0" anchor="ctr"/>
          <a:lstStyle/>
          <a:p>
            <a:pPr indent="0" marL="0">
              <a:buNone/>
            </a:pPr>
            <a:r>
              <a:rPr lang="en-US" sz="1400" dirty="0">
                <a:solidFill>
                  <a:srgbClr val="6E6E73"/>
                </a:solidFill>
                <a:latin typeface="Helvetica Neue" pitchFamily="34" charset="0"/>
                <a:ea typeface="Helvetica Neue" pitchFamily="34" charset="-122"/>
                <a:cs typeface="Helvetica Neue" pitchFamily="34" charset="-120"/>
              </a:rPr>
              <a:t>By the end of July, three things are true — and only these three need to be true:</a:t>
            </a:r>
            <a:endParaRPr lang="en-US" sz="1400" dirty="0"/>
          </a:p>
        </p:txBody>
      </p:sp>
      <p:sp>
        <p:nvSpPr>
          <p:cNvPr id="7" name="Shape 5"/>
          <p:cNvSpPr/>
          <p:nvPr/>
        </p:nvSpPr>
        <p:spPr>
          <a:xfrm>
            <a:off x="822960" y="3931920"/>
            <a:ext cx="3310128" cy="2057400"/>
          </a:xfrm>
          <a:prstGeom prst="roundRect">
            <a:avLst>
              <a:gd name="adj" fmla="val 4889"/>
            </a:avLst>
          </a:prstGeom>
          <a:solidFill>
            <a:srgbClr val="FBFBFD"/>
          </a:solidFill>
          <a:ln w="12700">
            <a:solidFill>
              <a:srgbClr val="E3E3E6"/>
            </a:solidFill>
            <a:prstDash val="solid"/>
          </a:ln>
        </p:spPr>
      </p:sp>
      <p:sp>
        <p:nvSpPr>
          <p:cNvPr id="8" name="Shape 6"/>
          <p:cNvSpPr/>
          <p:nvPr/>
        </p:nvSpPr>
        <p:spPr>
          <a:xfrm>
            <a:off x="1097280" y="4206240"/>
            <a:ext cx="420624" cy="420624"/>
          </a:xfrm>
          <a:prstGeom prst="ellipse">
            <a:avLst/>
          </a:prstGeom>
          <a:solidFill>
            <a:srgbClr val="EAF2F4"/>
          </a:solidFill>
          <a:ln/>
        </p:spPr>
      </p:sp>
      <p:sp>
        <p:nvSpPr>
          <p:cNvPr id="9" name="Text 7"/>
          <p:cNvSpPr/>
          <p:nvPr/>
        </p:nvSpPr>
        <p:spPr>
          <a:xfrm>
            <a:off x="1097280" y="420624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1</a:t>
            </a:r>
            <a:endParaRPr lang="en-US" sz="1288" dirty="0"/>
          </a:p>
        </p:txBody>
      </p:sp>
      <p:sp>
        <p:nvSpPr>
          <p:cNvPr id="10" name="Text 8"/>
          <p:cNvSpPr/>
          <p:nvPr/>
        </p:nvSpPr>
        <p:spPr>
          <a:xfrm>
            <a:off x="1097280" y="4773168"/>
            <a:ext cx="2761488" cy="603504"/>
          </a:xfrm>
          <a:prstGeom prst="rect">
            <a:avLst/>
          </a:prstGeom>
          <a:noFill/>
          <a:ln/>
        </p:spPr>
        <p:txBody>
          <a:bodyPr wrap="square" lIns="0" tIns="0" rIns="0" bIns="0" rtlCol="0" anchor="ctr"/>
          <a:lstStyle/>
          <a:p>
            <a:pPr indent="0" marL="0">
              <a:lnSpc>
                <a:spcPts val="1700"/>
              </a:lnSpc>
              <a:buNone/>
            </a:pPr>
            <a:r>
              <a:rPr lang="en-US" sz="1450" b="1" dirty="0">
                <a:solidFill>
                  <a:srgbClr val="1D1D1F"/>
                </a:solidFill>
                <a:latin typeface="Helvetica Neue" pitchFamily="34" charset="0"/>
                <a:ea typeface="Helvetica Neue" pitchFamily="34" charset="-122"/>
                <a:cs typeface="Helvetica Neue" pitchFamily="34" charset="-120"/>
              </a:rPr>
              <a:t>A team that exists</a:t>
            </a:r>
            <a:endParaRPr lang="en-US" sz="1450" dirty="0"/>
          </a:p>
        </p:txBody>
      </p:sp>
      <p:sp>
        <p:nvSpPr>
          <p:cNvPr id="11" name="Text 9"/>
          <p:cNvSpPr/>
          <p:nvPr/>
        </p:nvSpPr>
        <p:spPr>
          <a:xfrm>
            <a:off x="1097280" y="5303520"/>
            <a:ext cx="2779776" cy="594360"/>
          </a:xfrm>
          <a:prstGeom prst="rect">
            <a:avLst/>
          </a:prstGeom>
          <a:noFill/>
          <a:ln/>
        </p:spPr>
        <p:txBody>
          <a:bodyPr wrap="square" lIns="0" tIns="0" rIns="0" bIns="0" rtlCol="0" anchor="ctr"/>
          <a:lstStyle/>
          <a:p>
            <a:pPr indent="0" marL="0">
              <a:lnSpc>
                <a:spcPts val="1450"/>
              </a:lnSpc>
              <a:buNone/>
            </a:pPr>
            <a:r>
              <a:rPr lang="en-US" sz="1100" dirty="0">
                <a:solidFill>
                  <a:srgbClr val="6E6E73"/>
                </a:solidFill>
                <a:latin typeface="Helvetica Neue" pitchFamily="34" charset="0"/>
                <a:ea typeface="Helvetica Neue" pitchFamily="34" charset="-122"/>
                <a:cs typeface="Helvetica Neue" pitchFamily="34" charset="-120"/>
              </a:rPr>
              <a:t>Six roles filled, a meeting rhythm that holds, and a safety habit that is automatic.</a:t>
            </a:r>
            <a:endParaRPr lang="en-US" sz="1100" dirty="0"/>
          </a:p>
        </p:txBody>
      </p:sp>
      <p:sp>
        <p:nvSpPr>
          <p:cNvPr id="12" name="Shape 10"/>
          <p:cNvSpPr/>
          <p:nvPr/>
        </p:nvSpPr>
        <p:spPr>
          <a:xfrm>
            <a:off x="4434840" y="3931920"/>
            <a:ext cx="3310128" cy="2057400"/>
          </a:xfrm>
          <a:prstGeom prst="roundRect">
            <a:avLst>
              <a:gd name="adj" fmla="val 4889"/>
            </a:avLst>
          </a:prstGeom>
          <a:solidFill>
            <a:srgbClr val="FBFBFD"/>
          </a:solidFill>
          <a:ln w="12700">
            <a:solidFill>
              <a:srgbClr val="E3E3E6"/>
            </a:solidFill>
            <a:prstDash val="solid"/>
          </a:ln>
        </p:spPr>
      </p:sp>
      <p:sp>
        <p:nvSpPr>
          <p:cNvPr id="13" name="Shape 11"/>
          <p:cNvSpPr/>
          <p:nvPr/>
        </p:nvSpPr>
        <p:spPr>
          <a:xfrm>
            <a:off x="4709160" y="4206240"/>
            <a:ext cx="420624" cy="420624"/>
          </a:xfrm>
          <a:prstGeom prst="ellipse">
            <a:avLst/>
          </a:prstGeom>
          <a:solidFill>
            <a:srgbClr val="EAF2F4"/>
          </a:solidFill>
          <a:ln/>
        </p:spPr>
      </p:sp>
      <p:sp>
        <p:nvSpPr>
          <p:cNvPr id="14" name="Text 12"/>
          <p:cNvSpPr/>
          <p:nvPr/>
        </p:nvSpPr>
        <p:spPr>
          <a:xfrm>
            <a:off x="4709160" y="420624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2</a:t>
            </a:r>
            <a:endParaRPr lang="en-US" sz="1288" dirty="0"/>
          </a:p>
        </p:txBody>
      </p:sp>
      <p:sp>
        <p:nvSpPr>
          <p:cNvPr id="15" name="Text 13"/>
          <p:cNvSpPr/>
          <p:nvPr/>
        </p:nvSpPr>
        <p:spPr>
          <a:xfrm>
            <a:off x="4709160" y="4773168"/>
            <a:ext cx="2761488" cy="603504"/>
          </a:xfrm>
          <a:prstGeom prst="rect">
            <a:avLst/>
          </a:prstGeom>
          <a:noFill/>
          <a:ln/>
        </p:spPr>
        <p:txBody>
          <a:bodyPr wrap="square" lIns="0" tIns="0" rIns="0" bIns="0" rtlCol="0" anchor="ctr"/>
          <a:lstStyle/>
          <a:p>
            <a:pPr indent="0" marL="0">
              <a:lnSpc>
                <a:spcPts val="1700"/>
              </a:lnSpc>
              <a:buNone/>
            </a:pPr>
            <a:r>
              <a:rPr lang="en-US" sz="1450" b="1" dirty="0">
                <a:solidFill>
                  <a:srgbClr val="1D1D1F"/>
                </a:solidFill>
                <a:latin typeface="Helvetica Neue" pitchFamily="34" charset="0"/>
                <a:ea typeface="Helvetica Neue" pitchFamily="34" charset="-122"/>
                <a:cs typeface="Helvetica Neue" pitchFamily="34" charset="-120"/>
              </a:rPr>
              <a:t>A starter ROV in the water</a:t>
            </a:r>
            <a:endParaRPr lang="en-US" sz="1450" dirty="0"/>
          </a:p>
        </p:txBody>
      </p:sp>
      <p:sp>
        <p:nvSpPr>
          <p:cNvPr id="16" name="Text 14"/>
          <p:cNvSpPr/>
          <p:nvPr/>
        </p:nvSpPr>
        <p:spPr>
          <a:xfrm>
            <a:off x="4709160" y="5303520"/>
            <a:ext cx="2779776" cy="594360"/>
          </a:xfrm>
          <a:prstGeom prst="rect">
            <a:avLst/>
          </a:prstGeom>
          <a:noFill/>
          <a:ln/>
        </p:spPr>
        <p:txBody>
          <a:bodyPr wrap="square" lIns="0" tIns="0" rIns="0" bIns="0" rtlCol="0" anchor="ctr"/>
          <a:lstStyle/>
          <a:p>
            <a:pPr indent="0" marL="0">
              <a:lnSpc>
                <a:spcPts val="1450"/>
              </a:lnSpc>
              <a:buNone/>
            </a:pPr>
            <a:r>
              <a:rPr lang="en-US" sz="1100" dirty="0">
                <a:solidFill>
                  <a:srgbClr val="6E6E73"/>
                </a:solidFill>
                <a:latin typeface="Helvetica Neue" pitchFamily="34" charset="0"/>
                <a:ea typeface="Helvetica Neue" pitchFamily="34" charset="-122"/>
                <a:cs typeface="Helvetica Neue" pitchFamily="34" charset="-120"/>
              </a:rPr>
              <a:t>The SeaMATE Triggerfish built and swimming — every member has piloted it.</a:t>
            </a:r>
            <a:endParaRPr lang="en-US" sz="1100" dirty="0"/>
          </a:p>
        </p:txBody>
      </p:sp>
      <p:sp>
        <p:nvSpPr>
          <p:cNvPr id="17" name="Shape 15"/>
          <p:cNvSpPr/>
          <p:nvPr/>
        </p:nvSpPr>
        <p:spPr>
          <a:xfrm>
            <a:off x="8046720" y="3931920"/>
            <a:ext cx="3310128" cy="2057400"/>
          </a:xfrm>
          <a:prstGeom prst="roundRect">
            <a:avLst>
              <a:gd name="adj" fmla="val 4889"/>
            </a:avLst>
          </a:prstGeom>
          <a:solidFill>
            <a:srgbClr val="FBFBFD"/>
          </a:solidFill>
          <a:ln w="12700">
            <a:solidFill>
              <a:srgbClr val="E3E3E6"/>
            </a:solidFill>
            <a:prstDash val="solid"/>
          </a:ln>
        </p:spPr>
      </p:sp>
      <p:sp>
        <p:nvSpPr>
          <p:cNvPr id="18" name="Shape 16"/>
          <p:cNvSpPr/>
          <p:nvPr/>
        </p:nvSpPr>
        <p:spPr>
          <a:xfrm>
            <a:off x="8321040" y="4206240"/>
            <a:ext cx="420624" cy="420624"/>
          </a:xfrm>
          <a:prstGeom prst="ellipse">
            <a:avLst/>
          </a:prstGeom>
          <a:solidFill>
            <a:srgbClr val="EAF2F4"/>
          </a:solidFill>
          <a:ln/>
        </p:spPr>
      </p:sp>
      <p:sp>
        <p:nvSpPr>
          <p:cNvPr id="19" name="Text 17"/>
          <p:cNvSpPr/>
          <p:nvPr/>
        </p:nvSpPr>
        <p:spPr>
          <a:xfrm>
            <a:off x="8321040" y="4206240"/>
            <a:ext cx="420624" cy="420624"/>
          </a:xfrm>
          <a:prstGeom prst="rect">
            <a:avLst/>
          </a:prstGeom>
          <a:noFill/>
          <a:ln/>
        </p:spPr>
        <p:txBody>
          <a:bodyPr wrap="square" lIns="0" tIns="0" rIns="0" bIns="0" rtlCol="0" anchor="ctr"/>
          <a:lstStyle/>
          <a:p>
            <a:pPr algn="ctr" indent="0" marL="0">
              <a:buNone/>
            </a:pPr>
            <a:r>
              <a:rPr lang="en-US" sz="1288" b="1" dirty="0">
                <a:solidFill>
                  <a:srgbClr val="0D7490"/>
                </a:solidFill>
                <a:latin typeface="Helvetica Neue" pitchFamily="34" charset="0"/>
                <a:ea typeface="Helvetica Neue" pitchFamily="34" charset="-122"/>
                <a:cs typeface="Helvetica Neue" pitchFamily="34" charset="-120"/>
              </a:rPr>
              <a:t>3</a:t>
            </a:r>
            <a:endParaRPr lang="en-US" sz="1288" dirty="0"/>
          </a:p>
        </p:txBody>
      </p:sp>
      <p:sp>
        <p:nvSpPr>
          <p:cNvPr id="20" name="Text 18"/>
          <p:cNvSpPr/>
          <p:nvPr/>
        </p:nvSpPr>
        <p:spPr>
          <a:xfrm>
            <a:off x="8321040" y="4773168"/>
            <a:ext cx="2761488" cy="603504"/>
          </a:xfrm>
          <a:prstGeom prst="rect">
            <a:avLst/>
          </a:prstGeom>
          <a:noFill/>
          <a:ln/>
        </p:spPr>
        <p:txBody>
          <a:bodyPr wrap="square" lIns="0" tIns="0" rIns="0" bIns="0" rtlCol="0" anchor="ctr"/>
          <a:lstStyle/>
          <a:p>
            <a:pPr indent="0" marL="0">
              <a:lnSpc>
                <a:spcPts val="1700"/>
              </a:lnSpc>
              <a:buNone/>
            </a:pPr>
            <a:r>
              <a:rPr lang="en-US" sz="1450" b="1" dirty="0">
                <a:solidFill>
                  <a:srgbClr val="1D1D1F"/>
                </a:solidFill>
                <a:latin typeface="Helvetica Neue" pitchFamily="34" charset="0"/>
                <a:ea typeface="Helvetica Neue" pitchFamily="34" charset="-122"/>
                <a:cs typeface="Helvetica Neue" pitchFamily="34" charset="-120"/>
              </a:rPr>
              <a:t>Kids who have soldered</a:t>
            </a:r>
            <a:endParaRPr lang="en-US" sz="1450" dirty="0"/>
          </a:p>
        </p:txBody>
      </p:sp>
      <p:sp>
        <p:nvSpPr>
          <p:cNvPr id="21" name="Text 19"/>
          <p:cNvSpPr/>
          <p:nvPr/>
        </p:nvSpPr>
        <p:spPr>
          <a:xfrm>
            <a:off x="8321040" y="5303520"/>
            <a:ext cx="2779776" cy="594360"/>
          </a:xfrm>
          <a:prstGeom prst="rect">
            <a:avLst/>
          </a:prstGeom>
          <a:noFill/>
          <a:ln/>
        </p:spPr>
        <p:txBody>
          <a:bodyPr wrap="square" lIns="0" tIns="0" rIns="0" bIns="0" rtlCol="0" anchor="ctr"/>
          <a:lstStyle/>
          <a:p>
            <a:pPr indent="0" marL="0">
              <a:lnSpc>
                <a:spcPts val="1450"/>
              </a:lnSpc>
              <a:buNone/>
            </a:pPr>
            <a:r>
              <a:rPr lang="en-US" sz="1100" dirty="0">
                <a:solidFill>
                  <a:srgbClr val="6E6E73"/>
                </a:solidFill>
                <a:latin typeface="Helvetica Neue" pitchFamily="34" charset="0"/>
                <a:ea typeface="Helvetica Neue" pitchFamily="34" charset="-122"/>
                <a:cs typeface="Helvetica Neue" pitchFamily="34" charset="-120"/>
              </a:rPr>
              <a:t>Real hands-on skill: a clean joint, a sealed capsule, a multimeter read correctly.</a:t>
            </a:r>
            <a:endParaRPr lang="en-US" sz="1100" dirty="0"/>
          </a:p>
        </p:txBody>
      </p:sp>
      <p:sp>
        <p:nvSpPr>
          <p:cNvPr id="22" name="Shape 20"/>
          <p:cNvSpPr/>
          <p:nvPr/>
        </p:nvSpPr>
        <p:spPr>
          <a:xfrm>
            <a:off x="822960" y="6437376"/>
            <a:ext cx="10545775" cy="0"/>
          </a:xfrm>
          <a:prstGeom prst="line">
            <a:avLst/>
          </a:prstGeom>
          <a:noFill/>
          <a:ln w="9525">
            <a:solidFill>
              <a:srgbClr val="E3E3E6"/>
            </a:solidFill>
            <a:prstDash val="solid"/>
          </a:ln>
        </p:spPr>
      </p:sp>
      <p:sp>
        <p:nvSpPr>
          <p:cNvPr id="23" name="Text 21"/>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4" name="Text 22"/>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19 / 26</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05</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05</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Building Our</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Safety Culture</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2:15 – 2:35   ·   20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The brief is one minute. The culture is everything that happens in the other 179.</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20 / 26</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SAFETY CULTURE</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The habits between the briefs.</a:t>
            </a:r>
            <a:endParaRPr lang="en-US" sz="3000" dirty="0"/>
          </a:p>
        </p:txBody>
      </p:sp>
      <p:sp>
        <p:nvSpPr>
          <p:cNvPr id="4" name="Text 2"/>
          <p:cNvSpPr/>
          <p:nvPr/>
        </p:nvSpPr>
        <p:spPr>
          <a:xfrm>
            <a:off x="822960" y="1755648"/>
            <a:ext cx="6400800" cy="91440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A safety brief is a moment. A safety culture is a habit — the way the team behaves when no one is reciting a checklist. Five habits, starting today.</a:t>
            </a:r>
            <a:endParaRPr lang="en-US" sz="1400" dirty="0"/>
          </a:p>
        </p:txBody>
      </p:sp>
      <p:sp>
        <p:nvSpPr>
          <p:cNvPr id="5" name="Shape 3"/>
          <p:cNvSpPr/>
          <p:nvPr/>
        </p:nvSpPr>
        <p:spPr>
          <a:xfrm>
            <a:off x="822960" y="2788920"/>
            <a:ext cx="365760" cy="365760"/>
          </a:xfrm>
          <a:prstGeom prst="ellipse">
            <a:avLst/>
          </a:prstGeom>
          <a:solidFill>
            <a:srgbClr val="EAF2F4"/>
          </a:solidFill>
          <a:ln/>
        </p:spPr>
      </p:sp>
      <p:sp>
        <p:nvSpPr>
          <p:cNvPr id="6" name="Text 4"/>
          <p:cNvSpPr/>
          <p:nvPr/>
        </p:nvSpPr>
        <p:spPr>
          <a:xfrm>
            <a:off x="822960" y="2788920"/>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1</a:t>
            </a:r>
            <a:endParaRPr lang="en-US" sz="1120" dirty="0"/>
          </a:p>
        </p:txBody>
      </p:sp>
      <p:sp>
        <p:nvSpPr>
          <p:cNvPr id="7" name="Text 5"/>
          <p:cNvSpPr/>
          <p:nvPr/>
        </p:nvSpPr>
        <p:spPr>
          <a:xfrm>
            <a:off x="1325880" y="2752344"/>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Tool discipline</a:t>
            </a:r>
            <a:endParaRPr lang="en-US" sz="1350" dirty="0"/>
          </a:p>
        </p:txBody>
      </p:sp>
      <p:sp>
        <p:nvSpPr>
          <p:cNvPr id="8" name="Text 6"/>
          <p:cNvSpPr/>
          <p:nvPr/>
        </p:nvSpPr>
        <p:spPr>
          <a:xfrm>
            <a:off x="3840480" y="2715768"/>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Every tool capped, returned, and accounted for. Soldering irons go back in their stands — every time.</a:t>
            </a:r>
            <a:endParaRPr lang="en-US" sz="1080" dirty="0"/>
          </a:p>
        </p:txBody>
      </p:sp>
      <p:sp>
        <p:nvSpPr>
          <p:cNvPr id="9" name="Shape 7"/>
          <p:cNvSpPr/>
          <p:nvPr/>
        </p:nvSpPr>
        <p:spPr>
          <a:xfrm>
            <a:off x="822960" y="3447288"/>
            <a:ext cx="365760" cy="365760"/>
          </a:xfrm>
          <a:prstGeom prst="ellipse">
            <a:avLst/>
          </a:prstGeom>
          <a:solidFill>
            <a:srgbClr val="EAF2F4"/>
          </a:solidFill>
          <a:ln/>
        </p:spPr>
      </p:sp>
      <p:sp>
        <p:nvSpPr>
          <p:cNvPr id="10" name="Text 8"/>
          <p:cNvSpPr/>
          <p:nvPr/>
        </p:nvSpPr>
        <p:spPr>
          <a:xfrm>
            <a:off x="822960" y="3447288"/>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2</a:t>
            </a:r>
            <a:endParaRPr lang="en-US" sz="1120" dirty="0"/>
          </a:p>
        </p:txBody>
      </p:sp>
      <p:sp>
        <p:nvSpPr>
          <p:cNvPr id="11" name="Text 9"/>
          <p:cNvSpPr/>
          <p:nvPr/>
        </p:nvSpPr>
        <p:spPr>
          <a:xfrm>
            <a:off x="1325880" y="3410712"/>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The buddy rule</a:t>
            </a:r>
            <a:endParaRPr lang="en-US" sz="1350" dirty="0"/>
          </a:p>
        </p:txBody>
      </p:sp>
      <p:sp>
        <p:nvSpPr>
          <p:cNvPr id="12" name="Text 10"/>
          <p:cNvSpPr/>
          <p:nvPr/>
        </p:nvSpPr>
        <p:spPr>
          <a:xfrm>
            <a:off x="3840480" y="3374136"/>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No one works at the pool alone. Water and a teammate, always — no exceptions, ever.</a:t>
            </a:r>
            <a:endParaRPr lang="en-US" sz="1080" dirty="0"/>
          </a:p>
        </p:txBody>
      </p:sp>
      <p:sp>
        <p:nvSpPr>
          <p:cNvPr id="13" name="Shape 11"/>
          <p:cNvSpPr/>
          <p:nvPr/>
        </p:nvSpPr>
        <p:spPr>
          <a:xfrm>
            <a:off x="822960" y="4105656"/>
            <a:ext cx="365760" cy="365760"/>
          </a:xfrm>
          <a:prstGeom prst="ellipse">
            <a:avLst/>
          </a:prstGeom>
          <a:solidFill>
            <a:srgbClr val="EAF2F4"/>
          </a:solidFill>
          <a:ln/>
        </p:spPr>
      </p:sp>
      <p:sp>
        <p:nvSpPr>
          <p:cNvPr id="14" name="Text 12"/>
          <p:cNvSpPr/>
          <p:nvPr/>
        </p:nvSpPr>
        <p:spPr>
          <a:xfrm>
            <a:off x="822960" y="4105656"/>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3</a:t>
            </a:r>
            <a:endParaRPr lang="en-US" sz="1120" dirty="0"/>
          </a:p>
        </p:txBody>
      </p:sp>
      <p:sp>
        <p:nvSpPr>
          <p:cNvPr id="15" name="Text 13"/>
          <p:cNvSpPr/>
          <p:nvPr/>
        </p:nvSpPr>
        <p:spPr>
          <a:xfrm>
            <a:off x="1325880" y="4069080"/>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Respect the current</a:t>
            </a:r>
            <a:endParaRPr lang="en-US" sz="1350" dirty="0"/>
          </a:p>
        </p:txBody>
      </p:sp>
      <p:sp>
        <p:nvSpPr>
          <p:cNvPr id="16" name="Text 14"/>
          <p:cNvSpPr/>
          <p:nvPr/>
        </p:nvSpPr>
        <p:spPr>
          <a:xfrm>
            <a:off x="3840480" y="4032504"/>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Batteries and water do not mix. We treat every electrical step as serious, because it is.</a:t>
            </a:r>
            <a:endParaRPr lang="en-US" sz="1080" dirty="0"/>
          </a:p>
        </p:txBody>
      </p:sp>
      <p:sp>
        <p:nvSpPr>
          <p:cNvPr id="17" name="Shape 15"/>
          <p:cNvSpPr/>
          <p:nvPr/>
        </p:nvSpPr>
        <p:spPr>
          <a:xfrm>
            <a:off x="822960" y="4764024"/>
            <a:ext cx="365760" cy="365760"/>
          </a:xfrm>
          <a:prstGeom prst="ellipse">
            <a:avLst/>
          </a:prstGeom>
          <a:solidFill>
            <a:srgbClr val="EAF2F4"/>
          </a:solidFill>
          <a:ln/>
        </p:spPr>
      </p:sp>
      <p:sp>
        <p:nvSpPr>
          <p:cNvPr id="18" name="Text 16"/>
          <p:cNvSpPr/>
          <p:nvPr/>
        </p:nvSpPr>
        <p:spPr>
          <a:xfrm>
            <a:off x="822960" y="4764024"/>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4</a:t>
            </a:r>
            <a:endParaRPr lang="en-US" sz="1120" dirty="0"/>
          </a:p>
        </p:txBody>
      </p:sp>
      <p:sp>
        <p:nvSpPr>
          <p:cNvPr id="19" name="Text 17"/>
          <p:cNvSpPr/>
          <p:nvPr/>
        </p:nvSpPr>
        <p:spPr>
          <a:xfrm>
            <a:off x="1325880" y="4727448"/>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A clear workspace</a:t>
            </a:r>
            <a:endParaRPr lang="en-US" sz="1350" dirty="0"/>
          </a:p>
        </p:txBody>
      </p:sp>
      <p:sp>
        <p:nvSpPr>
          <p:cNvPr id="20" name="Text 18"/>
          <p:cNvSpPr/>
          <p:nvPr/>
        </p:nvSpPr>
        <p:spPr>
          <a:xfrm>
            <a:off x="3840480" y="4690872"/>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Bags off the floor, cords managed, the path walkable. Most injuries are simply a tidy room away.</a:t>
            </a:r>
            <a:endParaRPr lang="en-US" sz="1080" dirty="0"/>
          </a:p>
        </p:txBody>
      </p:sp>
      <p:sp>
        <p:nvSpPr>
          <p:cNvPr id="21" name="Shape 19"/>
          <p:cNvSpPr/>
          <p:nvPr/>
        </p:nvSpPr>
        <p:spPr>
          <a:xfrm>
            <a:off x="822960" y="5422392"/>
            <a:ext cx="365760" cy="365760"/>
          </a:xfrm>
          <a:prstGeom prst="ellipse">
            <a:avLst/>
          </a:prstGeom>
          <a:solidFill>
            <a:srgbClr val="EAF2F4"/>
          </a:solidFill>
          <a:ln/>
        </p:spPr>
      </p:sp>
      <p:sp>
        <p:nvSpPr>
          <p:cNvPr id="22" name="Text 20"/>
          <p:cNvSpPr/>
          <p:nvPr/>
        </p:nvSpPr>
        <p:spPr>
          <a:xfrm>
            <a:off x="822960" y="5422392"/>
            <a:ext cx="365760" cy="365760"/>
          </a:xfrm>
          <a:prstGeom prst="rect">
            <a:avLst/>
          </a:prstGeom>
          <a:noFill/>
          <a:ln/>
        </p:spPr>
        <p:txBody>
          <a:bodyPr wrap="square" lIns="0" tIns="0" rIns="0" bIns="0" rtlCol="0" anchor="ctr"/>
          <a:lstStyle/>
          <a:p>
            <a:pPr algn="ctr" indent="0" marL="0">
              <a:buNone/>
            </a:pPr>
            <a:r>
              <a:rPr lang="en-US" sz="1120" b="1" dirty="0">
                <a:solidFill>
                  <a:srgbClr val="0D7490"/>
                </a:solidFill>
                <a:latin typeface="Helvetica Neue" pitchFamily="34" charset="0"/>
                <a:ea typeface="Helvetica Neue" pitchFamily="34" charset="-122"/>
                <a:cs typeface="Helvetica Neue" pitchFamily="34" charset="-120"/>
              </a:rPr>
              <a:t>5</a:t>
            </a:r>
            <a:endParaRPr lang="en-US" sz="1120" dirty="0"/>
          </a:p>
        </p:txBody>
      </p:sp>
      <p:sp>
        <p:nvSpPr>
          <p:cNvPr id="23" name="Text 21"/>
          <p:cNvSpPr/>
          <p:nvPr/>
        </p:nvSpPr>
        <p:spPr>
          <a:xfrm>
            <a:off x="1325880" y="5385816"/>
            <a:ext cx="2423160" cy="420624"/>
          </a:xfrm>
          <a:prstGeom prst="rect">
            <a:avLst/>
          </a:prstGeom>
          <a:noFill/>
          <a:ln/>
        </p:spPr>
        <p:txBody>
          <a:bodyPr wrap="square" lIns="0" tIns="0" rIns="0" bIns="0" rtlCol="0" anchor="ctr"/>
          <a:lstStyle/>
          <a:p>
            <a:pPr indent="0" marL="0">
              <a:buNone/>
            </a:pPr>
            <a:r>
              <a:rPr lang="en-US" sz="1350" b="1" dirty="0">
                <a:solidFill>
                  <a:srgbClr val="1D1D1F"/>
                </a:solidFill>
                <a:latin typeface="Helvetica Neue" pitchFamily="34" charset="0"/>
                <a:ea typeface="Helvetica Neue" pitchFamily="34" charset="-122"/>
                <a:cs typeface="Helvetica Neue" pitchFamily="34" charset="-120"/>
              </a:rPr>
              <a:t>Speak up early</a:t>
            </a:r>
            <a:endParaRPr lang="en-US" sz="1350" dirty="0"/>
          </a:p>
        </p:txBody>
      </p:sp>
      <p:sp>
        <p:nvSpPr>
          <p:cNvPr id="24" name="Text 22"/>
          <p:cNvSpPr/>
          <p:nvPr/>
        </p:nvSpPr>
        <p:spPr>
          <a:xfrm>
            <a:off x="3840480" y="5349240"/>
            <a:ext cx="3703320" cy="548640"/>
          </a:xfrm>
          <a:prstGeom prst="rect">
            <a:avLst/>
          </a:prstGeom>
          <a:noFill/>
          <a:ln/>
        </p:spPr>
        <p:txBody>
          <a:bodyPr wrap="square" lIns="0" tIns="0" rIns="0" bIns="0" rtlCol="0" anchor="ctr"/>
          <a:lstStyle/>
          <a:p>
            <a:pPr indent="0" marL="0">
              <a:lnSpc>
                <a:spcPts val="1350"/>
              </a:lnSpc>
              <a:buNone/>
            </a:pPr>
            <a:r>
              <a:rPr lang="en-US" sz="1080" dirty="0">
                <a:solidFill>
                  <a:srgbClr val="6E6E73"/>
                </a:solidFill>
                <a:latin typeface="Helvetica Neue" pitchFamily="34" charset="0"/>
                <a:ea typeface="Helvetica Neue" pitchFamily="34" charset="-122"/>
                <a:cs typeface="Helvetica Neue" pitchFamily="34" charset="-120"/>
              </a:rPr>
              <a:t>Anyone can call a stop. A near-miss gets reported the same as an injury — no one is in trouble for it.</a:t>
            </a:r>
            <a:endParaRPr lang="en-US" sz="1080" dirty="0"/>
          </a:p>
        </p:txBody>
      </p:sp>
      <p:sp>
        <p:nvSpPr>
          <p:cNvPr id="25" name="Shape 23"/>
          <p:cNvSpPr/>
          <p:nvPr/>
        </p:nvSpPr>
        <p:spPr>
          <a:xfrm>
            <a:off x="7863840" y="2788920"/>
            <a:ext cx="3502152" cy="3035808"/>
          </a:xfrm>
          <a:prstGeom prst="roundRect">
            <a:avLst>
              <a:gd name="adj" fmla="val 3313"/>
            </a:avLst>
          </a:prstGeom>
          <a:solidFill>
            <a:srgbClr val="EAF2F4"/>
          </a:solidFill>
          <a:ln w="12700">
            <a:solidFill>
              <a:srgbClr val="EAF2F4"/>
            </a:solidFill>
            <a:prstDash val="solid"/>
          </a:ln>
        </p:spPr>
      </p:sp>
      <p:sp>
        <p:nvSpPr>
          <p:cNvPr id="26" name="Text 24"/>
          <p:cNvSpPr/>
          <p:nvPr/>
        </p:nvSpPr>
        <p:spPr>
          <a:xfrm>
            <a:off x="8183880" y="3072384"/>
            <a:ext cx="2926080" cy="274320"/>
          </a:xfrm>
          <a:prstGeom prst="rect">
            <a:avLst/>
          </a:prstGeom>
          <a:noFill/>
          <a:ln/>
        </p:spPr>
        <p:txBody>
          <a:bodyPr wrap="square" lIns="0" tIns="0" rIns="0" bIns="0" rtlCol="0" anchor="ctr"/>
          <a:lstStyle/>
          <a:p>
            <a:pPr indent="0" marL="0">
              <a:buNone/>
            </a:pPr>
            <a:r>
              <a:rPr lang="en-US" sz="1000" b="1" spc="150" kern="0" dirty="0">
                <a:solidFill>
                  <a:srgbClr val="095D75"/>
                </a:solidFill>
                <a:latin typeface="Helvetica Neue" pitchFamily="34" charset="0"/>
                <a:ea typeface="Helvetica Neue" pitchFamily="34" charset="-122"/>
                <a:cs typeface="Helvetica Neue" pitchFamily="34" charset="-120"/>
              </a:rPr>
              <a:t>MATE INSPECTS THIS</a:t>
            </a:r>
            <a:endParaRPr lang="en-US" sz="1000" dirty="0"/>
          </a:p>
        </p:txBody>
      </p:sp>
      <p:sp>
        <p:nvSpPr>
          <p:cNvPr id="27" name="Text 25"/>
          <p:cNvSpPr/>
          <p:nvPr/>
        </p:nvSpPr>
        <p:spPr>
          <a:xfrm>
            <a:off x="8183880" y="3346704"/>
            <a:ext cx="2926080" cy="502920"/>
          </a:xfrm>
          <a:prstGeom prst="rect">
            <a:avLst/>
          </a:prstGeom>
          <a:noFill/>
          <a:ln/>
        </p:spPr>
        <p:txBody>
          <a:bodyPr wrap="square" lIns="0" tIns="0" rIns="0" bIns="0" rtlCol="0" anchor="ctr"/>
          <a:lstStyle/>
          <a:p>
            <a:pPr indent="0" marL="0">
              <a:buNone/>
            </a:pPr>
            <a:r>
              <a:rPr lang="en-US" sz="1900" b="1" dirty="0">
                <a:solidFill>
                  <a:srgbClr val="1D1D1F"/>
                </a:solidFill>
                <a:latin typeface="Helvetica Neue" pitchFamily="34" charset="0"/>
                <a:ea typeface="Helvetica Neue" pitchFamily="34" charset="-122"/>
                <a:cs typeface="Helvetica Neue" pitchFamily="34" charset="-120"/>
              </a:rPr>
              <a:t>Safety is judged.</a:t>
            </a:r>
            <a:endParaRPr lang="en-US" sz="1900" dirty="0"/>
          </a:p>
        </p:txBody>
      </p:sp>
      <p:sp>
        <p:nvSpPr>
          <p:cNvPr id="28" name="Text 26"/>
          <p:cNvSpPr/>
          <p:nvPr/>
        </p:nvSpPr>
        <p:spPr>
          <a:xfrm>
            <a:off x="8183880" y="3822192"/>
            <a:ext cx="2971800" cy="1920240"/>
          </a:xfrm>
          <a:prstGeom prst="rect">
            <a:avLst/>
          </a:prstGeom>
          <a:noFill/>
          <a:ln/>
        </p:spPr>
        <p:txBody>
          <a:bodyPr wrap="square" lIns="0" tIns="0" rIns="0" bIns="0" rtlCol="0" anchor="ctr"/>
          <a:lstStyle/>
          <a:p>
            <a:pPr indent="0" marL="0">
              <a:lnSpc>
                <a:spcPts val="1500"/>
              </a:lnSpc>
              <a:buNone/>
            </a:pPr>
            <a:r>
              <a:rPr lang="en-US" sz="1100" dirty="0">
                <a:solidFill>
                  <a:srgbClr val="1D1D1F"/>
                </a:solidFill>
                <a:latin typeface="Helvetica Neue" pitchFamily="34" charset="0"/>
                <a:ea typeface="Helvetica Neue" pitchFamily="34" charset="-122"/>
                <a:cs typeface="Helvetica Neue" pitchFamily="34" charset="-120"/>
              </a:rPr>
              <a:t>Every ROV passes a safety inspection before it is allowed in the competition water. Loose wiring, sharp edges, or an unsafe team can keep a robot on the deck.</a:t>
            </a:r>
            <a:endParaRPr lang="en-US" sz="1100" dirty="0"/>
          </a:p>
          <a:p>
            <a:pPr indent="0" marL="0">
              <a:lnSpc>
                <a:spcPts val="1500"/>
              </a:lnSpc>
              <a:buNone/>
            </a:pPr>
            <a:endParaRPr lang="en-US" sz="1100" dirty="0"/>
          </a:p>
          <a:p>
            <a:pPr indent="0" marL="0">
              <a:lnSpc>
                <a:spcPts val="1500"/>
              </a:lnSpc>
              <a:buNone/>
            </a:pPr>
            <a:r>
              <a:rPr lang="en-US" sz="1100" dirty="0">
                <a:solidFill>
                  <a:srgbClr val="1D1D1F"/>
                </a:solidFill>
                <a:latin typeface="Helvetica Neue" pitchFamily="34" charset="0"/>
                <a:ea typeface="Helvetica Neue" pitchFamily="34" charset="-122"/>
                <a:cs typeface="Helvetica Neue" pitchFamily="34" charset="-120"/>
              </a:rPr>
              <a:t>A team that is not safe does not get to compete. We build that habit now, not in April.</a:t>
            </a:r>
            <a:endParaRPr lang="en-US" sz="1100" dirty="0"/>
          </a:p>
        </p:txBody>
      </p:sp>
      <p:sp>
        <p:nvSpPr>
          <p:cNvPr id="29" name="Shape 27"/>
          <p:cNvSpPr/>
          <p:nvPr/>
        </p:nvSpPr>
        <p:spPr>
          <a:xfrm>
            <a:off x="822960" y="6437376"/>
            <a:ext cx="10545775" cy="0"/>
          </a:xfrm>
          <a:prstGeom prst="line">
            <a:avLst/>
          </a:prstGeom>
          <a:noFill/>
          <a:ln w="9525">
            <a:solidFill>
              <a:srgbClr val="E3E3E6"/>
            </a:solidFill>
            <a:prstDash val="solid"/>
          </a:ln>
        </p:spPr>
      </p:sp>
      <p:sp>
        <p:nvSpPr>
          <p:cNvPr id="30" name="Text 2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1" name="Text 2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21 / 26</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06</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06</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The Community</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Outreach Log</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2:35 – 2:50   ·   15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A scored part of the competition that is impossible to fake in April — so we start it in May.</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22 / 26</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COMMUNITY OUTREACH</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We start the log on day one.</a:t>
            </a:r>
            <a:endParaRPr lang="en-US" sz="3000" dirty="0"/>
          </a:p>
        </p:txBody>
      </p:sp>
      <p:sp>
        <p:nvSpPr>
          <p:cNvPr id="4" name="Text 2"/>
          <p:cNvSpPr/>
          <p:nvPr/>
        </p:nvSpPr>
        <p:spPr>
          <a:xfrm>
            <a:off x="822960" y="1783080"/>
            <a:ext cx="6446520" cy="1234440"/>
          </a:xfrm>
          <a:prstGeom prst="rect">
            <a:avLst/>
          </a:prstGeom>
          <a:noFill/>
          <a:ln/>
        </p:spPr>
        <p:txBody>
          <a:bodyPr wrap="square" lIns="0" tIns="0" rIns="0" bIns="0" rtlCol="0" anchor="ctr"/>
          <a:lstStyle/>
          <a:p>
            <a:pPr indent="0" marL="0">
              <a:lnSpc>
                <a:spcPts val="2100"/>
              </a:lnSpc>
              <a:buNone/>
            </a:pPr>
            <a:r>
              <a:rPr lang="en-US" sz="1400" dirty="0">
                <a:solidFill>
                  <a:srgbClr val="6E6E73"/>
                </a:solidFill>
                <a:latin typeface="Helvetica Neue" pitchFamily="34" charset="0"/>
                <a:ea typeface="Helvetica Neue" pitchFamily="34" charset="-122"/>
                <a:cs typeface="Helvetica Neue" pitchFamily="34" charset="-120"/>
              </a:rPr>
              <a:t>RANGER teams are recognized for community outreach and engagement — every demo, every younger student taught, every post that shows the work. It counts. And it cannot be reconstructed from memory the week before competition.</a:t>
            </a:r>
            <a:endParaRPr lang="en-US" sz="1400" dirty="0"/>
          </a:p>
        </p:txBody>
      </p:sp>
      <p:sp>
        <p:nvSpPr>
          <p:cNvPr id="5" name="Text 3"/>
          <p:cNvSpPr/>
          <p:nvPr/>
        </p:nvSpPr>
        <p:spPr>
          <a:xfrm>
            <a:off x="822960" y="3035808"/>
            <a:ext cx="6446520" cy="640080"/>
          </a:xfrm>
          <a:prstGeom prst="rect">
            <a:avLst/>
          </a:prstGeom>
          <a:noFill/>
          <a:ln/>
        </p:spPr>
        <p:txBody>
          <a:bodyPr wrap="square" lIns="0" tIns="0" rIns="0" bIns="0" rtlCol="0" anchor="ctr"/>
          <a:lstStyle/>
          <a:p>
            <a:pPr indent="0" marL="0">
              <a:lnSpc>
                <a:spcPts val="1900"/>
              </a:lnSpc>
              <a:buNone/>
            </a:pPr>
            <a:r>
              <a:rPr lang="en-US" sz="1350" b="1" dirty="0">
                <a:solidFill>
                  <a:srgbClr val="1D1D1F"/>
                </a:solidFill>
                <a:latin typeface="Helvetica Neue" pitchFamily="34" charset="0"/>
                <a:ea typeface="Helvetica Neue" pitchFamily="34" charset="-122"/>
                <a:cs typeface="Helvetica Neue" pitchFamily="34" charset="-120"/>
              </a:rPr>
              <a:t>So the rule is simple: if it happened, it gets logged the same week — four columns, nothing fancy.</a:t>
            </a:r>
            <a:endParaRPr lang="en-US" sz="1350" dirty="0"/>
          </a:p>
        </p:txBody>
      </p:sp>
      <p:sp>
        <p:nvSpPr>
          <p:cNvPr id="6" name="Shape 4"/>
          <p:cNvSpPr/>
          <p:nvPr/>
        </p:nvSpPr>
        <p:spPr>
          <a:xfrm>
            <a:off x="822960" y="3840480"/>
            <a:ext cx="6446520" cy="384048"/>
          </a:xfrm>
          <a:prstGeom prst="rect">
            <a:avLst/>
          </a:prstGeom>
          <a:solidFill>
            <a:srgbClr val="0D7490"/>
          </a:solidFill>
          <a:ln/>
        </p:spPr>
      </p:sp>
      <p:sp>
        <p:nvSpPr>
          <p:cNvPr id="7" name="Text 5"/>
          <p:cNvSpPr/>
          <p:nvPr/>
        </p:nvSpPr>
        <p:spPr>
          <a:xfrm>
            <a:off x="950976" y="3840480"/>
            <a:ext cx="96926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DATE</a:t>
            </a:r>
            <a:endParaRPr lang="en-US" sz="900" dirty="0"/>
          </a:p>
        </p:txBody>
      </p:sp>
      <p:sp>
        <p:nvSpPr>
          <p:cNvPr id="8" name="Text 6"/>
          <p:cNvSpPr/>
          <p:nvPr/>
        </p:nvSpPr>
        <p:spPr>
          <a:xfrm>
            <a:off x="2048256" y="3840480"/>
            <a:ext cx="261518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WHAT WE DID</a:t>
            </a:r>
            <a:endParaRPr lang="en-US" sz="900" dirty="0"/>
          </a:p>
        </p:txBody>
      </p:sp>
      <p:sp>
        <p:nvSpPr>
          <p:cNvPr id="9" name="Text 7"/>
          <p:cNvSpPr/>
          <p:nvPr/>
        </p:nvSpPr>
        <p:spPr>
          <a:xfrm>
            <a:off x="4791456" y="3840480"/>
            <a:ext cx="133502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WHO IT REACHED</a:t>
            </a:r>
            <a:endParaRPr lang="en-US" sz="900" dirty="0"/>
          </a:p>
        </p:txBody>
      </p:sp>
      <p:sp>
        <p:nvSpPr>
          <p:cNvPr id="10" name="Text 8"/>
          <p:cNvSpPr/>
          <p:nvPr/>
        </p:nvSpPr>
        <p:spPr>
          <a:xfrm>
            <a:off x="6254496" y="3840480"/>
            <a:ext cx="1014984" cy="384048"/>
          </a:xfrm>
          <a:prstGeom prst="rect">
            <a:avLst/>
          </a:prstGeom>
          <a:noFill/>
          <a:ln/>
        </p:spPr>
        <p:txBody>
          <a:bodyPr wrap="square" lIns="0" tIns="0" rIns="0" bIns="0" rtlCol="0" anchor="ctr"/>
          <a:lstStyle/>
          <a:p>
            <a:pPr indent="0" marL="0">
              <a:buNone/>
            </a:pPr>
            <a:r>
              <a:rPr lang="en-US" sz="900" b="1" spc="100" kern="0" dirty="0">
                <a:solidFill>
                  <a:srgbClr val="FFFFFF"/>
                </a:solidFill>
                <a:latin typeface="Helvetica Neue" pitchFamily="34" charset="0"/>
                <a:ea typeface="Helvetica Neue" pitchFamily="34" charset="-122"/>
                <a:cs typeface="Helvetica Neue" pitchFamily="34" charset="-120"/>
              </a:rPr>
              <a:t>REACH</a:t>
            </a:r>
            <a:endParaRPr lang="en-US" sz="900" dirty="0"/>
          </a:p>
        </p:txBody>
      </p:sp>
      <p:sp>
        <p:nvSpPr>
          <p:cNvPr id="11" name="Shape 9"/>
          <p:cNvSpPr/>
          <p:nvPr/>
        </p:nvSpPr>
        <p:spPr>
          <a:xfrm>
            <a:off x="822960" y="4224528"/>
            <a:ext cx="6446520" cy="457200"/>
          </a:xfrm>
          <a:prstGeom prst="rect">
            <a:avLst/>
          </a:prstGeom>
          <a:solidFill>
            <a:srgbClr val="FBFBFD"/>
          </a:solidFill>
          <a:ln w="9525">
            <a:solidFill>
              <a:srgbClr val="E3E3E6"/>
            </a:solidFill>
            <a:prstDash val="solid"/>
          </a:ln>
        </p:spPr>
      </p:sp>
      <p:sp>
        <p:nvSpPr>
          <p:cNvPr id="12" name="Text 10"/>
          <p:cNvSpPr/>
          <p:nvPr/>
        </p:nvSpPr>
        <p:spPr>
          <a:xfrm>
            <a:off x="950976" y="4224528"/>
            <a:ext cx="96926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May 25</a:t>
            </a:r>
            <a:endParaRPr lang="en-US" sz="1050" dirty="0"/>
          </a:p>
        </p:txBody>
      </p:sp>
      <p:sp>
        <p:nvSpPr>
          <p:cNvPr id="13" name="Text 11"/>
          <p:cNvSpPr/>
          <p:nvPr/>
        </p:nvSpPr>
        <p:spPr>
          <a:xfrm>
            <a:off x="2048256" y="4224528"/>
            <a:ext cx="261518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Team kickoff — company formed</a:t>
            </a:r>
            <a:endParaRPr lang="en-US" sz="1050" dirty="0"/>
          </a:p>
        </p:txBody>
      </p:sp>
      <p:sp>
        <p:nvSpPr>
          <p:cNvPr id="14" name="Text 12"/>
          <p:cNvSpPr/>
          <p:nvPr/>
        </p:nvSpPr>
        <p:spPr>
          <a:xfrm>
            <a:off x="4791456" y="4224528"/>
            <a:ext cx="133502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6 students</a:t>
            </a:r>
            <a:endParaRPr lang="en-US" sz="1050" dirty="0"/>
          </a:p>
        </p:txBody>
      </p:sp>
      <p:sp>
        <p:nvSpPr>
          <p:cNvPr id="15" name="Text 13"/>
          <p:cNvSpPr/>
          <p:nvPr/>
        </p:nvSpPr>
        <p:spPr>
          <a:xfrm>
            <a:off x="6254496" y="4224528"/>
            <a:ext cx="1014984" cy="457200"/>
          </a:xfrm>
          <a:prstGeom prst="rect">
            <a:avLst/>
          </a:prstGeom>
          <a:noFill/>
          <a:ln/>
        </p:spPr>
        <p:txBody>
          <a:bodyPr wrap="square" lIns="0" tIns="0" rIns="0" bIns="0" rtlCol="0" anchor="ctr"/>
          <a:lstStyle/>
          <a:p>
            <a:pPr indent="0" marL="0">
              <a:buNone/>
            </a:pPr>
            <a:r>
              <a:rPr lang="en-US" sz="1050" dirty="0">
                <a:solidFill>
                  <a:srgbClr val="1D1D1F"/>
                </a:solidFill>
                <a:latin typeface="Helvetica Neue" pitchFamily="34" charset="0"/>
                <a:ea typeface="Helvetica Neue" pitchFamily="34" charset="-122"/>
                <a:cs typeface="Helvetica Neue" pitchFamily="34" charset="-120"/>
              </a:rPr>
              <a:t>6</a:t>
            </a:r>
            <a:endParaRPr lang="en-US" sz="1050" dirty="0"/>
          </a:p>
        </p:txBody>
      </p:sp>
      <p:sp>
        <p:nvSpPr>
          <p:cNvPr id="16" name="Shape 14"/>
          <p:cNvSpPr/>
          <p:nvPr/>
        </p:nvSpPr>
        <p:spPr>
          <a:xfrm>
            <a:off x="822960" y="4681728"/>
            <a:ext cx="6446520" cy="457200"/>
          </a:xfrm>
          <a:prstGeom prst="rect">
            <a:avLst/>
          </a:prstGeom>
          <a:solidFill>
            <a:srgbClr val="FFFFFF"/>
          </a:solidFill>
          <a:ln w="9525">
            <a:solidFill>
              <a:srgbClr val="E3E3E6"/>
            </a:solidFill>
            <a:prstDash val="solid"/>
          </a:ln>
        </p:spPr>
      </p:sp>
      <p:sp>
        <p:nvSpPr>
          <p:cNvPr id="17" name="Text 15"/>
          <p:cNvSpPr/>
          <p:nvPr/>
        </p:nvSpPr>
        <p:spPr>
          <a:xfrm>
            <a:off x="950976" y="4681728"/>
            <a:ext cx="96926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18" name="Text 16"/>
          <p:cNvSpPr/>
          <p:nvPr/>
        </p:nvSpPr>
        <p:spPr>
          <a:xfrm>
            <a:off x="2048256" y="4681728"/>
            <a:ext cx="261518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Your first entry goes here</a:t>
            </a:r>
            <a:endParaRPr lang="en-US" sz="1050" dirty="0"/>
          </a:p>
        </p:txBody>
      </p:sp>
      <p:sp>
        <p:nvSpPr>
          <p:cNvPr id="19" name="Text 17"/>
          <p:cNvSpPr/>
          <p:nvPr/>
        </p:nvSpPr>
        <p:spPr>
          <a:xfrm>
            <a:off x="4791456" y="4681728"/>
            <a:ext cx="133502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20" name="Text 18"/>
          <p:cNvSpPr/>
          <p:nvPr/>
        </p:nvSpPr>
        <p:spPr>
          <a:xfrm>
            <a:off x="6254496" y="4681728"/>
            <a:ext cx="1014984" cy="457200"/>
          </a:xfrm>
          <a:prstGeom prst="rect">
            <a:avLst/>
          </a:prstGeom>
          <a:noFill/>
          <a:ln/>
        </p:spPr>
        <p:txBody>
          <a:bodyPr wrap="square" lIns="0" tIns="0" rIns="0" bIns="0" rtlCol="0" anchor="ctr"/>
          <a:lstStyle/>
          <a:p>
            <a:pPr indent="0" marL="0">
              <a:buNone/>
            </a:pPr>
            <a:r>
              <a:rPr lang="en-US" sz="1050" i="1" dirty="0">
                <a:solidFill>
                  <a:srgbClr val="86868B"/>
                </a:solidFill>
                <a:latin typeface="Helvetica Neue" pitchFamily="34" charset="0"/>
                <a:ea typeface="Helvetica Neue" pitchFamily="34" charset="-122"/>
                <a:cs typeface="Helvetica Neue" pitchFamily="34" charset="-120"/>
              </a:rPr>
              <a:t>—</a:t>
            </a:r>
            <a:endParaRPr lang="en-US" sz="1050" dirty="0"/>
          </a:p>
        </p:txBody>
      </p:sp>
      <p:sp>
        <p:nvSpPr>
          <p:cNvPr id="21" name="Shape 19"/>
          <p:cNvSpPr/>
          <p:nvPr/>
        </p:nvSpPr>
        <p:spPr>
          <a:xfrm>
            <a:off x="7635240" y="1783080"/>
            <a:ext cx="3730752" cy="4069080"/>
          </a:xfrm>
          <a:prstGeom prst="roundRect">
            <a:avLst>
              <a:gd name="adj" fmla="val 2696"/>
            </a:avLst>
          </a:prstGeom>
          <a:solidFill>
            <a:srgbClr val="095D75"/>
          </a:solidFill>
          <a:ln w="12700">
            <a:solidFill>
              <a:srgbClr val="095D75"/>
            </a:solidFill>
            <a:prstDash val="solid"/>
          </a:ln>
        </p:spPr>
      </p:sp>
      <p:sp>
        <p:nvSpPr>
          <p:cNvPr id="22" name="Text 20"/>
          <p:cNvSpPr/>
          <p:nvPr/>
        </p:nvSpPr>
        <p:spPr>
          <a:xfrm>
            <a:off x="7955280" y="2103120"/>
            <a:ext cx="3108960" cy="274320"/>
          </a:xfrm>
          <a:prstGeom prst="rect">
            <a:avLst/>
          </a:prstGeom>
          <a:noFill/>
          <a:ln/>
        </p:spPr>
        <p:txBody>
          <a:bodyPr wrap="square" lIns="0" tIns="0" rIns="0" bIns="0" rtlCol="0" anchor="ctr"/>
          <a:lstStyle/>
          <a:p>
            <a:pPr indent="0" marL="0">
              <a:buNone/>
            </a:pPr>
            <a:r>
              <a:rPr lang="en-US" sz="1000" b="1" spc="150" kern="0" dirty="0">
                <a:solidFill>
                  <a:srgbClr val="9FCEDA"/>
                </a:solidFill>
                <a:latin typeface="Helvetica Neue" pitchFamily="34" charset="0"/>
                <a:ea typeface="Helvetica Neue" pitchFamily="34" charset="-122"/>
                <a:cs typeface="Helvetica Neue" pitchFamily="34" charset="-120"/>
              </a:rPr>
              <a:t>WHY DAY ONE</a:t>
            </a:r>
            <a:endParaRPr lang="en-US" sz="1000" dirty="0"/>
          </a:p>
        </p:txBody>
      </p:sp>
      <p:sp>
        <p:nvSpPr>
          <p:cNvPr id="23" name="Text 21"/>
          <p:cNvSpPr/>
          <p:nvPr/>
        </p:nvSpPr>
        <p:spPr>
          <a:xfrm>
            <a:off x="7955280" y="2395728"/>
            <a:ext cx="3154680" cy="914400"/>
          </a:xfrm>
          <a:prstGeom prst="rect">
            <a:avLst/>
          </a:prstGeom>
          <a:noFill/>
          <a:ln/>
        </p:spPr>
        <p:txBody>
          <a:bodyPr wrap="square" lIns="0" tIns="0" rIns="0" bIns="0" rtlCol="0" anchor="ctr"/>
          <a:lstStyle/>
          <a:p>
            <a:pPr indent="0" marL="0">
              <a:lnSpc>
                <a:spcPts val="2400"/>
              </a:lnSpc>
              <a:buNone/>
            </a:pPr>
            <a:r>
              <a:rPr lang="en-US" sz="1900" b="1" dirty="0">
                <a:solidFill>
                  <a:srgbClr val="FFFFFF"/>
                </a:solidFill>
                <a:latin typeface="Helvetica Neue" pitchFamily="34" charset="0"/>
                <a:ea typeface="Helvetica Neue" pitchFamily="34" charset="-122"/>
                <a:cs typeface="Helvetica Neue" pitchFamily="34" charset="-120"/>
              </a:rPr>
              <a:t>You cannot remember a year.</a:t>
            </a:r>
            <a:endParaRPr lang="en-US" sz="1900" dirty="0"/>
          </a:p>
        </p:txBody>
      </p:sp>
      <p:sp>
        <p:nvSpPr>
          <p:cNvPr id="24" name="Text 22"/>
          <p:cNvSpPr/>
          <p:nvPr/>
        </p:nvSpPr>
        <p:spPr>
          <a:xfrm>
            <a:off x="7955280" y="3346704"/>
            <a:ext cx="3154680" cy="1371600"/>
          </a:xfrm>
          <a:prstGeom prst="rect">
            <a:avLst/>
          </a:prstGeom>
          <a:noFill/>
          <a:ln/>
        </p:spPr>
        <p:txBody>
          <a:bodyPr wrap="square" lIns="0" tIns="0" rIns="0" bIns="0" rtlCol="0" anchor="ctr"/>
          <a:lstStyle/>
          <a:p>
            <a:pPr indent="0" marL="0">
              <a:lnSpc>
                <a:spcPts val="1550"/>
              </a:lnSpc>
              <a:buNone/>
            </a:pPr>
            <a:r>
              <a:rPr lang="en-US" sz="1100" dirty="0">
                <a:solidFill>
                  <a:srgbClr val="EAF2F4"/>
                </a:solidFill>
                <a:latin typeface="Helvetica Neue" pitchFamily="34" charset="0"/>
                <a:ea typeface="Helvetica Neue" pitchFamily="34" charset="-122"/>
                <a:cs typeface="Helvetica Neue" pitchFamily="34" charset="-120"/>
              </a:rPr>
              <a:t>By April, ten months of small moments have blurred together. A log written as you go is honest, complete, and effortless. A log written from memory is neither.</a:t>
            </a:r>
            <a:endParaRPr lang="en-US" sz="1100" dirty="0"/>
          </a:p>
        </p:txBody>
      </p:sp>
      <p:sp>
        <p:nvSpPr>
          <p:cNvPr id="25" name="Shape 23"/>
          <p:cNvSpPr/>
          <p:nvPr/>
        </p:nvSpPr>
        <p:spPr>
          <a:xfrm>
            <a:off x="7955280" y="4864608"/>
            <a:ext cx="3108960" cy="0"/>
          </a:xfrm>
          <a:prstGeom prst="line">
            <a:avLst/>
          </a:prstGeom>
          <a:noFill/>
          <a:ln w="12700">
            <a:solidFill>
              <a:srgbClr val="3E7E91"/>
            </a:solidFill>
            <a:prstDash val="solid"/>
          </a:ln>
        </p:spPr>
      </p:sp>
      <p:sp>
        <p:nvSpPr>
          <p:cNvPr id="26" name="Text 24"/>
          <p:cNvSpPr/>
          <p:nvPr/>
        </p:nvSpPr>
        <p:spPr>
          <a:xfrm>
            <a:off x="7955280" y="4992624"/>
            <a:ext cx="3154680" cy="292608"/>
          </a:xfrm>
          <a:prstGeom prst="rect">
            <a:avLst/>
          </a:prstGeom>
          <a:noFill/>
          <a:ln/>
        </p:spPr>
        <p:txBody>
          <a:bodyPr wrap="square" lIns="0" tIns="0" rIns="0" bIns="0" rtlCol="0" anchor="ctr"/>
          <a:lstStyle/>
          <a:p>
            <a:pPr indent="0" marL="0">
              <a:buNone/>
            </a:pPr>
            <a:r>
              <a:rPr lang="en-US" sz="1100" b="1" dirty="0">
                <a:solidFill>
                  <a:srgbClr val="9FCEDA"/>
                </a:solidFill>
                <a:latin typeface="Helvetica Neue" pitchFamily="34" charset="0"/>
                <a:ea typeface="Helvetica Neue" pitchFamily="34" charset="-122"/>
                <a:cs typeface="Helvetica Neue" pitchFamily="34" charset="-120"/>
              </a:rPr>
              <a:t>OWNER   </a:t>
            </a:r>
            <a:pPr indent="0" marL="0">
              <a:buNone/>
            </a:pPr>
            <a:r>
              <a:rPr lang="en-US" sz="1100" dirty="0">
                <a:solidFill>
                  <a:srgbClr val="FFFFFF"/>
                </a:solidFill>
                <a:latin typeface="Helvetica Neue" pitchFamily="34" charset="0"/>
                <a:ea typeface="Helvetica Neue" pitchFamily="34" charset="-122"/>
                <a:cs typeface="Helvetica Neue" pitchFamily="34" charset="-120"/>
              </a:rPr>
              <a:t>Communications Lead</a:t>
            </a:r>
            <a:endParaRPr lang="en-US" sz="1100" dirty="0"/>
          </a:p>
        </p:txBody>
      </p:sp>
      <p:sp>
        <p:nvSpPr>
          <p:cNvPr id="27" name="Text 25"/>
          <p:cNvSpPr/>
          <p:nvPr/>
        </p:nvSpPr>
        <p:spPr>
          <a:xfrm>
            <a:off x="7955280" y="5321808"/>
            <a:ext cx="3154680" cy="457200"/>
          </a:xfrm>
          <a:prstGeom prst="rect">
            <a:avLst/>
          </a:prstGeom>
          <a:noFill/>
          <a:ln/>
        </p:spPr>
        <p:txBody>
          <a:bodyPr wrap="square" lIns="0" tIns="0" rIns="0" bIns="0" rtlCol="0" anchor="ctr"/>
          <a:lstStyle/>
          <a:p>
            <a:pPr indent="0" marL="0">
              <a:lnSpc>
                <a:spcPts val="1400"/>
              </a:lnSpc>
              <a:buNone/>
            </a:pPr>
            <a:r>
              <a:rPr lang="en-US" sz="1100" b="1" dirty="0">
                <a:solidFill>
                  <a:srgbClr val="9FCEDA"/>
                </a:solidFill>
                <a:latin typeface="Helvetica Neue" pitchFamily="34" charset="0"/>
                <a:ea typeface="Helvetica Neue" pitchFamily="34" charset="-122"/>
                <a:cs typeface="Helvetica Neue" pitchFamily="34" charset="-120"/>
              </a:rPr>
              <a:t>OPENS   </a:t>
            </a:r>
            <a:pPr indent="0" marL="0">
              <a:lnSpc>
                <a:spcPts val="1400"/>
              </a:lnSpc>
              <a:buNone/>
            </a:pPr>
            <a:r>
              <a:rPr lang="en-US" sz="1100" dirty="0">
                <a:solidFill>
                  <a:srgbClr val="FFFFFF"/>
                </a:solidFill>
                <a:latin typeface="Helvetica Neue" pitchFamily="34" charset="0"/>
                <a:ea typeface="Helvetica Neue" pitchFamily="34" charset="-122"/>
                <a:cs typeface="Helvetica Neue" pitchFamily="34" charset="-120"/>
              </a:rPr>
              <a:t>Today — this meeting is entry one</a:t>
            </a:r>
            <a:endParaRPr lang="en-US" sz="1100" dirty="0"/>
          </a:p>
        </p:txBody>
      </p:sp>
      <p:sp>
        <p:nvSpPr>
          <p:cNvPr id="28" name="Shape 26"/>
          <p:cNvSpPr/>
          <p:nvPr/>
        </p:nvSpPr>
        <p:spPr>
          <a:xfrm>
            <a:off x="822960" y="6437376"/>
            <a:ext cx="10545775" cy="0"/>
          </a:xfrm>
          <a:prstGeom prst="line">
            <a:avLst/>
          </a:prstGeom>
          <a:noFill/>
          <a:ln w="9525">
            <a:solidFill>
              <a:srgbClr val="E3E3E6"/>
            </a:solidFill>
            <a:prstDash val="solid"/>
          </a:ln>
        </p:spPr>
      </p:sp>
      <p:sp>
        <p:nvSpPr>
          <p:cNvPr id="29" name="Text 27"/>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30" name="Text 28"/>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23 / 26</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D"/>
        </a:solidFill>
      </p:bgPr>
    </p:bg>
    <p:spTree>
      <p:nvGrpSpPr>
        <p:cNvPr id="1" name=""/>
        <p:cNvGrpSpPr/>
        <p:nvPr/>
      </p:nvGrpSpPr>
      <p:grpSpPr>
        <a:xfrm>
          <a:off x="0" y="0"/>
          <a:ext cx="0" cy="0"/>
          <a:chOff x="0" y="0"/>
          <a:chExt cx="0" cy="0"/>
        </a:xfrm>
      </p:grpSpPr>
      <p:sp>
        <p:nvSpPr>
          <p:cNvPr id="2" name="Text 0"/>
          <p:cNvSpPr/>
          <p:nvPr/>
        </p:nvSpPr>
        <p:spPr>
          <a:xfrm>
            <a:off x="4572000" y="182880"/>
            <a:ext cx="7315200" cy="6492240"/>
          </a:xfrm>
          <a:prstGeom prst="rect">
            <a:avLst/>
          </a:prstGeom>
          <a:noFill/>
          <a:ln/>
        </p:spPr>
        <p:txBody>
          <a:bodyPr wrap="square" lIns="0" tIns="0" rIns="0" bIns="0" rtlCol="0" anchor="ctr"/>
          <a:lstStyle/>
          <a:p>
            <a:pPr algn="r" indent="0" marL="0">
              <a:buNone/>
            </a:pPr>
            <a:r>
              <a:rPr lang="en-US" sz="36000" b="1" dirty="0">
                <a:solidFill>
                  <a:srgbClr val="EEF0F1"/>
                </a:solidFill>
                <a:latin typeface="Helvetica Neue" pitchFamily="34" charset="0"/>
                <a:ea typeface="Helvetica Neue" pitchFamily="34" charset="-122"/>
                <a:cs typeface="Helvetica Neue" pitchFamily="34" charset="-120"/>
              </a:rPr>
              <a:t>07</a:t>
            </a:r>
            <a:endParaRPr lang="en-US" sz="36000" dirty="0"/>
          </a:p>
        </p:txBody>
      </p:sp>
      <p:sp>
        <p:nvSpPr>
          <p:cNvPr id="3" name="Shape 1"/>
          <p:cNvSpPr/>
          <p:nvPr/>
        </p:nvSpPr>
        <p:spPr>
          <a:xfrm>
            <a:off x="841248" y="2395728"/>
            <a:ext cx="566928" cy="91440"/>
          </a:xfrm>
          <a:prstGeom prst="rect">
            <a:avLst/>
          </a:prstGeom>
          <a:solidFill>
            <a:srgbClr val="0D7490"/>
          </a:solidFill>
          <a:ln/>
        </p:spPr>
      </p:sp>
      <p:sp>
        <p:nvSpPr>
          <p:cNvPr id="4" name="Text 2"/>
          <p:cNvSpPr/>
          <p:nvPr/>
        </p:nvSpPr>
        <p:spPr>
          <a:xfrm>
            <a:off x="822960" y="2615184"/>
            <a:ext cx="6400800" cy="310896"/>
          </a:xfrm>
          <a:prstGeom prst="rect">
            <a:avLst/>
          </a:prstGeom>
          <a:noFill/>
          <a:ln/>
        </p:spPr>
        <p:txBody>
          <a:bodyPr wrap="square" lIns="0" tIns="0" rIns="0" bIns="0" rtlCol="0" anchor="ctr"/>
          <a:lstStyle/>
          <a:p>
            <a:pPr indent="0" marL="0">
              <a:buNone/>
            </a:pPr>
            <a:r>
              <a:rPr lang="en-US" sz="1300" b="1" spc="250" kern="0" dirty="0">
                <a:solidFill>
                  <a:srgbClr val="0D7490"/>
                </a:solidFill>
                <a:latin typeface="Helvetica Neue" pitchFamily="34" charset="0"/>
                <a:ea typeface="Helvetica Neue" pitchFamily="34" charset="-122"/>
                <a:cs typeface="Helvetica Neue" pitchFamily="34" charset="-120"/>
              </a:rPr>
              <a:t>SECTION 07</a:t>
            </a:r>
            <a:endParaRPr lang="en-US" sz="1300" dirty="0"/>
          </a:p>
        </p:txBody>
      </p:sp>
      <p:sp>
        <p:nvSpPr>
          <p:cNvPr id="5" name="Text 3"/>
          <p:cNvSpPr/>
          <p:nvPr/>
        </p:nvSpPr>
        <p:spPr>
          <a:xfrm>
            <a:off x="786384" y="2926080"/>
            <a:ext cx="6949440" cy="1371600"/>
          </a:xfrm>
          <a:prstGeom prst="rect">
            <a:avLst/>
          </a:prstGeom>
          <a:noFill/>
          <a:ln/>
        </p:spPr>
        <p:txBody>
          <a:bodyPr wrap="square" lIns="0" tIns="0" rIns="0" bIns="0" rtlCol="0" anchor="ctr"/>
          <a:lstStyle/>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Wrap-Up &amp;</a:t>
            </a:r>
            <a:endParaRPr lang="en-US" sz="4000" dirty="0"/>
          </a:p>
          <a:p>
            <a:pPr indent="0" marL="0">
              <a:lnSpc>
                <a:spcPts val="4300"/>
              </a:lnSpc>
              <a:buNone/>
            </a:pPr>
            <a:r>
              <a:rPr lang="en-US" sz="4000" b="1" dirty="0">
                <a:solidFill>
                  <a:srgbClr val="1D1D1F"/>
                </a:solidFill>
                <a:latin typeface="Helvetica Neue" pitchFamily="34" charset="0"/>
                <a:ea typeface="Helvetica Neue" pitchFamily="34" charset="-122"/>
                <a:cs typeface="Helvetica Neue" pitchFamily="34" charset="-120"/>
              </a:rPr>
              <a:t>Homework</a:t>
            </a:r>
            <a:endParaRPr lang="en-US" sz="4000" dirty="0"/>
          </a:p>
        </p:txBody>
      </p:sp>
      <p:sp>
        <p:nvSpPr>
          <p:cNvPr id="6" name="Shape 4"/>
          <p:cNvSpPr/>
          <p:nvPr/>
        </p:nvSpPr>
        <p:spPr>
          <a:xfrm>
            <a:off x="841248" y="4370832"/>
            <a:ext cx="2971800" cy="420624"/>
          </a:xfrm>
          <a:prstGeom prst="roundRect">
            <a:avLst>
              <a:gd name="adj" fmla="val 50000"/>
            </a:avLst>
          </a:prstGeom>
          <a:solidFill>
            <a:srgbClr val="0D7490"/>
          </a:solidFill>
          <a:ln/>
        </p:spPr>
      </p:sp>
      <p:sp>
        <p:nvSpPr>
          <p:cNvPr id="7" name="Text 5"/>
          <p:cNvSpPr/>
          <p:nvPr/>
        </p:nvSpPr>
        <p:spPr>
          <a:xfrm>
            <a:off x="841248" y="4370832"/>
            <a:ext cx="2971800" cy="42062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Helvetica Neue" pitchFamily="34" charset="0"/>
                <a:ea typeface="Helvetica Neue" pitchFamily="34" charset="-122"/>
                <a:cs typeface="Helvetica Neue" pitchFamily="34" charset="-120"/>
              </a:rPr>
              <a:t>2:50 – 3:00   ·   10 MIN</a:t>
            </a:r>
            <a:endParaRPr lang="en-US" sz="1050" dirty="0"/>
          </a:p>
        </p:txBody>
      </p:sp>
      <p:sp>
        <p:nvSpPr>
          <p:cNvPr id="8" name="Text 6"/>
          <p:cNvSpPr/>
          <p:nvPr/>
        </p:nvSpPr>
        <p:spPr>
          <a:xfrm>
            <a:off x="841248" y="5029200"/>
            <a:ext cx="6126480" cy="1005840"/>
          </a:xfrm>
          <a:prstGeom prst="rect">
            <a:avLst/>
          </a:prstGeom>
          <a:noFill/>
          <a:ln/>
        </p:spPr>
        <p:txBody>
          <a:bodyPr wrap="square" lIns="0" tIns="0" rIns="0" bIns="0" rtlCol="0" anchor="ctr"/>
          <a:lstStyle/>
          <a:p>
            <a:pPr indent="0" marL="0">
              <a:lnSpc>
                <a:spcPts val="2200"/>
              </a:lnSpc>
              <a:buNone/>
            </a:pPr>
            <a:r>
              <a:rPr lang="en-US" sz="1500" i="1" dirty="0">
                <a:solidFill>
                  <a:srgbClr val="6E6E73"/>
                </a:solidFill>
                <a:latin typeface="Helvetica Neue" pitchFamily="34" charset="0"/>
                <a:ea typeface="Helvetica Neue" pitchFamily="34" charset="-122"/>
                <a:cs typeface="Helvetica Neue" pitchFamily="34" charset="-120"/>
              </a:rPr>
              <a:t>Close the loop: what each student carries out, and what the team carries forward.</a:t>
            </a:r>
            <a:endParaRPr lang="en-US" sz="1500" dirty="0"/>
          </a:p>
        </p:txBody>
      </p:sp>
      <p:sp>
        <p:nvSpPr>
          <p:cNvPr id="9" name="Shape 7"/>
          <p:cNvSpPr/>
          <p:nvPr/>
        </p:nvSpPr>
        <p:spPr>
          <a:xfrm>
            <a:off x="822960" y="6437376"/>
            <a:ext cx="10545775" cy="0"/>
          </a:xfrm>
          <a:prstGeom prst="line">
            <a:avLst/>
          </a:prstGeom>
          <a:noFill/>
          <a:ln w="9525">
            <a:solidFill>
              <a:srgbClr val="E3E3E6"/>
            </a:solidFill>
            <a:prstDash val="solid"/>
          </a:ln>
        </p:spPr>
      </p:sp>
      <p:sp>
        <p:nvSpPr>
          <p:cNvPr id="10" name="Text 8"/>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11" name="Text 9"/>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24 / 26</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30352"/>
            <a:ext cx="10515600" cy="292608"/>
          </a:xfrm>
          <a:prstGeom prst="rect">
            <a:avLst/>
          </a:prstGeom>
          <a:noFill/>
          <a:ln/>
        </p:spPr>
        <p:txBody>
          <a:bodyPr wrap="square" lIns="0" tIns="0" rIns="0" bIns="0" rtlCol="0" anchor="ctr"/>
          <a:lstStyle/>
          <a:p>
            <a:pPr indent="0" marL="0">
              <a:buNone/>
            </a:pPr>
            <a:r>
              <a:rPr lang="en-US" sz="1200" b="1" spc="250" kern="0" dirty="0">
                <a:solidFill>
                  <a:srgbClr val="0D7490"/>
                </a:solidFill>
                <a:latin typeface="Helvetica Neue" pitchFamily="34" charset="0"/>
                <a:ea typeface="Helvetica Neue" pitchFamily="34" charset="-122"/>
                <a:cs typeface="Helvetica Neue" pitchFamily="34" charset="-120"/>
              </a:rPr>
              <a:t>WRAP-UP &amp; HOMEWORK</a:t>
            </a:r>
            <a:endParaRPr lang="en-US" sz="1200" dirty="0"/>
          </a:p>
        </p:txBody>
      </p:sp>
      <p:sp>
        <p:nvSpPr>
          <p:cNvPr id="3" name="Text 1"/>
          <p:cNvSpPr/>
          <p:nvPr/>
        </p:nvSpPr>
        <p:spPr>
          <a:xfrm>
            <a:off x="804672" y="822960"/>
            <a:ext cx="10515600" cy="868680"/>
          </a:xfrm>
          <a:prstGeom prst="rect">
            <a:avLst/>
          </a:prstGeom>
          <a:noFill/>
          <a:ln/>
        </p:spPr>
        <p:txBody>
          <a:bodyPr wrap="square" lIns="0" tIns="0" rIns="0" bIns="0" rtlCol="0" anchor="ctr"/>
          <a:lstStyle/>
          <a:p>
            <a:pPr indent="0" marL="0">
              <a:lnSpc>
                <a:spcPts val="3120"/>
              </a:lnSpc>
              <a:buNone/>
            </a:pPr>
            <a:r>
              <a:rPr lang="en-US" sz="3000" b="1" dirty="0">
                <a:solidFill>
                  <a:srgbClr val="1D1D1F"/>
                </a:solidFill>
                <a:latin typeface="Helvetica Neue" pitchFamily="34" charset="0"/>
                <a:ea typeface="Helvetica Neue" pitchFamily="34" charset="-122"/>
                <a:cs typeface="Helvetica Neue" pitchFamily="34" charset="-120"/>
              </a:rPr>
              <a:t>Before we meet again.</a:t>
            </a:r>
            <a:endParaRPr lang="en-US" sz="3000" dirty="0"/>
          </a:p>
        </p:txBody>
      </p:sp>
      <p:sp>
        <p:nvSpPr>
          <p:cNvPr id="4" name="Text 2"/>
          <p:cNvSpPr/>
          <p:nvPr/>
        </p:nvSpPr>
        <p:spPr>
          <a:xfrm>
            <a:off x="822960" y="1783080"/>
            <a:ext cx="4937760" cy="274320"/>
          </a:xfrm>
          <a:prstGeom prst="rect">
            <a:avLst/>
          </a:prstGeom>
          <a:noFill/>
          <a:ln/>
        </p:spPr>
        <p:txBody>
          <a:bodyPr wrap="square" lIns="0" tIns="0" rIns="0" bIns="0" rtlCol="0" anchor="ctr"/>
          <a:lstStyle/>
          <a:p>
            <a:pPr indent="0" marL="0">
              <a:buNone/>
            </a:pPr>
            <a:r>
              <a:rPr lang="en-US" sz="1050" b="1" spc="150" kern="0" dirty="0">
                <a:solidFill>
                  <a:srgbClr val="0D7490"/>
                </a:solidFill>
                <a:latin typeface="Helvetica Neue" pitchFamily="34" charset="0"/>
                <a:ea typeface="Helvetica Neue" pitchFamily="34" charset="-122"/>
                <a:cs typeface="Helvetica Neue" pitchFamily="34" charset="-120"/>
              </a:rPr>
              <a:t>EVERY STUDENT</a:t>
            </a:r>
            <a:endParaRPr lang="en-US" sz="1050" dirty="0"/>
          </a:p>
        </p:txBody>
      </p:sp>
      <p:sp>
        <p:nvSpPr>
          <p:cNvPr id="5" name="Shape 3"/>
          <p:cNvSpPr/>
          <p:nvPr/>
        </p:nvSpPr>
        <p:spPr>
          <a:xfrm>
            <a:off x="822960" y="2139696"/>
            <a:ext cx="347472" cy="347472"/>
          </a:xfrm>
          <a:prstGeom prst="ellipse">
            <a:avLst/>
          </a:prstGeom>
          <a:solidFill>
            <a:srgbClr val="EAF2F4"/>
          </a:solidFill>
          <a:ln/>
        </p:spPr>
      </p:sp>
      <p:sp>
        <p:nvSpPr>
          <p:cNvPr id="6" name="Text 4"/>
          <p:cNvSpPr/>
          <p:nvPr/>
        </p:nvSpPr>
        <p:spPr>
          <a:xfrm>
            <a:off x="822960" y="2139696"/>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1</a:t>
            </a:r>
            <a:endParaRPr lang="en-US" sz="1064" dirty="0"/>
          </a:p>
        </p:txBody>
      </p:sp>
      <p:sp>
        <p:nvSpPr>
          <p:cNvPr id="7" name="Text 5"/>
          <p:cNvSpPr/>
          <p:nvPr/>
        </p:nvSpPr>
        <p:spPr>
          <a:xfrm>
            <a:off x="1298448" y="2084832"/>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Know your role — be able to say it out loud and name what it owns.</a:t>
            </a:r>
            <a:endParaRPr lang="en-US" sz="1200" dirty="0"/>
          </a:p>
        </p:txBody>
      </p:sp>
      <p:sp>
        <p:nvSpPr>
          <p:cNvPr id="8" name="Shape 6"/>
          <p:cNvSpPr/>
          <p:nvPr/>
        </p:nvSpPr>
        <p:spPr>
          <a:xfrm>
            <a:off x="822960" y="2907792"/>
            <a:ext cx="347472" cy="347472"/>
          </a:xfrm>
          <a:prstGeom prst="ellipse">
            <a:avLst/>
          </a:prstGeom>
          <a:solidFill>
            <a:srgbClr val="EAF2F4"/>
          </a:solidFill>
          <a:ln/>
        </p:spPr>
      </p:sp>
      <p:sp>
        <p:nvSpPr>
          <p:cNvPr id="9" name="Text 7"/>
          <p:cNvSpPr/>
          <p:nvPr/>
        </p:nvSpPr>
        <p:spPr>
          <a:xfrm>
            <a:off x="822960" y="2907792"/>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2</a:t>
            </a:r>
            <a:endParaRPr lang="en-US" sz="1064" dirty="0"/>
          </a:p>
        </p:txBody>
      </p:sp>
      <p:sp>
        <p:nvSpPr>
          <p:cNvPr id="10" name="Text 8"/>
          <p:cNvSpPr/>
          <p:nvPr/>
        </p:nvSpPr>
        <p:spPr>
          <a:xfrm>
            <a:off x="1298448" y="2852928"/>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Read the Adafruit “Guide to Excellent Soldering” before next week.</a:t>
            </a:r>
            <a:endParaRPr lang="en-US" sz="1200" dirty="0"/>
          </a:p>
        </p:txBody>
      </p:sp>
      <p:sp>
        <p:nvSpPr>
          <p:cNvPr id="11" name="Shape 9"/>
          <p:cNvSpPr/>
          <p:nvPr/>
        </p:nvSpPr>
        <p:spPr>
          <a:xfrm>
            <a:off x="822960" y="3675888"/>
            <a:ext cx="347472" cy="347472"/>
          </a:xfrm>
          <a:prstGeom prst="ellipse">
            <a:avLst/>
          </a:prstGeom>
          <a:solidFill>
            <a:srgbClr val="EAF2F4"/>
          </a:solidFill>
          <a:ln/>
        </p:spPr>
      </p:sp>
      <p:sp>
        <p:nvSpPr>
          <p:cNvPr id="12" name="Text 10"/>
          <p:cNvSpPr/>
          <p:nvPr/>
        </p:nvSpPr>
        <p:spPr>
          <a:xfrm>
            <a:off x="822960" y="3675888"/>
            <a:ext cx="347472" cy="347472"/>
          </a:xfrm>
          <a:prstGeom prst="rect">
            <a:avLst/>
          </a:prstGeom>
          <a:noFill/>
          <a:ln/>
        </p:spPr>
        <p:txBody>
          <a:bodyPr wrap="square" lIns="0" tIns="0" rIns="0" bIns="0" rtlCol="0" anchor="ctr"/>
          <a:lstStyle/>
          <a:p>
            <a:pPr algn="ctr" indent="0" marL="0">
              <a:buNone/>
            </a:pPr>
            <a:r>
              <a:rPr lang="en-US" sz="1064" b="1" dirty="0">
                <a:solidFill>
                  <a:srgbClr val="0D7490"/>
                </a:solidFill>
                <a:latin typeface="Helvetica Neue" pitchFamily="34" charset="0"/>
                <a:ea typeface="Helvetica Neue" pitchFamily="34" charset="-122"/>
                <a:cs typeface="Helvetica Neue" pitchFamily="34" charset="-120"/>
              </a:rPr>
              <a:t>3</a:t>
            </a:r>
            <a:endParaRPr lang="en-US" sz="1064" dirty="0"/>
          </a:p>
        </p:txBody>
      </p:sp>
      <p:sp>
        <p:nvSpPr>
          <p:cNvPr id="13" name="Text 11"/>
          <p:cNvSpPr/>
          <p:nvPr/>
        </p:nvSpPr>
        <p:spPr>
          <a:xfrm>
            <a:off x="1298448" y="3621024"/>
            <a:ext cx="4480560" cy="640080"/>
          </a:xfrm>
          <a:prstGeom prst="rect">
            <a:avLst/>
          </a:prstGeom>
          <a:noFill/>
          <a:ln/>
        </p:spPr>
        <p:txBody>
          <a:bodyPr wrap="square" lIns="0" tIns="0" rIns="0" bIns="0" rtlCol="0" anchor="ctr"/>
          <a:lstStyle/>
          <a:p>
            <a:pPr indent="0" marL="0">
              <a:lnSpc>
                <a:spcPts val="1550"/>
              </a:lnSpc>
              <a:buNone/>
            </a:pPr>
            <a:r>
              <a:rPr lang="en-US" sz="1200" dirty="0">
                <a:solidFill>
                  <a:srgbClr val="1D1D1F"/>
                </a:solidFill>
                <a:latin typeface="Helvetica Neue" pitchFamily="34" charset="0"/>
                <a:ea typeface="Helvetica Neue" pitchFamily="34" charset="-122"/>
                <a:cs typeface="Helvetica Neue" pitchFamily="34" charset="-120"/>
              </a:rPr>
              <a:t>Bring closed-toe shoes — soldering irons are on the table next meeting.</a:t>
            </a:r>
            <a:endParaRPr lang="en-US" sz="1200" dirty="0"/>
          </a:p>
        </p:txBody>
      </p:sp>
      <p:sp>
        <p:nvSpPr>
          <p:cNvPr id="14" name="Text 12"/>
          <p:cNvSpPr/>
          <p:nvPr/>
        </p:nvSpPr>
        <p:spPr>
          <a:xfrm>
            <a:off x="822960" y="4572000"/>
            <a:ext cx="5120640" cy="274320"/>
          </a:xfrm>
          <a:prstGeom prst="rect">
            <a:avLst/>
          </a:prstGeom>
          <a:noFill/>
          <a:ln/>
        </p:spPr>
        <p:txBody>
          <a:bodyPr wrap="square" lIns="0" tIns="0" rIns="0" bIns="0" rtlCol="0" anchor="ctr"/>
          <a:lstStyle/>
          <a:p>
            <a:pPr indent="0" marL="0">
              <a:buNone/>
            </a:pPr>
            <a:r>
              <a:rPr lang="en-US" sz="1050" b="1" spc="100" kern="0" dirty="0">
                <a:solidFill>
                  <a:srgbClr val="0D7490"/>
                </a:solidFill>
                <a:latin typeface="Helvetica Neue" pitchFamily="34" charset="0"/>
                <a:ea typeface="Helvetica Neue" pitchFamily="34" charset="-122"/>
                <a:cs typeface="Helvetica Neue" pitchFamily="34" charset="-120"/>
              </a:rPr>
              <a:t>THE PARALLEL TRACK  ·  LEADS &amp; ADVISORS</a:t>
            </a:r>
            <a:endParaRPr lang="en-US" sz="1050" dirty="0"/>
          </a:p>
        </p:txBody>
      </p:sp>
      <p:sp>
        <p:nvSpPr>
          <p:cNvPr id="15" name="Text 13"/>
          <p:cNvSpPr/>
          <p:nvPr/>
        </p:nvSpPr>
        <p:spPr>
          <a:xfrm>
            <a:off x="822960" y="4882896"/>
            <a:ext cx="5029200" cy="1188720"/>
          </a:xfrm>
          <a:prstGeom prst="rect">
            <a:avLst/>
          </a:prstGeom>
          <a:noFill/>
          <a:ln/>
        </p:spPr>
        <p:txBody>
          <a:bodyPr wrap="square" lIns="0" tIns="0" rIns="0" bIns="0" rtlCol="0" anchor="ctr"/>
          <a:lstStyle/>
          <a:p>
            <a:pPr indent="0" marL="0">
              <a:lnSpc>
                <a:spcPts val="1600"/>
              </a:lnSpc>
              <a:buNone/>
            </a:pPr>
            <a:r>
              <a:rPr lang="en-US" sz="1150" dirty="0">
                <a:solidFill>
                  <a:srgbClr val="6E6E73"/>
                </a:solidFill>
                <a:latin typeface="Helvetica Neue" pitchFamily="34" charset="0"/>
                <a:ea typeface="Helvetica Neue" pitchFamily="34" charset="-122"/>
                <a:cs typeface="Helvetica Neue" pitchFamily="34" charset="-120"/>
              </a:rPr>
              <a:t>Pool access for the year. MATE registration, waivers, and insurance. The fundraising kickoff. This work runs quietly alongside the build — and it starts now.</a:t>
            </a:r>
            <a:endParaRPr lang="en-US" sz="1150" dirty="0"/>
          </a:p>
        </p:txBody>
      </p:sp>
      <p:sp>
        <p:nvSpPr>
          <p:cNvPr id="16" name="Shape 14"/>
          <p:cNvSpPr/>
          <p:nvPr/>
        </p:nvSpPr>
        <p:spPr>
          <a:xfrm>
            <a:off x="6263640" y="1783080"/>
            <a:ext cx="5102352" cy="4297680"/>
          </a:xfrm>
          <a:prstGeom prst="roundRect">
            <a:avLst>
              <a:gd name="adj" fmla="val 2340"/>
            </a:avLst>
          </a:prstGeom>
          <a:solidFill>
            <a:srgbClr val="0D7490"/>
          </a:solidFill>
          <a:ln w="12700">
            <a:solidFill>
              <a:srgbClr val="0D7490"/>
            </a:solidFill>
            <a:prstDash val="solid"/>
          </a:ln>
        </p:spPr>
      </p:sp>
      <p:sp>
        <p:nvSpPr>
          <p:cNvPr id="17" name="Text 15"/>
          <p:cNvSpPr/>
          <p:nvPr/>
        </p:nvSpPr>
        <p:spPr>
          <a:xfrm>
            <a:off x="6675120" y="2157984"/>
            <a:ext cx="4297680" cy="274320"/>
          </a:xfrm>
          <a:prstGeom prst="rect">
            <a:avLst/>
          </a:prstGeom>
          <a:noFill/>
          <a:ln/>
        </p:spPr>
        <p:txBody>
          <a:bodyPr wrap="square" lIns="0" tIns="0" rIns="0" bIns="0" rtlCol="0" anchor="ctr"/>
          <a:lstStyle/>
          <a:p>
            <a:pPr indent="0" marL="0">
              <a:buNone/>
            </a:pPr>
            <a:r>
              <a:rPr lang="en-US" sz="1100" b="1" spc="200" kern="0" dirty="0">
                <a:solidFill>
                  <a:srgbClr val="9FCEDA"/>
                </a:solidFill>
                <a:latin typeface="Helvetica Neue" pitchFamily="34" charset="0"/>
                <a:ea typeface="Helvetica Neue" pitchFamily="34" charset="-122"/>
                <a:cs typeface="Helvetica Neue" pitchFamily="34" charset="-120"/>
              </a:rPr>
              <a:t>NEXT MEETING  ·  WEEK 2</a:t>
            </a:r>
            <a:endParaRPr lang="en-US" sz="1100" dirty="0"/>
          </a:p>
        </p:txBody>
      </p:sp>
      <p:sp>
        <p:nvSpPr>
          <p:cNvPr id="18" name="Text 16"/>
          <p:cNvSpPr/>
          <p:nvPr/>
        </p:nvSpPr>
        <p:spPr>
          <a:xfrm>
            <a:off x="6675120" y="2487168"/>
            <a:ext cx="4297680" cy="1508760"/>
          </a:xfrm>
          <a:prstGeom prst="rect">
            <a:avLst/>
          </a:prstGeom>
          <a:noFill/>
          <a:ln/>
        </p:spPr>
        <p:txBody>
          <a:bodyPr wrap="square" lIns="0" tIns="0" rIns="0" bIns="0" rtlCol="0" anchor="ctr"/>
          <a:lstStyle/>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Soldering</a:t>
            </a:r>
            <a:endParaRPr lang="en-US" sz="4000" dirty="0"/>
          </a:p>
          <a:p>
            <a:pPr indent="0" marL="0">
              <a:lnSpc>
                <a:spcPts val="4200"/>
              </a:lnSpc>
              <a:buNone/>
            </a:pPr>
            <a:r>
              <a:rPr lang="en-US" sz="4000" b="1" dirty="0">
                <a:solidFill>
                  <a:srgbClr val="FFFFFF"/>
                </a:solidFill>
                <a:latin typeface="Helvetica Neue" pitchFamily="34" charset="0"/>
                <a:ea typeface="Helvetica Neue" pitchFamily="34" charset="-122"/>
                <a:cs typeface="Helvetica Neue" pitchFamily="34" charset="-120"/>
              </a:rPr>
              <a:t>Bootcamp</a:t>
            </a:r>
            <a:endParaRPr lang="en-US" sz="4000" dirty="0"/>
          </a:p>
        </p:txBody>
      </p:sp>
      <p:sp>
        <p:nvSpPr>
          <p:cNvPr id="19" name="Shape 17"/>
          <p:cNvSpPr/>
          <p:nvPr/>
        </p:nvSpPr>
        <p:spPr>
          <a:xfrm>
            <a:off x="6675120" y="4114800"/>
            <a:ext cx="4251960" cy="0"/>
          </a:xfrm>
          <a:prstGeom prst="line">
            <a:avLst/>
          </a:prstGeom>
          <a:noFill/>
          <a:ln w="12700">
            <a:solidFill>
              <a:srgbClr val="3E7E91"/>
            </a:solidFill>
            <a:prstDash val="solid"/>
          </a:ln>
        </p:spPr>
      </p:sp>
      <p:sp>
        <p:nvSpPr>
          <p:cNvPr id="20" name="Text 18"/>
          <p:cNvSpPr/>
          <p:nvPr/>
        </p:nvSpPr>
        <p:spPr>
          <a:xfrm>
            <a:off x="6675120" y="4279392"/>
            <a:ext cx="4297680" cy="1554480"/>
          </a:xfrm>
          <a:prstGeom prst="rect">
            <a:avLst/>
          </a:prstGeom>
          <a:noFill/>
          <a:ln/>
        </p:spPr>
        <p:txBody>
          <a:bodyPr wrap="square" lIns="0" tIns="0" rIns="0" bIns="0" rtlCol="0" anchor="ctr"/>
          <a:lstStyle/>
          <a:p>
            <a:pPr indent="0" marL="0">
              <a:lnSpc>
                <a:spcPts val="1750"/>
              </a:lnSpc>
              <a:buNone/>
            </a:pPr>
            <a:r>
              <a:rPr lang="en-US" sz="1250" dirty="0">
                <a:solidFill>
                  <a:srgbClr val="EAF2F4"/>
                </a:solidFill>
                <a:latin typeface="Helvetica Neue" pitchFamily="34" charset="0"/>
                <a:ea typeface="Helvetica Neue" pitchFamily="34" charset="-122"/>
                <a:cs typeface="Helvetica Neue" pitchFamily="34" charset="-120"/>
              </a:rPr>
              <a:t>Hands on irons. We read a wiring diagram, practice through-hole joints on junk boards, tin our own wires, and learn heat-shrink and strain relief. The first real engineering skill of the season.</a:t>
            </a:r>
            <a:endParaRPr lang="en-US" sz="1250" dirty="0"/>
          </a:p>
        </p:txBody>
      </p:sp>
      <p:sp>
        <p:nvSpPr>
          <p:cNvPr id="21" name="Shape 19"/>
          <p:cNvSpPr/>
          <p:nvPr/>
        </p:nvSpPr>
        <p:spPr>
          <a:xfrm>
            <a:off x="822960" y="6437376"/>
            <a:ext cx="10545775" cy="0"/>
          </a:xfrm>
          <a:prstGeom prst="line">
            <a:avLst/>
          </a:prstGeom>
          <a:noFill/>
          <a:ln w="9525">
            <a:solidFill>
              <a:srgbClr val="E3E3E6"/>
            </a:solidFill>
            <a:prstDash val="solid"/>
          </a:ln>
        </p:spPr>
      </p:sp>
      <p:sp>
        <p:nvSpPr>
          <p:cNvPr id="22" name="Text 20"/>
          <p:cNvSpPr/>
          <p:nvPr/>
        </p:nvSpPr>
        <p:spPr>
          <a:xfrm>
            <a:off x="822960" y="6473952"/>
            <a:ext cx="5486400" cy="274320"/>
          </a:xfrm>
          <a:prstGeom prst="rect">
            <a:avLst/>
          </a:prstGeom>
          <a:noFill/>
          <a:ln/>
        </p:spPr>
        <p:txBody>
          <a:bodyPr wrap="square" lIns="0" tIns="0" rIns="0" bIns="0" rtlCol="0" anchor="ctr"/>
          <a:lstStyle/>
          <a:p>
            <a:pPr indent="0" marL="0">
              <a:buNone/>
            </a:pPr>
            <a:r>
              <a:rPr lang="en-US" sz="750" spc="150" kern="0" dirty="0">
                <a:solidFill>
                  <a:srgbClr val="86868B"/>
                </a:solidFill>
                <a:latin typeface="Helvetica Neue" pitchFamily="34" charset="0"/>
                <a:ea typeface="Helvetica Neue" pitchFamily="34" charset="-122"/>
                <a:cs typeface="Helvetica Neue" pitchFamily="34" charset="-120"/>
              </a:rPr>
              <a:t>SAY WATT ROBOTICS  ·  ROV TEAM</a:t>
            </a:r>
            <a:endParaRPr lang="en-US" sz="750" dirty="0"/>
          </a:p>
        </p:txBody>
      </p:sp>
      <p:sp>
        <p:nvSpPr>
          <p:cNvPr id="23" name="Text 21"/>
          <p:cNvSpPr/>
          <p:nvPr/>
        </p:nvSpPr>
        <p:spPr>
          <a:xfrm>
            <a:off x="5882335" y="6473952"/>
            <a:ext cx="5486400" cy="274320"/>
          </a:xfrm>
          <a:prstGeom prst="rect">
            <a:avLst/>
          </a:prstGeom>
          <a:noFill/>
          <a:ln/>
        </p:spPr>
        <p:txBody>
          <a:bodyPr wrap="square" lIns="0" tIns="0" rIns="0" bIns="0" rtlCol="0" anchor="ctr"/>
          <a:lstStyle/>
          <a:p>
            <a:pPr algn="r" indent="0" marL="0">
              <a:buNone/>
            </a:pPr>
            <a:r>
              <a:rPr lang="en-US" sz="750" spc="150" kern="0" dirty="0">
                <a:solidFill>
                  <a:srgbClr val="86868B"/>
                </a:solidFill>
                <a:latin typeface="Helvetica Neue" pitchFamily="34" charset="0"/>
                <a:ea typeface="Helvetica Neue" pitchFamily="34" charset="-122"/>
                <a:cs typeface="Helvetica Neue" pitchFamily="34" charset="-120"/>
              </a:rPr>
              <a:t>WEEK 1 — KICKOFF   ·   25 / 26</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5D75"/>
        </a:solidFill>
      </p:bgPr>
    </p:bg>
    <p:spTree>
      <p:nvGrpSpPr>
        <p:cNvPr id="1" name=""/>
        <p:cNvGrpSpPr/>
        <p:nvPr/>
      </p:nvGrpSpPr>
      <p:grpSpPr>
        <a:xfrm>
          <a:off x="0" y="0"/>
          <a:ext cx="0" cy="0"/>
          <a:chOff x="0" y="0"/>
          <a:chExt cx="0" cy="0"/>
        </a:xfrm>
      </p:grpSpPr>
      <p:pic>
        <p:nvPicPr>
          <p:cNvPr id="2" name="Image 0" descr="/sessions/focused-friendly-goodall/mnt/SayWatt Website/assets/logo-emblem2.png">    </p:cNvPr>
          <p:cNvPicPr>
            <a:picLocks noChangeAspect="1"/>
          </p:cNvPicPr>
          <p:nvPr/>
        </p:nvPicPr>
        <p:blipFill>
          <a:blip r:embed="rId1"/>
          <a:stretch>
            <a:fillRect/>
          </a:stretch>
        </p:blipFill>
        <p:spPr>
          <a:xfrm>
            <a:off x="5570068" y="960120"/>
            <a:ext cx="1051560" cy="1051560"/>
          </a:xfrm>
          <a:prstGeom prst="rect">
            <a:avLst/>
          </a:prstGeom>
        </p:spPr>
      </p:pic>
      <p:sp>
        <p:nvSpPr>
          <p:cNvPr id="3" name="Text 0"/>
          <p:cNvSpPr/>
          <p:nvPr/>
        </p:nvSpPr>
        <p:spPr>
          <a:xfrm>
            <a:off x="0" y="2304288"/>
            <a:ext cx="12191695" cy="329184"/>
          </a:xfrm>
          <a:prstGeom prst="rect">
            <a:avLst/>
          </a:prstGeom>
          <a:noFill/>
          <a:ln/>
        </p:spPr>
        <p:txBody>
          <a:bodyPr wrap="square" lIns="0" tIns="0" rIns="0" bIns="0" rtlCol="0" anchor="ctr"/>
          <a:lstStyle/>
          <a:p>
            <a:pPr algn="ctr" indent="0" marL="0">
              <a:buNone/>
            </a:pPr>
            <a:r>
              <a:rPr lang="en-US" sz="1200" b="1" spc="350" kern="0" dirty="0">
                <a:solidFill>
                  <a:srgbClr val="9FCEDA"/>
                </a:solidFill>
                <a:latin typeface="Helvetica Neue" pitchFamily="34" charset="0"/>
                <a:ea typeface="Helvetica Neue" pitchFamily="34" charset="-122"/>
                <a:cs typeface="Helvetica Neue" pitchFamily="34" charset="-120"/>
              </a:rPr>
              <a:t>THE COMPANY EXISTS</a:t>
            </a:r>
            <a:endParaRPr lang="en-US" sz="1200" dirty="0"/>
          </a:p>
        </p:txBody>
      </p:sp>
      <p:sp>
        <p:nvSpPr>
          <p:cNvPr id="4" name="Text 1"/>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Helvetica Neue" pitchFamily="34" charset="0"/>
                <a:ea typeface="Helvetica Neue" pitchFamily="34" charset="-122"/>
                <a:cs typeface="Helvetica Neue" pitchFamily="34" charset="-120"/>
              </a:rPr>
              <a:t>Now we build.</a:t>
            </a:r>
            <a:endParaRPr lang="en-US" sz="4600" dirty="0"/>
          </a:p>
        </p:txBody>
      </p:sp>
      <p:sp>
        <p:nvSpPr>
          <p:cNvPr id="5" name="Shape 2"/>
          <p:cNvSpPr/>
          <p:nvPr/>
        </p:nvSpPr>
        <p:spPr>
          <a:xfrm>
            <a:off x="5455768" y="3703320"/>
            <a:ext cx="1280160" cy="0"/>
          </a:xfrm>
          <a:prstGeom prst="line">
            <a:avLst/>
          </a:prstGeom>
          <a:noFill/>
          <a:ln w="12700">
            <a:solidFill>
              <a:srgbClr val="3E7E91"/>
            </a:solidFill>
            <a:prstDash val="solid"/>
          </a:ln>
        </p:spPr>
      </p:sp>
      <p:sp>
        <p:nvSpPr>
          <p:cNvPr id="6" name="Text 3"/>
          <p:cNvSpPr/>
          <p:nvPr/>
        </p:nvSpPr>
        <p:spPr>
          <a:xfrm>
            <a:off x="1371600" y="3950208"/>
            <a:ext cx="9448495" cy="914400"/>
          </a:xfrm>
          <a:prstGeom prst="rect">
            <a:avLst/>
          </a:prstGeom>
          <a:noFill/>
          <a:ln/>
        </p:spPr>
        <p:txBody>
          <a:bodyPr wrap="square" lIns="0" tIns="0" rIns="0" bIns="0" rtlCol="0" anchor="ctr"/>
          <a:lstStyle/>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By the end of July: a team that exists, a starter ROV in the water, and a room full of</a:t>
            </a:r>
            <a:endParaRPr lang="en-US" sz="1500" dirty="0"/>
          </a:p>
          <a:p>
            <a:pPr algn="ctr" indent="0" marL="0">
              <a:lnSpc>
                <a:spcPts val="2200"/>
              </a:lnSpc>
              <a:buNone/>
            </a:pPr>
            <a:r>
              <a:rPr lang="en-US" sz="1500" i="1" dirty="0">
                <a:solidFill>
                  <a:srgbClr val="C9E3EA"/>
                </a:solidFill>
                <a:latin typeface="Helvetica Neue" pitchFamily="34" charset="0"/>
                <a:ea typeface="Helvetica Neue" pitchFamily="34" charset="-122"/>
                <a:cs typeface="Helvetica Neue" pitchFamily="34" charset="-120"/>
              </a:rPr>
              <a:t>students who have soldered something real.</a:t>
            </a:r>
            <a:endParaRPr lang="en-US" sz="1500" dirty="0"/>
          </a:p>
        </p:txBody>
      </p:sp>
      <p:sp>
        <p:nvSpPr>
          <p:cNvPr id="7" name="Text 4"/>
          <p:cNvSpPr/>
          <p:nvPr/>
        </p:nvSpPr>
        <p:spPr>
          <a:xfrm>
            <a:off x="0" y="5897880"/>
            <a:ext cx="12191695" cy="310896"/>
          </a:xfrm>
          <a:prstGeom prst="rect">
            <a:avLst/>
          </a:prstGeom>
          <a:noFill/>
          <a:ln/>
        </p:spPr>
        <p:txBody>
          <a:bodyPr wrap="square" lIns="0" tIns="0" rIns="0" bIns="0" rtlCol="0" anchor="ctr"/>
          <a:lstStyle/>
          <a:p>
            <a:pPr algn="ctr" indent="0" marL="0">
              <a:buNone/>
            </a:pPr>
            <a:r>
              <a:rPr lang="en-US" sz="900" spc="200" kern="0" dirty="0">
                <a:solidFill>
                  <a:srgbClr val="6BA0AF"/>
                </a:solidFill>
                <a:latin typeface="Helvetica Neue" pitchFamily="34" charset="0"/>
                <a:ea typeface="Helvetica Neue" pitchFamily="34" charset="-122"/>
                <a:cs typeface="Helvetica Neue" pitchFamily="34" charset="-120"/>
              </a:rPr>
              <a:t>SAY WATT ROBOTICS  ·  ROV TEAM      |      NEXT MEETING — WEEK 2, SOLDERING BOOTCAMP</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ROV Team — Week 1: Kickoff</dc:title>
  <dc:subject>PptxGenJS Presentation</dc:subject>
  <dc:creator>Say Watt Robotics — ROV Team</dc:creator>
  <cp:lastModifiedBy>Say Watt Robotics — ROV Team</cp:lastModifiedBy>
  <cp:revision>1</cp:revision>
  <dcterms:created xsi:type="dcterms:W3CDTF">2026-05-25T21:02:30Z</dcterms:created>
  <dcterms:modified xsi:type="dcterms:W3CDTF">2026-05-25T21:02:30Z</dcterms:modified>
</cp:coreProperties>
</file>