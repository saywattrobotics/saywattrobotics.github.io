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82" r:id="rId3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3" r:id="rId34"/>
    <p:sldId id="284" r:id="rId35"/>
    <p:sldId id="281" r:id="rId27"/>
  </p:sldIdLst>
  <p:notesMasterIdLst>
    <p:notesMasterId r:id="rId2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9.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3.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students. This is Meeting 1 of roughly 45 for the season. Keep the open warm and short — the title slide is just the doorway. Move to the agenda within a minute or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agenda once, top to bottom, so the team can see the whole shape of the meeting. Point out that every block carries a time — we start and end on time, and that discipline is itself part of running an engineering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Short and deliberate. The point of this block is not the content — it is establishing the ritual that will open all 45 meetings.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reusable safety-brief template — it returns at the start of every weekly deck with the right-hand card updated for that meeting. Read the four questions aloud. Then walk today's brief card. Keep it to ~60-90 seconds; the goal is rhythm, not a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Orientation. By the end of this block every student can say what MATE is, what the RANGER class asks for, and where the season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the team in the real-world framing: these are real ocean-industry problems, not a toy contest. Mention that the regional feeds a world championship so they grasp the scale. Point them to the official site as the source of truth for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idea: RANGER is not 'build a robot.' It is five deliverables. Students often picture only the ROV — make sure they leave knowing documentation, presentation, and the marketing display are scored too. The float surprises people; flag it as a whole second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deadline real and physical: a place, a date, a long drive. Ten months sounds generous until you divide it by the work. The 'forty-five meetings' line is meant to land — it reframes every meeting as roughly two percent of the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the heart of the meeting. By the end every student has a role. Protect this time; do not let earlier blocks eat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mindset shift of the whole season. Sell it. The quote is the line to slow down on — say it, then pause. Students who 'get' the company framing self-manage; students who don't will wait to be told what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team the whole map before any detail. Read each role's one-liner. Tell them the next two slides go deeper, and that they will pick at the end of the block — so listen for the one that pulls at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roles per slide so each gets real attention. Read OWNS and A GOOD FIT for each. The 'good fit' column is doing the recruiting — let students hear themselves in it. These three are the non-build roles; reassure students they are every bit as central as the engineering seats.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build roles. These usually claim themselves fast — watch that quieter students still get a fair look. Note that leads do not work alone; every lead has teammates. The lead is accountable, not solitary.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activity live in this block — don't just describe it. Hand out paper for the top-two picks. If the team is small, a student may hold two roles, or a role may be shared; say so plainly. End the block only when every student knows their seat.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break — let them move. Use the ten minutes to confirm the role assignments landed cleanly and to reset for the season-overview block. Start again exactly on time; that is the modeling.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Zoom out to the full season, then back in to where we stand. Students should leave able to name Phase 1's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all six phases briskly — the team does not need detail on Phase 5 today, just the shape. Land on the truth that the contest robot is not ordered until Phase 3: the fall is about people and skills, not the competition vehicle.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Six weeks, six themes. Point out the build of difficulty: talk this week, soldering and the kit unboxing next, every member in the pool in week 3, the full build in week 4, piloting in week 5, and a showcase for parents and sponsors in week 6. The capsule exercise runs weeks 2 through 5 and is the seed of the Phase 2 float; flag that connection.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season block here. The relief in this slide is deliberate: no one has to build a winning robot this summer. Phase 1 succeeds if the team, the starter ROV, and real hand skills exist. Say that plainly — it lowers fear and raises follow-through.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The morning's brief was the ritual; this block is the everyday habits. Keep it concrete and tied to the work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concrete — tie each habit to something the team will actually do this summer. The buddy rule matters most once pool sessions start in week 3. The right-hand card raises the stakes: safety is not advice, it is a gate to competing.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Short but important. The single action item: the log opens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a concrete action, not a concept. Open the actual log in the room — today's meeting is entry one, written live. Hand ownership to the Communications Lead before the team leaves. Four columns only; the log must stay easy enough that it actually gets kept.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7. Land the meeting cleanly. Make sure every student leaves knowing their role and their three homework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close tight. Read the three student items — they are small on purpose so they actually get done. Mention the parallel track so students see the adults are carrying real work too. Preview Week 2 with energy: irons in hand is what they have been waiting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warm and brief. The team walked in as individuals and leaves as a company with roles, a calendar, a safety habit, and an open outreach log. Thank them, then end on time — model the discipline one last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5D75"/>
        </a:solidFill>
      </p:bgPr>
    </p:bg>
    <p:spTree>
      <p:nvGrpSpPr>
        <p:cNvPr id="1" name=""/>
        <p:cNvGrpSpPr/>
        <p:nvPr/>
      </p:nvGrpSpPr>
      <p:grpSpPr>
        <a:xfrm>
          <a:off x="0" y="0"/>
          <a:ext cx="0" cy="0"/>
          <a:chOff x="0" y="0"/>
          <a:chExt cx="0" cy="0"/>
        </a:xfrm>
      </p:grpSpPr>
      <p:pic>
        <p:nvPicPr>
          <p:cNvPr id="2" name="Image 0" descr="/sessions/focused-friendly-goodall/mnt/SayWatt Website/assets/logo-emblem2.png"/>
          <p:cNvPicPr>
            <a:picLocks noChangeAspect="1"/>
          </p:cNvPicPr>
          <p:nvPr/>
        </p:nvPicPr>
        <p:blipFill>
          <a:blip r:embed="rId1"/>
          <a:stretch>
            <a:fillRect/>
          </a:stretch>
        </p:blipFill>
        <p:spPr>
          <a:xfrm>
            <a:off x="5387188" y="749808"/>
            <a:ext cx="1417320" cy="1417320"/>
          </a:xfrm>
          <a:prstGeom prst="rect">
            <a:avLst/>
          </a:prstGeom>
        </p:spPr>
      </p:pic>
      <p:sp>
        <p:nvSpPr>
          <p:cNvPr id="3" name="Text 0"/>
          <p:cNvSpPr/>
          <p:nvPr/>
        </p:nvSpPr>
        <p:spPr>
          <a:xfrm>
            <a:off x="0" y="2505456"/>
            <a:ext cx="12191695" cy="329184"/>
          </a:xfrm>
          <a:prstGeom prst="rect">
            <a:avLst/>
          </a:prstGeom>
          <a:noFill/>
          <a:ln/>
        </p:spPr>
        <p:txBody>
          <a:bodyPr wrap="square" lIns="0" tIns="0" rIns="0" bIns="0" rtlCol="0" anchor="ctr"/>
          <a:lstStyle/>
          <a:p>
            <a:pPr algn="ctr" indent="0" marL="0">
              <a:buNone/>
            </a:pPr>
            <a:r>
              <a:rPr lang="en-US" sz="1300" b="1" spc="350" kern="0" dirty="0">
                <a:solidFill>
                  <a:srgbClr val="9FCEDA"/>
                </a:solidFill>
                <a:latin typeface="Helvetica Neue" pitchFamily="34" charset="0"/>
                <a:ea typeface="Helvetica Neue" pitchFamily="34" charset="-122"/>
                <a:cs typeface="Helvetica Neue" pitchFamily="34" charset="-120"/>
              </a:rPr>
              <a:t>PHASE 1 — FOUNDATION</a:t>
            </a:r>
            <a:endParaRPr lang="en-US" sz="1300" dirty="0"/>
          </a:p>
        </p:txBody>
      </p:sp>
      <p:sp>
        <p:nvSpPr>
          <p:cNvPr id="4" name="Text 1"/>
          <p:cNvSpPr/>
          <p:nvPr/>
        </p:nvSpPr>
        <p:spPr>
          <a:xfrm>
            <a:off x="0" y="2852928"/>
            <a:ext cx="12191695" cy="1005840"/>
          </a:xfrm>
          <a:prstGeom prst="rect">
            <a:avLst/>
          </a:prstGeom>
          <a:noFill/>
          <a:ln/>
        </p:spPr>
        <p:txBody>
          <a:bodyPr wrap="square" lIns="0" tIns="0" rIns="0" bIns="0" rtlCol="0" anchor="ctr"/>
          <a:lstStyle/>
          <a:p>
            <a:pPr algn="ctr" indent="0" marL="0">
              <a:buNone/>
            </a:pPr>
            <a:r>
              <a:rPr lang="en-US" sz="5600" b="1" dirty="0">
                <a:solidFill>
                  <a:srgbClr val="FFFFFF"/>
                </a:solidFill>
                <a:latin typeface="Helvetica Neue" pitchFamily="34" charset="0"/>
                <a:ea typeface="Helvetica Neue" pitchFamily="34" charset="-122"/>
                <a:cs typeface="Helvetica Neue" pitchFamily="34" charset="-120"/>
              </a:rPr>
              <a:t>Week 1 — Kickoff</a:t>
            </a:r>
            <a:endParaRPr lang="en-US" sz="5600" dirty="0"/>
          </a:p>
        </p:txBody>
      </p:sp>
      <p:sp>
        <p:nvSpPr>
          <p:cNvPr id="5" name="Text 2"/>
          <p:cNvSpPr/>
          <p:nvPr/>
        </p:nvSpPr>
        <p:spPr>
          <a:xfrm>
            <a:off x="0" y="3877056"/>
            <a:ext cx="12191695" cy="548640"/>
          </a:xfrm>
          <a:prstGeom prst="rect">
            <a:avLst/>
          </a:prstGeom>
          <a:noFill/>
          <a:ln/>
        </p:spPr>
        <p:txBody>
          <a:bodyPr wrap="square" lIns="0" tIns="0" rIns="0" bIns="0" rtlCol="0" anchor="ctr"/>
          <a:lstStyle/>
          <a:p>
            <a:pPr algn="ctr" indent="0" marL="0">
              <a:buNone/>
            </a:pPr>
            <a:r>
              <a:rPr lang="en-US" sz="2300" dirty="0">
                <a:solidFill>
                  <a:srgbClr val="C9E3EA"/>
                </a:solidFill>
                <a:latin typeface="Helvetica Neue" pitchFamily="34" charset="0"/>
                <a:ea typeface="Helvetica Neue" pitchFamily="34" charset="-122"/>
                <a:cs typeface="Helvetica Neue" pitchFamily="34" charset="-120"/>
              </a:rPr>
              <a:t>Forming the Company</a:t>
            </a:r>
            <a:endParaRPr lang="en-US" sz="2300" dirty="0"/>
          </a:p>
        </p:txBody>
      </p:sp>
      <p:sp>
        <p:nvSpPr>
          <p:cNvPr id="6" name="Shape 3"/>
          <p:cNvSpPr/>
          <p:nvPr/>
        </p:nvSpPr>
        <p:spPr>
          <a:xfrm>
            <a:off x="5455768" y="4681728"/>
            <a:ext cx="1280160" cy="0"/>
          </a:xfrm>
          <a:prstGeom prst="line">
            <a:avLst/>
          </a:prstGeom>
          <a:noFill/>
          <a:ln w="12700">
            <a:solidFill>
              <a:srgbClr val="3E7E91"/>
            </a:solidFill>
            <a:prstDash val="solid"/>
          </a:ln>
        </p:spPr>
        <p:txBody>
          <a:bodyPr/>
          <a:p/>
        </p:txBody>
      </p:sp>
      <p:sp>
        <p:nvSpPr>
          <p:cNvPr id="7" name="Text 4"/>
          <p:cNvSpPr/>
          <p:nvPr/>
        </p:nvSpPr>
        <p:spPr>
          <a:xfrm>
            <a:off x="0" y="4901184"/>
            <a:ext cx="12191695" cy="329184"/>
          </a:xfrm>
          <a:prstGeom prst="rect">
            <a:avLst/>
          </a:prstGeom>
          <a:noFill/>
          <a:ln/>
        </p:spPr>
        <p:txBody>
          <a:bodyPr wrap="square" lIns="0" tIns="0" rIns="0" bIns="0" rtlCol="0" anchor="ctr"/>
          <a:lstStyle/>
          <a:p>
            <a:pPr algn="ctr" indent="0" marL="0">
              <a:buNone/>
            </a:pPr>
            <a:r>
              <a:rPr lang="en-US" sz="1300" spc="50" kern="0" dirty="0">
                <a:solidFill>
                  <a:srgbClr val="9FCEDA"/>
                </a:solidFill>
                <a:latin typeface="Helvetica Neue" pitchFamily="34" charset="0"/>
                <a:ea typeface="Helvetica Neue" pitchFamily="34" charset="-122"/>
                <a:cs typeface="Helvetica Neue" pitchFamily="34" charset="-120"/>
              </a:rPr>
              <a:t>Say Watt Robotics  ·  ROV Team      |      2026–2027 MATE ROV Season</a:t>
            </a:r>
            <a:endParaRPr lang="en-US" sz="1300" dirty="0"/>
          </a:p>
        </p:txBody>
      </p:sp>
      <p:sp>
        <p:nvSpPr>
          <p:cNvPr id="8" name="Text 5"/>
          <p:cNvSpPr/>
          <p:nvPr/>
        </p:nvSpPr>
        <p:spPr>
          <a:xfrm>
            <a:off x="0" y="5943600"/>
            <a:ext cx="12191695" cy="310896"/>
          </a:xfrm>
          <a:prstGeom prst="rect">
            <a:avLst/>
          </a:prstGeom>
          <a:noFill/>
          <a:ln/>
        </p:spPr>
        <p:txBody>
          <a:bodyPr wrap="square" lIns="0" tIns="0" rIns="0" bIns="0" rtlCol="0" anchor="ctr"/>
          <a:lstStyle/>
          <a:p>
            <a:pPr algn="ctr" indent="0" marL="0">
              <a:buNone/>
            </a:pPr>
            <a:r>
              <a:rPr lang="en-US" sz="950" spc="250" kern="0" dirty="0">
                <a:solidFill>
                  <a:srgbClr val="6BA0AF"/>
                </a:solidFill>
                <a:latin typeface="Helvetica Neue" pitchFamily="34" charset="0"/>
                <a:ea typeface="Helvetica Neue" pitchFamily="34" charset="-122"/>
                <a:cs typeface="Helvetica Neue" pitchFamily="34" charset="-120"/>
              </a:rPr>
              <a:t>MEETING 1   ·   THREE HOURS   ·   MADISON, ALABAMA</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THE MEETING</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Three hours, eight stops.</a:t>
            </a:r>
            <a:endParaRPr lang="en-US" sz="3000" dirty="0"/>
          </a:p>
        </p:txBody>
      </p:sp>
      <p:sp>
        <p:nvSpPr>
          <p:cNvPr id="4" name="Text 2"/>
          <p:cNvSpPr/>
          <p:nvPr/>
        </p:nvSpPr>
        <p:spPr>
          <a:xfrm>
            <a:off x="822960" y="1847088"/>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0:00</a:t>
            </a:r>
            <a:endParaRPr lang="en-US" sz="1700" dirty="0"/>
          </a:p>
        </p:txBody>
      </p:sp>
      <p:sp>
        <p:nvSpPr>
          <p:cNvPr id="5" name="Text 3"/>
          <p:cNvSpPr/>
          <p:nvPr/>
        </p:nvSpPr>
        <p:spPr>
          <a:xfrm>
            <a:off x="2148840" y="1847088"/>
            <a:ext cx="7360920" cy="553212"/>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Welcome &amp; Safety Brief</a:t>
            </a:r>
            <a:endParaRPr lang="en-US" sz="1600" dirty="0"/>
          </a:p>
        </p:txBody>
      </p:sp>
      <p:sp>
        <p:nvSpPr>
          <p:cNvPr id="6" name="Text 4"/>
          <p:cNvSpPr/>
          <p:nvPr/>
        </p:nvSpPr>
        <p:spPr>
          <a:xfrm>
            <a:off x="9601200" y="1847088"/>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15 min</a:t>
            </a:r>
            <a:endParaRPr lang="en-US" sz="1150" dirty="0"/>
          </a:p>
        </p:txBody>
      </p:sp>
      <p:sp>
        <p:nvSpPr>
          <p:cNvPr id="7" name="Shape 5"/>
          <p:cNvSpPr/>
          <p:nvPr/>
        </p:nvSpPr>
        <p:spPr>
          <a:xfrm>
            <a:off x="822960" y="2400300"/>
            <a:ext cx="10545775" cy="0"/>
          </a:xfrm>
          <a:prstGeom prst="line">
            <a:avLst/>
          </a:prstGeom>
          <a:noFill/>
          <a:ln w="9525">
            <a:solidFill>
              <a:srgbClr val="E3E3E6"/>
            </a:solidFill>
            <a:prstDash val="solid"/>
          </a:ln>
        </p:spPr>
        <p:txBody>
          <a:bodyPr/>
          <a:p/>
        </p:txBody>
      </p:sp>
      <p:sp>
        <p:nvSpPr>
          <p:cNvPr id="8" name="Text 6"/>
          <p:cNvSpPr/>
          <p:nvPr/>
        </p:nvSpPr>
        <p:spPr>
          <a:xfrm>
            <a:off x="822960" y="2400300"/>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0:15</a:t>
            </a:r>
            <a:endParaRPr lang="en-US" sz="1700" dirty="0"/>
          </a:p>
        </p:txBody>
      </p:sp>
      <p:sp>
        <p:nvSpPr>
          <p:cNvPr id="9" name="Text 7"/>
          <p:cNvSpPr/>
          <p:nvPr/>
        </p:nvSpPr>
        <p:spPr>
          <a:xfrm>
            <a:off x="2148840" y="2400300"/>
            <a:ext cx="7360920" cy="553212"/>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What We're Joining — MATE ROV &amp; the RANGER class</a:t>
            </a:r>
            <a:endParaRPr lang="en-US" sz="1600" dirty="0"/>
          </a:p>
        </p:txBody>
      </p:sp>
      <p:sp>
        <p:nvSpPr>
          <p:cNvPr id="10" name="Text 8"/>
          <p:cNvSpPr/>
          <p:nvPr/>
        </p:nvSpPr>
        <p:spPr>
          <a:xfrm>
            <a:off x="9601200" y="2400300"/>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30 min</a:t>
            </a:r>
            <a:endParaRPr lang="en-US" sz="1150" dirty="0"/>
          </a:p>
        </p:txBody>
      </p:sp>
      <p:sp>
        <p:nvSpPr>
          <p:cNvPr id="11" name="Shape 9"/>
          <p:cNvSpPr/>
          <p:nvPr/>
        </p:nvSpPr>
        <p:spPr>
          <a:xfrm>
            <a:off x="822960" y="2953512"/>
            <a:ext cx="10545775" cy="0"/>
          </a:xfrm>
          <a:prstGeom prst="line">
            <a:avLst/>
          </a:prstGeom>
          <a:noFill/>
          <a:ln w="9525">
            <a:solidFill>
              <a:srgbClr val="E3E3E6"/>
            </a:solidFill>
            <a:prstDash val="solid"/>
          </a:ln>
        </p:spPr>
        <p:txBody>
          <a:bodyPr/>
          <a:p/>
        </p:txBody>
      </p:sp>
      <p:sp>
        <p:nvSpPr>
          <p:cNvPr id="12" name="Text 10"/>
          <p:cNvSpPr/>
          <p:nvPr/>
        </p:nvSpPr>
        <p:spPr>
          <a:xfrm>
            <a:off x="822960" y="2953512"/>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0:45</a:t>
            </a:r>
            <a:endParaRPr lang="en-US" sz="1700" dirty="0"/>
          </a:p>
        </p:txBody>
      </p:sp>
      <p:sp>
        <p:nvSpPr>
          <p:cNvPr id="13" name="Text 11"/>
          <p:cNvSpPr/>
          <p:nvPr/>
        </p:nvSpPr>
        <p:spPr>
          <a:xfrm>
            <a:off x="2148840" y="2953512"/>
            <a:ext cx="7360920" cy="553212"/>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We Are a Company — the six roles</a:t>
            </a:r>
            <a:endParaRPr lang="en-US" sz="1600" dirty="0"/>
          </a:p>
        </p:txBody>
      </p:sp>
      <p:sp>
        <p:nvSpPr>
          <p:cNvPr id="14" name="Text 12"/>
          <p:cNvSpPr/>
          <p:nvPr/>
        </p:nvSpPr>
        <p:spPr>
          <a:xfrm>
            <a:off x="9601200" y="2953512"/>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45 min</a:t>
            </a:r>
            <a:endParaRPr lang="en-US" sz="1150" dirty="0"/>
          </a:p>
        </p:txBody>
      </p:sp>
      <p:sp>
        <p:nvSpPr>
          <p:cNvPr id="15" name="Shape 13"/>
          <p:cNvSpPr/>
          <p:nvPr/>
        </p:nvSpPr>
        <p:spPr>
          <a:xfrm>
            <a:off x="822960" y="3506724"/>
            <a:ext cx="10545775" cy="0"/>
          </a:xfrm>
          <a:prstGeom prst="line">
            <a:avLst/>
          </a:prstGeom>
          <a:noFill/>
          <a:ln w="9525">
            <a:solidFill>
              <a:srgbClr val="E3E3E6"/>
            </a:solidFill>
            <a:prstDash val="solid"/>
          </a:ln>
        </p:spPr>
        <p:txBody>
          <a:bodyPr/>
          <a:p/>
        </p:txBody>
      </p:sp>
      <p:sp>
        <p:nvSpPr>
          <p:cNvPr id="16" name="Text 14"/>
          <p:cNvSpPr/>
          <p:nvPr/>
        </p:nvSpPr>
        <p:spPr>
          <a:xfrm>
            <a:off x="822960" y="3506724"/>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1:30</a:t>
            </a:r>
            <a:endParaRPr lang="en-US" sz="1700" dirty="0"/>
          </a:p>
        </p:txBody>
      </p:sp>
      <p:sp>
        <p:nvSpPr>
          <p:cNvPr id="17" name="Text 15"/>
          <p:cNvSpPr/>
          <p:nvPr/>
        </p:nvSpPr>
        <p:spPr>
          <a:xfrm>
            <a:off x="2148840" y="3506724"/>
            <a:ext cx="7360920" cy="553212"/>
          </a:xfrm>
          <a:prstGeom prst="rect">
            <a:avLst/>
          </a:prstGeom>
          <a:noFill/>
          <a:ln/>
        </p:spPr>
        <p:txBody>
          <a:bodyPr wrap="square" lIns="0" tIns="0" rIns="0" bIns="0" rtlCol="0" anchor="ctr"/>
          <a:lstStyle/>
          <a:p>
            <a:pPr indent="0" marL="0">
              <a:buNone/>
            </a:pPr>
            <a:r>
              <a:rPr lang="en-US" sz="1600" i="1" dirty="0">
                <a:solidFill>
                  <a:srgbClr val="86868B"/>
                </a:solidFill>
                <a:latin typeface="Helvetica Neue" pitchFamily="34" charset="0"/>
                <a:ea typeface="Helvetica Neue" pitchFamily="34" charset="-122"/>
                <a:cs typeface="Helvetica Neue" pitchFamily="34" charset="-120"/>
              </a:rPr>
              <a:t>Break</a:t>
            </a:r>
            <a:endParaRPr lang="en-US" sz="1600" dirty="0"/>
          </a:p>
        </p:txBody>
      </p:sp>
      <p:sp>
        <p:nvSpPr>
          <p:cNvPr id="18" name="Text 16"/>
          <p:cNvSpPr/>
          <p:nvPr/>
        </p:nvSpPr>
        <p:spPr>
          <a:xfrm>
            <a:off x="9601200" y="3506724"/>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10 min</a:t>
            </a:r>
            <a:endParaRPr lang="en-US" sz="1150" dirty="0"/>
          </a:p>
        </p:txBody>
      </p:sp>
      <p:sp>
        <p:nvSpPr>
          <p:cNvPr id="19" name="Shape 17"/>
          <p:cNvSpPr/>
          <p:nvPr/>
        </p:nvSpPr>
        <p:spPr>
          <a:xfrm>
            <a:off x="822960" y="4059936"/>
            <a:ext cx="10545775" cy="0"/>
          </a:xfrm>
          <a:prstGeom prst="line">
            <a:avLst/>
          </a:prstGeom>
          <a:noFill/>
          <a:ln w="9525">
            <a:solidFill>
              <a:srgbClr val="E3E3E6"/>
            </a:solidFill>
            <a:prstDash val="solid"/>
          </a:ln>
        </p:spPr>
        <p:txBody>
          <a:bodyPr/>
          <a:p/>
        </p:txBody>
      </p:sp>
      <p:sp>
        <p:nvSpPr>
          <p:cNvPr id="20" name="Text 18"/>
          <p:cNvSpPr/>
          <p:nvPr/>
        </p:nvSpPr>
        <p:spPr>
          <a:xfrm>
            <a:off x="822960" y="4059936"/>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1:40</a:t>
            </a:r>
            <a:endParaRPr lang="en-US" sz="1700" dirty="0"/>
          </a:p>
        </p:txBody>
      </p:sp>
      <p:sp>
        <p:nvSpPr>
          <p:cNvPr id="21" name="Text 19"/>
          <p:cNvSpPr/>
          <p:nvPr/>
        </p:nvSpPr>
        <p:spPr>
          <a:xfrm>
            <a:off x="2148840" y="4059936"/>
            <a:ext cx="7360920" cy="553212"/>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The Season Ahead — six phases</a:t>
            </a:r>
            <a:endParaRPr lang="en-US" sz="1600" dirty="0"/>
          </a:p>
        </p:txBody>
      </p:sp>
      <p:sp>
        <p:nvSpPr>
          <p:cNvPr id="22" name="Text 20"/>
          <p:cNvSpPr/>
          <p:nvPr/>
        </p:nvSpPr>
        <p:spPr>
          <a:xfrm>
            <a:off x="9601200" y="4059936"/>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35 min</a:t>
            </a:r>
            <a:endParaRPr lang="en-US" sz="1150" dirty="0"/>
          </a:p>
        </p:txBody>
      </p:sp>
      <p:sp>
        <p:nvSpPr>
          <p:cNvPr id="23" name="Shape 21"/>
          <p:cNvSpPr/>
          <p:nvPr/>
        </p:nvSpPr>
        <p:spPr>
          <a:xfrm>
            <a:off x="822960" y="4613148"/>
            <a:ext cx="10545775" cy="0"/>
          </a:xfrm>
          <a:prstGeom prst="line">
            <a:avLst/>
          </a:prstGeom>
          <a:noFill/>
          <a:ln w="9525">
            <a:solidFill>
              <a:srgbClr val="E3E3E6"/>
            </a:solidFill>
            <a:prstDash val="solid"/>
          </a:ln>
        </p:spPr>
        <p:txBody>
          <a:bodyPr/>
          <a:p/>
        </p:txBody>
      </p:sp>
      <p:sp>
        <p:nvSpPr>
          <p:cNvPr id="24" name="Text 22"/>
          <p:cNvSpPr/>
          <p:nvPr/>
        </p:nvSpPr>
        <p:spPr>
          <a:xfrm>
            <a:off x="822960" y="4613148"/>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2:15</a:t>
            </a:r>
            <a:endParaRPr lang="en-US" sz="1700" dirty="0"/>
          </a:p>
        </p:txBody>
      </p:sp>
      <p:sp>
        <p:nvSpPr>
          <p:cNvPr id="25" name="Text 23"/>
          <p:cNvSpPr/>
          <p:nvPr/>
        </p:nvSpPr>
        <p:spPr>
          <a:xfrm>
            <a:off x="2148840" y="4613148"/>
            <a:ext cx="7360920" cy="553212"/>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Building Our Safety Culture</a:t>
            </a:r>
            <a:endParaRPr lang="en-US" sz="1600" dirty="0"/>
          </a:p>
        </p:txBody>
      </p:sp>
      <p:sp>
        <p:nvSpPr>
          <p:cNvPr id="26" name="Text 24"/>
          <p:cNvSpPr/>
          <p:nvPr/>
        </p:nvSpPr>
        <p:spPr>
          <a:xfrm>
            <a:off x="9601200" y="4613148"/>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20 min</a:t>
            </a:r>
            <a:endParaRPr lang="en-US" sz="1150" dirty="0"/>
          </a:p>
        </p:txBody>
      </p:sp>
      <p:sp>
        <p:nvSpPr>
          <p:cNvPr id="27" name="Shape 25"/>
          <p:cNvSpPr/>
          <p:nvPr/>
        </p:nvSpPr>
        <p:spPr>
          <a:xfrm>
            <a:off x="822960" y="5166360"/>
            <a:ext cx="10545775" cy="0"/>
          </a:xfrm>
          <a:prstGeom prst="line">
            <a:avLst/>
          </a:prstGeom>
          <a:noFill/>
          <a:ln w="9525">
            <a:solidFill>
              <a:srgbClr val="E3E3E6"/>
            </a:solidFill>
            <a:prstDash val="solid"/>
          </a:ln>
        </p:spPr>
        <p:txBody>
          <a:bodyPr/>
          <a:p/>
        </p:txBody>
      </p:sp>
      <p:sp>
        <p:nvSpPr>
          <p:cNvPr id="28" name="Text 26"/>
          <p:cNvSpPr/>
          <p:nvPr/>
        </p:nvSpPr>
        <p:spPr>
          <a:xfrm>
            <a:off x="822960" y="5166360"/>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2:35</a:t>
            </a:r>
            <a:endParaRPr lang="en-US" sz="1700" dirty="0"/>
          </a:p>
        </p:txBody>
      </p:sp>
      <p:sp>
        <p:nvSpPr>
          <p:cNvPr id="29" name="Text 27"/>
          <p:cNvSpPr/>
          <p:nvPr/>
        </p:nvSpPr>
        <p:spPr>
          <a:xfrm>
            <a:off x="2148840" y="5166360"/>
            <a:ext cx="7360920" cy="553212"/>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The Community Outreach Log</a:t>
            </a:r>
            <a:endParaRPr lang="en-US" sz="1600" dirty="0"/>
          </a:p>
        </p:txBody>
      </p:sp>
      <p:sp>
        <p:nvSpPr>
          <p:cNvPr id="30" name="Text 28"/>
          <p:cNvSpPr/>
          <p:nvPr/>
        </p:nvSpPr>
        <p:spPr>
          <a:xfrm>
            <a:off x="9601200" y="5166360"/>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15 min</a:t>
            </a:r>
            <a:endParaRPr lang="en-US" sz="1150" dirty="0"/>
          </a:p>
        </p:txBody>
      </p:sp>
      <p:sp>
        <p:nvSpPr>
          <p:cNvPr id="31" name="Shape 29"/>
          <p:cNvSpPr/>
          <p:nvPr/>
        </p:nvSpPr>
        <p:spPr>
          <a:xfrm>
            <a:off x="822960" y="5719572"/>
            <a:ext cx="10545775" cy="0"/>
          </a:xfrm>
          <a:prstGeom prst="line">
            <a:avLst/>
          </a:prstGeom>
          <a:noFill/>
          <a:ln w="9525">
            <a:solidFill>
              <a:srgbClr val="E3E3E6"/>
            </a:solidFill>
            <a:prstDash val="solid"/>
          </a:ln>
        </p:spPr>
        <p:txBody>
          <a:bodyPr/>
          <a:p/>
        </p:txBody>
      </p:sp>
      <p:sp>
        <p:nvSpPr>
          <p:cNvPr id="32" name="Text 30"/>
          <p:cNvSpPr/>
          <p:nvPr/>
        </p:nvSpPr>
        <p:spPr>
          <a:xfrm>
            <a:off x="822960" y="5719572"/>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2:50</a:t>
            </a:r>
            <a:endParaRPr lang="en-US" sz="1700" dirty="0"/>
          </a:p>
        </p:txBody>
      </p:sp>
      <p:sp>
        <p:nvSpPr>
          <p:cNvPr id="33" name="Text 31"/>
          <p:cNvSpPr/>
          <p:nvPr/>
        </p:nvSpPr>
        <p:spPr>
          <a:xfrm>
            <a:off x="2148840" y="5719572"/>
            <a:ext cx="7360920" cy="553212"/>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Wrap-Up &amp; Homework</a:t>
            </a:r>
            <a:endParaRPr lang="en-US" sz="1600" dirty="0"/>
          </a:p>
        </p:txBody>
      </p:sp>
      <p:sp>
        <p:nvSpPr>
          <p:cNvPr id="34" name="Text 32"/>
          <p:cNvSpPr/>
          <p:nvPr/>
        </p:nvSpPr>
        <p:spPr>
          <a:xfrm>
            <a:off x="9601200" y="5719572"/>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10 min</a:t>
            </a:r>
            <a:endParaRPr lang="en-US" sz="1150" dirty="0"/>
          </a:p>
        </p:txBody>
      </p:sp>
      <p:sp>
        <p:nvSpPr>
          <p:cNvPr id="35" name="Text 33"/>
          <p:cNvSpPr/>
          <p:nvPr/>
        </p:nvSpPr>
        <p:spPr>
          <a:xfrm>
            <a:off x="822960" y="6327648"/>
            <a:ext cx="10545775" cy="0"/>
          </a:xfrm>
          <a:prstGeom prst="rect">
            <a:avLst/>
          </a:prstGeom>
          <a:noFill/>
          <a:ln/>
        </p:spPr>
        <p:txBody>
          <a:bodyPr wrap="square" lIns="0" tIns="0" rIns="0" bIns="0" rtlCol="0" anchor="ctr"/>
          <a:lstStyle/>
          <a:p>
            <a:pPr indent="0" marL="0">
              <a:buNone/>
            </a:pPr>
            <a:r>
              <a:rPr lang="en-US" sz="10" dirty="0">
                <a:solidFill>
                  <a:srgbClr val="FFFFFF"/>
                </a:solidFill>
                <a:latin typeface="Helvetica Neue" pitchFamily="34" charset="0"/>
                <a:ea typeface="Helvetica Neue" pitchFamily="34" charset="-122"/>
                <a:cs typeface="Helvetica Neue" pitchFamily="34" charset="-120"/>
              </a:rPr>
              <a:t>We run on time. Every block has a clock, and we hold to it — that habit is part of the engineering.</a:t>
            </a:r>
            <a:endParaRPr lang="en-US" sz="10" dirty="0"/>
          </a:p>
        </p:txBody>
      </p:sp>
      <p:sp>
        <p:nvSpPr>
          <p:cNvPr id="36" name="Shape 34"/>
          <p:cNvSpPr/>
          <p:nvPr/>
        </p:nvSpPr>
        <p:spPr>
          <a:xfrm>
            <a:off x="822960" y="6437376"/>
            <a:ext cx="10545775" cy="0"/>
          </a:xfrm>
          <a:prstGeom prst="line">
            <a:avLst/>
          </a:prstGeom>
          <a:noFill/>
          <a:ln w="9525">
            <a:solidFill>
              <a:srgbClr val="E3E3E6"/>
            </a:solidFill>
            <a:prstDash val="solid"/>
          </a:ln>
        </p:spPr>
        <p:txBody>
          <a:bodyPr/>
          <a:p/>
        </p:txBody>
      </p:sp>
      <p:sp>
        <p:nvSpPr>
          <p:cNvPr id="37" name="Text 35"/>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38" name="Text 36"/>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2 / 29</a:t>
            </a:r>
            <a:endParaRPr lang="en-US" sz="75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30352"/>
            <a:ext cx="10515600" cy="292608"/>
          </a:xfrm>
          <a:prstGeom prst="rect">
            <a:avLst/>
          </a:prstGeom>
          <a:noFill/>
        </p:spPr>
        <p:txBody>
          <a:bodyPr wrap="square" lIns="0" rIns="0" tIns="0" bIns="0" anchor="t">
            <a:spAutoFit/>
          </a:bodyPr>
          <a:lstStyle/>
          <a:p>
            <a:pPr algn="l"/>
            <a:r>
              <a:rPr sz="1200" b="1" i="0" cap="all" spc="180">
                <a:solidFill>
                  <a:srgbClr val="0D7490"/>
                </a:solidFill>
                <a:latin typeface="Helvetica Neue"/>
              </a:rPr>
              <a:t>TODAY'S ROLES</a:t>
            </a:r>
          </a:p>
        </p:txBody>
      </p:sp>
      <p:sp>
        <p:nvSpPr>
          <p:cNvPr id="3" name="TextBox 2"/>
          <p:cNvSpPr txBox="1"/>
          <p:nvPr/>
        </p:nvSpPr>
        <p:spPr>
          <a:xfrm>
            <a:off x="804672" y="822960"/>
            <a:ext cx="10515600" cy="868680"/>
          </a:xfrm>
          <a:prstGeom prst="rect">
            <a:avLst/>
          </a:prstGeom>
          <a:noFill/>
        </p:spPr>
        <p:txBody>
          <a:bodyPr wrap="square" lIns="0" rIns="0" tIns="0" bIns="0" anchor="t">
            <a:spAutoFit/>
          </a:bodyPr>
          <a:lstStyle/>
          <a:p>
            <a:pPr algn="l">
              <a:lnSpc>
                <a:spcPct val="105000"/>
              </a:lnSpc>
            </a:pPr>
            <a:r>
              <a:rPr sz="3000" b="1" i="0">
                <a:solidFill>
                  <a:srgbClr val="1D1D1F"/>
                </a:solidFill>
                <a:latin typeface="Helvetica Neue"/>
              </a:rPr>
              <a:t>Four jobs. Four students. Different every week.</a:t>
            </a:r>
          </a:p>
        </p:txBody>
      </p:sp>
      <p:sp>
        <p:nvSpPr>
          <p:cNvPr id="4" name="TextBox 3"/>
          <p:cNvSpPr txBox="1"/>
          <p:nvPr/>
        </p:nvSpPr>
        <p:spPr>
          <a:xfrm>
            <a:off x="822960" y="1700784"/>
            <a:ext cx="10515600" cy="457200"/>
          </a:xfrm>
          <a:prstGeom prst="rect">
            <a:avLst/>
          </a:prstGeom>
          <a:noFill/>
        </p:spPr>
        <p:txBody>
          <a:bodyPr wrap="square" lIns="0" rIns="0" tIns="0" bIns="0" anchor="t">
            <a:spAutoFit/>
          </a:bodyPr>
          <a:lstStyle/>
          <a:p>
            <a:pPr algn="l"/>
            <a:r>
              <a:rPr sz="1400" b="0" i="1">
                <a:solidFill>
                  <a:srgbClr val="6E6E73"/>
                </a:solidFill>
                <a:latin typeface="Helvetica Neue"/>
              </a:rPr>
              <a:t>Every meeting we assign these four — by season's end, every student has done every job.</a:t>
            </a:r>
          </a:p>
        </p:txBody>
      </p:sp>
      <p:sp>
        <p:nvSpPr>
          <p:cNvPr id="5" name="Rectangle 4"/>
          <p:cNvSpPr/>
          <p:nvPr/>
        </p:nvSpPr>
        <p:spPr>
          <a:xfrm>
            <a:off x="822960" y="2331720"/>
            <a:ext cx="5074920" cy="1783080"/>
          </a:xfrm>
          <a:prstGeom prst="rect">
            <a:avLst/>
          </a:prstGeom>
          <a:solidFill>
            <a:srgbClr val="FBFBFD"/>
          </a:solidFill>
          <a:ln w="9525">
            <a:solidFill>
              <a:srgbClr val="E3E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2606039"/>
            <a:ext cx="4434840" cy="329184"/>
          </a:xfrm>
          <a:prstGeom prst="rect">
            <a:avLst/>
          </a:prstGeom>
          <a:noFill/>
        </p:spPr>
        <p:txBody>
          <a:bodyPr wrap="square" lIns="0" rIns="0" tIns="0" bIns="0" anchor="t">
            <a:spAutoFit/>
          </a:bodyPr>
          <a:lstStyle/>
          <a:p>
            <a:pPr algn="l"/>
            <a:r>
              <a:rPr sz="1000" b="1" i="0" cap="all" spc="180">
                <a:solidFill>
                  <a:srgbClr val="0D7490"/>
                </a:solidFill>
                <a:latin typeface="Helvetica Neue"/>
              </a:rPr>
              <a:t>NOTETAKER / SCRIBE</a:t>
            </a:r>
          </a:p>
        </p:txBody>
      </p:sp>
      <p:sp>
        <p:nvSpPr>
          <p:cNvPr id="7" name="TextBox 6"/>
          <p:cNvSpPr txBox="1"/>
          <p:nvPr/>
        </p:nvSpPr>
        <p:spPr>
          <a:xfrm>
            <a:off x="1143000" y="3008376"/>
            <a:ext cx="4434840" cy="329184"/>
          </a:xfrm>
          <a:prstGeom prst="rect">
            <a:avLst/>
          </a:prstGeom>
          <a:noFill/>
        </p:spPr>
        <p:txBody>
          <a:bodyPr wrap="square" lIns="0" rIns="0" tIns="0" bIns="0" anchor="t">
            <a:spAutoFit/>
          </a:bodyPr>
          <a:lstStyle/>
          <a:p>
            <a:pPr algn="l"/>
            <a:r>
              <a:rPr sz="1100" b="0" i="0" spc="40">
                <a:solidFill>
                  <a:srgbClr val="86868B"/>
                </a:solidFill>
                <a:latin typeface="Helvetica Neue"/>
              </a:rPr>
              <a:t>TODAY:  __________________________________</a:t>
            </a:r>
          </a:p>
        </p:txBody>
      </p:sp>
      <p:sp>
        <p:nvSpPr>
          <p:cNvPr id="8" name="TextBox 7"/>
          <p:cNvSpPr txBox="1"/>
          <p:nvPr/>
        </p:nvSpPr>
        <p:spPr>
          <a:xfrm>
            <a:off x="1143000" y="3410711"/>
            <a:ext cx="4434840" cy="594359"/>
          </a:xfrm>
          <a:prstGeom prst="rect">
            <a:avLst/>
          </a:prstGeom>
          <a:noFill/>
        </p:spPr>
        <p:txBody>
          <a:bodyPr wrap="square" lIns="0" rIns="0" tIns="0" bIns="0" anchor="t">
            <a:spAutoFit/>
          </a:bodyPr>
          <a:lstStyle/>
          <a:p>
            <a:pPr algn="l"/>
            <a:r>
              <a:rPr sz="1150" b="0" i="0">
                <a:solidFill>
                  <a:srgbClr val="6E6E73"/>
                </a:solidFill>
                <a:latin typeface="Helvetica Neue"/>
              </a:rPr>
              <a:t>Captures every decision, action item, and blocker. Files notes with the CFO for the engineering notebook.</a:t>
            </a:r>
          </a:p>
        </p:txBody>
      </p:sp>
      <p:sp>
        <p:nvSpPr>
          <p:cNvPr id="9" name="Rectangle 8"/>
          <p:cNvSpPr/>
          <p:nvPr/>
        </p:nvSpPr>
        <p:spPr>
          <a:xfrm>
            <a:off x="6126480" y="2331720"/>
            <a:ext cx="5074920" cy="1783080"/>
          </a:xfrm>
          <a:prstGeom prst="rect">
            <a:avLst/>
          </a:prstGeom>
          <a:solidFill>
            <a:srgbClr val="FBFBFD"/>
          </a:solidFill>
          <a:ln w="9525">
            <a:solidFill>
              <a:srgbClr val="E3E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2606039"/>
            <a:ext cx="4434840" cy="329184"/>
          </a:xfrm>
          <a:prstGeom prst="rect">
            <a:avLst/>
          </a:prstGeom>
          <a:noFill/>
        </p:spPr>
        <p:txBody>
          <a:bodyPr wrap="square" lIns="0" rIns="0" tIns="0" bIns="0" anchor="t">
            <a:spAutoFit/>
          </a:bodyPr>
          <a:lstStyle/>
          <a:p>
            <a:pPr algn="l"/>
            <a:r>
              <a:rPr sz="1000" b="1" i="0" cap="all" spc="180">
                <a:solidFill>
                  <a:srgbClr val="0D7490"/>
                </a:solidFill>
                <a:latin typeface="Helvetica Neue"/>
              </a:rPr>
              <a:t>SAFETY BRIEFER</a:t>
            </a:r>
          </a:p>
        </p:txBody>
      </p:sp>
      <p:sp>
        <p:nvSpPr>
          <p:cNvPr id="11" name="TextBox 10"/>
          <p:cNvSpPr txBox="1"/>
          <p:nvPr/>
        </p:nvSpPr>
        <p:spPr>
          <a:xfrm>
            <a:off x="6446520" y="3008376"/>
            <a:ext cx="4434840" cy="329184"/>
          </a:xfrm>
          <a:prstGeom prst="rect">
            <a:avLst/>
          </a:prstGeom>
          <a:noFill/>
        </p:spPr>
        <p:txBody>
          <a:bodyPr wrap="square" lIns="0" rIns="0" tIns="0" bIns="0" anchor="t">
            <a:spAutoFit/>
          </a:bodyPr>
          <a:lstStyle/>
          <a:p>
            <a:pPr algn="l"/>
            <a:r>
              <a:rPr sz="1100" b="0" i="0" spc="40">
                <a:solidFill>
                  <a:srgbClr val="86868B"/>
                </a:solidFill>
                <a:latin typeface="Helvetica Neue"/>
              </a:rPr>
              <a:t>TODAY:  __________________________________</a:t>
            </a:r>
          </a:p>
        </p:txBody>
      </p:sp>
      <p:sp>
        <p:nvSpPr>
          <p:cNvPr id="12" name="TextBox 11"/>
          <p:cNvSpPr txBox="1"/>
          <p:nvPr/>
        </p:nvSpPr>
        <p:spPr>
          <a:xfrm>
            <a:off x="6446520" y="3410711"/>
            <a:ext cx="4434840" cy="594359"/>
          </a:xfrm>
          <a:prstGeom prst="rect">
            <a:avLst/>
          </a:prstGeom>
          <a:noFill/>
        </p:spPr>
        <p:txBody>
          <a:bodyPr wrap="square" lIns="0" rIns="0" tIns="0" bIns="0" anchor="t">
            <a:spAutoFit/>
          </a:bodyPr>
          <a:lstStyle/>
          <a:p>
            <a:pPr algn="l"/>
            <a:r>
              <a:rPr sz="1150" b="0" i="0">
                <a:solidFill>
                  <a:srgbClr val="6E6E73"/>
                </a:solidFill>
                <a:latin typeface="Helvetica Neue"/>
              </a:rPr>
              <a:t>Delivers the standing four-question safety brief at the start of the meeting.</a:t>
            </a:r>
          </a:p>
        </p:txBody>
      </p:sp>
      <p:sp>
        <p:nvSpPr>
          <p:cNvPr id="13" name="Rectangle 12"/>
          <p:cNvSpPr/>
          <p:nvPr/>
        </p:nvSpPr>
        <p:spPr>
          <a:xfrm>
            <a:off x="822960" y="4315968"/>
            <a:ext cx="5074920" cy="1783080"/>
          </a:xfrm>
          <a:prstGeom prst="rect">
            <a:avLst/>
          </a:prstGeom>
          <a:solidFill>
            <a:srgbClr val="FBFBFD"/>
          </a:solidFill>
          <a:ln w="9525">
            <a:solidFill>
              <a:srgbClr val="E3E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3000" y="4590288"/>
            <a:ext cx="4434840" cy="329184"/>
          </a:xfrm>
          <a:prstGeom prst="rect">
            <a:avLst/>
          </a:prstGeom>
          <a:noFill/>
        </p:spPr>
        <p:txBody>
          <a:bodyPr wrap="square" lIns="0" rIns="0" tIns="0" bIns="0" anchor="t">
            <a:spAutoFit/>
          </a:bodyPr>
          <a:lstStyle/>
          <a:p>
            <a:pPr algn="l"/>
            <a:r>
              <a:rPr sz="1000" b="1" i="0" cap="all" spc="180">
                <a:solidFill>
                  <a:srgbClr val="0D7490"/>
                </a:solidFill>
                <a:latin typeface="Helvetica Neue"/>
              </a:rPr>
              <a:t>PHOTOGRAPHER</a:t>
            </a:r>
          </a:p>
        </p:txBody>
      </p:sp>
      <p:sp>
        <p:nvSpPr>
          <p:cNvPr id="15" name="TextBox 14"/>
          <p:cNvSpPr txBox="1"/>
          <p:nvPr/>
        </p:nvSpPr>
        <p:spPr>
          <a:xfrm>
            <a:off x="1143000" y="4992624"/>
            <a:ext cx="4434840" cy="329184"/>
          </a:xfrm>
          <a:prstGeom prst="rect">
            <a:avLst/>
          </a:prstGeom>
          <a:noFill/>
        </p:spPr>
        <p:txBody>
          <a:bodyPr wrap="square" lIns="0" rIns="0" tIns="0" bIns="0" anchor="t">
            <a:spAutoFit/>
          </a:bodyPr>
          <a:lstStyle/>
          <a:p>
            <a:pPr algn="l"/>
            <a:r>
              <a:rPr sz="1100" b="0" i="0" spc="40">
                <a:solidFill>
                  <a:srgbClr val="86868B"/>
                </a:solidFill>
                <a:latin typeface="Helvetica Neue"/>
              </a:rPr>
              <a:t>TODAY:  __________________________________</a:t>
            </a:r>
          </a:p>
        </p:txBody>
      </p:sp>
      <p:sp>
        <p:nvSpPr>
          <p:cNvPr id="16" name="TextBox 15"/>
          <p:cNvSpPr txBox="1"/>
          <p:nvPr/>
        </p:nvSpPr>
        <p:spPr>
          <a:xfrm>
            <a:off x="1143000" y="5394959"/>
            <a:ext cx="4434840" cy="594359"/>
          </a:xfrm>
          <a:prstGeom prst="rect">
            <a:avLst/>
          </a:prstGeom>
          <a:noFill/>
        </p:spPr>
        <p:txBody>
          <a:bodyPr wrap="square" lIns="0" rIns="0" tIns="0" bIns="0" anchor="t">
            <a:spAutoFit/>
          </a:bodyPr>
          <a:lstStyle/>
          <a:p>
            <a:pPr algn="l"/>
            <a:r>
              <a:rPr sz="1150" b="0" i="0">
                <a:solidFill>
                  <a:srgbClr val="6E6E73"/>
                </a:solidFill>
                <a:latin typeface="Helvetica Neue"/>
              </a:rPr>
              <a:t>Captures photos and short videos throughout — feeds the engineering notebook and the marketing display.</a:t>
            </a:r>
          </a:p>
        </p:txBody>
      </p:sp>
      <p:sp>
        <p:nvSpPr>
          <p:cNvPr id="17" name="Rectangle 16"/>
          <p:cNvSpPr/>
          <p:nvPr/>
        </p:nvSpPr>
        <p:spPr>
          <a:xfrm>
            <a:off x="6126480" y="4315968"/>
            <a:ext cx="5074920" cy="1783080"/>
          </a:xfrm>
          <a:prstGeom prst="rect">
            <a:avLst/>
          </a:prstGeom>
          <a:solidFill>
            <a:srgbClr val="FBFBFD"/>
          </a:solidFill>
          <a:ln w="9525">
            <a:solidFill>
              <a:srgbClr val="E3E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4590288"/>
            <a:ext cx="4434840" cy="329184"/>
          </a:xfrm>
          <a:prstGeom prst="rect">
            <a:avLst/>
          </a:prstGeom>
          <a:noFill/>
        </p:spPr>
        <p:txBody>
          <a:bodyPr wrap="square" lIns="0" rIns="0" tIns="0" bIns="0" anchor="t">
            <a:spAutoFit/>
          </a:bodyPr>
          <a:lstStyle/>
          <a:p>
            <a:pPr algn="l"/>
            <a:r>
              <a:rPr sz="1000" b="1" i="0" cap="all" spc="180">
                <a:solidFill>
                  <a:srgbClr val="0D7490"/>
                </a:solidFill>
                <a:latin typeface="Helvetica Neue"/>
              </a:rPr>
              <a:t>TIMEKEEPER</a:t>
            </a:r>
          </a:p>
        </p:txBody>
      </p:sp>
      <p:sp>
        <p:nvSpPr>
          <p:cNvPr id="19" name="TextBox 18"/>
          <p:cNvSpPr txBox="1"/>
          <p:nvPr/>
        </p:nvSpPr>
        <p:spPr>
          <a:xfrm>
            <a:off x="6446520" y="4992624"/>
            <a:ext cx="4434840" cy="329184"/>
          </a:xfrm>
          <a:prstGeom prst="rect">
            <a:avLst/>
          </a:prstGeom>
          <a:noFill/>
        </p:spPr>
        <p:txBody>
          <a:bodyPr wrap="square" lIns="0" rIns="0" tIns="0" bIns="0" anchor="t">
            <a:spAutoFit/>
          </a:bodyPr>
          <a:lstStyle/>
          <a:p>
            <a:pPr algn="l"/>
            <a:r>
              <a:rPr sz="1100" b="0" i="0" spc="40">
                <a:solidFill>
                  <a:srgbClr val="86868B"/>
                </a:solidFill>
                <a:latin typeface="Helvetica Neue"/>
              </a:rPr>
              <a:t>TODAY:  __________________________________</a:t>
            </a:r>
          </a:p>
        </p:txBody>
      </p:sp>
      <p:sp>
        <p:nvSpPr>
          <p:cNvPr id="20" name="TextBox 19"/>
          <p:cNvSpPr txBox="1"/>
          <p:nvPr/>
        </p:nvSpPr>
        <p:spPr>
          <a:xfrm>
            <a:off x="6446520" y="5394959"/>
            <a:ext cx="4434840" cy="594359"/>
          </a:xfrm>
          <a:prstGeom prst="rect">
            <a:avLst/>
          </a:prstGeom>
          <a:noFill/>
        </p:spPr>
        <p:txBody>
          <a:bodyPr wrap="square" lIns="0" rIns="0" tIns="0" bIns="0" anchor="t">
            <a:spAutoFit/>
          </a:bodyPr>
          <a:lstStyle/>
          <a:p>
            <a:pPr algn="l"/>
            <a:r>
              <a:rPr sz="1150" b="0" i="0">
                <a:solidFill>
                  <a:srgbClr val="6E6E73"/>
                </a:solidFill>
                <a:latin typeface="Helvetica Neue"/>
              </a:rPr>
              <a:t>Holds the meeting to the agenda's clock. Calls the time at each block change.</a:t>
            </a:r>
          </a:p>
        </p:txBody>
      </p:sp>
      <p:cxnSp>
        <p:nvCxnSpPr>
          <p:cNvPr id="21" name="Connector 20"/>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23" name="TextBox 22"/>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1 — KICKOFF   ·   3 / 29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BFBFD"/>
        </a:solidFill>
      </p:bgPr>
    </p:bg>
    <p:spTree>
      <p:nvGrpSpPr>
        <p:cNvPr id="1" name=""/>
        <p:cNvGrpSpPr/>
        <p:nvPr/>
      </p:nvGrpSpPr>
      <p:grpSpPr>
        <a:xfrm>
          <a:off x="0" y="0"/>
          <a:ext cx="0" cy="0"/>
          <a:chOff x="0" y="0"/>
          <a:chExt cx="0" cy="0"/>
        </a:xfrm>
      </p:grpSpPr>
      <p:sp>
        <p:nvSpPr>
          <p:cNvPr id="2" name="Text 0"/>
          <p:cNvSpPr/>
          <p:nvPr/>
        </p:nvSpPr>
        <p:spPr>
          <a:xfrm>
            <a:off x="4572000" y="182880"/>
            <a:ext cx="7315200" cy="6492240"/>
          </a:xfrm>
          <a:prstGeom prst="rect">
            <a:avLst/>
          </a:prstGeom>
          <a:noFill/>
          <a:ln/>
        </p:spPr>
        <p:txBody>
          <a:bodyPr wrap="square" lIns="0" tIns="0" rIns="0" bIns="0" rtlCol="0" anchor="ctr"/>
          <a:lstStyle/>
          <a:p>
            <a:pPr algn="r" indent="0" marL="0">
              <a:buNone/>
            </a:pPr>
            <a:r>
              <a:rPr lang="en-US" sz="36000" b="1" dirty="0">
                <a:solidFill>
                  <a:srgbClr val="EEF0F1"/>
                </a:solidFill>
                <a:latin typeface="Helvetica Neue" pitchFamily="34" charset="0"/>
                <a:ea typeface="Helvetica Neue" pitchFamily="34" charset="-122"/>
                <a:cs typeface="Helvetica Neue" pitchFamily="34" charset="-120"/>
              </a:rPr>
              <a:t>01</a:t>
            </a:r>
            <a:endParaRPr lang="en-US" sz="36000" dirty="0"/>
          </a:p>
        </p:txBody>
      </p:sp>
      <p:sp>
        <p:nvSpPr>
          <p:cNvPr id="3" name="Shape 1"/>
          <p:cNvSpPr/>
          <p:nvPr/>
        </p:nvSpPr>
        <p:spPr>
          <a:xfrm>
            <a:off x="841248" y="2395728"/>
            <a:ext cx="566928" cy="91440"/>
          </a:xfrm>
          <a:prstGeom prst="rect">
            <a:avLst/>
          </a:prstGeom>
          <a:solidFill>
            <a:srgbClr val="0D7490"/>
          </a:solidFill>
          <a:ln/>
        </p:spPr>
        <p:txBody>
          <a:bodyPr/>
          <a:p/>
        </p:txBody>
      </p:sp>
      <p:sp>
        <p:nvSpPr>
          <p:cNvPr id="4" name="Text 2"/>
          <p:cNvSpPr/>
          <p:nvPr/>
        </p:nvSpPr>
        <p:spPr>
          <a:xfrm>
            <a:off x="822960" y="2615184"/>
            <a:ext cx="6400800" cy="310896"/>
          </a:xfrm>
          <a:prstGeom prst="rect">
            <a:avLst/>
          </a:prstGeom>
          <a:noFill/>
          <a:ln/>
        </p:spPr>
        <p:txBody>
          <a:bodyPr wrap="square" lIns="0" tIns="0" rIns="0" bIns="0" rtlCol="0" anchor="ctr"/>
          <a:lstStyle/>
          <a:p>
            <a:pPr indent="0" marL="0">
              <a:buNone/>
            </a:pPr>
            <a:r>
              <a:rPr lang="en-US" sz="1300" b="1" spc="250" kern="0" dirty="0">
                <a:solidFill>
                  <a:srgbClr val="0D7490"/>
                </a:solidFill>
                <a:latin typeface="Helvetica Neue" pitchFamily="34" charset="0"/>
                <a:ea typeface="Helvetica Neue" pitchFamily="34" charset="-122"/>
                <a:cs typeface="Helvetica Neue" pitchFamily="34" charset="-120"/>
              </a:rPr>
              <a:t>SECTION 01</a:t>
            </a:r>
            <a:endParaRPr lang="en-US" sz="1300" dirty="0"/>
          </a:p>
        </p:txBody>
      </p:sp>
      <p:sp>
        <p:nvSpPr>
          <p:cNvPr id="5" name="Text 3"/>
          <p:cNvSpPr/>
          <p:nvPr/>
        </p:nvSpPr>
        <p:spPr>
          <a:xfrm>
            <a:off x="786384" y="2926080"/>
            <a:ext cx="6949440" cy="1371600"/>
          </a:xfrm>
          <a:prstGeom prst="rect">
            <a:avLst/>
          </a:prstGeom>
          <a:noFill/>
          <a:ln/>
        </p:spPr>
        <p:txBody>
          <a:bodyPr wrap="square" lIns="0" tIns="0" rIns="0" bIns="0" rtlCol="0" anchor="ctr"/>
          <a:lstStyle/>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Welcome &amp;</a:t>
            </a:r>
            <a:endParaRPr lang="en-US" sz="4000" dirty="0"/>
          </a:p>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Safety Brief</a:t>
            </a:r>
            <a:endParaRPr lang="en-US" sz="4000" dirty="0"/>
          </a:p>
        </p:txBody>
      </p:sp>
      <p:sp>
        <p:nvSpPr>
          <p:cNvPr id="6" name="Shape 4"/>
          <p:cNvSpPr/>
          <p:nvPr/>
        </p:nvSpPr>
        <p:spPr>
          <a:xfrm>
            <a:off x="841248" y="4370832"/>
            <a:ext cx="2971800" cy="420624"/>
          </a:xfrm>
          <a:prstGeom prst="roundRect">
            <a:avLst>
              <a:gd name="adj" fmla="val 50000"/>
            </a:avLst>
          </a:prstGeom>
          <a:solidFill>
            <a:srgbClr val="0D7490"/>
          </a:solidFill>
          <a:ln/>
        </p:spPr>
        <p:txBody>
          <a:bodyPr/>
          <a:p/>
        </p:txBody>
      </p:sp>
      <p:sp>
        <p:nvSpPr>
          <p:cNvPr id="7" name="Text 5"/>
          <p:cNvSpPr/>
          <p:nvPr/>
        </p:nvSpPr>
        <p:spPr>
          <a:xfrm>
            <a:off x="841248" y="4370832"/>
            <a:ext cx="2971800" cy="420624"/>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Helvetica Neue" pitchFamily="34" charset="0"/>
                <a:ea typeface="Helvetica Neue" pitchFamily="34" charset="-122"/>
                <a:cs typeface="Helvetica Neue" pitchFamily="34" charset="-120"/>
              </a:rPr>
              <a:t>0:00 – 0:15   ·   15 MIN</a:t>
            </a:r>
            <a:endParaRPr lang="en-US" sz="1050" dirty="0"/>
          </a:p>
        </p:txBody>
      </p:sp>
      <p:sp>
        <p:nvSpPr>
          <p:cNvPr id="8" name="Text 6"/>
          <p:cNvSpPr/>
          <p:nvPr/>
        </p:nvSpPr>
        <p:spPr>
          <a:xfrm>
            <a:off x="841248" y="5029200"/>
            <a:ext cx="6126480" cy="1005840"/>
          </a:xfrm>
          <a:prstGeom prst="rect">
            <a:avLst/>
          </a:prstGeom>
          <a:noFill/>
          <a:ln/>
        </p:spPr>
        <p:txBody>
          <a:bodyPr wrap="square" lIns="0" tIns="0" rIns="0" bIns="0" rtlCol="0" anchor="ctr"/>
          <a:lstStyle/>
          <a:p>
            <a:pPr indent="0" marL="0">
              <a:lnSpc>
                <a:spcPts val="2200"/>
              </a:lnSpc>
              <a:buNone/>
            </a:pPr>
            <a:r>
              <a:rPr lang="en-US" sz="1500" i="1" dirty="0">
                <a:solidFill>
                  <a:srgbClr val="6E6E73"/>
                </a:solidFill>
                <a:latin typeface="Helvetica Neue" pitchFamily="34" charset="0"/>
                <a:ea typeface="Helvetica Neue" pitchFamily="34" charset="-122"/>
                <a:cs typeface="Helvetica Neue" pitchFamily="34" charset="-120"/>
              </a:rPr>
              <a:t>Every meeting we ever hold will begin in exactly this place.</a:t>
            </a:r>
            <a:endParaRPr lang="en-US" sz="1500" dirty="0"/>
          </a:p>
        </p:txBody>
      </p:sp>
      <p:sp>
        <p:nvSpPr>
          <p:cNvPr id="9" name="Shape 7"/>
          <p:cNvSpPr/>
          <p:nvPr/>
        </p:nvSpPr>
        <p:spPr>
          <a:xfrm>
            <a:off x="822960" y="6437376"/>
            <a:ext cx="10545775" cy="0"/>
          </a:xfrm>
          <a:prstGeom prst="line">
            <a:avLst/>
          </a:prstGeom>
          <a:noFill/>
          <a:ln w="9525">
            <a:solidFill>
              <a:srgbClr val="E3E3E6"/>
            </a:solidFill>
            <a:prstDash val="solid"/>
          </a:ln>
        </p:spPr>
        <p:txBody>
          <a:bodyPr/>
          <a:p/>
        </p:txBody>
      </p:sp>
      <p:sp>
        <p:nvSpPr>
          <p:cNvPr id="10" name="Text 8"/>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1" name="Text 9"/>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4 / 29</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THE STANDING RITUAL</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Every meeting opens with a safety brief.</a:t>
            </a:r>
            <a:endParaRPr lang="en-US" sz="3000" dirty="0"/>
          </a:p>
        </p:txBody>
      </p:sp>
      <p:sp>
        <p:nvSpPr>
          <p:cNvPr id="4" name="Text 2"/>
          <p:cNvSpPr/>
          <p:nvPr/>
        </p:nvSpPr>
        <p:spPr>
          <a:xfrm>
            <a:off x="822960" y="1783080"/>
            <a:ext cx="4754880" cy="329184"/>
          </a:xfrm>
          <a:prstGeom prst="rect">
            <a:avLst/>
          </a:prstGeom>
          <a:noFill/>
          <a:ln/>
        </p:spPr>
        <p:txBody>
          <a:bodyPr wrap="square" lIns="0" tIns="0" rIns="0" bIns="0" rtlCol="0" anchor="ctr"/>
          <a:lstStyle/>
          <a:p>
            <a:pPr indent="0" marL="0">
              <a:buNone/>
            </a:pPr>
            <a:r>
              <a:rPr lang="en-US" sz="1500" b="1" dirty="0">
                <a:solidFill>
                  <a:srgbClr val="1D1D1F"/>
                </a:solidFill>
                <a:latin typeface="Helvetica Neue" pitchFamily="34" charset="0"/>
                <a:ea typeface="Helvetica Neue" pitchFamily="34" charset="-122"/>
                <a:cs typeface="Helvetica Neue" pitchFamily="34" charset="-120"/>
              </a:rPr>
              <a:t>Why we do this</a:t>
            </a:r>
            <a:endParaRPr lang="en-US" sz="1500" dirty="0"/>
          </a:p>
        </p:txBody>
      </p:sp>
      <p:sp>
        <p:nvSpPr>
          <p:cNvPr id="5" name="Text 3"/>
          <p:cNvSpPr/>
          <p:nvPr/>
        </p:nvSpPr>
        <p:spPr>
          <a:xfrm>
            <a:off x="822960" y="2157984"/>
            <a:ext cx="4800600" cy="2377440"/>
          </a:xfrm>
          <a:prstGeom prst="rect">
            <a:avLst/>
          </a:prstGeom>
          <a:noFill/>
          <a:ln/>
        </p:spPr>
        <p:txBody>
          <a:bodyPr wrap="square" lIns="0" tIns="0" rIns="0" bIns="0" rtlCol="0" anchor="ctr"/>
          <a:lstStyle/>
          <a:p>
            <a:pPr indent="0" marL="0">
              <a:lnSpc>
                <a:spcPts val="2000"/>
              </a:lnSpc>
              <a:buNone/>
            </a:pPr>
            <a:r>
              <a:rPr lang="en-US" sz="1350" dirty="0">
                <a:solidFill>
                  <a:srgbClr val="6E6E73"/>
                </a:solidFill>
                <a:latin typeface="Helvetica Neue" pitchFamily="34" charset="0"/>
                <a:ea typeface="Helvetica Neue" pitchFamily="34" charset="-122"/>
                <a:cs typeface="Helvetica Neue" pitchFamily="34" charset="-120"/>
              </a:rPr>
              <a:t>Real engineering and dive teams brief safety before every job — not because something went wrong, but so it never does. We adopt the same habit on day one. Sixty seconds, every meeting, no exceptions.</a:t>
            </a:r>
            <a:endParaRPr lang="en-US" sz="1350" dirty="0"/>
          </a:p>
          <a:p>
            <a:pPr indent="0" marL="0">
              <a:lnSpc>
                <a:spcPts val="2000"/>
              </a:lnSpc>
              <a:buNone/>
            </a:pPr>
            <a:endParaRPr lang="en-US" sz="1350" dirty="0"/>
          </a:p>
          <a:p>
            <a:pPr indent="0" marL="0">
              <a:lnSpc>
                <a:spcPts val="2000"/>
              </a:lnSpc>
              <a:buNone/>
            </a:pPr>
            <a:r>
              <a:rPr lang="en-US" sz="1350" dirty="0">
                <a:solidFill>
                  <a:srgbClr val="6E6E73"/>
                </a:solidFill>
                <a:latin typeface="Helvetica Neue" pitchFamily="34" charset="0"/>
                <a:ea typeface="Helvetica Neue" pitchFamily="34" charset="-122"/>
                <a:cs typeface="Helvetica Neue" pitchFamily="34" charset="-120"/>
              </a:rPr>
              <a:t>Each brief answers the same four questions, so the team always knows what to expect.</a:t>
            </a:r>
            <a:endParaRPr lang="en-US" sz="1350" dirty="0"/>
          </a:p>
        </p:txBody>
      </p:sp>
      <p:sp>
        <p:nvSpPr>
          <p:cNvPr id="6" name="Shape 4"/>
          <p:cNvSpPr/>
          <p:nvPr/>
        </p:nvSpPr>
        <p:spPr>
          <a:xfrm>
            <a:off x="822960" y="4334256"/>
            <a:ext cx="310896" cy="310896"/>
          </a:xfrm>
          <a:prstGeom prst="ellipse">
            <a:avLst/>
          </a:prstGeom>
          <a:solidFill>
            <a:srgbClr val="EAF2F4"/>
          </a:solidFill>
          <a:ln/>
        </p:spPr>
        <p:txBody>
          <a:bodyPr/>
          <a:p/>
        </p:txBody>
      </p:sp>
      <p:sp>
        <p:nvSpPr>
          <p:cNvPr id="7" name="Text 5"/>
          <p:cNvSpPr/>
          <p:nvPr/>
        </p:nvSpPr>
        <p:spPr>
          <a:xfrm>
            <a:off x="822960" y="4334256"/>
            <a:ext cx="310896" cy="310896"/>
          </a:xfrm>
          <a:prstGeom prst="rect">
            <a:avLst/>
          </a:prstGeom>
          <a:noFill/>
          <a:ln/>
        </p:spPr>
        <p:txBody>
          <a:bodyPr wrap="square" lIns="0" tIns="0" rIns="0" bIns="0" rtlCol="0" anchor="ctr"/>
          <a:lstStyle/>
          <a:p>
            <a:pPr algn="ctr" indent="0" marL="0">
              <a:buNone/>
            </a:pPr>
            <a:r>
              <a:rPr lang="en-US" sz="952" b="1" dirty="0">
                <a:solidFill>
                  <a:srgbClr val="0D7490"/>
                </a:solidFill>
                <a:latin typeface="Helvetica Neue" pitchFamily="34" charset="0"/>
                <a:ea typeface="Helvetica Neue" pitchFamily="34" charset="-122"/>
                <a:cs typeface="Helvetica Neue" pitchFamily="34" charset="-120"/>
              </a:rPr>
              <a:t>1</a:t>
            </a:r>
            <a:endParaRPr lang="en-US" sz="952" dirty="0"/>
          </a:p>
        </p:txBody>
      </p:sp>
      <p:sp>
        <p:nvSpPr>
          <p:cNvPr id="8" name="Text 6"/>
          <p:cNvSpPr/>
          <p:nvPr/>
        </p:nvSpPr>
        <p:spPr>
          <a:xfrm>
            <a:off x="1280160" y="4297680"/>
            <a:ext cx="4389120" cy="384048"/>
          </a:xfrm>
          <a:prstGeom prst="rect">
            <a:avLst/>
          </a:prstGeom>
          <a:noFill/>
          <a:ln/>
        </p:spPr>
        <p:txBody>
          <a:bodyPr wrap="square" lIns="0" tIns="0" rIns="0" bIns="0" rtlCol="0" anchor="ctr"/>
          <a:lstStyle/>
          <a:p>
            <a:pPr indent="0" marL="0">
              <a:buNone/>
            </a:pPr>
            <a:r>
              <a:rPr lang="en-US" sz="1250" dirty="0">
                <a:solidFill>
                  <a:srgbClr val="1D1D1F"/>
                </a:solidFill>
                <a:latin typeface="Helvetica Neue" pitchFamily="34" charset="0"/>
                <a:ea typeface="Helvetica Neue" pitchFamily="34" charset="-122"/>
                <a:cs typeface="Helvetica Neue" pitchFamily="34" charset="-120"/>
              </a:rPr>
              <a:t>What are we doing today?</a:t>
            </a:r>
            <a:endParaRPr lang="en-US" sz="1250" dirty="0"/>
          </a:p>
        </p:txBody>
      </p:sp>
      <p:sp>
        <p:nvSpPr>
          <p:cNvPr id="9" name="Shape 7"/>
          <p:cNvSpPr/>
          <p:nvPr/>
        </p:nvSpPr>
        <p:spPr>
          <a:xfrm>
            <a:off x="822960" y="4754880"/>
            <a:ext cx="310896" cy="310896"/>
          </a:xfrm>
          <a:prstGeom prst="ellipse">
            <a:avLst/>
          </a:prstGeom>
          <a:solidFill>
            <a:srgbClr val="EAF2F4"/>
          </a:solidFill>
          <a:ln/>
        </p:spPr>
        <p:txBody>
          <a:bodyPr/>
          <a:p/>
        </p:txBody>
      </p:sp>
      <p:sp>
        <p:nvSpPr>
          <p:cNvPr id="10" name="Text 8"/>
          <p:cNvSpPr/>
          <p:nvPr/>
        </p:nvSpPr>
        <p:spPr>
          <a:xfrm>
            <a:off x="822960" y="4754880"/>
            <a:ext cx="310896" cy="310896"/>
          </a:xfrm>
          <a:prstGeom prst="rect">
            <a:avLst/>
          </a:prstGeom>
          <a:noFill/>
          <a:ln/>
        </p:spPr>
        <p:txBody>
          <a:bodyPr wrap="square" lIns="0" tIns="0" rIns="0" bIns="0" rtlCol="0" anchor="ctr"/>
          <a:lstStyle/>
          <a:p>
            <a:pPr algn="ctr" indent="0" marL="0">
              <a:buNone/>
            </a:pPr>
            <a:r>
              <a:rPr lang="en-US" sz="952" b="1" dirty="0">
                <a:solidFill>
                  <a:srgbClr val="0D7490"/>
                </a:solidFill>
                <a:latin typeface="Helvetica Neue" pitchFamily="34" charset="0"/>
                <a:ea typeface="Helvetica Neue" pitchFamily="34" charset="-122"/>
                <a:cs typeface="Helvetica Neue" pitchFamily="34" charset="-120"/>
              </a:rPr>
              <a:t>2</a:t>
            </a:r>
            <a:endParaRPr lang="en-US" sz="952" dirty="0"/>
          </a:p>
        </p:txBody>
      </p:sp>
      <p:sp>
        <p:nvSpPr>
          <p:cNvPr id="11" name="Text 9"/>
          <p:cNvSpPr/>
          <p:nvPr/>
        </p:nvSpPr>
        <p:spPr>
          <a:xfrm>
            <a:off x="1280160" y="4718304"/>
            <a:ext cx="4389120" cy="384048"/>
          </a:xfrm>
          <a:prstGeom prst="rect">
            <a:avLst/>
          </a:prstGeom>
          <a:noFill/>
          <a:ln/>
        </p:spPr>
        <p:txBody>
          <a:bodyPr wrap="square" lIns="0" tIns="0" rIns="0" bIns="0" rtlCol="0" anchor="ctr"/>
          <a:lstStyle/>
          <a:p>
            <a:pPr indent="0" marL="0">
              <a:buNone/>
            </a:pPr>
            <a:r>
              <a:rPr lang="en-US" sz="1250" dirty="0">
                <a:solidFill>
                  <a:srgbClr val="1D1D1F"/>
                </a:solidFill>
                <a:latin typeface="Helvetica Neue" pitchFamily="34" charset="0"/>
                <a:ea typeface="Helvetica Neue" pitchFamily="34" charset="-122"/>
                <a:cs typeface="Helvetica Neue" pitchFamily="34" charset="-120"/>
              </a:rPr>
              <a:t>What could hurt someone?</a:t>
            </a:r>
            <a:endParaRPr lang="en-US" sz="1250" dirty="0"/>
          </a:p>
        </p:txBody>
      </p:sp>
      <p:sp>
        <p:nvSpPr>
          <p:cNvPr id="12" name="Shape 10"/>
          <p:cNvSpPr/>
          <p:nvPr/>
        </p:nvSpPr>
        <p:spPr>
          <a:xfrm>
            <a:off x="822960" y="5175504"/>
            <a:ext cx="310896" cy="310896"/>
          </a:xfrm>
          <a:prstGeom prst="ellipse">
            <a:avLst/>
          </a:prstGeom>
          <a:solidFill>
            <a:srgbClr val="EAF2F4"/>
          </a:solidFill>
          <a:ln/>
        </p:spPr>
        <p:txBody>
          <a:bodyPr/>
          <a:p/>
        </p:txBody>
      </p:sp>
      <p:sp>
        <p:nvSpPr>
          <p:cNvPr id="13" name="Text 11"/>
          <p:cNvSpPr/>
          <p:nvPr/>
        </p:nvSpPr>
        <p:spPr>
          <a:xfrm>
            <a:off x="822960" y="5175504"/>
            <a:ext cx="310896" cy="310896"/>
          </a:xfrm>
          <a:prstGeom prst="rect">
            <a:avLst/>
          </a:prstGeom>
          <a:noFill/>
          <a:ln/>
        </p:spPr>
        <p:txBody>
          <a:bodyPr wrap="square" lIns="0" tIns="0" rIns="0" bIns="0" rtlCol="0" anchor="ctr"/>
          <a:lstStyle/>
          <a:p>
            <a:pPr algn="ctr" indent="0" marL="0">
              <a:buNone/>
            </a:pPr>
            <a:r>
              <a:rPr lang="en-US" sz="952" b="1" dirty="0">
                <a:solidFill>
                  <a:srgbClr val="0D7490"/>
                </a:solidFill>
                <a:latin typeface="Helvetica Neue" pitchFamily="34" charset="0"/>
                <a:ea typeface="Helvetica Neue" pitchFamily="34" charset="-122"/>
                <a:cs typeface="Helvetica Neue" pitchFamily="34" charset="-120"/>
              </a:rPr>
              <a:t>3</a:t>
            </a:r>
            <a:endParaRPr lang="en-US" sz="952" dirty="0"/>
          </a:p>
        </p:txBody>
      </p:sp>
      <p:sp>
        <p:nvSpPr>
          <p:cNvPr id="14" name="Text 12"/>
          <p:cNvSpPr/>
          <p:nvPr/>
        </p:nvSpPr>
        <p:spPr>
          <a:xfrm>
            <a:off x="1280160" y="5138928"/>
            <a:ext cx="4389120" cy="384048"/>
          </a:xfrm>
          <a:prstGeom prst="rect">
            <a:avLst/>
          </a:prstGeom>
          <a:noFill/>
          <a:ln/>
        </p:spPr>
        <p:txBody>
          <a:bodyPr wrap="square" lIns="0" tIns="0" rIns="0" bIns="0" rtlCol="0" anchor="ctr"/>
          <a:lstStyle/>
          <a:p>
            <a:pPr indent="0" marL="0">
              <a:buNone/>
            </a:pPr>
            <a:r>
              <a:rPr lang="en-US" sz="1250" dirty="0">
                <a:solidFill>
                  <a:srgbClr val="1D1D1F"/>
                </a:solidFill>
                <a:latin typeface="Helvetica Neue" pitchFamily="34" charset="0"/>
                <a:ea typeface="Helvetica Neue" pitchFamily="34" charset="-122"/>
                <a:cs typeface="Helvetica Neue" pitchFamily="34" charset="-120"/>
              </a:rPr>
              <a:t>How do we prevent it?</a:t>
            </a:r>
            <a:endParaRPr lang="en-US" sz="1250" dirty="0"/>
          </a:p>
        </p:txBody>
      </p:sp>
      <p:sp>
        <p:nvSpPr>
          <p:cNvPr id="15" name="Shape 13"/>
          <p:cNvSpPr/>
          <p:nvPr/>
        </p:nvSpPr>
        <p:spPr>
          <a:xfrm>
            <a:off x="822960" y="5596128"/>
            <a:ext cx="310896" cy="310896"/>
          </a:xfrm>
          <a:prstGeom prst="ellipse">
            <a:avLst/>
          </a:prstGeom>
          <a:solidFill>
            <a:srgbClr val="EAF2F4"/>
          </a:solidFill>
          <a:ln/>
        </p:spPr>
        <p:txBody>
          <a:bodyPr/>
          <a:p/>
        </p:txBody>
      </p:sp>
      <p:sp>
        <p:nvSpPr>
          <p:cNvPr id="16" name="Text 14"/>
          <p:cNvSpPr/>
          <p:nvPr/>
        </p:nvSpPr>
        <p:spPr>
          <a:xfrm>
            <a:off x="822960" y="5596128"/>
            <a:ext cx="310896" cy="310896"/>
          </a:xfrm>
          <a:prstGeom prst="rect">
            <a:avLst/>
          </a:prstGeom>
          <a:noFill/>
          <a:ln/>
        </p:spPr>
        <p:txBody>
          <a:bodyPr wrap="square" lIns="0" tIns="0" rIns="0" bIns="0" rtlCol="0" anchor="ctr"/>
          <a:lstStyle/>
          <a:p>
            <a:pPr algn="ctr" indent="0" marL="0">
              <a:buNone/>
            </a:pPr>
            <a:r>
              <a:rPr lang="en-US" sz="952" b="1" dirty="0">
                <a:solidFill>
                  <a:srgbClr val="0D7490"/>
                </a:solidFill>
                <a:latin typeface="Helvetica Neue" pitchFamily="34" charset="0"/>
                <a:ea typeface="Helvetica Neue" pitchFamily="34" charset="-122"/>
                <a:cs typeface="Helvetica Neue" pitchFamily="34" charset="-120"/>
              </a:rPr>
              <a:t>4</a:t>
            </a:r>
            <a:endParaRPr lang="en-US" sz="952" dirty="0"/>
          </a:p>
        </p:txBody>
      </p:sp>
      <p:sp>
        <p:nvSpPr>
          <p:cNvPr id="17" name="Text 15"/>
          <p:cNvSpPr/>
          <p:nvPr/>
        </p:nvSpPr>
        <p:spPr>
          <a:xfrm>
            <a:off x="1280160" y="5559552"/>
            <a:ext cx="4389120" cy="384048"/>
          </a:xfrm>
          <a:prstGeom prst="rect">
            <a:avLst/>
          </a:prstGeom>
          <a:noFill/>
          <a:ln/>
        </p:spPr>
        <p:txBody>
          <a:bodyPr wrap="square" lIns="0" tIns="0" rIns="0" bIns="0" rtlCol="0" anchor="ctr"/>
          <a:lstStyle/>
          <a:p>
            <a:pPr indent="0" marL="0">
              <a:buNone/>
            </a:pPr>
            <a:r>
              <a:rPr lang="en-US" sz="1250" dirty="0">
                <a:solidFill>
                  <a:srgbClr val="1D1D1F"/>
                </a:solidFill>
                <a:latin typeface="Helvetica Neue" pitchFamily="34" charset="0"/>
                <a:ea typeface="Helvetica Neue" pitchFamily="34" charset="-122"/>
                <a:cs typeface="Helvetica Neue" pitchFamily="34" charset="-120"/>
              </a:rPr>
              <a:t>Who do we tell if something happens?</a:t>
            </a:r>
            <a:endParaRPr lang="en-US" sz="1250" dirty="0"/>
          </a:p>
        </p:txBody>
      </p:sp>
      <p:sp>
        <p:nvSpPr>
          <p:cNvPr id="18" name="Shape 16"/>
          <p:cNvSpPr/>
          <p:nvPr/>
        </p:nvSpPr>
        <p:spPr>
          <a:xfrm>
            <a:off x="5989320" y="1783080"/>
            <a:ext cx="5376672" cy="4370832"/>
          </a:xfrm>
          <a:prstGeom prst="roundRect">
            <a:avLst>
              <a:gd name="adj" fmla="val 2301"/>
            </a:avLst>
          </a:prstGeom>
          <a:solidFill>
            <a:srgbClr val="EAF2F4"/>
          </a:solidFill>
          <a:ln w="12700">
            <a:solidFill>
              <a:srgbClr val="EAF2F4"/>
            </a:solidFill>
            <a:prstDash val="solid"/>
          </a:ln>
        </p:spPr>
        <p:txBody>
          <a:bodyPr/>
          <a:p/>
        </p:txBody>
      </p:sp>
      <p:sp>
        <p:nvSpPr>
          <p:cNvPr id="19" name="Shape 17"/>
          <p:cNvSpPr/>
          <p:nvPr/>
        </p:nvSpPr>
        <p:spPr>
          <a:xfrm>
            <a:off x="5989320" y="1783080"/>
            <a:ext cx="5376672" cy="566928"/>
          </a:xfrm>
          <a:prstGeom prst="rect">
            <a:avLst/>
          </a:prstGeom>
          <a:solidFill>
            <a:srgbClr val="0D7490"/>
          </a:solidFill>
          <a:ln/>
        </p:spPr>
        <p:txBody>
          <a:bodyPr/>
          <a:p/>
        </p:txBody>
      </p:sp>
      <p:sp>
        <p:nvSpPr>
          <p:cNvPr id="20" name="Text 18"/>
          <p:cNvSpPr/>
          <p:nvPr/>
        </p:nvSpPr>
        <p:spPr>
          <a:xfrm>
            <a:off x="5989320" y="1783080"/>
            <a:ext cx="5376672" cy="56692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Helvetica Neue" pitchFamily="34" charset="0"/>
                <a:ea typeface="Helvetica Neue" pitchFamily="34" charset="-122"/>
                <a:cs typeface="Helvetica Neue" pitchFamily="34" charset="-120"/>
              </a:rPr>
              <a:t>TODAY'S BRIEF  ·  MEETING 1</a:t>
            </a:r>
            <a:endParaRPr lang="en-US" sz="1200" dirty="0"/>
          </a:p>
        </p:txBody>
      </p:sp>
      <p:sp>
        <p:nvSpPr>
          <p:cNvPr id="21" name="Text 19"/>
          <p:cNvSpPr/>
          <p:nvPr/>
        </p:nvSpPr>
        <p:spPr>
          <a:xfrm>
            <a:off x="6355080" y="2578608"/>
            <a:ext cx="4663440" cy="274320"/>
          </a:xfrm>
          <a:prstGeom prst="rect">
            <a:avLst/>
          </a:prstGeom>
          <a:noFill/>
          <a:ln/>
        </p:spPr>
        <p:txBody>
          <a:bodyPr wrap="square" lIns="0" tIns="0" rIns="0" bIns="0" rtlCol="0" anchor="ctr"/>
          <a:lstStyle/>
          <a:p>
            <a:pPr indent="0" marL="0">
              <a:buNone/>
            </a:pPr>
            <a:r>
              <a:rPr lang="en-US" sz="1000" b="1" spc="150" kern="0" dirty="0">
                <a:solidFill>
                  <a:srgbClr val="095D75"/>
                </a:solidFill>
                <a:latin typeface="Helvetica Neue" pitchFamily="34" charset="0"/>
                <a:ea typeface="Helvetica Neue" pitchFamily="34" charset="-122"/>
                <a:cs typeface="Helvetica Neue" pitchFamily="34" charset="-120"/>
              </a:rPr>
              <a:t>THE WORK</a:t>
            </a:r>
            <a:endParaRPr lang="en-US" sz="1000" dirty="0"/>
          </a:p>
        </p:txBody>
      </p:sp>
      <p:sp>
        <p:nvSpPr>
          <p:cNvPr id="22" name="Text 20"/>
          <p:cNvSpPr/>
          <p:nvPr/>
        </p:nvSpPr>
        <p:spPr>
          <a:xfrm>
            <a:off x="6355080" y="2825496"/>
            <a:ext cx="4681728" cy="457200"/>
          </a:xfrm>
          <a:prstGeom prst="rect">
            <a:avLst/>
          </a:prstGeom>
          <a:noFill/>
          <a:ln/>
        </p:spPr>
        <p:txBody>
          <a:bodyPr wrap="square" lIns="0" tIns="0" rIns="0" bIns="0" rtlCol="0" anchor="ctr"/>
          <a:lstStyle/>
          <a:p>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Setup, talking, and planning — no power tools in the room today.</a:t>
            </a:r>
            <a:endParaRPr lang="en-US" sz="1150" dirty="0"/>
          </a:p>
        </p:txBody>
      </p:sp>
      <p:sp>
        <p:nvSpPr>
          <p:cNvPr id="23" name="Text 21"/>
          <p:cNvSpPr/>
          <p:nvPr/>
        </p:nvSpPr>
        <p:spPr>
          <a:xfrm>
            <a:off x="6355080" y="3287268"/>
            <a:ext cx="4663440" cy="274320"/>
          </a:xfrm>
          <a:prstGeom prst="rect">
            <a:avLst/>
          </a:prstGeom>
          <a:noFill/>
          <a:ln/>
        </p:spPr>
        <p:txBody>
          <a:bodyPr wrap="square" lIns="0" tIns="0" rIns="0" bIns="0" rtlCol="0" anchor="ctr"/>
          <a:lstStyle/>
          <a:p>
            <a:pPr indent="0" marL="0">
              <a:buNone/>
            </a:pPr>
            <a:r>
              <a:rPr lang="en-US" sz="1000" b="1" spc="150" kern="0" dirty="0">
                <a:solidFill>
                  <a:srgbClr val="095D75"/>
                </a:solidFill>
                <a:latin typeface="Helvetica Neue" pitchFamily="34" charset="0"/>
                <a:ea typeface="Helvetica Neue" pitchFamily="34" charset="-122"/>
                <a:cs typeface="Helvetica Neue" pitchFamily="34" charset="-120"/>
              </a:rPr>
              <a:t>THE HAZARDS</a:t>
            </a:r>
            <a:endParaRPr lang="en-US" sz="1000" dirty="0"/>
          </a:p>
        </p:txBody>
      </p:sp>
      <p:sp>
        <p:nvSpPr>
          <p:cNvPr id="24" name="Text 22"/>
          <p:cNvSpPr/>
          <p:nvPr/>
        </p:nvSpPr>
        <p:spPr>
          <a:xfrm>
            <a:off x="6355080" y="3534156"/>
            <a:ext cx="4681728" cy="457200"/>
          </a:xfrm>
          <a:prstGeom prst="rect">
            <a:avLst/>
          </a:prstGeom>
          <a:noFill/>
          <a:ln/>
        </p:spPr>
        <p:txBody>
          <a:bodyPr wrap="square" lIns="0" tIns="0" rIns="0" bIns="0" rtlCol="0" anchor="ctr"/>
          <a:lstStyle/>
          <a:p>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Hand tools and box cutters at the build table. The walk to and from the workspace.</a:t>
            </a:r>
            <a:endParaRPr lang="en-US" sz="1150" dirty="0"/>
          </a:p>
        </p:txBody>
      </p:sp>
      <p:sp>
        <p:nvSpPr>
          <p:cNvPr id="25" name="Text 23"/>
          <p:cNvSpPr/>
          <p:nvPr/>
        </p:nvSpPr>
        <p:spPr>
          <a:xfrm>
            <a:off x="6355080" y="3995928"/>
            <a:ext cx="4663440" cy="274320"/>
          </a:xfrm>
          <a:prstGeom prst="rect">
            <a:avLst/>
          </a:prstGeom>
          <a:noFill/>
          <a:ln/>
        </p:spPr>
        <p:txBody>
          <a:bodyPr wrap="square" lIns="0" tIns="0" rIns="0" bIns="0" rtlCol="0" anchor="ctr"/>
          <a:lstStyle/>
          <a:p>
            <a:pPr indent="0" marL="0">
              <a:buNone/>
            </a:pPr>
            <a:r>
              <a:rPr lang="en-US" sz="1000" b="1" spc="150" kern="0" dirty="0">
                <a:solidFill>
                  <a:srgbClr val="095D75"/>
                </a:solidFill>
                <a:latin typeface="Helvetica Neue" pitchFamily="34" charset="0"/>
                <a:ea typeface="Helvetica Neue" pitchFamily="34" charset="-122"/>
                <a:cs typeface="Helvetica Neue" pitchFamily="34" charset="-120"/>
              </a:rPr>
              <a:t>PREVENTION</a:t>
            </a:r>
            <a:endParaRPr lang="en-US" sz="1000" dirty="0"/>
          </a:p>
        </p:txBody>
      </p:sp>
      <p:sp>
        <p:nvSpPr>
          <p:cNvPr id="26" name="Text 24"/>
          <p:cNvSpPr/>
          <p:nvPr/>
        </p:nvSpPr>
        <p:spPr>
          <a:xfrm>
            <a:off x="6355080" y="4242816"/>
            <a:ext cx="4681728" cy="457200"/>
          </a:xfrm>
          <a:prstGeom prst="rect">
            <a:avLst/>
          </a:prstGeom>
          <a:noFill/>
          <a:ln/>
        </p:spPr>
        <p:txBody>
          <a:bodyPr wrap="square" lIns="0" tIns="0" rIns="0" bIns="0" rtlCol="0" anchor="ctr"/>
          <a:lstStyle/>
          <a:p>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Tools stay capped until needed. Closed-toe shoes. Clear the floor of bags and cords.</a:t>
            </a:r>
            <a:endParaRPr lang="en-US" sz="1150" dirty="0"/>
          </a:p>
        </p:txBody>
      </p:sp>
      <p:sp>
        <p:nvSpPr>
          <p:cNvPr id="27" name="Text 25"/>
          <p:cNvSpPr/>
          <p:nvPr/>
        </p:nvSpPr>
        <p:spPr>
          <a:xfrm>
            <a:off x="6355080" y="4704588"/>
            <a:ext cx="4663440" cy="274320"/>
          </a:xfrm>
          <a:prstGeom prst="rect">
            <a:avLst/>
          </a:prstGeom>
          <a:noFill/>
          <a:ln/>
        </p:spPr>
        <p:txBody>
          <a:bodyPr wrap="square" lIns="0" tIns="0" rIns="0" bIns="0" rtlCol="0" anchor="ctr"/>
          <a:lstStyle/>
          <a:p>
            <a:pPr indent="0" marL="0">
              <a:buNone/>
            </a:pPr>
            <a:r>
              <a:rPr lang="en-US" sz="1000" b="1" spc="150" kern="0" dirty="0">
                <a:solidFill>
                  <a:srgbClr val="095D75"/>
                </a:solidFill>
                <a:latin typeface="Helvetica Neue" pitchFamily="34" charset="0"/>
                <a:ea typeface="Helvetica Neue" pitchFamily="34" charset="-122"/>
                <a:cs typeface="Helvetica Neue" pitchFamily="34" charset="-120"/>
              </a:rPr>
              <a:t>IF SOMETHING HAPPENS</a:t>
            </a:r>
            <a:endParaRPr lang="en-US" sz="1000" dirty="0"/>
          </a:p>
        </p:txBody>
      </p:sp>
      <p:sp>
        <p:nvSpPr>
          <p:cNvPr id="28" name="Text 26"/>
          <p:cNvSpPr/>
          <p:nvPr/>
        </p:nvSpPr>
        <p:spPr>
          <a:xfrm>
            <a:off x="6355080" y="4951476"/>
            <a:ext cx="4681728" cy="457200"/>
          </a:xfrm>
          <a:prstGeom prst="rect">
            <a:avLst/>
          </a:prstGeom>
          <a:noFill/>
          <a:ln/>
        </p:spPr>
        <p:txBody>
          <a:bodyPr wrap="square" lIns="0" tIns="0" rIns="0" bIns="0" rtlCol="0" anchor="ctr"/>
          <a:lstStyle/>
          <a:p>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Stop, speak up immediately, and tell the advisor. Small problems get reported too.</a:t>
            </a:r>
            <a:endParaRPr lang="en-US" sz="1150" dirty="0"/>
          </a:p>
        </p:txBody>
      </p:sp>
      <p:sp>
        <p:nvSpPr>
          <p:cNvPr id="29" name="Text 27"/>
          <p:cNvSpPr/>
          <p:nvPr/>
        </p:nvSpPr>
        <p:spPr>
          <a:xfrm>
            <a:off x="6355080" y="5413248"/>
            <a:ext cx="4663440" cy="274320"/>
          </a:xfrm>
          <a:prstGeom prst="rect">
            <a:avLst/>
          </a:prstGeom>
          <a:noFill/>
          <a:ln/>
        </p:spPr>
        <p:txBody>
          <a:bodyPr wrap="square" lIns="0" tIns="0" rIns="0" bIns="0" rtlCol="0" anchor="ctr"/>
          <a:lstStyle/>
          <a:p>
            <a:pPr indent="0" marL="0">
              <a:buNone/>
            </a:pPr>
            <a:r>
              <a:rPr lang="en-US" sz="1000" b="1" spc="150" kern="0" dirty="0">
                <a:solidFill>
                  <a:srgbClr val="095D75"/>
                </a:solidFill>
                <a:latin typeface="Helvetica Neue" pitchFamily="34" charset="0"/>
                <a:ea typeface="Helvetica Neue" pitchFamily="34" charset="-122"/>
                <a:cs typeface="Helvetica Neue" pitchFamily="34" charset="-120"/>
              </a:rPr>
              <a:t>LOOKING AHEAD</a:t>
            </a:r>
            <a:endParaRPr lang="en-US" sz="1000" dirty="0"/>
          </a:p>
        </p:txBody>
      </p:sp>
      <p:sp>
        <p:nvSpPr>
          <p:cNvPr id="30" name="Text 28"/>
          <p:cNvSpPr/>
          <p:nvPr/>
        </p:nvSpPr>
        <p:spPr>
          <a:xfrm>
            <a:off x="6355080" y="5660136"/>
            <a:ext cx="4681728" cy="457200"/>
          </a:xfrm>
          <a:prstGeom prst="rect">
            <a:avLst/>
          </a:prstGeom>
          <a:noFill/>
          <a:ln/>
        </p:spPr>
        <p:txBody>
          <a:bodyPr wrap="square" lIns="0" tIns="0" rIns="0" bIns="0" rtlCol="0" anchor="ctr"/>
          <a:lstStyle/>
          <a:p>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Soldering irons next week and pool sessions soon — the brief grows as the work does.</a:t>
            </a:r>
            <a:endParaRPr lang="en-US" sz="1150" dirty="0"/>
          </a:p>
        </p:txBody>
      </p:sp>
      <p:sp>
        <p:nvSpPr>
          <p:cNvPr id="31" name="Shape 29"/>
          <p:cNvSpPr/>
          <p:nvPr/>
        </p:nvSpPr>
        <p:spPr>
          <a:xfrm>
            <a:off x="822960" y="6437376"/>
            <a:ext cx="10545775" cy="0"/>
          </a:xfrm>
          <a:prstGeom prst="line">
            <a:avLst/>
          </a:prstGeom>
          <a:noFill/>
          <a:ln w="9525">
            <a:solidFill>
              <a:srgbClr val="E3E3E6"/>
            </a:solidFill>
            <a:prstDash val="solid"/>
          </a:ln>
        </p:spPr>
        <p:txBody>
          <a:bodyPr/>
          <a:p/>
        </p:txBody>
      </p:sp>
      <p:sp>
        <p:nvSpPr>
          <p:cNvPr id="32" name="Text 30"/>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33" name="Text 31"/>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5 / 29</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BFBFD"/>
        </a:solidFill>
      </p:bgPr>
    </p:bg>
    <p:spTree>
      <p:nvGrpSpPr>
        <p:cNvPr id="1" name=""/>
        <p:cNvGrpSpPr/>
        <p:nvPr/>
      </p:nvGrpSpPr>
      <p:grpSpPr>
        <a:xfrm>
          <a:off x="0" y="0"/>
          <a:ext cx="0" cy="0"/>
          <a:chOff x="0" y="0"/>
          <a:chExt cx="0" cy="0"/>
        </a:xfrm>
      </p:grpSpPr>
      <p:sp>
        <p:nvSpPr>
          <p:cNvPr id="2" name="Text 0"/>
          <p:cNvSpPr/>
          <p:nvPr/>
        </p:nvSpPr>
        <p:spPr>
          <a:xfrm>
            <a:off x="4572000" y="182880"/>
            <a:ext cx="7315200" cy="6492240"/>
          </a:xfrm>
          <a:prstGeom prst="rect">
            <a:avLst/>
          </a:prstGeom>
          <a:noFill/>
          <a:ln/>
        </p:spPr>
        <p:txBody>
          <a:bodyPr wrap="square" lIns="0" tIns="0" rIns="0" bIns="0" rtlCol="0" anchor="ctr"/>
          <a:lstStyle/>
          <a:p>
            <a:pPr algn="r" indent="0" marL="0">
              <a:buNone/>
            </a:pPr>
            <a:r>
              <a:rPr lang="en-US" sz="36000" b="1" dirty="0">
                <a:solidFill>
                  <a:srgbClr val="EEF0F1"/>
                </a:solidFill>
                <a:latin typeface="Helvetica Neue" pitchFamily="34" charset="0"/>
                <a:ea typeface="Helvetica Neue" pitchFamily="34" charset="-122"/>
                <a:cs typeface="Helvetica Neue" pitchFamily="34" charset="-120"/>
              </a:rPr>
              <a:t>02</a:t>
            </a:r>
            <a:endParaRPr lang="en-US" sz="36000" dirty="0"/>
          </a:p>
        </p:txBody>
      </p:sp>
      <p:sp>
        <p:nvSpPr>
          <p:cNvPr id="3" name="Shape 1"/>
          <p:cNvSpPr/>
          <p:nvPr/>
        </p:nvSpPr>
        <p:spPr>
          <a:xfrm>
            <a:off x="841248" y="2395728"/>
            <a:ext cx="566928" cy="91440"/>
          </a:xfrm>
          <a:prstGeom prst="rect">
            <a:avLst/>
          </a:prstGeom>
          <a:solidFill>
            <a:srgbClr val="0D7490"/>
          </a:solidFill>
          <a:ln/>
        </p:spPr>
        <p:txBody>
          <a:bodyPr/>
          <a:p/>
        </p:txBody>
      </p:sp>
      <p:sp>
        <p:nvSpPr>
          <p:cNvPr id="4" name="Text 2"/>
          <p:cNvSpPr/>
          <p:nvPr/>
        </p:nvSpPr>
        <p:spPr>
          <a:xfrm>
            <a:off x="822960" y="2615184"/>
            <a:ext cx="6400800" cy="310896"/>
          </a:xfrm>
          <a:prstGeom prst="rect">
            <a:avLst/>
          </a:prstGeom>
          <a:noFill/>
          <a:ln/>
        </p:spPr>
        <p:txBody>
          <a:bodyPr wrap="square" lIns="0" tIns="0" rIns="0" bIns="0" rtlCol="0" anchor="ctr"/>
          <a:lstStyle/>
          <a:p>
            <a:pPr indent="0" marL="0">
              <a:buNone/>
            </a:pPr>
            <a:r>
              <a:rPr lang="en-US" sz="1300" b="1" spc="250" kern="0" dirty="0">
                <a:solidFill>
                  <a:srgbClr val="0D7490"/>
                </a:solidFill>
                <a:latin typeface="Helvetica Neue" pitchFamily="34" charset="0"/>
                <a:ea typeface="Helvetica Neue" pitchFamily="34" charset="-122"/>
                <a:cs typeface="Helvetica Neue" pitchFamily="34" charset="-120"/>
              </a:rPr>
              <a:t>SECTION 02</a:t>
            </a:r>
            <a:endParaRPr lang="en-US" sz="1300" dirty="0"/>
          </a:p>
        </p:txBody>
      </p:sp>
      <p:sp>
        <p:nvSpPr>
          <p:cNvPr id="5" name="Text 3"/>
          <p:cNvSpPr/>
          <p:nvPr/>
        </p:nvSpPr>
        <p:spPr>
          <a:xfrm>
            <a:off x="786384" y="2926080"/>
            <a:ext cx="6949440" cy="1371600"/>
          </a:xfrm>
          <a:prstGeom prst="rect">
            <a:avLst/>
          </a:prstGeom>
          <a:noFill/>
          <a:ln/>
        </p:spPr>
        <p:txBody>
          <a:bodyPr wrap="square" lIns="0" tIns="0" rIns="0" bIns="0" rtlCol="0" anchor="ctr"/>
          <a:lstStyle/>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What We're</a:t>
            </a:r>
            <a:endParaRPr lang="en-US" sz="4000" dirty="0"/>
          </a:p>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Joining</a:t>
            </a:r>
            <a:endParaRPr lang="en-US" sz="4000" dirty="0"/>
          </a:p>
        </p:txBody>
      </p:sp>
      <p:sp>
        <p:nvSpPr>
          <p:cNvPr id="6" name="Shape 4"/>
          <p:cNvSpPr/>
          <p:nvPr/>
        </p:nvSpPr>
        <p:spPr>
          <a:xfrm>
            <a:off x="841248" y="4370832"/>
            <a:ext cx="2971800" cy="420624"/>
          </a:xfrm>
          <a:prstGeom prst="roundRect">
            <a:avLst>
              <a:gd name="adj" fmla="val 50000"/>
            </a:avLst>
          </a:prstGeom>
          <a:solidFill>
            <a:srgbClr val="0D7490"/>
          </a:solidFill>
          <a:ln/>
        </p:spPr>
        <p:txBody>
          <a:bodyPr/>
          <a:p/>
        </p:txBody>
      </p:sp>
      <p:sp>
        <p:nvSpPr>
          <p:cNvPr id="7" name="Text 5"/>
          <p:cNvSpPr/>
          <p:nvPr/>
        </p:nvSpPr>
        <p:spPr>
          <a:xfrm>
            <a:off x="841248" y="4370832"/>
            <a:ext cx="2971800" cy="420624"/>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Helvetica Neue" pitchFamily="34" charset="0"/>
                <a:ea typeface="Helvetica Neue" pitchFamily="34" charset="-122"/>
                <a:cs typeface="Helvetica Neue" pitchFamily="34" charset="-120"/>
              </a:rPr>
              <a:t>0:15 – 0:45   ·   30 MIN</a:t>
            </a:r>
            <a:endParaRPr lang="en-US" sz="1050" dirty="0"/>
          </a:p>
        </p:txBody>
      </p:sp>
      <p:sp>
        <p:nvSpPr>
          <p:cNvPr id="8" name="Text 6"/>
          <p:cNvSpPr/>
          <p:nvPr/>
        </p:nvSpPr>
        <p:spPr>
          <a:xfrm>
            <a:off x="841248" y="5029200"/>
            <a:ext cx="6126480" cy="1005840"/>
          </a:xfrm>
          <a:prstGeom prst="rect">
            <a:avLst/>
          </a:prstGeom>
          <a:noFill/>
          <a:ln/>
        </p:spPr>
        <p:txBody>
          <a:bodyPr wrap="square" lIns="0" tIns="0" rIns="0" bIns="0" rtlCol="0" anchor="ctr"/>
          <a:lstStyle/>
          <a:p>
            <a:pPr indent="0" marL="0">
              <a:lnSpc>
                <a:spcPts val="2200"/>
              </a:lnSpc>
              <a:buNone/>
            </a:pPr>
            <a:r>
              <a:rPr lang="en-US" sz="1500" i="1" dirty="0">
                <a:solidFill>
                  <a:srgbClr val="6E6E73"/>
                </a:solidFill>
                <a:latin typeface="Helvetica Neue" pitchFamily="34" charset="0"/>
                <a:ea typeface="Helvetica Neue" pitchFamily="34" charset="-122"/>
                <a:cs typeface="Helvetica Neue" pitchFamily="34" charset="-120"/>
              </a:rPr>
              <a:t>Before we build anything, the team should know exactly what it has signed up for.</a:t>
            </a:r>
            <a:endParaRPr lang="en-US" sz="1500" dirty="0"/>
          </a:p>
        </p:txBody>
      </p:sp>
      <p:sp>
        <p:nvSpPr>
          <p:cNvPr id="9" name="Shape 7"/>
          <p:cNvSpPr/>
          <p:nvPr/>
        </p:nvSpPr>
        <p:spPr>
          <a:xfrm>
            <a:off x="822960" y="6437376"/>
            <a:ext cx="10545775" cy="0"/>
          </a:xfrm>
          <a:prstGeom prst="line">
            <a:avLst/>
          </a:prstGeom>
          <a:noFill/>
          <a:ln w="9525">
            <a:solidFill>
              <a:srgbClr val="E3E3E6"/>
            </a:solidFill>
            <a:prstDash val="solid"/>
          </a:ln>
        </p:spPr>
        <p:txBody>
          <a:bodyPr/>
          <a:p/>
        </p:txBody>
      </p:sp>
      <p:sp>
        <p:nvSpPr>
          <p:cNvPr id="10" name="Text 8"/>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1" name="Text 9"/>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6 / 29</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WHAT WE'RE JOINING</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The MATE ROV Competition.</a:t>
            </a:r>
            <a:endParaRPr lang="en-US" sz="3000" dirty="0"/>
          </a:p>
        </p:txBody>
      </p:sp>
      <p:sp>
        <p:nvSpPr>
          <p:cNvPr id="4" name="Text 2"/>
          <p:cNvSpPr/>
          <p:nvPr/>
        </p:nvSpPr>
        <p:spPr>
          <a:xfrm>
            <a:off x="822960" y="1828800"/>
            <a:ext cx="5669280" cy="1737360"/>
          </a:xfrm>
          <a:prstGeom prst="rect">
            <a:avLst/>
          </a:prstGeom>
          <a:noFill/>
          <a:ln/>
        </p:spPr>
        <p:txBody>
          <a:bodyPr wrap="square" lIns="0" tIns="0" rIns="0" bIns="0" rtlCol="0" anchor="ctr"/>
          <a:lstStyle/>
          <a:p>
            <a:pPr indent="0" marL="0">
              <a:lnSpc>
                <a:spcPts val="2300"/>
              </a:lnSpc>
              <a:buNone/>
            </a:pPr>
            <a:r>
              <a:rPr lang="en-US" sz="1500" dirty="0">
                <a:solidFill>
                  <a:srgbClr val="6E6E73"/>
                </a:solidFill>
                <a:latin typeface="Helvetica Neue" pitchFamily="34" charset="0"/>
                <a:ea typeface="Helvetica Neue" pitchFamily="34" charset="-122"/>
                <a:cs typeface="Helvetica Neue" pitchFamily="34" charset="-120"/>
              </a:rPr>
              <a:t>MATE stands for Marine Advanced Technology Education. The MATE ROV Competition is an international contest in which student teams design and build a remotely operated vehicle — an underwater robot — and pilot it through a set of real ocean-industry missions.</a:t>
            </a:r>
            <a:endParaRPr lang="en-US" sz="1500" dirty="0"/>
          </a:p>
        </p:txBody>
      </p:sp>
      <p:sp>
        <p:nvSpPr>
          <p:cNvPr id="5" name="Text 3"/>
          <p:cNvSpPr/>
          <p:nvPr/>
        </p:nvSpPr>
        <p:spPr>
          <a:xfrm>
            <a:off x="822960" y="3611880"/>
            <a:ext cx="5669280" cy="1554480"/>
          </a:xfrm>
          <a:prstGeom prst="rect">
            <a:avLst/>
          </a:prstGeom>
          <a:noFill/>
          <a:ln/>
        </p:spPr>
        <p:txBody>
          <a:bodyPr wrap="square" lIns="0" tIns="0" rIns="0" bIns="0" rtlCol="0" anchor="ctr"/>
          <a:lstStyle/>
          <a:p>
            <a:pPr indent="0" marL="0">
              <a:lnSpc>
                <a:spcPts val="2300"/>
              </a:lnSpc>
              <a:buNone/>
            </a:pPr>
            <a:r>
              <a:rPr lang="en-US" sz="1500" dirty="0">
                <a:solidFill>
                  <a:srgbClr val="6E6E73"/>
                </a:solidFill>
                <a:latin typeface="Helvetica Neue" pitchFamily="34" charset="0"/>
                <a:ea typeface="Helvetica Neue" pitchFamily="34" charset="-122"/>
                <a:cs typeface="Helvetica Neue" pitchFamily="34" charset="-120"/>
              </a:rPr>
              <a:t>The mission tasks are not made up. Each year they mirror real work being done in ocean observation, renewable energy, and keeping waterways healthy. We are practicing the actual job, scaled to a pool.</a:t>
            </a:r>
            <a:endParaRPr lang="en-US" sz="1500" dirty="0"/>
          </a:p>
        </p:txBody>
      </p:sp>
      <p:sp>
        <p:nvSpPr>
          <p:cNvPr id="6" name="Text 4"/>
          <p:cNvSpPr/>
          <p:nvPr/>
        </p:nvSpPr>
        <p:spPr>
          <a:xfrm>
            <a:off x="822960" y="5212080"/>
            <a:ext cx="5669280" cy="640080"/>
          </a:xfrm>
          <a:prstGeom prst="rect">
            <a:avLst/>
          </a:prstGeom>
          <a:noFill/>
          <a:ln/>
        </p:spPr>
        <p:txBody>
          <a:bodyPr wrap="square" lIns="0" tIns="0" rIns="0" bIns="0" rtlCol="0" anchor="ctr"/>
          <a:lstStyle/>
          <a:p>
            <a:pPr indent="0" marL="0">
              <a:lnSpc>
                <a:spcPts val="2000"/>
              </a:lnSpc>
              <a:buNone/>
            </a:pPr>
            <a:r>
              <a:rPr lang="en-US" sz="1400" b="1" dirty="0">
                <a:solidFill>
                  <a:srgbClr val="1D1D1F"/>
                </a:solidFill>
                <a:latin typeface="Helvetica Neue" pitchFamily="34" charset="0"/>
                <a:ea typeface="Helvetica Neue" pitchFamily="34" charset="-122"/>
                <a:cs typeface="Helvetica Neue" pitchFamily="34" charset="-120"/>
              </a:rPr>
              <a:t>Teams advance from a regional contest toward the MATE World Championship.</a:t>
            </a:r>
            <a:endParaRPr lang="en-US" sz="1400" dirty="0"/>
          </a:p>
        </p:txBody>
      </p:sp>
      <p:sp>
        <p:nvSpPr>
          <p:cNvPr id="7" name="Shape 5"/>
          <p:cNvSpPr/>
          <p:nvPr/>
        </p:nvSpPr>
        <p:spPr>
          <a:xfrm>
            <a:off x="6858000" y="1828800"/>
            <a:ext cx="4507992" cy="4160520"/>
          </a:xfrm>
          <a:prstGeom prst="roundRect">
            <a:avLst>
              <a:gd name="adj" fmla="val 2418"/>
            </a:avLst>
          </a:prstGeom>
          <a:solidFill>
            <a:srgbClr val="095D75"/>
          </a:solidFill>
          <a:ln w="12700">
            <a:solidFill>
              <a:srgbClr val="095D75"/>
            </a:solidFill>
            <a:prstDash val="solid"/>
          </a:ln>
        </p:spPr>
        <p:txBody>
          <a:bodyPr/>
          <a:p/>
        </p:txBody>
      </p:sp>
      <p:sp>
        <p:nvSpPr>
          <p:cNvPr id="8" name="Text 6"/>
          <p:cNvSpPr/>
          <p:nvPr/>
        </p:nvSpPr>
        <p:spPr>
          <a:xfrm>
            <a:off x="7223760" y="2212848"/>
            <a:ext cx="3840480" cy="274320"/>
          </a:xfrm>
          <a:prstGeom prst="rect">
            <a:avLst/>
          </a:prstGeom>
          <a:noFill/>
          <a:ln/>
        </p:spPr>
        <p:txBody>
          <a:bodyPr wrap="square" lIns="0" tIns="0" rIns="0" bIns="0" rtlCol="0" anchor="ctr"/>
          <a:lstStyle/>
          <a:p>
            <a:pPr indent="0" marL="0">
              <a:buNone/>
            </a:pPr>
            <a:r>
              <a:rPr lang="en-US" sz="1050" b="1" spc="200" kern="0" dirty="0">
                <a:solidFill>
                  <a:srgbClr val="9FCEDA"/>
                </a:solidFill>
                <a:latin typeface="Helvetica Neue" pitchFamily="34" charset="0"/>
                <a:ea typeface="Helvetica Neue" pitchFamily="34" charset="-122"/>
                <a:cs typeface="Helvetica Neue" pitchFamily="34" charset="-120"/>
              </a:rPr>
              <a:t>IN ONE SENTENCE</a:t>
            </a:r>
            <a:endParaRPr lang="en-US" sz="1050" dirty="0"/>
          </a:p>
        </p:txBody>
      </p:sp>
      <p:sp>
        <p:nvSpPr>
          <p:cNvPr id="9" name="Text 7"/>
          <p:cNvSpPr/>
          <p:nvPr/>
        </p:nvSpPr>
        <p:spPr>
          <a:xfrm>
            <a:off x="7223760" y="2578608"/>
            <a:ext cx="3794760" cy="2103120"/>
          </a:xfrm>
          <a:prstGeom prst="rect">
            <a:avLst/>
          </a:prstGeom>
          <a:noFill/>
          <a:ln/>
        </p:spPr>
        <p:txBody>
          <a:bodyPr wrap="square" lIns="0" tIns="0" rIns="0" bIns="0" rtlCol="0" anchor="ctr"/>
          <a:lstStyle/>
          <a:p>
            <a:pPr indent="0" marL="0">
              <a:lnSpc>
                <a:spcPts val="2700"/>
              </a:lnSpc>
              <a:buNone/>
            </a:pPr>
            <a:r>
              <a:rPr lang="en-US" sz="2100" b="1" dirty="0">
                <a:solidFill>
                  <a:srgbClr val="FFFFFF"/>
                </a:solidFill>
                <a:latin typeface="Helvetica Neue" pitchFamily="34" charset="0"/>
                <a:ea typeface="Helvetica Neue" pitchFamily="34" charset="-122"/>
                <a:cs typeface="Helvetica Neue" pitchFamily="34" charset="-120"/>
              </a:rPr>
              <a:t>Design and build an underwater robot — then prove it on real ocean missions.</a:t>
            </a:r>
            <a:endParaRPr lang="en-US" sz="2100" dirty="0"/>
          </a:p>
        </p:txBody>
      </p:sp>
      <p:sp>
        <p:nvSpPr>
          <p:cNvPr id="10" name="Shape 8"/>
          <p:cNvSpPr/>
          <p:nvPr/>
        </p:nvSpPr>
        <p:spPr>
          <a:xfrm>
            <a:off x="7223760" y="4617720"/>
            <a:ext cx="3776472" cy="0"/>
          </a:xfrm>
          <a:prstGeom prst="line">
            <a:avLst/>
          </a:prstGeom>
          <a:noFill/>
          <a:ln w="12700">
            <a:solidFill>
              <a:srgbClr val="3E7E91"/>
            </a:solidFill>
            <a:prstDash val="solid"/>
          </a:ln>
        </p:spPr>
        <p:txBody>
          <a:bodyPr/>
          <a:p/>
        </p:txBody>
      </p:sp>
      <p:sp>
        <p:nvSpPr>
          <p:cNvPr id="11" name="Text 9"/>
          <p:cNvSpPr/>
          <p:nvPr/>
        </p:nvSpPr>
        <p:spPr>
          <a:xfrm>
            <a:off x="7223760" y="4800600"/>
            <a:ext cx="3794760" cy="292608"/>
          </a:xfrm>
          <a:prstGeom prst="rect">
            <a:avLst/>
          </a:prstGeom>
          <a:noFill/>
          <a:ln/>
        </p:spPr>
        <p:txBody>
          <a:bodyPr wrap="square" lIns="0" tIns="0" rIns="0" bIns="0" rtlCol="0" anchor="ctr"/>
          <a:lstStyle/>
          <a:p>
            <a:pPr indent="0" marL="0">
              <a:buNone/>
            </a:pPr>
            <a:r>
              <a:rPr lang="en-US" sz="1200" dirty="0">
                <a:solidFill>
                  <a:srgbClr val="9FCEDA"/>
                </a:solidFill>
                <a:latin typeface="Helvetica Neue" pitchFamily="34" charset="0"/>
                <a:ea typeface="Helvetica Neue" pitchFamily="34" charset="-122"/>
                <a:cs typeface="Helvetica Neue" pitchFamily="34" charset="-120"/>
              </a:rPr>
              <a:t>materovcompetition.org</a:t>
            </a:r>
            <a:endParaRPr lang="en-US" sz="1200" dirty="0"/>
          </a:p>
        </p:txBody>
      </p:sp>
      <p:sp>
        <p:nvSpPr>
          <p:cNvPr id="12" name="Text 10"/>
          <p:cNvSpPr/>
          <p:nvPr/>
        </p:nvSpPr>
        <p:spPr>
          <a:xfrm>
            <a:off x="7223760" y="5084064"/>
            <a:ext cx="3794760" cy="731520"/>
          </a:xfrm>
          <a:prstGeom prst="rect">
            <a:avLst/>
          </a:prstGeom>
          <a:noFill/>
          <a:ln/>
        </p:spPr>
        <p:txBody>
          <a:bodyPr wrap="square" lIns="0" tIns="0" rIns="0" bIns="0" rtlCol="0" anchor="ctr"/>
          <a:lstStyle/>
          <a:p>
            <a:pPr indent="0" marL="0">
              <a:lnSpc>
                <a:spcPts val="1500"/>
              </a:lnSpc>
              <a:buNone/>
            </a:pPr>
            <a:r>
              <a:rPr lang="en-US" sz="1100" dirty="0">
                <a:solidFill>
                  <a:srgbClr val="C9E3EA"/>
                </a:solidFill>
                <a:latin typeface="Helvetica Neue" pitchFamily="34" charset="0"/>
                <a:ea typeface="Helvetica Neue" pitchFamily="34" charset="-122"/>
                <a:cs typeface="Helvetica Neue" pitchFamily="34" charset="-120"/>
              </a:rPr>
              <a:t>The official site — manuals, rules, and the mission specs we will live inside all season.</a:t>
            </a:r>
            <a:endParaRPr lang="en-US" sz="1100" dirty="0"/>
          </a:p>
        </p:txBody>
      </p:sp>
      <p:sp>
        <p:nvSpPr>
          <p:cNvPr id="13" name="Shape 11"/>
          <p:cNvSpPr/>
          <p:nvPr/>
        </p:nvSpPr>
        <p:spPr>
          <a:xfrm>
            <a:off x="822960" y="6437376"/>
            <a:ext cx="10545775" cy="0"/>
          </a:xfrm>
          <a:prstGeom prst="line">
            <a:avLst/>
          </a:prstGeom>
          <a:noFill/>
          <a:ln w="9525">
            <a:solidFill>
              <a:srgbClr val="E3E3E6"/>
            </a:solidFill>
            <a:prstDash val="solid"/>
          </a:ln>
        </p:spPr>
        <p:txBody>
          <a:bodyPr/>
          <a:p/>
        </p:txBody>
      </p:sp>
      <p:sp>
        <p:nvSpPr>
          <p:cNvPr id="14" name="Text 12"/>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5" name="Text 13"/>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7 / 29</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WHAT WE'RE JOINING</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Our division: the RANGER class.</a:t>
            </a:r>
            <a:endParaRPr lang="en-US" sz="3000" dirty="0"/>
          </a:p>
        </p:txBody>
      </p:sp>
      <p:sp>
        <p:nvSpPr>
          <p:cNvPr id="4" name="Text 2"/>
          <p:cNvSpPr/>
          <p:nvPr/>
        </p:nvSpPr>
        <p:spPr>
          <a:xfrm>
            <a:off x="822960" y="1783080"/>
            <a:ext cx="10515600" cy="868680"/>
          </a:xfrm>
          <a:prstGeom prst="rect">
            <a:avLst/>
          </a:prstGeom>
          <a:noFill/>
          <a:ln/>
        </p:spPr>
        <p:txBody>
          <a:bodyPr wrap="square" lIns="0" tIns="0" rIns="0" bIns="0" rtlCol="0" anchor="ctr"/>
          <a:lstStyle/>
          <a:p>
            <a:pPr indent="0" marL="0">
              <a:lnSpc>
                <a:spcPts val="2200"/>
              </a:lnSpc>
              <a:buNone/>
            </a:pPr>
            <a:r>
              <a:rPr lang="en-US" sz="1500" dirty="0">
                <a:solidFill>
                  <a:srgbClr val="6E6E73"/>
                </a:solidFill>
                <a:latin typeface="Helvetica Neue" pitchFamily="34" charset="0"/>
                <a:ea typeface="Helvetica Neue" pitchFamily="34" charset="-122"/>
                <a:cs typeface="Helvetica Neue" pitchFamily="34" charset="-120"/>
              </a:rPr>
              <a:t>MATE runs several competition classes. RANGER is the class built for new and intermediate teams — that is us. And RANGER asks for far more than a robot. Five deliverables, one season.</a:t>
            </a:r>
            <a:endParaRPr lang="en-US" sz="1500" dirty="0"/>
          </a:p>
        </p:txBody>
      </p:sp>
      <p:sp>
        <p:nvSpPr>
          <p:cNvPr id="5" name="Shape 3"/>
          <p:cNvSpPr/>
          <p:nvPr/>
        </p:nvSpPr>
        <p:spPr>
          <a:xfrm>
            <a:off x="822960" y="2880360"/>
            <a:ext cx="1993392" cy="2971800"/>
          </a:xfrm>
          <a:prstGeom prst="roundRect">
            <a:avLst>
              <a:gd name="adj" fmla="val 5046"/>
            </a:avLst>
          </a:prstGeom>
          <a:solidFill>
            <a:srgbClr val="FBFBFD"/>
          </a:solidFill>
          <a:ln w="12700">
            <a:solidFill>
              <a:srgbClr val="E3E3E6"/>
            </a:solidFill>
            <a:prstDash val="solid"/>
          </a:ln>
        </p:spPr>
        <p:txBody>
          <a:bodyPr/>
          <a:p/>
        </p:txBody>
      </p:sp>
      <p:sp>
        <p:nvSpPr>
          <p:cNvPr id="6" name="Shape 4"/>
          <p:cNvSpPr/>
          <p:nvPr/>
        </p:nvSpPr>
        <p:spPr>
          <a:xfrm>
            <a:off x="1078992" y="3154680"/>
            <a:ext cx="420624" cy="420624"/>
          </a:xfrm>
          <a:prstGeom prst="ellipse">
            <a:avLst/>
          </a:prstGeom>
          <a:solidFill>
            <a:srgbClr val="EAF2F4"/>
          </a:solidFill>
          <a:ln/>
        </p:spPr>
        <p:txBody>
          <a:bodyPr/>
          <a:p/>
        </p:txBody>
      </p:sp>
      <p:sp>
        <p:nvSpPr>
          <p:cNvPr id="7" name="Text 5"/>
          <p:cNvSpPr/>
          <p:nvPr/>
        </p:nvSpPr>
        <p:spPr>
          <a:xfrm>
            <a:off x="1078992" y="3154680"/>
            <a:ext cx="420624" cy="420624"/>
          </a:xfrm>
          <a:prstGeom prst="rect">
            <a:avLst/>
          </a:prstGeom>
          <a:noFill/>
          <a:ln/>
        </p:spPr>
        <p:txBody>
          <a:bodyPr wrap="square" lIns="0" tIns="0" rIns="0" bIns="0" rtlCol="0" anchor="ctr"/>
          <a:lstStyle/>
          <a:p>
            <a:pPr algn="ctr" indent="0" marL="0">
              <a:buNone/>
            </a:pPr>
            <a:r>
              <a:rPr lang="en-US" sz="1288" b="1" dirty="0">
                <a:solidFill>
                  <a:srgbClr val="0D7490"/>
                </a:solidFill>
                <a:latin typeface="Helvetica Neue" pitchFamily="34" charset="0"/>
                <a:ea typeface="Helvetica Neue" pitchFamily="34" charset="-122"/>
                <a:cs typeface="Helvetica Neue" pitchFamily="34" charset="-120"/>
              </a:rPr>
              <a:t>1</a:t>
            </a:r>
            <a:endParaRPr lang="en-US" sz="1288" dirty="0"/>
          </a:p>
        </p:txBody>
      </p:sp>
      <p:sp>
        <p:nvSpPr>
          <p:cNvPr id="8" name="Text 6"/>
          <p:cNvSpPr/>
          <p:nvPr/>
        </p:nvSpPr>
        <p:spPr>
          <a:xfrm>
            <a:off x="1060704" y="3721608"/>
            <a:ext cx="1536192" cy="713232"/>
          </a:xfrm>
          <a:prstGeom prst="rect">
            <a:avLst/>
          </a:prstGeom>
          <a:noFill/>
          <a:ln/>
        </p:spPr>
        <p:txBody>
          <a:bodyPr wrap="square" lIns="0" tIns="0" rIns="0" bIns="0" rtlCol="0" anchor="ctr"/>
          <a:lstStyle/>
          <a:p>
            <a:pPr indent="0" marL="0">
              <a:lnSpc>
                <a:spcPts val="1700"/>
              </a:lnSpc>
              <a:buNone/>
            </a:pPr>
            <a:r>
              <a:rPr lang="en-US" sz="1400" b="1" dirty="0">
                <a:solidFill>
                  <a:srgbClr val="1D1D1F"/>
                </a:solidFill>
                <a:latin typeface="Helvetica Neue" pitchFamily="34" charset="0"/>
                <a:ea typeface="Helvetica Neue" pitchFamily="34" charset="-122"/>
                <a:cs typeface="Helvetica Neue" pitchFamily="34" charset="-120"/>
              </a:rPr>
              <a:t>The ROV</a:t>
            </a:r>
            <a:endParaRPr lang="en-US" sz="1400" dirty="0"/>
          </a:p>
        </p:txBody>
      </p:sp>
      <p:sp>
        <p:nvSpPr>
          <p:cNvPr id="9" name="Text 7"/>
          <p:cNvSpPr/>
          <p:nvPr/>
        </p:nvSpPr>
        <p:spPr>
          <a:xfrm>
            <a:off x="1060704" y="4361688"/>
            <a:ext cx="1536192" cy="1371600"/>
          </a:xfrm>
          <a:prstGeom prst="rect">
            <a:avLst/>
          </a:prstGeom>
          <a:noFill/>
          <a:ln/>
        </p:spPr>
        <p:txBody>
          <a:bodyPr wrap="square" lIns="0" tIns="0" rIns="0" bIns="0" rtlCol="0" anchor="ctr"/>
          <a:lstStyle/>
          <a:p>
            <a:pPr indent="0" marL="0">
              <a:lnSpc>
                <a:spcPts val="1400"/>
              </a:lnSpc>
              <a:buNone/>
            </a:pPr>
            <a:r>
              <a:rPr lang="en-US" sz="1050" dirty="0">
                <a:solidFill>
                  <a:srgbClr val="6E6E73"/>
                </a:solidFill>
                <a:latin typeface="Helvetica Neue" pitchFamily="34" charset="0"/>
                <a:ea typeface="Helvetica Neue" pitchFamily="34" charset="-122"/>
                <a:cs typeface="Helvetica Neue" pitchFamily="34" charset="-120"/>
              </a:rPr>
              <a:t>The underwater robot itself — piloted on a tether to run the mission tasks.</a:t>
            </a:r>
            <a:endParaRPr lang="en-US" sz="1050" dirty="0"/>
          </a:p>
        </p:txBody>
      </p:sp>
      <p:sp>
        <p:nvSpPr>
          <p:cNvPr id="10" name="Shape 8"/>
          <p:cNvSpPr/>
          <p:nvPr/>
        </p:nvSpPr>
        <p:spPr>
          <a:xfrm>
            <a:off x="2967228" y="2880360"/>
            <a:ext cx="1993392" cy="2971800"/>
          </a:xfrm>
          <a:prstGeom prst="roundRect">
            <a:avLst>
              <a:gd name="adj" fmla="val 5046"/>
            </a:avLst>
          </a:prstGeom>
          <a:solidFill>
            <a:srgbClr val="FBFBFD"/>
          </a:solidFill>
          <a:ln w="12700">
            <a:solidFill>
              <a:srgbClr val="E3E3E6"/>
            </a:solidFill>
            <a:prstDash val="solid"/>
          </a:ln>
        </p:spPr>
        <p:txBody>
          <a:bodyPr/>
          <a:p/>
        </p:txBody>
      </p:sp>
      <p:sp>
        <p:nvSpPr>
          <p:cNvPr id="11" name="Shape 9"/>
          <p:cNvSpPr/>
          <p:nvPr/>
        </p:nvSpPr>
        <p:spPr>
          <a:xfrm>
            <a:off x="3223260" y="3154680"/>
            <a:ext cx="420624" cy="420624"/>
          </a:xfrm>
          <a:prstGeom prst="ellipse">
            <a:avLst/>
          </a:prstGeom>
          <a:solidFill>
            <a:srgbClr val="EAF2F4"/>
          </a:solidFill>
          <a:ln/>
        </p:spPr>
        <p:txBody>
          <a:bodyPr/>
          <a:p/>
        </p:txBody>
      </p:sp>
      <p:sp>
        <p:nvSpPr>
          <p:cNvPr id="12" name="Text 10"/>
          <p:cNvSpPr/>
          <p:nvPr/>
        </p:nvSpPr>
        <p:spPr>
          <a:xfrm>
            <a:off x="3223260" y="3154680"/>
            <a:ext cx="420624" cy="420624"/>
          </a:xfrm>
          <a:prstGeom prst="rect">
            <a:avLst/>
          </a:prstGeom>
          <a:noFill/>
          <a:ln/>
        </p:spPr>
        <p:txBody>
          <a:bodyPr wrap="square" lIns="0" tIns="0" rIns="0" bIns="0" rtlCol="0" anchor="ctr"/>
          <a:lstStyle/>
          <a:p>
            <a:pPr algn="ctr" indent="0" marL="0">
              <a:buNone/>
            </a:pPr>
            <a:r>
              <a:rPr lang="en-US" sz="1288" b="1" dirty="0">
                <a:solidFill>
                  <a:srgbClr val="0D7490"/>
                </a:solidFill>
                <a:latin typeface="Helvetica Neue" pitchFamily="34" charset="0"/>
                <a:ea typeface="Helvetica Neue" pitchFamily="34" charset="-122"/>
                <a:cs typeface="Helvetica Neue" pitchFamily="34" charset="-120"/>
              </a:rPr>
              <a:t>2</a:t>
            </a:r>
            <a:endParaRPr lang="en-US" sz="1288" dirty="0"/>
          </a:p>
        </p:txBody>
      </p:sp>
      <p:sp>
        <p:nvSpPr>
          <p:cNvPr id="13" name="Text 11"/>
          <p:cNvSpPr/>
          <p:nvPr/>
        </p:nvSpPr>
        <p:spPr>
          <a:xfrm>
            <a:off x="3204972" y="3721608"/>
            <a:ext cx="1536192" cy="713232"/>
          </a:xfrm>
          <a:prstGeom prst="rect">
            <a:avLst/>
          </a:prstGeom>
          <a:noFill/>
          <a:ln/>
        </p:spPr>
        <p:txBody>
          <a:bodyPr wrap="square" lIns="0" tIns="0" rIns="0" bIns="0" rtlCol="0" anchor="ctr"/>
          <a:lstStyle/>
          <a:p>
            <a:pPr indent="0" marL="0">
              <a:lnSpc>
                <a:spcPts val="1700"/>
              </a:lnSpc>
              <a:buNone/>
            </a:pPr>
            <a:r>
              <a:rPr lang="en-US" sz="1400" b="1" dirty="0">
                <a:solidFill>
                  <a:srgbClr val="1D1D1F"/>
                </a:solidFill>
                <a:latin typeface="Helvetica Neue" pitchFamily="34" charset="0"/>
                <a:ea typeface="Helvetica Neue" pitchFamily="34" charset="-122"/>
                <a:cs typeface="Helvetica Neue" pitchFamily="34" charset="-120"/>
              </a:rPr>
              <a:t>A profiling float</a:t>
            </a:r>
            <a:endParaRPr lang="en-US" sz="1400" dirty="0"/>
          </a:p>
        </p:txBody>
      </p:sp>
      <p:sp>
        <p:nvSpPr>
          <p:cNvPr id="14" name="Text 12"/>
          <p:cNvSpPr/>
          <p:nvPr/>
        </p:nvSpPr>
        <p:spPr>
          <a:xfrm>
            <a:off x="3204972" y="4361688"/>
            <a:ext cx="1536192" cy="1371600"/>
          </a:xfrm>
          <a:prstGeom prst="rect">
            <a:avLst/>
          </a:prstGeom>
          <a:noFill/>
          <a:ln/>
        </p:spPr>
        <p:txBody>
          <a:bodyPr wrap="square" lIns="0" tIns="0" rIns="0" bIns="0" rtlCol="0" anchor="ctr"/>
          <a:lstStyle/>
          <a:p>
            <a:pPr indent="0" marL="0">
              <a:lnSpc>
                <a:spcPts val="1400"/>
              </a:lnSpc>
              <a:buNone/>
            </a:pPr>
            <a:r>
              <a:rPr lang="en-US" sz="1050" dirty="0">
                <a:solidFill>
                  <a:srgbClr val="6E6E73"/>
                </a:solidFill>
                <a:latin typeface="Helvetica Neue" pitchFamily="34" charset="0"/>
                <a:ea typeface="Helvetica Neue" pitchFamily="34" charset="-122"/>
                <a:cs typeface="Helvetica Neue" pitchFamily="34" charset="-120"/>
              </a:rPr>
              <a:t>A second, untethered device that sinks and rises on its own, reporting depth.</a:t>
            </a:r>
            <a:endParaRPr lang="en-US" sz="1050" dirty="0"/>
          </a:p>
        </p:txBody>
      </p:sp>
      <p:sp>
        <p:nvSpPr>
          <p:cNvPr id="15" name="Shape 13"/>
          <p:cNvSpPr/>
          <p:nvPr/>
        </p:nvSpPr>
        <p:spPr>
          <a:xfrm>
            <a:off x="5111496" y="2880360"/>
            <a:ext cx="1993392" cy="2971800"/>
          </a:xfrm>
          <a:prstGeom prst="roundRect">
            <a:avLst>
              <a:gd name="adj" fmla="val 5046"/>
            </a:avLst>
          </a:prstGeom>
          <a:solidFill>
            <a:srgbClr val="FBFBFD"/>
          </a:solidFill>
          <a:ln w="12700">
            <a:solidFill>
              <a:srgbClr val="E3E3E6"/>
            </a:solidFill>
            <a:prstDash val="solid"/>
          </a:ln>
        </p:spPr>
        <p:txBody>
          <a:bodyPr/>
          <a:p/>
        </p:txBody>
      </p:sp>
      <p:sp>
        <p:nvSpPr>
          <p:cNvPr id="16" name="Shape 14"/>
          <p:cNvSpPr/>
          <p:nvPr/>
        </p:nvSpPr>
        <p:spPr>
          <a:xfrm>
            <a:off x="5367528" y="3154680"/>
            <a:ext cx="420624" cy="420624"/>
          </a:xfrm>
          <a:prstGeom prst="ellipse">
            <a:avLst/>
          </a:prstGeom>
          <a:solidFill>
            <a:srgbClr val="EAF2F4"/>
          </a:solidFill>
          <a:ln/>
        </p:spPr>
        <p:txBody>
          <a:bodyPr/>
          <a:p/>
        </p:txBody>
      </p:sp>
      <p:sp>
        <p:nvSpPr>
          <p:cNvPr id="17" name="Text 15"/>
          <p:cNvSpPr/>
          <p:nvPr/>
        </p:nvSpPr>
        <p:spPr>
          <a:xfrm>
            <a:off x="5367528" y="3154680"/>
            <a:ext cx="420624" cy="420624"/>
          </a:xfrm>
          <a:prstGeom prst="rect">
            <a:avLst/>
          </a:prstGeom>
          <a:noFill/>
          <a:ln/>
        </p:spPr>
        <p:txBody>
          <a:bodyPr wrap="square" lIns="0" tIns="0" rIns="0" bIns="0" rtlCol="0" anchor="ctr"/>
          <a:lstStyle/>
          <a:p>
            <a:pPr algn="ctr" indent="0" marL="0">
              <a:buNone/>
            </a:pPr>
            <a:r>
              <a:rPr lang="en-US" sz="1288" b="1" dirty="0">
                <a:solidFill>
                  <a:srgbClr val="0D7490"/>
                </a:solidFill>
                <a:latin typeface="Helvetica Neue" pitchFamily="34" charset="0"/>
                <a:ea typeface="Helvetica Neue" pitchFamily="34" charset="-122"/>
                <a:cs typeface="Helvetica Neue" pitchFamily="34" charset="-120"/>
              </a:rPr>
              <a:t>3</a:t>
            </a:r>
            <a:endParaRPr lang="en-US" sz="1288" dirty="0"/>
          </a:p>
        </p:txBody>
      </p:sp>
      <p:sp>
        <p:nvSpPr>
          <p:cNvPr id="18" name="Text 16"/>
          <p:cNvSpPr/>
          <p:nvPr/>
        </p:nvSpPr>
        <p:spPr>
          <a:xfrm>
            <a:off x="5349240" y="3721608"/>
            <a:ext cx="1536192" cy="713232"/>
          </a:xfrm>
          <a:prstGeom prst="rect">
            <a:avLst/>
          </a:prstGeom>
          <a:noFill/>
          <a:ln/>
        </p:spPr>
        <p:txBody>
          <a:bodyPr wrap="square" lIns="0" tIns="0" rIns="0" bIns="0" rtlCol="0" anchor="ctr"/>
          <a:lstStyle/>
          <a:p>
            <a:pPr indent="0" marL="0">
              <a:lnSpc>
                <a:spcPts val="1700"/>
              </a:lnSpc>
              <a:buNone/>
            </a:pPr>
            <a:r>
              <a:rPr lang="en-US" sz="1400" b="1" dirty="0">
                <a:solidFill>
                  <a:srgbClr val="1D1D1F"/>
                </a:solidFill>
                <a:latin typeface="Helvetica Neue" pitchFamily="34" charset="0"/>
                <a:ea typeface="Helvetica Neue" pitchFamily="34" charset="-122"/>
                <a:cs typeface="Helvetica Neue" pitchFamily="34" charset="-120"/>
              </a:rPr>
              <a:t>Technical documentation</a:t>
            </a:r>
            <a:endParaRPr lang="en-US" sz="1400" dirty="0"/>
          </a:p>
        </p:txBody>
      </p:sp>
      <p:sp>
        <p:nvSpPr>
          <p:cNvPr id="19" name="Text 17"/>
          <p:cNvSpPr/>
          <p:nvPr/>
        </p:nvSpPr>
        <p:spPr>
          <a:xfrm>
            <a:off x="5349240" y="4361688"/>
            <a:ext cx="1536192" cy="1371600"/>
          </a:xfrm>
          <a:prstGeom prst="rect">
            <a:avLst/>
          </a:prstGeom>
          <a:noFill/>
          <a:ln/>
        </p:spPr>
        <p:txBody>
          <a:bodyPr wrap="square" lIns="0" tIns="0" rIns="0" bIns="0" rtlCol="0" anchor="ctr"/>
          <a:lstStyle/>
          <a:p>
            <a:pPr indent="0" marL="0">
              <a:lnSpc>
                <a:spcPts val="1400"/>
              </a:lnSpc>
              <a:buNone/>
            </a:pPr>
            <a:r>
              <a:rPr lang="en-US" sz="1050" dirty="0">
                <a:solidFill>
                  <a:srgbClr val="6E6E73"/>
                </a:solidFill>
                <a:latin typeface="Helvetica Neue" pitchFamily="34" charset="0"/>
                <a:ea typeface="Helvetica Neue" pitchFamily="34" charset="-122"/>
                <a:cs typeface="Helvetica Neue" pitchFamily="34" charset="-120"/>
              </a:rPr>
              <a:t>A written engineering report — student-written, decisions explained.</a:t>
            </a:r>
            <a:endParaRPr lang="en-US" sz="1050" dirty="0"/>
          </a:p>
        </p:txBody>
      </p:sp>
      <p:sp>
        <p:nvSpPr>
          <p:cNvPr id="20" name="Shape 18"/>
          <p:cNvSpPr/>
          <p:nvPr/>
        </p:nvSpPr>
        <p:spPr>
          <a:xfrm>
            <a:off x="7255764" y="2880360"/>
            <a:ext cx="1993392" cy="2971800"/>
          </a:xfrm>
          <a:prstGeom prst="roundRect">
            <a:avLst>
              <a:gd name="adj" fmla="val 5046"/>
            </a:avLst>
          </a:prstGeom>
          <a:solidFill>
            <a:srgbClr val="FBFBFD"/>
          </a:solidFill>
          <a:ln w="12700">
            <a:solidFill>
              <a:srgbClr val="E3E3E6"/>
            </a:solidFill>
            <a:prstDash val="solid"/>
          </a:ln>
        </p:spPr>
        <p:txBody>
          <a:bodyPr/>
          <a:p/>
        </p:txBody>
      </p:sp>
      <p:sp>
        <p:nvSpPr>
          <p:cNvPr id="21" name="Shape 19"/>
          <p:cNvSpPr/>
          <p:nvPr/>
        </p:nvSpPr>
        <p:spPr>
          <a:xfrm>
            <a:off x="7511796" y="3154680"/>
            <a:ext cx="420624" cy="420624"/>
          </a:xfrm>
          <a:prstGeom prst="ellipse">
            <a:avLst/>
          </a:prstGeom>
          <a:solidFill>
            <a:srgbClr val="EAF2F4"/>
          </a:solidFill>
          <a:ln/>
        </p:spPr>
        <p:txBody>
          <a:bodyPr/>
          <a:p/>
        </p:txBody>
      </p:sp>
      <p:sp>
        <p:nvSpPr>
          <p:cNvPr id="22" name="Text 20"/>
          <p:cNvSpPr/>
          <p:nvPr/>
        </p:nvSpPr>
        <p:spPr>
          <a:xfrm>
            <a:off x="7511796" y="3154680"/>
            <a:ext cx="420624" cy="420624"/>
          </a:xfrm>
          <a:prstGeom prst="rect">
            <a:avLst/>
          </a:prstGeom>
          <a:noFill/>
          <a:ln/>
        </p:spPr>
        <p:txBody>
          <a:bodyPr wrap="square" lIns="0" tIns="0" rIns="0" bIns="0" rtlCol="0" anchor="ctr"/>
          <a:lstStyle/>
          <a:p>
            <a:pPr algn="ctr" indent="0" marL="0">
              <a:buNone/>
            </a:pPr>
            <a:r>
              <a:rPr lang="en-US" sz="1288" b="1" dirty="0">
                <a:solidFill>
                  <a:srgbClr val="0D7490"/>
                </a:solidFill>
                <a:latin typeface="Helvetica Neue" pitchFamily="34" charset="0"/>
                <a:ea typeface="Helvetica Neue" pitchFamily="34" charset="-122"/>
                <a:cs typeface="Helvetica Neue" pitchFamily="34" charset="-120"/>
              </a:rPr>
              <a:t>4</a:t>
            </a:r>
            <a:endParaRPr lang="en-US" sz="1288" dirty="0"/>
          </a:p>
        </p:txBody>
      </p:sp>
      <p:sp>
        <p:nvSpPr>
          <p:cNvPr id="23" name="Text 21"/>
          <p:cNvSpPr/>
          <p:nvPr/>
        </p:nvSpPr>
        <p:spPr>
          <a:xfrm>
            <a:off x="7493508" y="3721608"/>
            <a:ext cx="1536192" cy="713232"/>
          </a:xfrm>
          <a:prstGeom prst="rect">
            <a:avLst/>
          </a:prstGeom>
          <a:noFill/>
          <a:ln/>
        </p:spPr>
        <p:txBody>
          <a:bodyPr wrap="square" lIns="0" tIns="0" rIns="0" bIns="0" rtlCol="0" anchor="ctr"/>
          <a:lstStyle/>
          <a:p>
            <a:pPr indent="0" marL="0">
              <a:lnSpc>
                <a:spcPts val="1700"/>
              </a:lnSpc>
              <a:buNone/>
            </a:pPr>
            <a:r>
              <a:rPr lang="en-US" sz="1400" b="1" dirty="0">
                <a:solidFill>
                  <a:srgbClr val="1D1D1F"/>
                </a:solidFill>
                <a:latin typeface="Helvetica Neue" pitchFamily="34" charset="0"/>
                <a:ea typeface="Helvetica Neue" pitchFamily="34" charset="-122"/>
                <a:cs typeface="Helvetica Neue" pitchFamily="34" charset="-120"/>
              </a:rPr>
              <a:t>Engineering presentation</a:t>
            </a:r>
            <a:endParaRPr lang="en-US" sz="1400" dirty="0"/>
          </a:p>
        </p:txBody>
      </p:sp>
      <p:sp>
        <p:nvSpPr>
          <p:cNvPr id="24" name="Text 22"/>
          <p:cNvSpPr/>
          <p:nvPr/>
        </p:nvSpPr>
        <p:spPr>
          <a:xfrm>
            <a:off x="7493508" y="4361688"/>
            <a:ext cx="1536192" cy="1371600"/>
          </a:xfrm>
          <a:prstGeom prst="rect">
            <a:avLst/>
          </a:prstGeom>
          <a:noFill/>
          <a:ln/>
        </p:spPr>
        <p:txBody>
          <a:bodyPr wrap="square" lIns="0" tIns="0" rIns="0" bIns="0" rtlCol="0" anchor="ctr"/>
          <a:lstStyle/>
          <a:p>
            <a:pPr indent="0" marL="0">
              <a:lnSpc>
                <a:spcPts val="1400"/>
              </a:lnSpc>
              <a:buNone/>
            </a:pPr>
            <a:r>
              <a:rPr lang="en-US" sz="1050" dirty="0">
                <a:solidFill>
                  <a:srgbClr val="6E6E73"/>
                </a:solidFill>
                <a:latin typeface="Helvetica Neue" pitchFamily="34" charset="0"/>
                <a:ea typeface="Helvetica Neue" pitchFamily="34" charset="-122"/>
                <a:cs typeface="Helvetica Neue" pitchFamily="34" charset="-120"/>
              </a:rPr>
              <a:t>A live, spoken presentation to judges. No slides allowed.</a:t>
            </a:r>
            <a:endParaRPr lang="en-US" sz="1050" dirty="0"/>
          </a:p>
        </p:txBody>
      </p:sp>
      <p:sp>
        <p:nvSpPr>
          <p:cNvPr id="25" name="Shape 23"/>
          <p:cNvSpPr/>
          <p:nvPr/>
        </p:nvSpPr>
        <p:spPr>
          <a:xfrm>
            <a:off x="9400032" y="2880360"/>
            <a:ext cx="1993392" cy="2971800"/>
          </a:xfrm>
          <a:prstGeom prst="roundRect">
            <a:avLst>
              <a:gd name="adj" fmla="val 5046"/>
            </a:avLst>
          </a:prstGeom>
          <a:solidFill>
            <a:srgbClr val="FBFBFD"/>
          </a:solidFill>
          <a:ln w="12700">
            <a:solidFill>
              <a:srgbClr val="E3E3E6"/>
            </a:solidFill>
            <a:prstDash val="solid"/>
          </a:ln>
        </p:spPr>
        <p:txBody>
          <a:bodyPr/>
          <a:p/>
        </p:txBody>
      </p:sp>
      <p:sp>
        <p:nvSpPr>
          <p:cNvPr id="26" name="Shape 24"/>
          <p:cNvSpPr/>
          <p:nvPr/>
        </p:nvSpPr>
        <p:spPr>
          <a:xfrm>
            <a:off x="9656064" y="3154680"/>
            <a:ext cx="420624" cy="420624"/>
          </a:xfrm>
          <a:prstGeom prst="ellipse">
            <a:avLst/>
          </a:prstGeom>
          <a:solidFill>
            <a:srgbClr val="EAF2F4"/>
          </a:solidFill>
          <a:ln/>
        </p:spPr>
        <p:txBody>
          <a:bodyPr/>
          <a:p/>
        </p:txBody>
      </p:sp>
      <p:sp>
        <p:nvSpPr>
          <p:cNvPr id="27" name="Text 25"/>
          <p:cNvSpPr/>
          <p:nvPr/>
        </p:nvSpPr>
        <p:spPr>
          <a:xfrm>
            <a:off x="9656064" y="3154680"/>
            <a:ext cx="420624" cy="420624"/>
          </a:xfrm>
          <a:prstGeom prst="rect">
            <a:avLst/>
          </a:prstGeom>
          <a:noFill/>
          <a:ln/>
        </p:spPr>
        <p:txBody>
          <a:bodyPr wrap="square" lIns="0" tIns="0" rIns="0" bIns="0" rtlCol="0" anchor="ctr"/>
          <a:lstStyle/>
          <a:p>
            <a:pPr algn="ctr" indent="0" marL="0">
              <a:buNone/>
            </a:pPr>
            <a:r>
              <a:rPr lang="en-US" sz="1288" b="1" dirty="0">
                <a:solidFill>
                  <a:srgbClr val="0D7490"/>
                </a:solidFill>
                <a:latin typeface="Helvetica Neue" pitchFamily="34" charset="0"/>
                <a:ea typeface="Helvetica Neue" pitchFamily="34" charset="-122"/>
                <a:cs typeface="Helvetica Neue" pitchFamily="34" charset="-120"/>
              </a:rPr>
              <a:t>5</a:t>
            </a:r>
            <a:endParaRPr lang="en-US" sz="1288" dirty="0"/>
          </a:p>
        </p:txBody>
      </p:sp>
      <p:sp>
        <p:nvSpPr>
          <p:cNvPr id="28" name="Text 26"/>
          <p:cNvSpPr/>
          <p:nvPr/>
        </p:nvSpPr>
        <p:spPr>
          <a:xfrm>
            <a:off x="9637776" y="3721608"/>
            <a:ext cx="1536192" cy="713232"/>
          </a:xfrm>
          <a:prstGeom prst="rect">
            <a:avLst/>
          </a:prstGeom>
          <a:noFill/>
          <a:ln/>
        </p:spPr>
        <p:txBody>
          <a:bodyPr wrap="square" lIns="0" tIns="0" rIns="0" bIns="0" rtlCol="0" anchor="ctr"/>
          <a:lstStyle/>
          <a:p>
            <a:pPr indent="0" marL="0">
              <a:lnSpc>
                <a:spcPts val="1700"/>
              </a:lnSpc>
              <a:buNone/>
            </a:pPr>
            <a:r>
              <a:rPr lang="en-US" sz="1400" b="1" dirty="0">
                <a:solidFill>
                  <a:srgbClr val="1D1D1F"/>
                </a:solidFill>
                <a:latin typeface="Helvetica Neue" pitchFamily="34" charset="0"/>
                <a:ea typeface="Helvetica Neue" pitchFamily="34" charset="-122"/>
                <a:cs typeface="Helvetica Neue" pitchFamily="34" charset="-120"/>
              </a:rPr>
              <a:t>Marketing display</a:t>
            </a:r>
            <a:endParaRPr lang="en-US" sz="1400" dirty="0"/>
          </a:p>
        </p:txBody>
      </p:sp>
      <p:sp>
        <p:nvSpPr>
          <p:cNvPr id="29" name="Text 27"/>
          <p:cNvSpPr/>
          <p:nvPr/>
        </p:nvSpPr>
        <p:spPr>
          <a:xfrm>
            <a:off x="9637776" y="4361688"/>
            <a:ext cx="1536192" cy="1371600"/>
          </a:xfrm>
          <a:prstGeom prst="rect">
            <a:avLst/>
          </a:prstGeom>
          <a:noFill/>
          <a:ln/>
        </p:spPr>
        <p:txBody>
          <a:bodyPr wrap="square" lIns="0" tIns="0" rIns="0" bIns="0" rtlCol="0" anchor="ctr"/>
          <a:lstStyle/>
          <a:p>
            <a:pPr indent="0" marL="0">
              <a:lnSpc>
                <a:spcPts val="1400"/>
              </a:lnSpc>
              <a:buNone/>
            </a:pPr>
            <a:r>
              <a:rPr lang="en-US" sz="1050" dirty="0">
                <a:solidFill>
                  <a:srgbClr val="6E6E73"/>
                </a:solidFill>
                <a:latin typeface="Helvetica Neue" pitchFamily="34" charset="0"/>
                <a:ea typeface="Helvetica Neue" pitchFamily="34" charset="-122"/>
                <a:cs typeface="Helvetica Neue" pitchFamily="34" charset="-120"/>
              </a:rPr>
              <a:t>A printed display and digital copy that tells the team's story.</a:t>
            </a:r>
            <a:endParaRPr lang="en-US" sz="1050" dirty="0"/>
          </a:p>
        </p:txBody>
      </p:sp>
      <p:sp>
        <p:nvSpPr>
          <p:cNvPr id="30" name="Shape 28"/>
          <p:cNvSpPr/>
          <p:nvPr/>
        </p:nvSpPr>
        <p:spPr>
          <a:xfrm>
            <a:off x="822960" y="6437376"/>
            <a:ext cx="10545775" cy="0"/>
          </a:xfrm>
          <a:prstGeom prst="line">
            <a:avLst/>
          </a:prstGeom>
          <a:noFill/>
          <a:ln w="9525">
            <a:solidFill>
              <a:srgbClr val="E3E3E6"/>
            </a:solidFill>
            <a:prstDash val="solid"/>
          </a:ln>
        </p:spPr>
        <p:txBody>
          <a:bodyPr/>
          <a:p/>
        </p:txBody>
      </p:sp>
      <p:sp>
        <p:nvSpPr>
          <p:cNvPr id="31" name="Text 29"/>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32" name="Text 30"/>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8 / 29</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WHAT WE'RE JOINING</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Where this season is headed.</a:t>
            </a:r>
            <a:endParaRPr lang="en-US" sz="3000" dirty="0"/>
          </a:p>
        </p:txBody>
      </p:sp>
      <p:sp>
        <p:nvSpPr>
          <p:cNvPr id="4" name="Shape 2"/>
          <p:cNvSpPr/>
          <p:nvPr/>
        </p:nvSpPr>
        <p:spPr>
          <a:xfrm>
            <a:off x="822960" y="2057400"/>
            <a:ext cx="3310128" cy="3246120"/>
          </a:xfrm>
          <a:prstGeom prst="roundRect">
            <a:avLst>
              <a:gd name="adj" fmla="val 3099"/>
            </a:avLst>
          </a:prstGeom>
          <a:solidFill>
            <a:srgbClr val="FBFBFD"/>
          </a:solidFill>
          <a:ln w="12700">
            <a:solidFill>
              <a:srgbClr val="E3E3E6"/>
            </a:solidFill>
            <a:prstDash val="solid"/>
          </a:ln>
        </p:spPr>
        <p:txBody>
          <a:bodyPr/>
          <a:p/>
        </p:txBody>
      </p:sp>
      <p:sp>
        <p:nvSpPr>
          <p:cNvPr id="5" name="Text 3"/>
          <p:cNvSpPr/>
          <p:nvPr/>
        </p:nvSpPr>
        <p:spPr>
          <a:xfrm>
            <a:off x="1133856" y="2386584"/>
            <a:ext cx="2688336" cy="274320"/>
          </a:xfrm>
          <a:prstGeom prst="rect">
            <a:avLst/>
          </a:prstGeom>
          <a:noFill/>
          <a:ln/>
        </p:spPr>
        <p:txBody>
          <a:bodyPr wrap="square" lIns="0" tIns="0" rIns="0" bIns="0" rtlCol="0" anchor="ctr"/>
          <a:lstStyle/>
          <a:p>
            <a:pPr indent="0" marL="0">
              <a:buNone/>
            </a:pPr>
            <a:r>
              <a:rPr lang="en-US" sz="1050" b="1" spc="200" kern="0" dirty="0">
                <a:solidFill>
                  <a:srgbClr val="0D7490"/>
                </a:solidFill>
                <a:latin typeface="Helvetica Neue" pitchFamily="34" charset="0"/>
                <a:ea typeface="Helvetica Neue" pitchFamily="34" charset="-122"/>
                <a:cs typeface="Helvetica Neue" pitchFamily="34" charset="-120"/>
              </a:rPr>
              <a:t>WHERE</a:t>
            </a:r>
            <a:endParaRPr lang="en-US" sz="1050" dirty="0"/>
          </a:p>
        </p:txBody>
      </p:sp>
      <p:sp>
        <p:nvSpPr>
          <p:cNvPr id="6" name="Text 4"/>
          <p:cNvSpPr/>
          <p:nvPr/>
        </p:nvSpPr>
        <p:spPr>
          <a:xfrm>
            <a:off x="1133856" y="2734056"/>
            <a:ext cx="2688336" cy="1371600"/>
          </a:xfrm>
          <a:prstGeom prst="rect">
            <a:avLst/>
          </a:prstGeom>
          <a:noFill/>
          <a:ln/>
        </p:spPr>
        <p:txBody>
          <a:bodyPr wrap="square" lIns="0" tIns="0" rIns="0" bIns="0" rtlCol="0" anchor="ctr"/>
          <a:lstStyle/>
          <a:p>
            <a:pPr indent="0" marL="0">
              <a:lnSpc>
                <a:spcPts val="3000"/>
              </a:lnSpc>
              <a:buNone/>
            </a:pPr>
            <a:r>
              <a:rPr lang="en-US" sz="2700" b="1" dirty="0">
                <a:solidFill>
                  <a:srgbClr val="1D1D1F"/>
                </a:solidFill>
                <a:latin typeface="Helvetica Neue" pitchFamily="34" charset="0"/>
                <a:ea typeface="Helvetica Neue" pitchFamily="34" charset="-122"/>
                <a:cs typeface="Helvetica Neue" pitchFamily="34" charset="-120"/>
              </a:rPr>
              <a:t>2027 MATE ROV</a:t>
            </a:r>
            <a:endParaRPr lang="en-US" sz="2700" dirty="0"/>
          </a:p>
          <a:p>
            <a:pPr indent="0" marL="0">
              <a:lnSpc>
                <a:spcPts val="3000"/>
              </a:lnSpc>
              <a:buNone/>
            </a:pPr>
            <a:r>
              <a:rPr lang="en-US" sz="2700" b="1" dirty="0">
                <a:solidFill>
                  <a:srgbClr val="1D1D1F"/>
                </a:solidFill>
                <a:latin typeface="Helvetica Neue" pitchFamily="34" charset="0"/>
                <a:ea typeface="Helvetica Neue" pitchFamily="34" charset="-122"/>
                <a:cs typeface="Helvetica Neue" pitchFamily="34" charset="-120"/>
              </a:rPr>
              <a:t>Regional (TBD)</a:t>
            </a:r>
            <a:endParaRPr lang="en-US" sz="2700" dirty="0"/>
          </a:p>
        </p:txBody>
      </p:sp>
      <p:sp>
        <p:nvSpPr>
          <p:cNvPr id="7" name="Text 5"/>
          <p:cNvSpPr/>
          <p:nvPr/>
        </p:nvSpPr>
        <p:spPr>
          <a:xfrm>
            <a:off x="1133856" y="4050792"/>
            <a:ext cx="2688336" cy="1097280"/>
          </a:xfrm>
          <a:prstGeom prst="rect">
            <a:avLst/>
          </a:prstGeom>
          <a:noFill/>
          <a:ln/>
        </p:spPr>
        <p:txBody>
          <a:bodyPr wrap="square" lIns="0" tIns="0" rIns="0" bIns="0" rtlCol="0" anchor="ctr"/>
          <a:lstStyle/>
          <a:p>
            <a:pPr indent="0" marL="0">
              <a:lnSpc>
                <a:spcPts val="1700"/>
              </a:lnSpc>
              <a:buNone/>
            </a:pPr>
            <a:r>
              <a:rPr lang="en-US" sz="1200" dirty="0">
                <a:solidFill>
                  <a:srgbClr val="6E6E73"/>
                </a:solidFill>
                <a:latin typeface="Helvetica Neue" pitchFamily="34" charset="0"/>
                <a:ea typeface="Helvetica Neue" pitchFamily="34" charset="-122"/>
                <a:cs typeface="Helvetica Neue" pitchFamily="34" charset="-120"/>
              </a:rPr>
              <a:t>Regional assignment is set at registration — likely a long drive. We'll lock in travel plans once it's confirmed.</a:t>
            </a:r>
            <a:endParaRPr lang="en-US" sz="1200" dirty="0"/>
          </a:p>
        </p:txBody>
      </p:sp>
      <p:sp>
        <p:nvSpPr>
          <p:cNvPr id="8" name="Shape 6"/>
          <p:cNvSpPr/>
          <p:nvPr/>
        </p:nvSpPr>
        <p:spPr>
          <a:xfrm>
            <a:off x="4434840" y="2057400"/>
            <a:ext cx="3310128" cy="3246120"/>
          </a:xfrm>
          <a:prstGeom prst="roundRect">
            <a:avLst>
              <a:gd name="adj" fmla="val 3099"/>
            </a:avLst>
          </a:prstGeom>
          <a:solidFill>
            <a:srgbClr val="0D7490"/>
          </a:solidFill>
          <a:ln w="12700">
            <a:solidFill>
              <a:srgbClr val="0D7490"/>
            </a:solidFill>
            <a:prstDash val="solid"/>
          </a:ln>
        </p:spPr>
        <p:txBody>
          <a:bodyPr/>
          <a:p/>
        </p:txBody>
      </p:sp>
      <p:sp>
        <p:nvSpPr>
          <p:cNvPr id="9" name="Text 7"/>
          <p:cNvSpPr/>
          <p:nvPr/>
        </p:nvSpPr>
        <p:spPr>
          <a:xfrm>
            <a:off x="4745736" y="2386584"/>
            <a:ext cx="2688336" cy="274320"/>
          </a:xfrm>
          <a:prstGeom prst="rect">
            <a:avLst/>
          </a:prstGeom>
          <a:noFill/>
          <a:ln/>
        </p:spPr>
        <p:txBody>
          <a:bodyPr wrap="square" lIns="0" tIns="0" rIns="0" bIns="0" rtlCol="0" anchor="ctr"/>
          <a:lstStyle/>
          <a:p>
            <a:pPr indent="0" marL="0">
              <a:buNone/>
            </a:pPr>
            <a:r>
              <a:rPr lang="en-US" sz="1050" b="1" spc="200" kern="0" dirty="0">
                <a:solidFill>
                  <a:srgbClr val="9FCEDA"/>
                </a:solidFill>
                <a:latin typeface="Helvetica Neue" pitchFamily="34" charset="0"/>
                <a:ea typeface="Helvetica Neue" pitchFamily="34" charset="-122"/>
                <a:cs typeface="Helvetica Neue" pitchFamily="34" charset="-120"/>
              </a:rPr>
              <a:t>WHEN</a:t>
            </a:r>
            <a:endParaRPr lang="en-US" sz="1050" dirty="0"/>
          </a:p>
        </p:txBody>
      </p:sp>
      <p:sp>
        <p:nvSpPr>
          <p:cNvPr id="10" name="Text 8"/>
          <p:cNvSpPr/>
          <p:nvPr/>
        </p:nvSpPr>
        <p:spPr>
          <a:xfrm>
            <a:off x="4745736" y="2734056"/>
            <a:ext cx="2688336" cy="1371600"/>
          </a:xfrm>
          <a:prstGeom prst="rect">
            <a:avLst/>
          </a:prstGeom>
          <a:noFill/>
          <a:ln/>
        </p:spPr>
        <p:txBody>
          <a:bodyPr wrap="square" lIns="0" tIns="0" rIns="0" bIns="0" rtlCol="0" anchor="ctr"/>
          <a:lstStyle/>
          <a:p>
            <a:pPr indent="0" marL="0">
              <a:lnSpc>
                <a:spcPts val="3000"/>
              </a:lnSpc>
              <a:buNone/>
            </a:pPr>
            <a:r>
              <a:rPr lang="en-US" sz="2700" b="1" dirty="0">
                <a:solidFill>
                  <a:srgbClr val="FFFFFF"/>
                </a:solidFill>
                <a:latin typeface="Helvetica Neue" pitchFamily="34" charset="0"/>
                <a:ea typeface="Helvetica Neue" pitchFamily="34" charset="-122"/>
                <a:cs typeface="Helvetica Neue" pitchFamily="34" charset="-120"/>
              </a:rPr>
              <a:t>Late</a:t>
            </a:r>
            <a:endParaRPr lang="en-US" sz="2700" dirty="0"/>
          </a:p>
          <a:p>
            <a:pPr indent="0" marL="0">
              <a:lnSpc>
                <a:spcPts val="3000"/>
              </a:lnSpc>
              <a:buNone/>
            </a:pPr>
            <a:r>
              <a:rPr lang="en-US" sz="2700" b="1" dirty="0">
                <a:solidFill>
                  <a:srgbClr val="FFFFFF"/>
                </a:solidFill>
                <a:latin typeface="Helvetica Neue" pitchFamily="34" charset="0"/>
                <a:ea typeface="Helvetica Neue" pitchFamily="34" charset="-122"/>
                <a:cs typeface="Helvetica Neue" pitchFamily="34" charset="-120"/>
              </a:rPr>
              <a:t>April 2027</a:t>
            </a:r>
            <a:endParaRPr lang="en-US" sz="2700" dirty="0"/>
          </a:p>
        </p:txBody>
      </p:sp>
      <p:sp>
        <p:nvSpPr>
          <p:cNvPr id="11" name="Text 9"/>
          <p:cNvSpPr/>
          <p:nvPr/>
        </p:nvSpPr>
        <p:spPr>
          <a:xfrm>
            <a:off x="4745736" y="4050792"/>
            <a:ext cx="2688336" cy="1097280"/>
          </a:xfrm>
          <a:prstGeom prst="rect">
            <a:avLst/>
          </a:prstGeom>
          <a:noFill/>
          <a:ln/>
        </p:spPr>
        <p:txBody>
          <a:bodyPr wrap="square" lIns="0" tIns="0" rIns="0" bIns="0" rtlCol="0" anchor="ctr"/>
          <a:lstStyle/>
          <a:p>
            <a:pPr indent="0" marL="0">
              <a:lnSpc>
                <a:spcPts val="1700"/>
              </a:lnSpc>
              <a:buNone/>
            </a:pPr>
            <a:r>
              <a:rPr lang="en-US" sz="1200" dirty="0">
                <a:solidFill>
                  <a:srgbClr val="EAF2F4"/>
                </a:solidFill>
                <a:latin typeface="Helvetica Neue" pitchFamily="34" charset="0"/>
                <a:ea typeface="Helvetica Neue" pitchFamily="34" charset="-122"/>
                <a:cs typeface="Helvetica Neue" pitchFamily="34" charset="-120"/>
              </a:rPr>
              <a:t>Roughly ten months from today. Everything we do is measured back from that weekend.</a:t>
            </a:r>
            <a:endParaRPr lang="en-US" sz="1200" dirty="0"/>
          </a:p>
        </p:txBody>
      </p:sp>
      <p:sp>
        <p:nvSpPr>
          <p:cNvPr id="12" name="Shape 10"/>
          <p:cNvSpPr/>
          <p:nvPr/>
        </p:nvSpPr>
        <p:spPr>
          <a:xfrm>
            <a:off x="8046720" y="2057400"/>
            <a:ext cx="3310128" cy="3246120"/>
          </a:xfrm>
          <a:prstGeom prst="roundRect">
            <a:avLst>
              <a:gd name="adj" fmla="val 3099"/>
            </a:avLst>
          </a:prstGeom>
          <a:solidFill>
            <a:srgbClr val="FBFBFD"/>
          </a:solidFill>
          <a:ln w="12700">
            <a:solidFill>
              <a:srgbClr val="E3E3E6"/>
            </a:solidFill>
            <a:prstDash val="solid"/>
          </a:ln>
        </p:spPr>
        <p:txBody>
          <a:bodyPr/>
          <a:p/>
        </p:txBody>
      </p:sp>
      <p:sp>
        <p:nvSpPr>
          <p:cNvPr id="13" name="Text 11"/>
          <p:cNvSpPr/>
          <p:nvPr/>
        </p:nvSpPr>
        <p:spPr>
          <a:xfrm>
            <a:off x="8357616" y="2386584"/>
            <a:ext cx="2688336" cy="274320"/>
          </a:xfrm>
          <a:prstGeom prst="rect">
            <a:avLst/>
          </a:prstGeom>
          <a:noFill/>
          <a:ln/>
        </p:spPr>
        <p:txBody>
          <a:bodyPr wrap="square" lIns="0" tIns="0" rIns="0" bIns="0" rtlCol="0" anchor="ctr"/>
          <a:lstStyle/>
          <a:p>
            <a:pPr indent="0" marL="0">
              <a:buNone/>
            </a:pPr>
            <a:r>
              <a:rPr lang="en-US" sz="1050" b="1" spc="200" kern="0" dirty="0">
                <a:solidFill>
                  <a:srgbClr val="0D7490"/>
                </a:solidFill>
                <a:latin typeface="Helvetica Neue" pitchFamily="34" charset="0"/>
                <a:ea typeface="Helvetica Neue" pitchFamily="34" charset="-122"/>
                <a:cs typeface="Helvetica Neue" pitchFamily="34" charset="-120"/>
              </a:rPr>
              <a:t>WHAT'S AT STAKE</a:t>
            </a:r>
            <a:endParaRPr lang="en-US" sz="1050" dirty="0"/>
          </a:p>
        </p:txBody>
      </p:sp>
      <p:sp>
        <p:nvSpPr>
          <p:cNvPr id="14" name="Text 12"/>
          <p:cNvSpPr/>
          <p:nvPr/>
        </p:nvSpPr>
        <p:spPr>
          <a:xfrm>
            <a:off x="8357616" y="2734056"/>
            <a:ext cx="2688336" cy="1371600"/>
          </a:xfrm>
          <a:prstGeom prst="rect">
            <a:avLst/>
          </a:prstGeom>
          <a:noFill/>
          <a:ln/>
        </p:spPr>
        <p:txBody>
          <a:bodyPr wrap="square" lIns="0" tIns="0" rIns="0" bIns="0" rtlCol="0" anchor="ctr"/>
          <a:lstStyle/>
          <a:p>
            <a:pPr indent="0" marL="0">
              <a:lnSpc>
                <a:spcPts val="3000"/>
              </a:lnSpc>
              <a:buNone/>
            </a:pPr>
            <a:r>
              <a:rPr lang="en-US" sz="2700" b="1" dirty="0">
                <a:solidFill>
                  <a:srgbClr val="1D1D1F"/>
                </a:solidFill>
                <a:latin typeface="Helvetica Neue" pitchFamily="34" charset="0"/>
                <a:ea typeface="Helvetica Neue" pitchFamily="34" charset="-122"/>
                <a:cs typeface="Helvetica Neue" pitchFamily="34" charset="-120"/>
              </a:rPr>
              <a:t>Advance to</a:t>
            </a:r>
            <a:endParaRPr lang="en-US" sz="2700" dirty="0"/>
          </a:p>
          <a:p>
            <a:pPr indent="0" marL="0">
              <a:lnSpc>
                <a:spcPts val="3000"/>
              </a:lnSpc>
              <a:buNone/>
            </a:pPr>
            <a:r>
              <a:rPr lang="en-US" sz="2700" b="1" dirty="0">
                <a:solidFill>
                  <a:srgbClr val="1D1D1F"/>
                </a:solidFill>
                <a:latin typeface="Helvetica Neue" pitchFamily="34" charset="0"/>
                <a:ea typeface="Helvetica Neue" pitchFamily="34" charset="-122"/>
                <a:cs typeface="Helvetica Neue" pitchFamily="34" charset="-120"/>
              </a:rPr>
              <a:t>Worlds</a:t>
            </a:r>
            <a:endParaRPr lang="en-US" sz="2700" dirty="0"/>
          </a:p>
        </p:txBody>
      </p:sp>
      <p:sp>
        <p:nvSpPr>
          <p:cNvPr id="15" name="Text 13"/>
          <p:cNvSpPr/>
          <p:nvPr/>
        </p:nvSpPr>
        <p:spPr>
          <a:xfrm>
            <a:off x="8357616" y="4050792"/>
            <a:ext cx="2688336" cy="1097280"/>
          </a:xfrm>
          <a:prstGeom prst="rect">
            <a:avLst/>
          </a:prstGeom>
          <a:noFill/>
          <a:ln/>
        </p:spPr>
        <p:txBody>
          <a:bodyPr wrap="square" lIns="0" tIns="0" rIns="0" bIns="0" rtlCol="0" anchor="ctr"/>
          <a:lstStyle/>
          <a:p>
            <a:pPr indent="0" marL="0">
              <a:lnSpc>
                <a:spcPts val="1700"/>
              </a:lnSpc>
              <a:buNone/>
            </a:pPr>
            <a:r>
              <a:rPr lang="en-US" sz="1200" dirty="0">
                <a:solidFill>
                  <a:srgbClr val="6E6E73"/>
                </a:solidFill>
                <a:latin typeface="Helvetica Neue" pitchFamily="34" charset="0"/>
                <a:ea typeface="Helvetica Neue" pitchFamily="34" charset="-122"/>
                <a:cs typeface="Helvetica Neue" pitchFamily="34" charset="-120"/>
              </a:rPr>
              <a:t>A strong regional can send the team on to the MATE World Championship.</a:t>
            </a:r>
            <a:endParaRPr lang="en-US" sz="1200" dirty="0"/>
          </a:p>
        </p:txBody>
      </p:sp>
      <p:sp>
        <p:nvSpPr>
          <p:cNvPr id="16" name="Text 14"/>
          <p:cNvSpPr/>
          <p:nvPr/>
        </p:nvSpPr>
        <p:spPr>
          <a:xfrm>
            <a:off x="822960" y="5577840"/>
            <a:ext cx="10515600" cy="457200"/>
          </a:xfrm>
          <a:prstGeom prst="rect">
            <a:avLst/>
          </a:prstGeom>
          <a:noFill/>
          <a:ln/>
        </p:spPr>
        <p:txBody>
          <a:bodyPr wrap="square" lIns="0" tIns="0" rIns="0" bIns="0" rtlCol="0" anchor="ctr"/>
          <a:lstStyle/>
          <a:p>
            <a:pPr algn="ctr" indent="0" marL="0">
              <a:buNone/>
            </a:pPr>
            <a:r>
              <a:rPr lang="en-US" sz="1400" b="1" dirty="0">
                <a:solidFill>
                  <a:srgbClr val="1D1D1F"/>
                </a:solidFill>
                <a:latin typeface="Helvetica Neue" pitchFamily="34" charset="0"/>
                <a:ea typeface="Helvetica Neue" pitchFamily="34" charset="-122"/>
                <a:cs typeface="Helvetica Neue" pitchFamily="34" charset="-120"/>
              </a:rPr>
              <a:t>Ten months. Around forty-five weekly meetings. We start counting today.</a:t>
            </a:r>
            <a:endParaRPr lang="en-US" sz="1400" dirty="0"/>
          </a:p>
        </p:txBody>
      </p:sp>
      <p:sp>
        <p:nvSpPr>
          <p:cNvPr id="17" name="Shape 15"/>
          <p:cNvSpPr/>
          <p:nvPr/>
        </p:nvSpPr>
        <p:spPr>
          <a:xfrm>
            <a:off x="822960" y="6437376"/>
            <a:ext cx="10545775" cy="0"/>
          </a:xfrm>
          <a:prstGeom prst="line">
            <a:avLst/>
          </a:prstGeom>
          <a:noFill/>
          <a:ln w="9525">
            <a:solidFill>
              <a:srgbClr val="E3E3E6"/>
            </a:solidFill>
            <a:prstDash val="solid"/>
          </a:ln>
        </p:spPr>
        <p:txBody>
          <a:bodyPr/>
          <a:p/>
        </p:txBody>
      </p:sp>
      <p:sp>
        <p:nvSpPr>
          <p:cNvPr id="18" name="Text 16"/>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9" name="Text 17"/>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9 / 29</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BFBFD"/>
        </a:solidFill>
      </p:bgPr>
    </p:bg>
    <p:spTree>
      <p:nvGrpSpPr>
        <p:cNvPr id="1" name=""/>
        <p:cNvGrpSpPr/>
        <p:nvPr/>
      </p:nvGrpSpPr>
      <p:grpSpPr>
        <a:xfrm>
          <a:off x="0" y="0"/>
          <a:ext cx="0" cy="0"/>
          <a:chOff x="0" y="0"/>
          <a:chExt cx="0" cy="0"/>
        </a:xfrm>
      </p:grpSpPr>
      <p:sp>
        <p:nvSpPr>
          <p:cNvPr id="2" name="Text 0"/>
          <p:cNvSpPr/>
          <p:nvPr/>
        </p:nvSpPr>
        <p:spPr>
          <a:xfrm>
            <a:off x="4572000" y="182880"/>
            <a:ext cx="7315200" cy="6492240"/>
          </a:xfrm>
          <a:prstGeom prst="rect">
            <a:avLst/>
          </a:prstGeom>
          <a:noFill/>
          <a:ln/>
        </p:spPr>
        <p:txBody>
          <a:bodyPr wrap="square" lIns="0" tIns="0" rIns="0" bIns="0" rtlCol="0" anchor="ctr"/>
          <a:lstStyle/>
          <a:p>
            <a:pPr algn="r" indent="0" marL="0">
              <a:buNone/>
            </a:pPr>
            <a:r>
              <a:rPr lang="en-US" sz="36000" b="1" dirty="0">
                <a:solidFill>
                  <a:srgbClr val="EEF0F1"/>
                </a:solidFill>
                <a:latin typeface="Helvetica Neue" pitchFamily="34" charset="0"/>
                <a:ea typeface="Helvetica Neue" pitchFamily="34" charset="-122"/>
                <a:cs typeface="Helvetica Neue" pitchFamily="34" charset="-120"/>
              </a:rPr>
              <a:t>03</a:t>
            </a:r>
            <a:endParaRPr lang="en-US" sz="36000" dirty="0"/>
          </a:p>
        </p:txBody>
      </p:sp>
      <p:sp>
        <p:nvSpPr>
          <p:cNvPr id="3" name="Shape 1"/>
          <p:cNvSpPr/>
          <p:nvPr/>
        </p:nvSpPr>
        <p:spPr>
          <a:xfrm>
            <a:off x="841248" y="2395728"/>
            <a:ext cx="566928" cy="91440"/>
          </a:xfrm>
          <a:prstGeom prst="rect">
            <a:avLst/>
          </a:prstGeom>
          <a:solidFill>
            <a:srgbClr val="0D7490"/>
          </a:solidFill>
          <a:ln/>
        </p:spPr>
        <p:txBody>
          <a:bodyPr/>
          <a:p/>
        </p:txBody>
      </p:sp>
      <p:sp>
        <p:nvSpPr>
          <p:cNvPr id="4" name="Text 2"/>
          <p:cNvSpPr/>
          <p:nvPr/>
        </p:nvSpPr>
        <p:spPr>
          <a:xfrm>
            <a:off x="822960" y="2615184"/>
            <a:ext cx="6400800" cy="310896"/>
          </a:xfrm>
          <a:prstGeom prst="rect">
            <a:avLst/>
          </a:prstGeom>
          <a:noFill/>
          <a:ln/>
        </p:spPr>
        <p:txBody>
          <a:bodyPr wrap="square" lIns="0" tIns="0" rIns="0" bIns="0" rtlCol="0" anchor="ctr"/>
          <a:lstStyle/>
          <a:p>
            <a:pPr indent="0" marL="0">
              <a:buNone/>
            </a:pPr>
            <a:r>
              <a:rPr lang="en-US" sz="1300" b="1" spc="250" kern="0" dirty="0">
                <a:solidFill>
                  <a:srgbClr val="0D7490"/>
                </a:solidFill>
                <a:latin typeface="Helvetica Neue" pitchFamily="34" charset="0"/>
                <a:ea typeface="Helvetica Neue" pitchFamily="34" charset="-122"/>
                <a:cs typeface="Helvetica Neue" pitchFamily="34" charset="-120"/>
              </a:rPr>
              <a:t>SECTION 03</a:t>
            </a:r>
            <a:endParaRPr lang="en-US" sz="1300" dirty="0"/>
          </a:p>
        </p:txBody>
      </p:sp>
      <p:sp>
        <p:nvSpPr>
          <p:cNvPr id="5" name="Text 3"/>
          <p:cNvSpPr/>
          <p:nvPr/>
        </p:nvSpPr>
        <p:spPr>
          <a:xfrm>
            <a:off x="786384" y="2926080"/>
            <a:ext cx="6949440" cy="1371600"/>
          </a:xfrm>
          <a:prstGeom prst="rect">
            <a:avLst/>
          </a:prstGeom>
          <a:noFill/>
          <a:ln/>
        </p:spPr>
        <p:txBody>
          <a:bodyPr wrap="square" lIns="0" tIns="0" rIns="0" bIns="0" rtlCol="0" anchor="ctr"/>
          <a:lstStyle/>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We Are</a:t>
            </a:r>
            <a:endParaRPr lang="en-US" sz="4000" dirty="0"/>
          </a:p>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a Company</a:t>
            </a:r>
            <a:endParaRPr lang="en-US" sz="4000" dirty="0"/>
          </a:p>
        </p:txBody>
      </p:sp>
      <p:sp>
        <p:nvSpPr>
          <p:cNvPr id="6" name="Shape 4"/>
          <p:cNvSpPr/>
          <p:nvPr/>
        </p:nvSpPr>
        <p:spPr>
          <a:xfrm>
            <a:off x="841248" y="4370832"/>
            <a:ext cx="2971800" cy="420624"/>
          </a:xfrm>
          <a:prstGeom prst="roundRect">
            <a:avLst>
              <a:gd name="adj" fmla="val 50000"/>
            </a:avLst>
          </a:prstGeom>
          <a:solidFill>
            <a:srgbClr val="0D7490"/>
          </a:solidFill>
          <a:ln/>
        </p:spPr>
        <p:txBody>
          <a:bodyPr/>
          <a:p/>
        </p:txBody>
      </p:sp>
      <p:sp>
        <p:nvSpPr>
          <p:cNvPr id="7" name="Text 5"/>
          <p:cNvSpPr/>
          <p:nvPr/>
        </p:nvSpPr>
        <p:spPr>
          <a:xfrm>
            <a:off x="841248" y="4370832"/>
            <a:ext cx="2971800" cy="420624"/>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Helvetica Neue" pitchFamily="34" charset="0"/>
                <a:ea typeface="Helvetica Neue" pitchFamily="34" charset="-122"/>
                <a:cs typeface="Helvetica Neue" pitchFamily="34" charset="-120"/>
              </a:rPr>
              <a:t>0:45 – 1:30   ·   45 MIN</a:t>
            </a:r>
            <a:endParaRPr lang="en-US" sz="1050" dirty="0"/>
          </a:p>
        </p:txBody>
      </p:sp>
      <p:sp>
        <p:nvSpPr>
          <p:cNvPr id="8" name="Text 6"/>
          <p:cNvSpPr/>
          <p:nvPr/>
        </p:nvSpPr>
        <p:spPr>
          <a:xfrm>
            <a:off x="841248" y="5029200"/>
            <a:ext cx="6126480" cy="1005840"/>
          </a:xfrm>
          <a:prstGeom prst="rect">
            <a:avLst/>
          </a:prstGeom>
          <a:noFill/>
          <a:ln/>
        </p:spPr>
        <p:txBody>
          <a:bodyPr wrap="square" lIns="0" tIns="0" rIns="0" bIns="0" rtlCol="0" anchor="ctr"/>
          <a:lstStyle/>
          <a:p>
            <a:pPr indent="0" marL="0">
              <a:lnSpc>
                <a:spcPts val="2200"/>
              </a:lnSpc>
              <a:buNone/>
            </a:pPr>
            <a:r>
              <a:rPr lang="en-US" sz="1500" i="1" dirty="0">
                <a:solidFill>
                  <a:srgbClr val="6E6E73"/>
                </a:solidFill>
                <a:latin typeface="Helvetica Neue" pitchFamily="34" charset="0"/>
                <a:ea typeface="Helvetica Neue" pitchFamily="34" charset="-122"/>
                <a:cs typeface="Helvetica Neue" pitchFamily="34" charset="-120"/>
              </a:rPr>
              <a:t>This is the longest block of the day — and the one that decides how the team works.</a:t>
            </a:r>
            <a:endParaRPr lang="en-US" sz="1500" dirty="0"/>
          </a:p>
        </p:txBody>
      </p:sp>
      <p:sp>
        <p:nvSpPr>
          <p:cNvPr id="9" name="Shape 7"/>
          <p:cNvSpPr/>
          <p:nvPr/>
        </p:nvSpPr>
        <p:spPr>
          <a:xfrm>
            <a:off x="822960" y="6437376"/>
            <a:ext cx="10545775" cy="0"/>
          </a:xfrm>
          <a:prstGeom prst="line">
            <a:avLst/>
          </a:prstGeom>
          <a:noFill/>
          <a:ln w="9525">
            <a:solidFill>
              <a:srgbClr val="E3E3E6"/>
            </a:solidFill>
            <a:prstDash val="solid"/>
          </a:ln>
        </p:spPr>
        <p:txBody>
          <a:bodyPr/>
          <a:p/>
        </p:txBody>
      </p:sp>
      <p:sp>
        <p:nvSpPr>
          <p:cNvPr id="10" name="Text 8"/>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1" name="Text 9"/>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10 / 29</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WE ARE A COMPANY</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MATE asks you to run a company.</a:t>
            </a:r>
            <a:endParaRPr lang="en-US" sz="3000" dirty="0"/>
          </a:p>
        </p:txBody>
      </p:sp>
      <p:sp>
        <p:nvSpPr>
          <p:cNvPr id="4" name="Shape 2"/>
          <p:cNvSpPr/>
          <p:nvPr/>
        </p:nvSpPr>
        <p:spPr>
          <a:xfrm>
            <a:off x="822960" y="1874520"/>
            <a:ext cx="10545775" cy="1417320"/>
          </a:xfrm>
          <a:prstGeom prst="roundRect">
            <a:avLst>
              <a:gd name="adj" fmla="val 7097"/>
            </a:avLst>
          </a:prstGeom>
          <a:solidFill>
            <a:srgbClr val="095D75"/>
          </a:solidFill>
          <a:ln w="12700">
            <a:solidFill>
              <a:srgbClr val="095D75"/>
            </a:solidFill>
            <a:prstDash val="solid"/>
          </a:ln>
        </p:spPr>
        <p:txBody>
          <a:bodyPr/>
          <a:p/>
        </p:txBody>
      </p:sp>
      <p:sp>
        <p:nvSpPr>
          <p:cNvPr id="5" name="Text 3"/>
          <p:cNvSpPr/>
          <p:nvPr/>
        </p:nvSpPr>
        <p:spPr>
          <a:xfrm>
            <a:off x="1234440" y="1874520"/>
            <a:ext cx="9692640" cy="1417320"/>
          </a:xfrm>
          <a:prstGeom prst="rect">
            <a:avLst/>
          </a:prstGeom>
          <a:noFill/>
          <a:ln/>
        </p:spPr>
        <p:txBody>
          <a:bodyPr wrap="square" lIns="0" tIns="0" rIns="0" bIns="0" rtlCol="0" anchor="ctr"/>
          <a:lstStyle/>
          <a:p>
            <a:pPr indent="0" marL="0">
              <a:lnSpc>
                <a:spcPts val="2700"/>
              </a:lnSpc>
              <a:buNone/>
            </a:pPr>
            <a:r>
              <a:rPr lang="en-US" sz="2100" b="1" i="1" dirty="0">
                <a:solidFill>
                  <a:srgbClr val="FFFFFF"/>
                </a:solidFill>
                <a:latin typeface="Helvetica Neue" pitchFamily="34" charset="0"/>
                <a:ea typeface="Helvetica Neue" pitchFamily="34" charset="-122"/>
                <a:cs typeface="Helvetica Neue" pitchFamily="34" charset="-120"/>
              </a:rPr>
              <a:t>“You will not have a teacher running this. You will have a boss — and the boss is each other.”</a:t>
            </a:r>
            <a:endParaRPr lang="en-US" sz="2100" dirty="0"/>
          </a:p>
        </p:txBody>
      </p:sp>
      <p:sp>
        <p:nvSpPr>
          <p:cNvPr id="6" name="Text 4"/>
          <p:cNvSpPr/>
          <p:nvPr/>
        </p:nvSpPr>
        <p:spPr>
          <a:xfrm>
            <a:off x="822960" y="3520440"/>
            <a:ext cx="10545775" cy="777240"/>
          </a:xfrm>
          <a:prstGeom prst="rect">
            <a:avLst/>
          </a:prstGeom>
          <a:noFill/>
          <a:ln/>
        </p:spPr>
        <p:txBody>
          <a:bodyPr wrap="square" lIns="0" tIns="0" rIns="0" bIns="0" rtlCol="0" anchor="ctr"/>
          <a:lstStyle/>
          <a:p>
            <a:pPr indent="0" marL="0">
              <a:lnSpc>
                <a:spcPts val="2100"/>
              </a:lnSpc>
              <a:buNone/>
            </a:pPr>
            <a:r>
              <a:rPr lang="en-US" sz="1400" dirty="0">
                <a:solidFill>
                  <a:srgbClr val="6E6E73"/>
                </a:solidFill>
                <a:latin typeface="Helvetica Neue" pitchFamily="34" charset="0"/>
                <a:ea typeface="Helvetica Neue" pitchFamily="34" charset="-122"/>
                <a:cs typeface="Helvetica Neue" pitchFamily="34" charset="-120"/>
              </a:rPr>
              <a:t>MATE deliberately asks teams to operate like a real engineering company, not a class. The reason is simple: it is the fastest way to turn students into engineers. Three things become real the moment we do this.</a:t>
            </a:r>
            <a:endParaRPr lang="en-US" sz="1400" dirty="0"/>
          </a:p>
        </p:txBody>
      </p:sp>
      <p:sp>
        <p:nvSpPr>
          <p:cNvPr id="7" name="Shape 5"/>
          <p:cNvSpPr/>
          <p:nvPr/>
        </p:nvSpPr>
        <p:spPr>
          <a:xfrm>
            <a:off x="822960" y="4434840"/>
            <a:ext cx="3310128" cy="1600200"/>
          </a:xfrm>
          <a:prstGeom prst="roundRect">
            <a:avLst>
              <a:gd name="adj" fmla="val 6286"/>
            </a:avLst>
          </a:prstGeom>
          <a:solidFill>
            <a:srgbClr val="FBFBFD"/>
          </a:solidFill>
          <a:ln w="12700">
            <a:solidFill>
              <a:srgbClr val="E3E3E6"/>
            </a:solidFill>
            <a:prstDash val="solid"/>
          </a:ln>
        </p:spPr>
        <p:txBody>
          <a:bodyPr/>
          <a:p/>
        </p:txBody>
      </p:sp>
      <p:sp>
        <p:nvSpPr>
          <p:cNvPr id="8" name="Text 6"/>
          <p:cNvSpPr/>
          <p:nvPr/>
        </p:nvSpPr>
        <p:spPr>
          <a:xfrm>
            <a:off x="1097280" y="4654296"/>
            <a:ext cx="2761488" cy="329184"/>
          </a:xfrm>
          <a:prstGeom prst="rect">
            <a:avLst/>
          </a:prstGeom>
          <a:noFill/>
          <a:ln/>
        </p:spPr>
        <p:txBody>
          <a:bodyPr wrap="square" lIns="0" tIns="0" rIns="0" bIns="0" rtlCol="0" anchor="ctr"/>
          <a:lstStyle/>
          <a:p>
            <a:pPr indent="0" marL="0">
              <a:buNone/>
            </a:pPr>
            <a:r>
              <a:rPr lang="en-US" sz="1400" b="1" dirty="0">
                <a:solidFill>
                  <a:srgbClr val="095D75"/>
                </a:solidFill>
                <a:latin typeface="Helvetica Neue" pitchFamily="34" charset="0"/>
                <a:ea typeface="Helvetica Neue" pitchFamily="34" charset="-122"/>
                <a:cs typeface="Helvetica Neue" pitchFamily="34" charset="-120"/>
              </a:rPr>
              <a:t>Every job is owned</a:t>
            </a:r>
            <a:endParaRPr lang="en-US" sz="1400" dirty="0"/>
          </a:p>
        </p:txBody>
      </p:sp>
      <p:sp>
        <p:nvSpPr>
          <p:cNvPr id="9" name="Text 7"/>
          <p:cNvSpPr/>
          <p:nvPr/>
        </p:nvSpPr>
        <p:spPr>
          <a:xfrm>
            <a:off x="1097280" y="5001768"/>
            <a:ext cx="2761488" cy="914400"/>
          </a:xfrm>
          <a:prstGeom prst="rect">
            <a:avLst/>
          </a:prstGeom>
          <a:noFill/>
          <a:ln/>
        </p:spPr>
        <p:txBody>
          <a:bodyPr wrap="square" lIns="0" tIns="0" rIns="0" bIns="0" rtlCol="0" anchor="ctr"/>
          <a:lstStyle/>
          <a:p>
            <a:pPr indent="0" marL="0">
              <a:lnSpc>
                <a:spcPts val="1550"/>
              </a:lnSpc>
              <a:buNone/>
            </a:pPr>
            <a:r>
              <a:rPr lang="en-US" sz="1150" dirty="0">
                <a:solidFill>
                  <a:srgbClr val="6E6E73"/>
                </a:solidFill>
                <a:latin typeface="Helvetica Neue" pitchFamily="34" charset="0"/>
                <a:ea typeface="Helvetica Neue" pitchFamily="34" charset="-122"/>
                <a:cs typeface="Helvetica Neue" pitchFamily="34" charset="-120"/>
              </a:rPr>
              <a:t>No task is 'someone's' job by accident. Each one has a name attached, and that person answers for it.</a:t>
            </a:r>
            <a:endParaRPr lang="en-US" sz="1150" dirty="0"/>
          </a:p>
        </p:txBody>
      </p:sp>
      <p:sp>
        <p:nvSpPr>
          <p:cNvPr id="10" name="Shape 8"/>
          <p:cNvSpPr/>
          <p:nvPr/>
        </p:nvSpPr>
        <p:spPr>
          <a:xfrm>
            <a:off x="4434840" y="4434840"/>
            <a:ext cx="3310128" cy="1600200"/>
          </a:xfrm>
          <a:prstGeom prst="roundRect">
            <a:avLst>
              <a:gd name="adj" fmla="val 6286"/>
            </a:avLst>
          </a:prstGeom>
          <a:solidFill>
            <a:srgbClr val="FBFBFD"/>
          </a:solidFill>
          <a:ln w="12700">
            <a:solidFill>
              <a:srgbClr val="E3E3E6"/>
            </a:solidFill>
            <a:prstDash val="solid"/>
          </a:ln>
        </p:spPr>
        <p:txBody>
          <a:bodyPr/>
          <a:p/>
        </p:txBody>
      </p:sp>
      <p:sp>
        <p:nvSpPr>
          <p:cNvPr id="11" name="Text 9"/>
          <p:cNvSpPr/>
          <p:nvPr/>
        </p:nvSpPr>
        <p:spPr>
          <a:xfrm>
            <a:off x="4709160" y="4654296"/>
            <a:ext cx="2761488" cy="329184"/>
          </a:xfrm>
          <a:prstGeom prst="rect">
            <a:avLst/>
          </a:prstGeom>
          <a:noFill/>
          <a:ln/>
        </p:spPr>
        <p:txBody>
          <a:bodyPr wrap="square" lIns="0" tIns="0" rIns="0" bIns="0" rtlCol="0" anchor="ctr"/>
          <a:lstStyle/>
          <a:p>
            <a:pPr indent="0" marL="0">
              <a:buNone/>
            </a:pPr>
            <a:r>
              <a:rPr lang="en-US" sz="1400" b="1" dirty="0">
                <a:solidFill>
                  <a:srgbClr val="095D75"/>
                </a:solidFill>
                <a:latin typeface="Helvetica Neue" pitchFamily="34" charset="0"/>
                <a:ea typeface="Helvetica Neue" pitchFamily="34" charset="-122"/>
                <a:cs typeface="Helvetica Neue" pitchFamily="34" charset="-120"/>
              </a:rPr>
              <a:t>The pressure is real</a:t>
            </a:r>
            <a:endParaRPr lang="en-US" sz="1400" dirty="0"/>
          </a:p>
        </p:txBody>
      </p:sp>
      <p:sp>
        <p:nvSpPr>
          <p:cNvPr id="12" name="Text 10"/>
          <p:cNvSpPr/>
          <p:nvPr/>
        </p:nvSpPr>
        <p:spPr>
          <a:xfrm>
            <a:off x="4709160" y="5001768"/>
            <a:ext cx="2761488" cy="914400"/>
          </a:xfrm>
          <a:prstGeom prst="rect">
            <a:avLst/>
          </a:prstGeom>
          <a:noFill/>
          <a:ln/>
        </p:spPr>
        <p:txBody>
          <a:bodyPr wrap="square" lIns="0" tIns="0" rIns="0" bIns="0" rtlCol="0" anchor="ctr"/>
          <a:lstStyle/>
          <a:p>
            <a:pPr indent="0" marL="0">
              <a:lnSpc>
                <a:spcPts val="1550"/>
              </a:lnSpc>
              <a:buNone/>
            </a:pPr>
            <a:r>
              <a:rPr lang="en-US" sz="1150" dirty="0">
                <a:solidFill>
                  <a:srgbClr val="6E6E73"/>
                </a:solidFill>
                <a:latin typeface="Helvetica Neue" pitchFamily="34" charset="0"/>
                <a:ea typeface="Helvetica Neue" pitchFamily="34" charset="-122"/>
                <a:cs typeface="Helvetica Neue" pitchFamily="34" charset="-120"/>
              </a:rPr>
              <a:t>Real budget, real deadlines, real reputation. The float either surfaces or it doesn't.</a:t>
            </a:r>
            <a:endParaRPr lang="en-US" sz="1150" dirty="0"/>
          </a:p>
        </p:txBody>
      </p:sp>
      <p:sp>
        <p:nvSpPr>
          <p:cNvPr id="13" name="Shape 11"/>
          <p:cNvSpPr/>
          <p:nvPr/>
        </p:nvSpPr>
        <p:spPr>
          <a:xfrm>
            <a:off x="8046720" y="4434840"/>
            <a:ext cx="3310128" cy="1600200"/>
          </a:xfrm>
          <a:prstGeom prst="roundRect">
            <a:avLst>
              <a:gd name="adj" fmla="val 6286"/>
            </a:avLst>
          </a:prstGeom>
          <a:solidFill>
            <a:srgbClr val="FBFBFD"/>
          </a:solidFill>
          <a:ln w="12700">
            <a:solidFill>
              <a:srgbClr val="E3E3E6"/>
            </a:solidFill>
            <a:prstDash val="solid"/>
          </a:ln>
        </p:spPr>
        <p:txBody>
          <a:bodyPr/>
          <a:p/>
        </p:txBody>
      </p:sp>
      <p:sp>
        <p:nvSpPr>
          <p:cNvPr id="14" name="Text 12"/>
          <p:cNvSpPr/>
          <p:nvPr/>
        </p:nvSpPr>
        <p:spPr>
          <a:xfrm>
            <a:off x="8321040" y="4654296"/>
            <a:ext cx="2761488" cy="329184"/>
          </a:xfrm>
          <a:prstGeom prst="rect">
            <a:avLst/>
          </a:prstGeom>
          <a:noFill/>
          <a:ln/>
        </p:spPr>
        <p:txBody>
          <a:bodyPr wrap="square" lIns="0" tIns="0" rIns="0" bIns="0" rtlCol="0" anchor="ctr"/>
          <a:lstStyle/>
          <a:p>
            <a:pPr indent="0" marL="0">
              <a:buNone/>
            </a:pPr>
            <a:r>
              <a:rPr lang="en-US" sz="1400" b="1" dirty="0">
                <a:solidFill>
                  <a:srgbClr val="095D75"/>
                </a:solidFill>
                <a:latin typeface="Helvetica Neue" pitchFamily="34" charset="0"/>
                <a:ea typeface="Helvetica Neue" pitchFamily="34" charset="-122"/>
                <a:cs typeface="Helvetica Neue" pitchFamily="34" charset="-120"/>
              </a:rPr>
              <a:t>You rise together</a:t>
            </a:r>
            <a:endParaRPr lang="en-US" sz="1400" dirty="0"/>
          </a:p>
        </p:txBody>
      </p:sp>
      <p:sp>
        <p:nvSpPr>
          <p:cNvPr id="15" name="Text 13"/>
          <p:cNvSpPr/>
          <p:nvPr/>
        </p:nvSpPr>
        <p:spPr>
          <a:xfrm>
            <a:off x="8321040" y="5001768"/>
            <a:ext cx="2761488" cy="914400"/>
          </a:xfrm>
          <a:prstGeom prst="rect">
            <a:avLst/>
          </a:prstGeom>
          <a:noFill/>
          <a:ln/>
        </p:spPr>
        <p:txBody>
          <a:bodyPr wrap="square" lIns="0" tIns="0" rIns="0" bIns="0" rtlCol="0" anchor="ctr"/>
          <a:lstStyle/>
          <a:p>
            <a:pPr indent="0" marL="0">
              <a:lnSpc>
                <a:spcPts val="1550"/>
              </a:lnSpc>
              <a:buNone/>
            </a:pPr>
            <a:r>
              <a:rPr lang="en-US" sz="1150" dirty="0">
                <a:solidFill>
                  <a:srgbClr val="6E6E73"/>
                </a:solidFill>
                <a:latin typeface="Helvetica Neue" pitchFamily="34" charset="0"/>
                <a:ea typeface="Helvetica Neue" pitchFamily="34" charset="-122"/>
                <a:cs typeface="Helvetica Neue" pitchFamily="34" charset="-120"/>
              </a:rPr>
              <a:t>A company succeeds as a unit. Your best work means nothing if the team around it fails.</a:t>
            </a:r>
            <a:endParaRPr lang="en-US" sz="1150" dirty="0"/>
          </a:p>
        </p:txBody>
      </p:sp>
      <p:sp>
        <p:nvSpPr>
          <p:cNvPr id="16" name="Shape 14"/>
          <p:cNvSpPr/>
          <p:nvPr/>
        </p:nvSpPr>
        <p:spPr>
          <a:xfrm>
            <a:off x="822960" y="6437376"/>
            <a:ext cx="10545775" cy="0"/>
          </a:xfrm>
          <a:prstGeom prst="line">
            <a:avLst/>
          </a:prstGeom>
          <a:noFill/>
          <a:ln w="9525">
            <a:solidFill>
              <a:srgbClr val="E3E3E6"/>
            </a:solidFill>
            <a:prstDash val="solid"/>
          </a:ln>
        </p:spPr>
        <p:txBody>
          <a:bodyPr/>
          <a:p/>
        </p:txBody>
      </p:sp>
      <p:sp>
        <p:nvSpPr>
          <p:cNvPr id="17" name="Text 15"/>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8" name="Text 16"/>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11 / 29</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WE ARE A COMPANY</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Six roles. Every student owns one.</a:t>
            </a:r>
            <a:endParaRPr lang="en-US" sz="3000" dirty="0"/>
          </a:p>
        </p:txBody>
      </p:sp>
      <p:sp>
        <p:nvSpPr>
          <p:cNvPr id="4" name="Shape 2"/>
          <p:cNvSpPr/>
          <p:nvPr/>
        </p:nvSpPr>
        <p:spPr>
          <a:xfrm>
            <a:off x="822960" y="1755648"/>
            <a:ext cx="3310128" cy="2121408"/>
          </a:xfrm>
          <a:prstGeom prst="roundRect">
            <a:avLst>
              <a:gd name="adj" fmla="val 4741"/>
            </a:avLst>
          </a:prstGeom>
          <a:solidFill>
            <a:srgbClr val="FBFBFD"/>
          </a:solidFill>
          <a:ln w="12700">
            <a:solidFill>
              <a:srgbClr val="E3E3E6"/>
            </a:solidFill>
            <a:prstDash val="solid"/>
          </a:ln>
        </p:spPr>
        <p:txBody>
          <a:bodyPr/>
          <a:p/>
        </p:txBody>
      </p:sp>
      <p:sp>
        <p:nvSpPr>
          <p:cNvPr id="5" name="Shape 3"/>
          <p:cNvSpPr/>
          <p:nvPr/>
        </p:nvSpPr>
        <p:spPr>
          <a:xfrm>
            <a:off x="1097280" y="2029968"/>
            <a:ext cx="402336" cy="402336"/>
          </a:xfrm>
          <a:prstGeom prst="ellipse">
            <a:avLst/>
          </a:prstGeom>
          <a:solidFill>
            <a:srgbClr val="0D7490"/>
          </a:solidFill>
          <a:ln/>
        </p:spPr>
        <p:txBody>
          <a:bodyPr/>
          <a:p/>
        </p:txBody>
      </p:sp>
      <p:sp>
        <p:nvSpPr>
          <p:cNvPr id="6" name="Text 4"/>
          <p:cNvSpPr/>
          <p:nvPr/>
        </p:nvSpPr>
        <p:spPr>
          <a:xfrm>
            <a:off x="1097280" y="2029968"/>
            <a:ext cx="402336" cy="402336"/>
          </a:xfrm>
          <a:prstGeom prst="rect">
            <a:avLst/>
          </a:prstGeom>
          <a:noFill/>
          <a:ln/>
        </p:spPr>
        <p:txBody>
          <a:bodyPr wrap="square" lIns="0" tIns="0" rIns="0" bIns="0" rtlCol="0" anchor="ctr"/>
          <a:lstStyle/>
          <a:p>
            <a:pPr algn="ctr" indent="0" marL="0">
              <a:buNone/>
            </a:pPr>
            <a:r>
              <a:rPr lang="en-US" sz="1232" b="1" dirty="0">
                <a:solidFill>
                  <a:srgbClr val="FFFFFF"/>
                </a:solidFill>
                <a:latin typeface="Helvetica Neue" pitchFamily="34" charset="0"/>
                <a:ea typeface="Helvetica Neue" pitchFamily="34" charset="-122"/>
                <a:cs typeface="Helvetica Neue" pitchFamily="34" charset="-120"/>
              </a:rPr>
              <a:t>1</a:t>
            </a:r>
            <a:endParaRPr lang="en-US" sz="1232" dirty="0"/>
          </a:p>
        </p:txBody>
      </p:sp>
      <p:sp>
        <p:nvSpPr>
          <p:cNvPr id="7" name="Text 5"/>
          <p:cNvSpPr/>
          <p:nvPr/>
        </p:nvSpPr>
        <p:spPr>
          <a:xfrm>
            <a:off x="1627632" y="2002536"/>
            <a:ext cx="2304288" cy="365760"/>
          </a:xfrm>
          <a:prstGeom prst="rect">
            <a:avLst/>
          </a:prstGeom>
          <a:noFill/>
          <a:ln/>
        </p:spPr>
        <p:txBody>
          <a:bodyPr wrap="square" lIns="0" tIns="0" rIns="0" bIns="0" rtlCol="0" anchor="ctr"/>
          <a:lstStyle/>
          <a:p>
            <a:pPr indent="0" marL="0">
              <a:buNone/>
            </a:pPr>
            <a:r>
              <a:rPr lang="en-US" sz="1550" b="1" dirty="0">
                <a:solidFill>
                  <a:srgbClr val="1D1D1F"/>
                </a:solidFill>
                <a:latin typeface="Helvetica Neue" pitchFamily="34" charset="0"/>
                <a:ea typeface="Helvetica Neue" pitchFamily="34" charset="-122"/>
                <a:cs typeface="Helvetica Neue" pitchFamily="34" charset="-120"/>
              </a:rPr>
              <a:t>CEO</a:t>
            </a:r>
            <a:endParaRPr lang="en-US" sz="1550" dirty="0"/>
          </a:p>
        </p:txBody>
      </p:sp>
      <p:sp>
        <p:nvSpPr>
          <p:cNvPr id="8" name="Text 6"/>
          <p:cNvSpPr/>
          <p:nvPr/>
        </p:nvSpPr>
        <p:spPr>
          <a:xfrm>
            <a:off x="1097280" y="2542032"/>
            <a:ext cx="2761488" cy="274320"/>
          </a:xfrm>
          <a:prstGeom prst="rect">
            <a:avLst/>
          </a:prstGeom>
          <a:noFill/>
          <a:ln/>
        </p:spPr>
        <p:txBody>
          <a:bodyPr wrap="square" lIns="0" tIns="0" rIns="0" bIns="0" rtlCol="0" anchor="ctr"/>
          <a:lstStyle/>
          <a:p>
            <a:pPr indent="0" marL="0">
              <a:buNone/>
            </a:pPr>
            <a:r>
              <a:rPr lang="en-US" sz="900" b="1" spc="150" kern="0" dirty="0">
                <a:solidFill>
                  <a:srgbClr val="0D7490"/>
                </a:solidFill>
                <a:latin typeface="Helvetica Neue" pitchFamily="34" charset="0"/>
                <a:ea typeface="Helvetica Neue" pitchFamily="34" charset="-122"/>
                <a:cs typeface="Helvetica Neue" pitchFamily="34" charset="-120"/>
              </a:rPr>
              <a:t>CHIEF EXECUTIVE</a:t>
            </a:r>
            <a:endParaRPr lang="en-US" sz="900" dirty="0"/>
          </a:p>
        </p:txBody>
      </p:sp>
      <p:sp>
        <p:nvSpPr>
          <p:cNvPr id="9" name="Text 7"/>
          <p:cNvSpPr/>
          <p:nvPr/>
        </p:nvSpPr>
        <p:spPr>
          <a:xfrm>
            <a:off x="1097280" y="2834640"/>
            <a:ext cx="2779776" cy="914400"/>
          </a:xfrm>
          <a:prstGeom prst="rect">
            <a:avLst/>
          </a:prstGeom>
          <a:noFill/>
          <a:ln/>
        </p:spPr>
        <p:txBody>
          <a:bodyPr wrap="square" lIns="0" tIns="0" rIns="0" bIns="0" rtlCol="0" anchor="ctr"/>
          <a:lstStyle/>
          <a:p>
            <a:pPr indent="0" marL="0">
              <a:lnSpc>
                <a:spcPts val="1500"/>
              </a:lnSpc>
              <a:buNone/>
            </a:pPr>
            <a:r>
              <a:rPr lang="en-US" sz="1100" dirty="0">
                <a:solidFill>
                  <a:srgbClr val="6E6E73"/>
                </a:solidFill>
                <a:latin typeface="Helvetica Neue" pitchFamily="34" charset="0"/>
                <a:ea typeface="Helvetica Neue" pitchFamily="34" charset="-122"/>
                <a:cs typeface="Helvetica Neue" pitchFamily="34" charset="-120"/>
              </a:rPr>
              <a:t>Owns the schedule, runs the meetings, keeps every sub-team moving toward the deadline.</a:t>
            </a:r>
            <a:endParaRPr lang="en-US" sz="1100" dirty="0"/>
          </a:p>
        </p:txBody>
      </p:sp>
      <p:sp>
        <p:nvSpPr>
          <p:cNvPr id="10" name="Shape 8"/>
          <p:cNvSpPr/>
          <p:nvPr/>
        </p:nvSpPr>
        <p:spPr>
          <a:xfrm>
            <a:off x="4434840" y="1755648"/>
            <a:ext cx="3310128" cy="2121408"/>
          </a:xfrm>
          <a:prstGeom prst="roundRect">
            <a:avLst>
              <a:gd name="adj" fmla="val 4741"/>
            </a:avLst>
          </a:prstGeom>
          <a:solidFill>
            <a:srgbClr val="FBFBFD"/>
          </a:solidFill>
          <a:ln w="12700">
            <a:solidFill>
              <a:srgbClr val="E3E3E6"/>
            </a:solidFill>
            <a:prstDash val="solid"/>
          </a:ln>
        </p:spPr>
        <p:txBody>
          <a:bodyPr/>
          <a:p/>
        </p:txBody>
      </p:sp>
      <p:sp>
        <p:nvSpPr>
          <p:cNvPr id="11" name="Shape 9"/>
          <p:cNvSpPr/>
          <p:nvPr/>
        </p:nvSpPr>
        <p:spPr>
          <a:xfrm>
            <a:off x="4709160" y="2029968"/>
            <a:ext cx="402336" cy="402336"/>
          </a:xfrm>
          <a:prstGeom prst="ellipse">
            <a:avLst/>
          </a:prstGeom>
          <a:solidFill>
            <a:srgbClr val="0D7490"/>
          </a:solidFill>
          <a:ln/>
        </p:spPr>
        <p:txBody>
          <a:bodyPr/>
          <a:p/>
        </p:txBody>
      </p:sp>
      <p:sp>
        <p:nvSpPr>
          <p:cNvPr id="12" name="Text 10"/>
          <p:cNvSpPr/>
          <p:nvPr/>
        </p:nvSpPr>
        <p:spPr>
          <a:xfrm>
            <a:off x="4709160" y="2029968"/>
            <a:ext cx="402336" cy="402336"/>
          </a:xfrm>
          <a:prstGeom prst="rect">
            <a:avLst/>
          </a:prstGeom>
          <a:noFill/>
          <a:ln/>
        </p:spPr>
        <p:txBody>
          <a:bodyPr wrap="square" lIns="0" tIns="0" rIns="0" bIns="0" rtlCol="0" anchor="ctr"/>
          <a:lstStyle/>
          <a:p>
            <a:pPr algn="ctr" indent="0" marL="0">
              <a:buNone/>
            </a:pPr>
            <a:r>
              <a:rPr lang="en-US" sz="1232" b="1" dirty="0">
                <a:solidFill>
                  <a:srgbClr val="FFFFFF"/>
                </a:solidFill>
                <a:latin typeface="Helvetica Neue" pitchFamily="34" charset="0"/>
                <a:ea typeface="Helvetica Neue" pitchFamily="34" charset="-122"/>
                <a:cs typeface="Helvetica Neue" pitchFamily="34" charset="-120"/>
              </a:rPr>
              <a:t>2</a:t>
            </a:r>
            <a:endParaRPr lang="en-US" sz="1232" dirty="0"/>
          </a:p>
        </p:txBody>
      </p:sp>
      <p:sp>
        <p:nvSpPr>
          <p:cNvPr id="13" name="Text 11"/>
          <p:cNvSpPr/>
          <p:nvPr/>
        </p:nvSpPr>
        <p:spPr>
          <a:xfrm>
            <a:off x="5239512" y="2002536"/>
            <a:ext cx="2304288" cy="365760"/>
          </a:xfrm>
          <a:prstGeom prst="rect">
            <a:avLst/>
          </a:prstGeom>
          <a:noFill/>
          <a:ln/>
        </p:spPr>
        <p:txBody>
          <a:bodyPr wrap="square" lIns="0" tIns="0" rIns="0" bIns="0" rtlCol="0" anchor="ctr"/>
          <a:lstStyle/>
          <a:p>
            <a:pPr indent="0" marL="0">
              <a:buNone/>
            </a:pPr>
            <a:r>
              <a:rPr lang="en-US" sz="1550" b="1" dirty="0">
                <a:solidFill>
                  <a:srgbClr val="1D1D1F"/>
                </a:solidFill>
                <a:latin typeface="Helvetica Neue" pitchFamily="34" charset="0"/>
                <a:ea typeface="Helvetica Neue" pitchFamily="34" charset="-122"/>
                <a:cs typeface="Helvetica Neue" pitchFamily="34" charset="-120"/>
              </a:rPr>
              <a:t>CFO</a:t>
            </a:r>
            <a:endParaRPr lang="en-US" sz="1550" dirty="0"/>
          </a:p>
        </p:txBody>
      </p:sp>
      <p:sp>
        <p:nvSpPr>
          <p:cNvPr id="14" name="Text 12"/>
          <p:cNvSpPr/>
          <p:nvPr/>
        </p:nvSpPr>
        <p:spPr>
          <a:xfrm>
            <a:off x="4709160" y="2542032"/>
            <a:ext cx="2761488" cy="274320"/>
          </a:xfrm>
          <a:prstGeom prst="rect">
            <a:avLst/>
          </a:prstGeom>
          <a:noFill/>
          <a:ln/>
        </p:spPr>
        <p:txBody>
          <a:bodyPr wrap="square" lIns="0" tIns="0" rIns="0" bIns="0" rtlCol="0" anchor="ctr"/>
          <a:lstStyle/>
          <a:p>
            <a:pPr indent="0" marL="0">
              <a:buNone/>
            </a:pPr>
            <a:r>
              <a:rPr lang="en-US" sz="900" b="1" spc="150" kern="0" dirty="0">
                <a:solidFill>
                  <a:srgbClr val="0D7490"/>
                </a:solidFill>
                <a:latin typeface="Helvetica Neue" pitchFamily="34" charset="0"/>
                <a:ea typeface="Helvetica Neue" pitchFamily="34" charset="-122"/>
                <a:cs typeface="Helvetica Neue" pitchFamily="34" charset="-120"/>
              </a:rPr>
              <a:t>CHIEF FINANCIAL</a:t>
            </a:r>
            <a:endParaRPr lang="en-US" sz="900" dirty="0"/>
          </a:p>
        </p:txBody>
      </p:sp>
      <p:sp>
        <p:nvSpPr>
          <p:cNvPr id="15" name="Text 13"/>
          <p:cNvSpPr/>
          <p:nvPr/>
        </p:nvSpPr>
        <p:spPr>
          <a:xfrm>
            <a:off x="4709160" y="2834640"/>
            <a:ext cx="2779776" cy="914400"/>
          </a:xfrm>
          <a:prstGeom prst="rect">
            <a:avLst/>
          </a:prstGeom>
          <a:noFill/>
          <a:ln/>
        </p:spPr>
        <p:txBody>
          <a:bodyPr wrap="square" lIns="0" tIns="0" rIns="0" bIns="0" rtlCol="0" anchor="ctr"/>
          <a:lstStyle/>
          <a:p>
            <a:pPr indent="0" marL="0">
              <a:lnSpc>
                <a:spcPts val="1500"/>
              </a:lnSpc>
              <a:buNone/>
            </a:pPr>
            <a:r>
              <a:rPr lang="en-US" sz="1100" dirty="0">
                <a:solidFill>
                  <a:srgbClr val="6E6E73"/>
                </a:solidFill>
                <a:latin typeface="Helvetica Neue" pitchFamily="34" charset="0"/>
                <a:ea typeface="Helvetica Neue" pitchFamily="34" charset="-122"/>
                <a:cs typeface="Helvetica Neue" pitchFamily="34" charset="-120"/>
              </a:rPr>
              <a:t>Owns the budget and every purchase. Tracks what is spent against what was raised.</a:t>
            </a:r>
            <a:endParaRPr lang="en-US" sz="1100" dirty="0"/>
          </a:p>
        </p:txBody>
      </p:sp>
      <p:sp>
        <p:nvSpPr>
          <p:cNvPr id="16" name="Shape 14"/>
          <p:cNvSpPr/>
          <p:nvPr/>
        </p:nvSpPr>
        <p:spPr>
          <a:xfrm>
            <a:off x="8046720" y="1755648"/>
            <a:ext cx="3310128" cy="2121408"/>
          </a:xfrm>
          <a:prstGeom prst="roundRect">
            <a:avLst>
              <a:gd name="adj" fmla="val 4741"/>
            </a:avLst>
          </a:prstGeom>
          <a:solidFill>
            <a:srgbClr val="FBFBFD"/>
          </a:solidFill>
          <a:ln w="12700">
            <a:solidFill>
              <a:srgbClr val="E3E3E6"/>
            </a:solidFill>
            <a:prstDash val="solid"/>
          </a:ln>
        </p:spPr>
        <p:txBody>
          <a:bodyPr/>
          <a:p/>
        </p:txBody>
      </p:sp>
      <p:sp>
        <p:nvSpPr>
          <p:cNvPr id="17" name="Shape 15"/>
          <p:cNvSpPr/>
          <p:nvPr/>
        </p:nvSpPr>
        <p:spPr>
          <a:xfrm>
            <a:off x="8321040" y="2029968"/>
            <a:ext cx="402336" cy="402336"/>
          </a:xfrm>
          <a:prstGeom prst="ellipse">
            <a:avLst/>
          </a:prstGeom>
          <a:solidFill>
            <a:srgbClr val="0D7490"/>
          </a:solidFill>
          <a:ln/>
        </p:spPr>
        <p:txBody>
          <a:bodyPr/>
          <a:p/>
        </p:txBody>
      </p:sp>
      <p:sp>
        <p:nvSpPr>
          <p:cNvPr id="18" name="Text 16"/>
          <p:cNvSpPr/>
          <p:nvPr/>
        </p:nvSpPr>
        <p:spPr>
          <a:xfrm>
            <a:off x="8321040" y="2029968"/>
            <a:ext cx="402336" cy="402336"/>
          </a:xfrm>
          <a:prstGeom prst="rect">
            <a:avLst/>
          </a:prstGeom>
          <a:noFill/>
          <a:ln/>
        </p:spPr>
        <p:txBody>
          <a:bodyPr wrap="square" lIns="0" tIns="0" rIns="0" bIns="0" rtlCol="0" anchor="ctr"/>
          <a:lstStyle/>
          <a:p>
            <a:pPr algn="ctr" indent="0" marL="0">
              <a:buNone/>
            </a:pPr>
            <a:r>
              <a:rPr lang="en-US" sz="1232" b="1" dirty="0">
                <a:solidFill>
                  <a:srgbClr val="FFFFFF"/>
                </a:solidFill>
                <a:latin typeface="Helvetica Neue" pitchFamily="34" charset="0"/>
                <a:ea typeface="Helvetica Neue" pitchFamily="34" charset="-122"/>
                <a:cs typeface="Helvetica Neue" pitchFamily="34" charset="-120"/>
              </a:rPr>
              <a:t>3</a:t>
            </a:r>
            <a:endParaRPr lang="en-US" sz="1232" dirty="0"/>
          </a:p>
        </p:txBody>
      </p:sp>
      <p:sp>
        <p:nvSpPr>
          <p:cNvPr id="19" name="Text 17"/>
          <p:cNvSpPr/>
          <p:nvPr/>
        </p:nvSpPr>
        <p:spPr>
          <a:xfrm>
            <a:off x="8851392" y="2002536"/>
            <a:ext cx="2304288" cy="365760"/>
          </a:xfrm>
          <a:prstGeom prst="rect">
            <a:avLst/>
          </a:prstGeom>
          <a:noFill/>
          <a:ln/>
        </p:spPr>
        <p:txBody>
          <a:bodyPr wrap="square" lIns="0" tIns="0" rIns="0" bIns="0" rtlCol="0" anchor="ctr"/>
          <a:lstStyle/>
          <a:p>
            <a:pPr indent="0" marL="0">
              <a:buNone/>
            </a:pPr>
            <a:r>
              <a:rPr lang="en-US" sz="1550" b="1" dirty="0">
                <a:solidFill>
                  <a:srgbClr val="1D1D1F"/>
                </a:solidFill>
                <a:latin typeface="Helvetica Neue" pitchFamily="34" charset="0"/>
                <a:ea typeface="Helvetica Neue" pitchFamily="34" charset="-122"/>
                <a:cs typeface="Helvetica Neue" pitchFamily="34" charset="-120"/>
              </a:rPr>
              <a:t>Mechanical Lead</a:t>
            </a:r>
            <a:endParaRPr lang="en-US" sz="1550" dirty="0"/>
          </a:p>
        </p:txBody>
      </p:sp>
      <p:sp>
        <p:nvSpPr>
          <p:cNvPr id="20" name="Text 18"/>
          <p:cNvSpPr/>
          <p:nvPr/>
        </p:nvSpPr>
        <p:spPr>
          <a:xfrm>
            <a:off x="8321040" y="2542032"/>
            <a:ext cx="2761488" cy="274320"/>
          </a:xfrm>
          <a:prstGeom prst="rect">
            <a:avLst/>
          </a:prstGeom>
          <a:noFill/>
          <a:ln/>
        </p:spPr>
        <p:txBody>
          <a:bodyPr wrap="square" lIns="0" tIns="0" rIns="0" bIns="0" rtlCol="0" anchor="ctr"/>
          <a:lstStyle/>
          <a:p>
            <a:pPr indent="0" marL="0">
              <a:buNone/>
            </a:pPr>
            <a:r>
              <a:rPr lang="en-US" sz="900" b="1" spc="150" kern="0" dirty="0">
                <a:solidFill>
                  <a:srgbClr val="0D7490"/>
                </a:solidFill>
                <a:latin typeface="Helvetica Neue" pitchFamily="34" charset="0"/>
                <a:ea typeface="Helvetica Neue" pitchFamily="34" charset="-122"/>
                <a:cs typeface="Helvetica Neue" pitchFamily="34" charset="-120"/>
              </a:rPr>
              <a:t>STRUCTURE &amp; TOOLS</a:t>
            </a:r>
            <a:endParaRPr lang="en-US" sz="900" dirty="0"/>
          </a:p>
        </p:txBody>
      </p:sp>
      <p:sp>
        <p:nvSpPr>
          <p:cNvPr id="21" name="Text 19"/>
          <p:cNvSpPr/>
          <p:nvPr/>
        </p:nvSpPr>
        <p:spPr>
          <a:xfrm>
            <a:off x="8321040" y="2834640"/>
            <a:ext cx="2779776" cy="914400"/>
          </a:xfrm>
          <a:prstGeom prst="rect">
            <a:avLst/>
          </a:prstGeom>
          <a:noFill/>
          <a:ln/>
        </p:spPr>
        <p:txBody>
          <a:bodyPr wrap="square" lIns="0" tIns="0" rIns="0" bIns="0" rtlCol="0" anchor="ctr"/>
          <a:lstStyle/>
          <a:p>
            <a:pPr indent="0" marL="0">
              <a:lnSpc>
                <a:spcPts val="1500"/>
              </a:lnSpc>
              <a:buNone/>
            </a:pPr>
            <a:r>
              <a:rPr lang="en-US" sz="1100" dirty="0">
                <a:solidFill>
                  <a:srgbClr val="6E6E73"/>
                </a:solidFill>
                <a:latin typeface="Helvetica Neue" pitchFamily="34" charset="0"/>
                <a:ea typeface="Helvetica Neue" pitchFamily="34" charset="-122"/>
                <a:cs typeface="Helvetica Neue" pitchFamily="34" charset="-120"/>
              </a:rPr>
              <a:t>Owns the frame, the float body, and the manipulator — everything that moves or holds.</a:t>
            </a:r>
            <a:endParaRPr lang="en-US" sz="1100" dirty="0"/>
          </a:p>
        </p:txBody>
      </p:sp>
      <p:sp>
        <p:nvSpPr>
          <p:cNvPr id="22" name="Shape 20"/>
          <p:cNvSpPr/>
          <p:nvPr/>
        </p:nvSpPr>
        <p:spPr>
          <a:xfrm>
            <a:off x="822960" y="4123944"/>
            <a:ext cx="3310128" cy="2121408"/>
          </a:xfrm>
          <a:prstGeom prst="roundRect">
            <a:avLst>
              <a:gd name="adj" fmla="val 4741"/>
            </a:avLst>
          </a:prstGeom>
          <a:solidFill>
            <a:srgbClr val="FBFBFD"/>
          </a:solidFill>
          <a:ln w="12700">
            <a:solidFill>
              <a:srgbClr val="E3E3E6"/>
            </a:solidFill>
            <a:prstDash val="solid"/>
          </a:ln>
        </p:spPr>
        <p:txBody>
          <a:bodyPr/>
          <a:p/>
        </p:txBody>
      </p:sp>
      <p:sp>
        <p:nvSpPr>
          <p:cNvPr id="23" name="Shape 21"/>
          <p:cNvSpPr/>
          <p:nvPr/>
        </p:nvSpPr>
        <p:spPr>
          <a:xfrm>
            <a:off x="1097280" y="4398264"/>
            <a:ext cx="402336" cy="402336"/>
          </a:xfrm>
          <a:prstGeom prst="ellipse">
            <a:avLst/>
          </a:prstGeom>
          <a:solidFill>
            <a:srgbClr val="0D7490"/>
          </a:solidFill>
          <a:ln/>
        </p:spPr>
        <p:txBody>
          <a:bodyPr/>
          <a:p/>
        </p:txBody>
      </p:sp>
      <p:sp>
        <p:nvSpPr>
          <p:cNvPr id="24" name="Text 22"/>
          <p:cNvSpPr/>
          <p:nvPr/>
        </p:nvSpPr>
        <p:spPr>
          <a:xfrm>
            <a:off x="1097280" y="4398264"/>
            <a:ext cx="402336" cy="402336"/>
          </a:xfrm>
          <a:prstGeom prst="rect">
            <a:avLst/>
          </a:prstGeom>
          <a:noFill/>
          <a:ln/>
        </p:spPr>
        <p:txBody>
          <a:bodyPr wrap="square" lIns="0" tIns="0" rIns="0" bIns="0" rtlCol="0" anchor="ctr"/>
          <a:lstStyle/>
          <a:p>
            <a:pPr algn="ctr" indent="0" marL="0">
              <a:buNone/>
            </a:pPr>
            <a:r>
              <a:rPr lang="en-US" sz="1232" b="1" dirty="0">
                <a:solidFill>
                  <a:srgbClr val="FFFFFF"/>
                </a:solidFill>
                <a:latin typeface="Helvetica Neue" pitchFamily="34" charset="0"/>
                <a:ea typeface="Helvetica Neue" pitchFamily="34" charset="-122"/>
                <a:cs typeface="Helvetica Neue" pitchFamily="34" charset="-120"/>
              </a:rPr>
              <a:t>4</a:t>
            </a:r>
            <a:endParaRPr lang="en-US" sz="1232" dirty="0"/>
          </a:p>
        </p:txBody>
      </p:sp>
      <p:sp>
        <p:nvSpPr>
          <p:cNvPr id="25" name="Text 23"/>
          <p:cNvSpPr/>
          <p:nvPr/>
        </p:nvSpPr>
        <p:spPr>
          <a:xfrm>
            <a:off x="1627632" y="4370832"/>
            <a:ext cx="2304288" cy="365760"/>
          </a:xfrm>
          <a:prstGeom prst="rect">
            <a:avLst/>
          </a:prstGeom>
          <a:noFill/>
          <a:ln/>
        </p:spPr>
        <p:txBody>
          <a:bodyPr wrap="square" lIns="0" tIns="0" rIns="0" bIns="0" rtlCol="0" anchor="ctr"/>
          <a:lstStyle/>
          <a:p>
            <a:pPr indent="0" marL="0">
              <a:buNone/>
            </a:pPr>
            <a:r>
              <a:rPr lang="en-US" sz="1550" b="1" dirty="0">
                <a:solidFill>
                  <a:srgbClr val="1D1D1F"/>
                </a:solidFill>
                <a:latin typeface="Helvetica Neue" pitchFamily="34" charset="0"/>
                <a:ea typeface="Helvetica Neue" pitchFamily="34" charset="-122"/>
                <a:cs typeface="Helvetica Neue" pitchFamily="34" charset="-120"/>
              </a:rPr>
              <a:t>Electrical Lead</a:t>
            </a:r>
            <a:endParaRPr lang="en-US" sz="1550" dirty="0"/>
          </a:p>
        </p:txBody>
      </p:sp>
      <p:sp>
        <p:nvSpPr>
          <p:cNvPr id="26" name="Text 24"/>
          <p:cNvSpPr/>
          <p:nvPr/>
        </p:nvSpPr>
        <p:spPr>
          <a:xfrm>
            <a:off x="1097280" y="4910328"/>
            <a:ext cx="2761488" cy="274320"/>
          </a:xfrm>
          <a:prstGeom prst="rect">
            <a:avLst/>
          </a:prstGeom>
          <a:noFill/>
          <a:ln/>
        </p:spPr>
        <p:txBody>
          <a:bodyPr wrap="square" lIns="0" tIns="0" rIns="0" bIns="0" rtlCol="0" anchor="ctr"/>
          <a:lstStyle/>
          <a:p>
            <a:pPr indent="0" marL="0">
              <a:buNone/>
            </a:pPr>
            <a:r>
              <a:rPr lang="en-US" sz="900" b="1" spc="150" kern="0" dirty="0">
                <a:solidFill>
                  <a:srgbClr val="0D7490"/>
                </a:solidFill>
                <a:latin typeface="Helvetica Neue" pitchFamily="34" charset="0"/>
                <a:ea typeface="Helvetica Neue" pitchFamily="34" charset="-122"/>
                <a:cs typeface="Helvetica Neue" pitchFamily="34" charset="-120"/>
              </a:rPr>
              <a:t>POWER &amp; WIRING</a:t>
            </a:r>
            <a:endParaRPr lang="en-US" sz="900" dirty="0"/>
          </a:p>
        </p:txBody>
      </p:sp>
      <p:sp>
        <p:nvSpPr>
          <p:cNvPr id="27" name="Text 25"/>
          <p:cNvSpPr/>
          <p:nvPr/>
        </p:nvSpPr>
        <p:spPr>
          <a:xfrm>
            <a:off x="1097280" y="5202936"/>
            <a:ext cx="2779776" cy="914400"/>
          </a:xfrm>
          <a:prstGeom prst="rect">
            <a:avLst/>
          </a:prstGeom>
          <a:noFill/>
          <a:ln/>
        </p:spPr>
        <p:txBody>
          <a:bodyPr wrap="square" lIns="0" tIns="0" rIns="0" bIns="0" rtlCol="0" anchor="ctr"/>
          <a:lstStyle/>
          <a:p>
            <a:pPr indent="0" marL="0">
              <a:lnSpc>
                <a:spcPts val="1500"/>
              </a:lnSpc>
              <a:buNone/>
            </a:pPr>
            <a:r>
              <a:rPr lang="en-US" sz="1100" dirty="0">
                <a:solidFill>
                  <a:srgbClr val="6E6E73"/>
                </a:solidFill>
                <a:latin typeface="Helvetica Neue" pitchFamily="34" charset="0"/>
                <a:ea typeface="Helvetica Neue" pitchFamily="34" charset="-122"/>
                <a:cs typeface="Helvetica Neue" pitchFamily="34" charset="-120"/>
              </a:rPr>
              <a:t>Owns the tether, the control box, and every connection that carries current.</a:t>
            </a:r>
            <a:endParaRPr lang="en-US" sz="1100" dirty="0"/>
          </a:p>
        </p:txBody>
      </p:sp>
      <p:sp>
        <p:nvSpPr>
          <p:cNvPr id="28" name="Shape 26"/>
          <p:cNvSpPr/>
          <p:nvPr/>
        </p:nvSpPr>
        <p:spPr>
          <a:xfrm>
            <a:off x="4434840" y="4123944"/>
            <a:ext cx="3310128" cy="2121408"/>
          </a:xfrm>
          <a:prstGeom prst="roundRect">
            <a:avLst>
              <a:gd name="adj" fmla="val 4741"/>
            </a:avLst>
          </a:prstGeom>
          <a:solidFill>
            <a:srgbClr val="FBFBFD"/>
          </a:solidFill>
          <a:ln w="12700">
            <a:solidFill>
              <a:srgbClr val="E3E3E6"/>
            </a:solidFill>
            <a:prstDash val="solid"/>
          </a:ln>
        </p:spPr>
        <p:txBody>
          <a:bodyPr/>
          <a:p/>
        </p:txBody>
      </p:sp>
      <p:sp>
        <p:nvSpPr>
          <p:cNvPr id="29" name="Shape 27"/>
          <p:cNvSpPr/>
          <p:nvPr/>
        </p:nvSpPr>
        <p:spPr>
          <a:xfrm>
            <a:off x="4709160" y="4398264"/>
            <a:ext cx="402336" cy="402336"/>
          </a:xfrm>
          <a:prstGeom prst="ellipse">
            <a:avLst/>
          </a:prstGeom>
          <a:solidFill>
            <a:srgbClr val="0D7490"/>
          </a:solidFill>
          <a:ln/>
        </p:spPr>
        <p:txBody>
          <a:bodyPr/>
          <a:p/>
        </p:txBody>
      </p:sp>
      <p:sp>
        <p:nvSpPr>
          <p:cNvPr id="30" name="Text 28"/>
          <p:cNvSpPr/>
          <p:nvPr/>
        </p:nvSpPr>
        <p:spPr>
          <a:xfrm>
            <a:off x="4709160" y="4398264"/>
            <a:ext cx="402336" cy="402336"/>
          </a:xfrm>
          <a:prstGeom prst="rect">
            <a:avLst/>
          </a:prstGeom>
          <a:noFill/>
          <a:ln/>
        </p:spPr>
        <p:txBody>
          <a:bodyPr wrap="square" lIns="0" tIns="0" rIns="0" bIns="0" rtlCol="0" anchor="ctr"/>
          <a:lstStyle/>
          <a:p>
            <a:pPr algn="ctr" indent="0" marL="0">
              <a:buNone/>
            </a:pPr>
            <a:r>
              <a:rPr lang="en-US" sz="1232" b="1" dirty="0">
                <a:solidFill>
                  <a:srgbClr val="FFFFFF"/>
                </a:solidFill>
                <a:latin typeface="Helvetica Neue" pitchFamily="34" charset="0"/>
                <a:ea typeface="Helvetica Neue" pitchFamily="34" charset="-122"/>
                <a:cs typeface="Helvetica Neue" pitchFamily="34" charset="-120"/>
              </a:rPr>
              <a:t>5</a:t>
            </a:r>
            <a:endParaRPr lang="en-US" sz="1232" dirty="0"/>
          </a:p>
        </p:txBody>
      </p:sp>
      <p:sp>
        <p:nvSpPr>
          <p:cNvPr id="31" name="Text 29"/>
          <p:cNvSpPr/>
          <p:nvPr/>
        </p:nvSpPr>
        <p:spPr>
          <a:xfrm>
            <a:off x="5239512" y="4370832"/>
            <a:ext cx="2304288" cy="365760"/>
          </a:xfrm>
          <a:prstGeom prst="rect">
            <a:avLst/>
          </a:prstGeom>
          <a:noFill/>
          <a:ln/>
        </p:spPr>
        <p:txBody>
          <a:bodyPr wrap="square" lIns="0" tIns="0" rIns="0" bIns="0" rtlCol="0" anchor="ctr"/>
          <a:lstStyle/>
          <a:p>
            <a:pPr indent="0" marL="0">
              <a:buNone/>
            </a:pPr>
            <a:r>
              <a:rPr lang="en-US" sz="1550" b="1" dirty="0">
                <a:solidFill>
                  <a:srgbClr val="1D1D1F"/>
                </a:solidFill>
                <a:latin typeface="Helvetica Neue" pitchFamily="34" charset="0"/>
                <a:ea typeface="Helvetica Neue" pitchFamily="34" charset="-122"/>
                <a:cs typeface="Helvetica Neue" pitchFamily="34" charset="-120"/>
              </a:rPr>
              <a:t>Software Lead</a:t>
            </a:r>
            <a:endParaRPr lang="en-US" sz="1550" dirty="0"/>
          </a:p>
        </p:txBody>
      </p:sp>
      <p:sp>
        <p:nvSpPr>
          <p:cNvPr id="32" name="Text 30"/>
          <p:cNvSpPr/>
          <p:nvPr/>
        </p:nvSpPr>
        <p:spPr>
          <a:xfrm>
            <a:off x="4709160" y="4910328"/>
            <a:ext cx="2761488" cy="274320"/>
          </a:xfrm>
          <a:prstGeom prst="rect">
            <a:avLst/>
          </a:prstGeom>
          <a:noFill/>
          <a:ln/>
        </p:spPr>
        <p:txBody>
          <a:bodyPr wrap="square" lIns="0" tIns="0" rIns="0" bIns="0" rtlCol="0" anchor="ctr"/>
          <a:lstStyle/>
          <a:p>
            <a:pPr indent="0" marL="0">
              <a:buNone/>
            </a:pPr>
            <a:r>
              <a:rPr lang="en-US" sz="900" b="1" spc="150" kern="0" dirty="0">
                <a:solidFill>
                  <a:srgbClr val="0D7490"/>
                </a:solidFill>
                <a:latin typeface="Helvetica Neue" pitchFamily="34" charset="0"/>
                <a:ea typeface="Helvetica Neue" pitchFamily="34" charset="-122"/>
                <a:cs typeface="Helvetica Neue" pitchFamily="34" charset="-120"/>
              </a:rPr>
              <a:t>CODE &amp; VISION</a:t>
            </a:r>
            <a:endParaRPr lang="en-US" sz="900" dirty="0"/>
          </a:p>
        </p:txBody>
      </p:sp>
      <p:sp>
        <p:nvSpPr>
          <p:cNvPr id="33" name="Text 31"/>
          <p:cNvSpPr/>
          <p:nvPr/>
        </p:nvSpPr>
        <p:spPr>
          <a:xfrm>
            <a:off x="4709160" y="5202936"/>
            <a:ext cx="2779776" cy="914400"/>
          </a:xfrm>
          <a:prstGeom prst="rect">
            <a:avLst/>
          </a:prstGeom>
          <a:noFill/>
          <a:ln/>
        </p:spPr>
        <p:txBody>
          <a:bodyPr wrap="square" lIns="0" tIns="0" rIns="0" bIns="0" rtlCol="0" anchor="ctr"/>
          <a:lstStyle/>
          <a:p>
            <a:pPr indent="0" marL="0">
              <a:lnSpc>
                <a:spcPts val="1500"/>
              </a:lnSpc>
              <a:buNone/>
            </a:pPr>
            <a:r>
              <a:rPr lang="en-US" sz="1100" dirty="0">
                <a:solidFill>
                  <a:srgbClr val="6E6E73"/>
                </a:solidFill>
                <a:latin typeface="Helvetica Neue" pitchFamily="34" charset="0"/>
                <a:ea typeface="Helvetica Neue" pitchFamily="34" charset="-122"/>
                <a:cs typeface="Helvetica Neue" pitchFamily="34" charset="-120"/>
              </a:rPr>
              <a:t>Owns the control code and the computer-vision work that reads the camera feed.</a:t>
            </a:r>
            <a:endParaRPr lang="en-US" sz="1100" dirty="0"/>
          </a:p>
        </p:txBody>
      </p:sp>
      <p:sp>
        <p:nvSpPr>
          <p:cNvPr id="34" name="Shape 32"/>
          <p:cNvSpPr/>
          <p:nvPr/>
        </p:nvSpPr>
        <p:spPr>
          <a:xfrm>
            <a:off x="8046720" y="4123944"/>
            <a:ext cx="3310128" cy="2121408"/>
          </a:xfrm>
          <a:prstGeom prst="roundRect">
            <a:avLst>
              <a:gd name="adj" fmla="val 4741"/>
            </a:avLst>
          </a:prstGeom>
          <a:solidFill>
            <a:srgbClr val="FBFBFD"/>
          </a:solidFill>
          <a:ln w="12700">
            <a:solidFill>
              <a:srgbClr val="E3E3E6"/>
            </a:solidFill>
            <a:prstDash val="solid"/>
          </a:ln>
        </p:spPr>
        <p:txBody>
          <a:bodyPr/>
          <a:p/>
        </p:txBody>
      </p:sp>
      <p:sp>
        <p:nvSpPr>
          <p:cNvPr id="35" name="Shape 33"/>
          <p:cNvSpPr/>
          <p:nvPr/>
        </p:nvSpPr>
        <p:spPr>
          <a:xfrm>
            <a:off x="8321040" y="4398264"/>
            <a:ext cx="402336" cy="402336"/>
          </a:xfrm>
          <a:prstGeom prst="ellipse">
            <a:avLst/>
          </a:prstGeom>
          <a:solidFill>
            <a:srgbClr val="0D7490"/>
          </a:solidFill>
          <a:ln/>
        </p:spPr>
        <p:txBody>
          <a:bodyPr/>
          <a:p/>
        </p:txBody>
      </p:sp>
      <p:sp>
        <p:nvSpPr>
          <p:cNvPr id="36" name="Text 34"/>
          <p:cNvSpPr/>
          <p:nvPr/>
        </p:nvSpPr>
        <p:spPr>
          <a:xfrm>
            <a:off x="8321040" y="4398264"/>
            <a:ext cx="402336" cy="402336"/>
          </a:xfrm>
          <a:prstGeom prst="rect">
            <a:avLst/>
          </a:prstGeom>
          <a:noFill/>
          <a:ln/>
        </p:spPr>
        <p:txBody>
          <a:bodyPr wrap="square" lIns="0" tIns="0" rIns="0" bIns="0" rtlCol="0" anchor="ctr"/>
          <a:lstStyle/>
          <a:p>
            <a:pPr algn="ctr" indent="0" marL="0">
              <a:buNone/>
            </a:pPr>
            <a:r>
              <a:rPr lang="en-US" sz="1232" b="1" dirty="0">
                <a:solidFill>
                  <a:srgbClr val="FFFFFF"/>
                </a:solidFill>
                <a:latin typeface="Helvetica Neue" pitchFamily="34" charset="0"/>
                <a:ea typeface="Helvetica Neue" pitchFamily="34" charset="-122"/>
                <a:cs typeface="Helvetica Neue" pitchFamily="34" charset="-120"/>
              </a:rPr>
              <a:t>6</a:t>
            </a:r>
            <a:endParaRPr lang="en-US" sz="1232" dirty="0"/>
          </a:p>
        </p:txBody>
      </p:sp>
      <p:sp>
        <p:nvSpPr>
          <p:cNvPr id="37" name="Text 35"/>
          <p:cNvSpPr/>
          <p:nvPr/>
        </p:nvSpPr>
        <p:spPr>
          <a:xfrm>
            <a:off x="8851392" y="4370832"/>
            <a:ext cx="2304288" cy="365760"/>
          </a:xfrm>
          <a:prstGeom prst="rect">
            <a:avLst/>
          </a:prstGeom>
          <a:noFill/>
          <a:ln/>
        </p:spPr>
        <p:txBody>
          <a:bodyPr wrap="square" lIns="0" tIns="0" rIns="0" bIns="0" rtlCol="0" anchor="ctr"/>
          <a:lstStyle/>
          <a:p>
            <a:pPr indent="0" marL="0">
              <a:buNone/>
            </a:pPr>
            <a:r>
              <a:rPr lang="en-US" sz="1550" b="1" dirty="0">
                <a:solidFill>
                  <a:srgbClr val="1D1D1F"/>
                </a:solidFill>
                <a:latin typeface="Helvetica Neue" pitchFamily="34" charset="0"/>
                <a:ea typeface="Helvetica Neue" pitchFamily="34" charset="-122"/>
                <a:cs typeface="Helvetica Neue" pitchFamily="34" charset="-120"/>
              </a:rPr>
              <a:t>Communications Lead</a:t>
            </a:r>
            <a:endParaRPr lang="en-US" sz="1550" dirty="0"/>
          </a:p>
        </p:txBody>
      </p:sp>
      <p:sp>
        <p:nvSpPr>
          <p:cNvPr id="38" name="Text 36"/>
          <p:cNvSpPr/>
          <p:nvPr/>
        </p:nvSpPr>
        <p:spPr>
          <a:xfrm>
            <a:off x="8321040" y="4910328"/>
            <a:ext cx="2761488" cy="274320"/>
          </a:xfrm>
          <a:prstGeom prst="rect">
            <a:avLst/>
          </a:prstGeom>
          <a:noFill/>
          <a:ln/>
        </p:spPr>
        <p:txBody>
          <a:bodyPr wrap="square" lIns="0" tIns="0" rIns="0" bIns="0" rtlCol="0" anchor="ctr"/>
          <a:lstStyle/>
          <a:p>
            <a:pPr indent="0" marL="0">
              <a:buNone/>
            </a:pPr>
            <a:r>
              <a:rPr lang="en-US" sz="900" b="1" spc="150" kern="0" dirty="0">
                <a:solidFill>
                  <a:srgbClr val="0D7490"/>
                </a:solidFill>
                <a:latin typeface="Helvetica Neue" pitchFamily="34" charset="0"/>
                <a:ea typeface="Helvetica Neue" pitchFamily="34" charset="-122"/>
                <a:cs typeface="Helvetica Neue" pitchFamily="34" charset="-120"/>
              </a:rPr>
              <a:t>STORY &amp; OUTREACH</a:t>
            </a:r>
            <a:endParaRPr lang="en-US" sz="900" dirty="0"/>
          </a:p>
        </p:txBody>
      </p:sp>
      <p:sp>
        <p:nvSpPr>
          <p:cNvPr id="39" name="Text 37"/>
          <p:cNvSpPr/>
          <p:nvPr/>
        </p:nvSpPr>
        <p:spPr>
          <a:xfrm>
            <a:off x="8321040" y="5202936"/>
            <a:ext cx="2779776" cy="914400"/>
          </a:xfrm>
          <a:prstGeom prst="rect">
            <a:avLst/>
          </a:prstGeom>
          <a:noFill/>
          <a:ln/>
        </p:spPr>
        <p:txBody>
          <a:bodyPr wrap="square" lIns="0" tIns="0" rIns="0" bIns="0" rtlCol="0" anchor="ctr"/>
          <a:lstStyle/>
          <a:p>
            <a:pPr indent="0" marL="0">
              <a:lnSpc>
                <a:spcPts val="1500"/>
              </a:lnSpc>
              <a:buNone/>
            </a:pPr>
            <a:r>
              <a:rPr lang="en-US" sz="1100" dirty="0">
                <a:solidFill>
                  <a:srgbClr val="6E6E73"/>
                </a:solidFill>
                <a:latin typeface="Helvetica Neue" pitchFamily="34" charset="0"/>
                <a:ea typeface="Helvetica Neue" pitchFamily="34" charset="-122"/>
                <a:cs typeface="Helvetica Neue" pitchFamily="34" charset="-120"/>
              </a:rPr>
              <a:t>Owns the project notebook, the outreach log, and the team's marketing story.</a:t>
            </a:r>
            <a:endParaRPr lang="en-US" sz="1100" dirty="0"/>
          </a:p>
        </p:txBody>
      </p:sp>
      <p:sp>
        <p:nvSpPr>
          <p:cNvPr id="40" name="Shape 38"/>
          <p:cNvSpPr/>
          <p:nvPr/>
        </p:nvSpPr>
        <p:spPr>
          <a:xfrm>
            <a:off x="822960" y="6437376"/>
            <a:ext cx="10545775" cy="0"/>
          </a:xfrm>
          <a:prstGeom prst="line">
            <a:avLst/>
          </a:prstGeom>
          <a:noFill/>
          <a:ln w="9525">
            <a:solidFill>
              <a:srgbClr val="E3E3E6"/>
            </a:solidFill>
            <a:prstDash val="solid"/>
          </a:ln>
        </p:spPr>
        <p:txBody>
          <a:bodyPr/>
          <a:p/>
        </p:txBody>
      </p:sp>
      <p:sp>
        <p:nvSpPr>
          <p:cNvPr id="41" name="Text 39"/>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42" name="Text 40"/>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12 / 29</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WE ARE A COMPANY</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The roles, up close — leadership &amp; story.</a:t>
            </a:r>
            <a:endParaRPr lang="en-US" sz="3000" dirty="0"/>
          </a:p>
        </p:txBody>
      </p:sp>
      <p:sp>
        <p:nvSpPr>
          <p:cNvPr id="4" name="Shape 2"/>
          <p:cNvSpPr/>
          <p:nvPr/>
        </p:nvSpPr>
        <p:spPr>
          <a:xfrm>
            <a:off x="822960" y="1828800"/>
            <a:ext cx="10545775" cy="1335024"/>
          </a:xfrm>
          <a:prstGeom prst="roundRect">
            <a:avLst>
              <a:gd name="adj" fmla="val 7534"/>
            </a:avLst>
          </a:prstGeom>
          <a:solidFill>
            <a:srgbClr val="FBFBFD"/>
          </a:solidFill>
          <a:ln w="12700">
            <a:solidFill>
              <a:srgbClr val="E3E3E6"/>
            </a:solidFill>
            <a:prstDash val="solid"/>
          </a:ln>
        </p:spPr>
        <p:txBody>
          <a:bodyPr/>
          <a:p/>
        </p:txBody>
      </p:sp>
      <p:sp>
        <p:nvSpPr>
          <p:cNvPr id="5" name="Shape 3"/>
          <p:cNvSpPr/>
          <p:nvPr/>
        </p:nvSpPr>
        <p:spPr>
          <a:xfrm>
            <a:off x="822960" y="1828800"/>
            <a:ext cx="77724" cy="1335024"/>
          </a:xfrm>
          <a:prstGeom prst="rect">
            <a:avLst/>
          </a:prstGeom>
          <a:solidFill>
            <a:srgbClr val="0D7490"/>
          </a:solidFill>
          <a:ln/>
        </p:spPr>
        <p:txBody>
          <a:bodyPr/>
          <a:p/>
        </p:txBody>
      </p:sp>
      <p:sp>
        <p:nvSpPr>
          <p:cNvPr id="6" name="Text 4"/>
          <p:cNvSpPr/>
          <p:nvPr/>
        </p:nvSpPr>
        <p:spPr>
          <a:xfrm>
            <a:off x="1143000" y="2011680"/>
            <a:ext cx="2606040" cy="457200"/>
          </a:xfrm>
          <a:prstGeom prst="rect">
            <a:avLst/>
          </a:prstGeom>
          <a:noFill/>
          <a:ln/>
        </p:spPr>
        <p:txBody>
          <a:bodyPr wrap="square" lIns="0" tIns="0" rIns="0" bIns="0" rtlCol="0" anchor="ctr"/>
          <a:lstStyle/>
          <a:p>
            <a:pPr indent="0" marL="0">
              <a:buNone/>
            </a:pPr>
            <a:r>
              <a:rPr lang="en-US" sz="1700" b="1" dirty="0">
                <a:solidFill>
                  <a:srgbClr val="1D1D1F"/>
                </a:solidFill>
                <a:latin typeface="Helvetica Neue" pitchFamily="34" charset="0"/>
                <a:ea typeface="Helvetica Neue" pitchFamily="34" charset="-122"/>
                <a:cs typeface="Helvetica Neue" pitchFamily="34" charset="-120"/>
              </a:rPr>
              <a:t>CEO</a:t>
            </a:r>
            <a:endParaRPr lang="en-US" sz="1700" dirty="0"/>
          </a:p>
        </p:txBody>
      </p:sp>
      <p:sp>
        <p:nvSpPr>
          <p:cNvPr id="7" name="Text 5"/>
          <p:cNvSpPr/>
          <p:nvPr/>
        </p:nvSpPr>
        <p:spPr>
          <a:xfrm>
            <a:off x="1143000" y="2450592"/>
            <a:ext cx="2606040" cy="594360"/>
          </a:xfrm>
          <a:prstGeom prst="rect">
            <a:avLst/>
          </a:prstGeom>
          <a:noFill/>
          <a:ln/>
        </p:spPr>
        <p:txBody>
          <a:bodyPr wrap="square" lIns="0" tIns="0" rIns="0" bIns="0" rtlCol="0" anchor="ctr"/>
          <a:lstStyle/>
          <a:p>
            <a:pPr indent="0" marL="0">
              <a:lnSpc>
                <a:spcPts val="1300"/>
              </a:lnSpc>
              <a:buNone/>
            </a:pPr>
            <a:r>
              <a:rPr lang="en-US" sz="1050" b="1" dirty="0">
                <a:solidFill>
                  <a:srgbClr val="0D7490"/>
                </a:solidFill>
                <a:latin typeface="Helvetica Neue" pitchFamily="34" charset="0"/>
                <a:ea typeface="Helvetica Neue" pitchFamily="34" charset="-122"/>
                <a:cs typeface="Helvetica Neue" pitchFamily="34" charset="-120"/>
              </a:rPr>
              <a:t>Chief Executive Officer</a:t>
            </a:r>
            <a:endParaRPr lang="en-US" sz="1050" dirty="0"/>
          </a:p>
        </p:txBody>
      </p:sp>
      <p:sp>
        <p:nvSpPr>
          <p:cNvPr id="8" name="Text 6"/>
          <p:cNvSpPr/>
          <p:nvPr/>
        </p:nvSpPr>
        <p:spPr>
          <a:xfrm>
            <a:off x="3977640" y="2020824"/>
            <a:ext cx="3291840" cy="237744"/>
          </a:xfrm>
          <a:prstGeom prst="rect">
            <a:avLst/>
          </a:prstGeom>
          <a:noFill/>
          <a:ln/>
        </p:spPr>
        <p:txBody>
          <a:bodyPr wrap="square" lIns="0" tIns="0" rIns="0" bIns="0" rtlCol="0" anchor="ctr"/>
          <a:lstStyle/>
          <a:p>
            <a:pPr indent="0" marL="0">
              <a:buNone/>
            </a:pPr>
            <a:r>
              <a:rPr lang="en-US" sz="900" b="1" spc="150" kern="0" dirty="0">
                <a:solidFill>
                  <a:srgbClr val="86868B"/>
                </a:solidFill>
                <a:latin typeface="Helvetica Neue" pitchFamily="34" charset="0"/>
                <a:ea typeface="Helvetica Neue" pitchFamily="34" charset="-122"/>
                <a:cs typeface="Helvetica Neue" pitchFamily="34" charset="-120"/>
              </a:rPr>
              <a:t>OWNS</a:t>
            </a:r>
            <a:endParaRPr lang="en-US" sz="900" dirty="0"/>
          </a:p>
        </p:txBody>
      </p:sp>
      <p:sp>
        <p:nvSpPr>
          <p:cNvPr id="9" name="Text 7"/>
          <p:cNvSpPr/>
          <p:nvPr/>
        </p:nvSpPr>
        <p:spPr>
          <a:xfrm>
            <a:off x="3977640" y="2240280"/>
            <a:ext cx="3429000" cy="868680"/>
          </a:xfrm>
          <a:prstGeom prst="rect">
            <a:avLst/>
          </a:prstGeom>
          <a:noFill/>
          <a:ln/>
        </p:spPr>
        <p:txBody>
          <a:bodyPr wrap="square" lIns="0" tIns="0" rIns="0" bIns="0" rtlCol="0" anchor="ctr"/>
          <a:lstStyle/>
          <a:p>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The season schedule, the meeting agenda, and the health of every sub-team. The CEO unblocks people.</a:t>
            </a:r>
            <a:endParaRPr lang="en-US" sz="1150" dirty="0"/>
          </a:p>
        </p:txBody>
      </p:sp>
      <p:sp>
        <p:nvSpPr>
          <p:cNvPr id="10" name="Text 8"/>
          <p:cNvSpPr/>
          <p:nvPr/>
        </p:nvSpPr>
        <p:spPr>
          <a:xfrm>
            <a:off x="7680960" y="2020824"/>
            <a:ext cx="3474720" cy="237744"/>
          </a:xfrm>
          <a:prstGeom prst="rect">
            <a:avLst/>
          </a:prstGeom>
          <a:noFill/>
          <a:ln/>
        </p:spPr>
        <p:txBody>
          <a:bodyPr wrap="square" lIns="0" tIns="0" rIns="0" bIns="0" rtlCol="0" anchor="ctr"/>
          <a:lstStyle/>
          <a:p>
            <a:pPr indent="0" marL="0">
              <a:buNone/>
            </a:pPr>
            <a:r>
              <a:rPr lang="en-US" sz="900" b="1" spc="150" kern="0" dirty="0">
                <a:solidFill>
                  <a:srgbClr val="86868B"/>
                </a:solidFill>
                <a:latin typeface="Helvetica Neue" pitchFamily="34" charset="0"/>
                <a:ea typeface="Helvetica Neue" pitchFamily="34" charset="-122"/>
                <a:cs typeface="Helvetica Neue" pitchFamily="34" charset="-120"/>
              </a:rPr>
              <a:t>A GOOD FIT IF YOU</a:t>
            </a:r>
            <a:endParaRPr lang="en-US" sz="900" dirty="0"/>
          </a:p>
        </p:txBody>
      </p:sp>
      <p:sp>
        <p:nvSpPr>
          <p:cNvPr id="11" name="Text 9"/>
          <p:cNvSpPr/>
          <p:nvPr/>
        </p:nvSpPr>
        <p:spPr>
          <a:xfrm>
            <a:off x="7680960" y="2240280"/>
            <a:ext cx="3520440" cy="868680"/>
          </a:xfrm>
          <a:prstGeom prst="rect">
            <a:avLst/>
          </a:prstGeom>
          <a:noFill/>
          <a:ln/>
        </p:spPr>
        <p:txBody>
          <a:bodyPr wrap="square" lIns="0" tIns="0" rIns="0" bIns="0" rtlCol="0" anchor="ctr"/>
          <a:lstStyle/>
          <a:p>
            <a:pPr indent="0" marL="0">
              <a:lnSpc>
                <a:spcPts val="1500"/>
              </a:lnSpc>
              <a:buNone/>
            </a:pPr>
            <a:r>
              <a:rPr lang="en-US" sz="1150" dirty="0">
                <a:solidFill>
                  <a:srgbClr val="6E6E73"/>
                </a:solidFill>
                <a:latin typeface="Helvetica Neue" pitchFamily="34" charset="0"/>
                <a:ea typeface="Helvetica Neue" pitchFamily="34" charset="-122"/>
                <a:cs typeface="Helvetica Neue" pitchFamily="34" charset="-120"/>
              </a:rPr>
              <a:t>like keeping people organized, enjoy seeing the whole picture, and will chase a deadline.</a:t>
            </a:r>
            <a:endParaRPr lang="en-US" sz="1150" dirty="0"/>
          </a:p>
        </p:txBody>
      </p:sp>
      <p:sp>
        <p:nvSpPr>
          <p:cNvPr id="12" name="Shape 10"/>
          <p:cNvSpPr/>
          <p:nvPr/>
        </p:nvSpPr>
        <p:spPr>
          <a:xfrm>
            <a:off x="822960" y="3310128"/>
            <a:ext cx="10545775" cy="1335024"/>
          </a:xfrm>
          <a:prstGeom prst="roundRect">
            <a:avLst>
              <a:gd name="adj" fmla="val 7534"/>
            </a:avLst>
          </a:prstGeom>
          <a:solidFill>
            <a:srgbClr val="FBFBFD"/>
          </a:solidFill>
          <a:ln w="12700">
            <a:solidFill>
              <a:srgbClr val="E3E3E6"/>
            </a:solidFill>
            <a:prstDash val="solid"/>
          </a:ln>
        </p:spPr>
        <p:txBody>
          <a:bodyPr/>
          <a:p/>
        </p:txBody>
      </p:sp>
      <p:sp>
        <p:nvSpPr>
          <p:cNvPr id="13" name="Shape 11"/>
          <p:cNvSpPr/>
          <p:nvPr/>
        </p:nvSpPr>
        <p:spPr>
          <a:xfrm>
            <a:off x="822960" y="3310128"/>
            <a:ext cx="77724" cy="1335024"/>
          </a:xfrm>
          <a:prstGeom prst="rect">
            <a:avLst/>
          </a:prstGeom>
          <a:solidFill>
            <a:srgbClr val="0D7490"/>
          </a:solidFill>
          <a:ln/>
        </p:spPr>
        <p:txBody>
          <a:bodyPr/>
          <a:p/>
        </p:txBody>
      </p:sp>
      <p:sp>
        <p:nvSpPr>
          <p:cNvPr id="14" name="Text 12"/>
          <p:cNvSpPr/>
          <p:nvPr/>
        </p:nvSpPr>
        <p:spPr>
          <a:xfrm>
            <a:off x="1143000" y="3493008"/>
            <a:ext cx="2606040" cy="457200"/>
          </a:xfrm>
          <a:prstGeom prst="rect">
            <a:avLst/>
          </a:prstGeom>
          <a:noFill/>
          <a:ln/>
        </p:spPr>
        <p:txBody>
          <a:bodyPr wrap="square" lIns="0" tIns="0" rIns="0" bIns="0" rtlCol="0" anchor="ctr"/>
          <a:lstStyle/>
          <a:p>
            <a:pPr indent="0" marL="0">
              <a:buNone/>
            </a:pPr>
            <a:r>
              <a:rPr lang="en-US" sz="1700" b="1" dirty="0">
                <a:solidFill>
                  <a:srgbClr val="1D1D1F"/>
                </a:solidFill>
                <a:latin typeface="Helvetica Neue" pitchFamily="34" charset="0"/>
                <a:ea typeface="Helvetica Neue" pitchFamily="34" charset="-122"/>
                <a:cs typeface="Helvetica Neue" pitchFamily="34" charset="-120"/>
              </a:rPr>
              <a:t>CFO</a:t>
            </a:r>
            <a:endParaRPr lang="en-US" sz="1700" dirty="0"/>
          </a:p>
        </p:txBody>
      </p:sp>
      <p:sp>
        <p:nvSpPr>
          <p:cNvPr id="15" name="Text 13"/>
          <p:cNvSpPr/>
          <p:nvPr/>
        </p:nvSpPr>
        <p:spPr>
          <a:xfrm>
            <a:off x="1143000" y="3931920"/>
            <a:ext cx="2606040" cy="594360"/>
          </a:xfrm>
          <a:prstGeom prst="rect">
            <a:avLst/>
          </a:prstGeom>
          <a:noFill/>
          <a:ln/>
        </p:spPr>
        <p:txBody>
          <a:bodyPr wrap="square" lIns="0" tIns="0" rIns="0" bIns="0" rtlCol="0" anchor="ctr"/>
          <a:lstStyle/>
          <a:p>
            <a:pPr indent="0" marL="0">
              <a:lnSpc>
                <a:spcPts val="1300"/>
              </a:lnSpc>
              <a:buNone/>
            </a:pPr>
            <a:r>
              <a:rPr lang="en-US" sz="1050" b="1" dirty="0">
                <a:solidFill>
                  <a:srgbClr val="0D7490"/>
                </a:solidFill>
                <a:latin typeface="Helvetica Neue" pitchFamily="34" charset="0"/>
                <a:ea typeface="Helvetica Neue" pitchFamily="34" charset="-122"/>
                <a:cs typeface="Helvetica Neue" pitchFamily="34" charset="-120"/>
              </a:rPr>
              <a:t>Chief Financial Officer</a:t>
            </a:r>
            <a:endParaRPr lang="en-US" sz="1050" dirty="0"/>
          </a:p>
        </p:txBody>
      </p:sp>
      <p:sp>
        <p:nvSpPr>
          <p:cNvPr id="16" name="Text 14"/>
          <p:cNvSpPr/>
          <p:nvPr/>
        </p:nvSpPr>
        <p:spPr>
          <a:xfrm>
            <a:off x="3977640" y="3502152"/>
            <a:ext cx="3291840" cy="237744"/>
          </a:xfrm>
          <a:prstGeom prst="rect">
            <a:avLst/>
          </a:prstGeom>
          <a:noFill/>
          <a:ln/>
        </p:spPr>
        <p:txBody>
          <a:bodyPr wrap="square" lIns="0" tIns="0" rIns="0" bIns="0" rtlCol="0" anchor="ctr"/>
          <a:lstStyle/>
          <a:p>
            <a:pPr indent="0" marL="0">
              <a:buNone/>
            </a:pPr>
            <a:r>
              <a:rPr lang="en-US" sz="900" b="1" spc="150" kern="0" dirty="0">
                <a:solidFill>
                  <a:srgbClr val="86868B"/>
                </a:solidFill>
                <a:latin typeface="Helvetica Neue" pitchFamily="34" charset="0"/>
                <a:ea typeface="Helvetica Neue" pitchFamily="34" charset="-122"/>
                <a:cs typeface="Helvetica Neue" pitchFamily="34" charset="-120"/>
              </a:rPr>
              <a:t>OWNS</a:t>
            </a:r>
            <a:endParaRPr lang="en-US" sz="900" dirty="0"/>
          </a:p>
        </p:txBody>
      </p:sp>
      <p:sp>
        <p:nvSpPr>
          <p:cNvPr id="17" name="Text 15"/>
          <p:cNvSpPr/>
          <p:nvPr/>
        </p:nvSpPr>
        <p:spPr>
          <a:xfrm>
            <a:off x="3977640" y="3721608"/>
            <a:ext cx="3429000" cy="868680"/>
          </a:xfrm>
          <a:prstGeom prst="rect">
            <a:avLst/>
          </a:prstGeom>
          <a:noFill/>
          <a:ln/>
        </p:spPr>
        <p:txBody>
          <a:bodyPr wrap="square" lIns="0" tIns="0" rIns="0" bIns="0" rtlCol="0" anchor="ctr"/>
          <a:lstStyle/>
          <a:p>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The budget, every purchase order, and the running tally of money spent against money raised.</a:t>
            </a:r>
            <a:endParaRPr lang="en-US" sz="1150" dirty="0"/>
          </a:p>
        </p:txBody>
      </p:sp>
      <p:sp>
        <p:nvSpPr>
          <p:cNvPr id="18" name="Text 16"/>
          <p:cNvSpPr/>
          <p:nvPr/>
        </p:nvSpPr>
        <p:spPr>
          <a:xfrm>
            <a:off x="7680960" y="3502152"/>
            <a:ext cx="3474720" cy="237744"/>
          </a:xfrm>
          <a:prstGeom prst="rect">
            <a:avLst/>
          </a:prstGeom>
          <a:noFill/>
          <a:ln/>
        </p:spPr>
        <p:txBody>
          <a:bodyPr wrap="square" lIns="0" tIns="0" rIns="0" bIns="0" rtlCol="0" anchor="ctr"/>
          <a:lstStyle/>
          <a:p>
            <a:pPr indent="0" marL="0">
              <a:buNone/>
            </a:pPr>
            <a:r>
              <a:rPr lang="en-US" sz="900" b="1" spc="150" kern="0" dirty="0">
                <a:solidFill>
                  <a:srgbClr val="86868B"/>
                </a:solidFill>
                <a:latin typeface="Helvetica Neue" pitchFamily="34" charset="0"/>
                <a:ea typeface="Helvetica Neue" pitchFamily="34" charset="-122"/>
                <a:cs typeface="Helvetica Neue" pitchFamily="34" charset="-120"/>
              </a:rPr>
              <a:t>A GOOD FIT IF YOU</a:t>
            </a:r>
            <a:endParaRPr lang="en-US" sz="900" dirty="0"/>
          </a:p>
        </p:txBody>
      </p:sp>
      <p:sp>
        <p:nvSpPr>
          <p:cNvPr id="19" name="Text 17"/>
          <p:cNvSpPr/>
          <p:nvPr/>
        </p:nvSpPr>
        <p:spPr>
          <a:xfrm>
            <a:off x="7680960" y="3721608"/>
            <a:ext cx="3520440" cy="868680"/>
          </a:xfrm>
          <a:prstGeom prst="rect">
            <a:avLst/>
          </a:prstGeom>
          <a:noFill/>
          <a:ln/>
        </p:spPr>
        <p:txBody>
          <a:bodyPr wrap="square" lIns="0" tIns="0" rIns="0" bIns="0" rtlCol="0" anchor="ctr"/>
          <a:lstStyle/>
          <a:p>
            <a:pPr indent="0" marL="0">
              <a:lnSpc>
                <a:spcPts val="1500"/>
              </a:lnSpc>
              <a:buNone/>
            </a:pPr>
            <a:r>
              <a:rPr lang="en-US" sz="1150" dirty="0">
                <a:solidFill>
                  <a:srgbClr val="6E6E73"/>
                </a:solidFill>
                <a:latin typeface="Helvetica Neue" pitchFamily="34" charset="0"/>
                <a:ea typeface="Helvetica Neue" pitchFamily="34" charset="-122"/>
                <a:cs typeface="Helvetica Neue" pitchFamily="34" charset="-120"/>
              </a:rPr>
              <a:t>are careful with numbers, like a tidy spreadsheet, and don't mind asking 'do we really need this?'</a:t>
            </a:r>
            <a:endParaRPr lang="en-US" sz="1150" dirty="0"/>
          </a:p>
        </p:txBody>
      </p:sp>
      <p:sp>
        <p:nvSpPr>
          <p:cNvPr id="20" name="Shape 18"/>
          <p:cNvSpPr/>
          <p:nvPr/>
        </p:nvSpPr>
        <p:spPr>
          <a:xfrm>
            <a:off x="822960" y="4791456"/>
            <a:ext cx="10545775" cy="1335024"/>
          </a:xfrm>
          <a:prstGeom prst="roundRect">
            <a:avLst>
              <a:gd name="adj" fmla="val 7534"/>
            </a:avLst>
          </a:prstGeom>
          <a:solidFill>
            <a:srgbClr val="FBFBFD"/>
          </a:solidFill>
          <a:ln w="12700">
            <a:solidFill>
              <a:srgbClr val="E3E3E6"/>
            </a:solidFill>
            <a:prstDash val="solid"/>
          </a:ln>
        </p:spPr>
        <p:txBody>
          <a:bodyPr/>
          <a:p/>
        </p:txBody>
      </p:sp>
      <p:sp>
        <p:nvSpPr>
          <p:cNvPr id="21" name="Shape 19"/>
          <p:cNvSpPr/>
          <p:nvPr/>
        </p:nvSpPr>
        <p:spPr>
          <a:xfrm>
            <a:off x="822960" y="4791456"/>
            <a:ext cx="77724" cy="1335024"/>
          </a:xfrm>
          <a:prstGeom prst="rect">
            <a:avLst/>
          </a:prstGeom>
          <a:solidFill>
            <a:srgbClr val="0D7490"/>
          </a:solidFill>
          <a:ln/>
        </p:spPr>
        <p:txBody>
          <a:bodyPr/>
          <a:p/>
        </p:txBody>
      </p:sp>
      <p:sp>
        <p:nvSpPr>
          <p:cNvPr id="22" name="Text 20"/>
          <p:cNvSpPr/>
          <p:nvPr/>
        </p:nvSpPr>
        <p:spPr>
          <a:xfrm>
            <a:off x="1143000" y="4974336"/>
            <a:ext cx="2606040" cy="457200"/>
          </a:xfrm>
          <a:prstGeom prst="rect">
            <a:avLst/>
          </a:prstGeom>
          <a:noFill/>
          <a:ln/>
        </p:spPr>
        <p:txBody>
          <a:bodyPr wrap="square" lIns="0" tIns="0" rIns="0" bIns="0" rtlCol="0" anchor="ctr"/>
          <a:lstStyle/>
          <a:p>
            <a:pPr indent="0" marL="0">
              <a:buNone/>
            </a:pPr>
            <a:r>
              <a:rPr lang="en-US" sz="1700" b="1" dirty="0">
                <a:solidFill>
                  <a:srgbClr val="1D1D1F"/>
                </a:solidFill>
                <a:latin typeface="Helvetica Neue" pitchFamily="34" charset="0"/>
                <a:ea typeface="Helvetica Neue" pitchFamily="34" charset="-122"/>
                <a:cs typeface="Helvetica Neue" pitchFamily="34" charset="-120"/>
              </a:rPr>
              <a:t>Communications Lead</a:t>
            </a:r>
            <a:endParaRPr lang="en-US" sz="1700" dirty="0"/>
          </a:p>
        </p:txBody>
      </p:sp>
      <p:sp>
        <p:nvSpPr>
          <p:cNvPr id="23" name="Text 21"/>
          <p:cNvSpPr/>
          <p:nvPr/>
        </p:nvSpPr>
        <p:spPr>
          <a:xfrm>
            <a:off x="1143000" y="5413248"/>
            <a:ext cx="2606040" cy="594360"/>
          </a:xfrm>
          <a:prstGeom prst="rect">
            <a:avLst/>
          </a:prstGeom>
          <a:noFill/>
          <a:ln/>
        </p:spPr>
        <p:txBody>
          <a:bodyPr wrap="square" lIns="0" tIns="0" rIns="0" bIns="0" rtlCol="0" anchor="ctr"/>
          <a:lstStyle/>
          <a:p>
            <a:pPr indent="0" marL="0">
              <a:lnSpc>
                <a:spcPts val="1300"/>
              </a:lnSpc>
              <a:buNone/>
            </a:pPr>
            <a:r>
              <a:rPr lang="en-US" sz="1050" b="1" dirty="0">
                <a:solidFill>
                  <a:srgbClr val="0D7490"/>
                </a:solidFill>
                <a:latin typeface="Helvetica Neue" pitchFamily="34" charset="0"/>
                <a:ea typeface="Helvetica Neue" pitchFamily="34" charset="-122"/>
                <a:cs typeface="Helvetica Neue" pitchFamily="34" charset="-120"/>
              </a:rPr>
              <a:t>Story &amp; Outreach</a:t>
            </a:r>
            <a:endParaRPr lang="en-US" sz="1050" dirty="0"/>
          </a:p>
        </p:txBody>
      </p:sp>
      <p:sp>
        <p:nvSpPr>
          <p:cNvPr id="24" name="Text 22"/>
          <p:cNvSpPr/>
          <p:nvPr/>
        </p:nvSpPr>
        <p:spPr>
          <a:xfrm>
            <a:off x="3977640" y="4983480"/>
            <a:ext cx="3291840" cy="237744"/>
          </a:xfrm>
          <a:prstGeom prst="rect">
            <a:avLst/>
          </a:prstGeom>
          <a:noFill/>
          <a:ln/>
        </p:spPr>
        <p:txBody>
          <a:bodyPr wrap="square" lIns="0" tIns="0" rIns="0" bIns="0" rtlCol="0" anchor="ctr"/>
          <a:lstStyle/>
          <a:p>
            <a:pPr indent="0" marL="0">
              <a:buNone/>
            </a:pPr>
            <a:r>
              <a:rPr lang="en-US" sz="900" b="1" spc="150" kern="0" dirty="0">
                <a:solidFill>
                  <a:srgbClr val="86868B"/>
                </a:solidFill>
                <a:latin typeface="Helvetica Neue" pitchFamily="34" charset="0"/>
                <a:ea typeface="Helvetica Neue" pitchFamily="34" charset="-122"/>
                <a:cs typeface="Helvetica Neue" pitchFamily="34" charset="-120"/>
              </a:rPr>
              <a:t>OWNS</a:t>
            </a:r>
            <a:endParaRPr lang="en-US" sz="900" dirty="0"/>
          </a:p>
        </p:txBody>
      </p:sp>
      <p:sp>
        <p:nvSpPr>
          <p:cNvPr id="25" name="Text 23"/>
          <p:cNvSpPr/>
          <p:nvPr/>
        </p:nvSpPr>
        <p:spPr>
          <a:xfrm>
            <a:off x="3977640" y="5202936"/>
            <a:ext cx="3429000" cy="868680"/>
          </a:xfrm>
          <a:prstGeom prst="rect">
            <a:avLst/>
          </a:prstGeom>
          <a:noFill/>
          <a:ln/>
        </p:spPr>
        <p:txBody>
          <a:bodyPr wrap="square" lIns="0" tIns="0" rIns="0" bIns="0" rtlCol="0" anchor="ctr"/>
          <a:lstStyle/>
          <a:p>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The project notebook, the community-outreach log, and the marketing display and presentation story.</a:t>
            </a:r>
            <a:endParaRPr lang="en-US" sz="1150" dirty="0"/>
          </a:p>
        </p:txBody>
      </p:sp>
      <p:sp>
        <p:nvSpPr>
          <p:cNvPr id="26" name="Text 24"/>
          <p:cNvSpPr/>
          <p:nvPr/>
        </p:nvSpPr>
        <p:spPr>
          <a:xfrm>
            <a:off x="7680960" y="4983480"/>
            <a:ext cx="3474720" cy="237744"/>
          </a:xfrm>
          <a:prstGeom prst="rect">
            <a:avLst/>
          </a:prstGeom>
          <a:noFill/>
          <a:ln/>
        </p:spPr>
        <p:txBody>
          <a:bodyPr wrap="square" lIns="0" tIns="0" rIns="0" bIns="0" rtlCol="0" anchor="ctr"/>
          <a:lstStyle/>
          <a:p>
            <a:pPr indent="0" marL="0">
              <a:buNone/>
            </a:pPr>
            <a:r>
              <a:rPr lang="en-US" sz="900" b="1" spc="150" kern="0" dirty="0">
                <a:solidFill>
                  <a:srgbClr val="86868B"/>
                </a:solidFill>
                <a:latin typeface="Helvetica Neue" pitchFamily="34" charset="0"/>
                <a:ea typeface="Helvetica Neue" pitchFamily="34" charset="-122"/>
                <a:cs typeface="Helvetica Neue" pitchFamily="34" charset="-120"/>
              </a:rPr>
              <a:t>A GOOD FIT IF YOU</a:t>
            </a:r>
            <a:endParaRPr lang="en-US" sz="900" dirty="0"/>
          </a:p>
        </p:txBody>
      </p:sp>
      <p:sp>
        <p:nvSpPr>
          <p:cNvPr id="27" name="Text 25"/>
          <p:cNvSpPr/>
          <p:nvPr/>
        </p:nvSpPr>
        <p:spPr>
          <a:xfrm>
            <a:off x="7680960" y="5202936"/>
            <a:ext cx="3520440" cy="868680"/>
          </a:xfrm>
          <a:prstGeom prst="rect">
            <a:avLst/>
          </a:prstGeom>
          <a:noFill/>
          <a:ln/>
        </p:spPr>
        <p:txBody>
          <a:bodyPr wrap="square" lIns="0" tIns="0" rIns="0" bIns="0" rtlCol="0" anchor="ctr"/>
          <a:lstStyle/>
          <a:p>
            <a:pPr indent="0" marL="0">
              <a:lnSpc>
                <a:spcPts val="1500"/>
              </a:lnSpc>
              <a:buNone/>
            </a:pPr>
            <a:r>
              <a:rPr lang="en-US" sz="1150" dirty="0">
                <a:solidFill>
                  <a:srgbClr val="6E6E73"/>
                </a:solidFill>
                <a:latin typeface="Helvetica Neue" pitchFamily="34" charset="0"/>
                <a:ea typeface="Helvetica Neue" pitchFamily="34" charset="-122"/>
                <a:cs typeface="Helvetica Neue" pitchFamily="34" charset="-120"/>
              </a:rPr>
              <a:t>like writing, photography, or talking to people — and want the team's work to be seen.</a:t>
            </a:r>
            <a:endParaRPr lang="en-US" sz="1150" dirty="0"/>
          </a:p>
        </p:txBody>
      </p:sp>
      <p:sp>
        <p:nvSpPr>
          <p:cNvPr id="28" name="Shape 26"/>
          <p:cNvSpPr/>
          <p:nvPr/>
        </p:nvSpPr>
        <p:spPr>
          <a:xfrm>
            <a:off x="822960" y="6437376"/>
            <a:ext cx="10545775" cy="0"/>
          </a:xfrm>
          <a:prstGeom prst="line">
            <a:avLst/>
          </a:prstGeom>
          <a:noFill/>
          <a:ln w="9525">
            <a:solidFill>
              <a:srgbClr val="E3E3E6"/>
            </a:solidFill>
            <a:prstDash val="solid"/>
          </a:ln>
        </p:spPr>
        <p:txBody>
          <a:bodyPr/>
          <a:p/>
        </p:txBody>
      </p:sp>
      <p:sp>
        <p:nvSpPr>
          <p:cNvPr id="29" name="Text 27"/>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30" name="Text 28"/>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13 / 29</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WE ARE A COMPANY</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The roles, up close — the engineering build.</a:t>
            </a:r>
            <a:endParaRPr lang="en-US" sz="3000" dirty="0"/>
          </a:p>
        </p:txBody>
      </p:sp>
      <p:sp>
        <p:nvSpPr>
          <p:cNvPr id="4" name="Shape 2"/>
          <p:cNvSpPr/>
          <p:nvPr/>
        </p:nvSpPr>
        <p:spPr>
          <a:xfrm>
            <a:off x="822960" y="1828800"/>
            <a:ext cx="10545775" cy="1335024"/>
          </a:xfrm>
          <a:prstGeom prst="roundRect">
            <a:avLst>
              <a:gd name="adj" fmla="val 7534"/>
            </a:avLst>
          </a:prstGeom>
          <a:solidFill>
            <a:srgbClr val="FBFBFD"/>
          </a:solidFill>
          <a:ln w="12700">
            <a:solidFill>
              <a:srgbClr val="E3E3E6"/>
            </a:solidFill>
            <a:prstDash val="solid"/>
          </a:ln>
        </p:spPr>
        <p:txBody>
          <a:bodyPr/>
          <a:p/>
        </p:txBody>
      </p:sp>
      <p:sp>
        <p:nvSpPr>
          <p:cNvPr id="5" name="Shape 3"/>
          <p:cNvSpPr/>
          <p:nvPr/>
        </p:nvSpPr>
        <p:spPr>
          <a:xfrm>
            <a:off x="822960" y="1828800"/>
            <a:ext cx="77724" cy="1335024"/>
          </a:xfrm>
          <a:prstGeom prst="rect">
            <a:avLst/>
          </a:prstGeom>
          <a:solidFill>
            <a:srgbClr val="0D7490"/>
          </a:solidFill>
          <a:ln/>
        </p:spPr>
        <p:txBody>
          <a:bodyPr/>
          <a:p/>
        </p:txBody>
      </p:sp>
      <p:sp>
        <p:nvSpPr>
          <p:cNvPr id="6" name="Text 4"/>
          <p:cNvSpPr/>
          <p:nvPr/>
        </p:nvSpPr>
        <p:spPr>
          <a:xfrm>
            <a:off x="1143000" y="2011680"/>
            <a:ext cx="2606040" cy="457200"/>
          </a:xfrm>
          <a:prstGeom prst="rect">
            <a:avLst/>
          </a:prstGeom>
          <a:noFill/>
          <a:ln/>
        </p:spPr>
        <p:txBody>
          <a:bodyPr wrap="square" lIns="0" tIns="0" rIns="0" bIns="0" rtlCol="0" anchor="ctr"/>
          <a:lstStyle/>
          <a:p>
            <a:pPr indent="0" marL="0">
              <a:buNone/>
            </a:pPr>
            <a:r>
              <a:rPr lang="en-US" sz="1700" b="1" dirty="0">
                <a:solidFill>
                  <a:srgbClr val="1D1D1F"/>
                </a:solidFill>
                <a:latin typeface="Helvetica Neue" pitchFamily="34" charset="0"/>
                <a:ea typeface="Helvetica Neue" pitchFamily="34" charset="-122"/>
                <a:cs typeface="Helvetica Neue" pitchFamily="34" charset="-120"/>
              </a:rPr>
              <a:t>Mechanical Lead</a:t>
            </a:r>
            <a:endParaRPr lang="en-US" sz="1700" dirty="0"/>
          </a:p>
        </p:txBody>
      </p:sp>
      <p:sp>
        <p:nvSpPr>
          <p:cNvPr id="7" name="Text 5"/>
          <p:cNvSpPr/>
          <p:nvPr/>
        </p:nvSpPr>
        <p:spPr>
          <a:xfrm>
            <a:off x="1143000" y="2450592"/>
            <a:ext cx="2606040" cy="594360"/>
          </a:xfrm>
          <a:prstGeom prst="rect">
            <a:avLst/>
          </a:prstGeom>
          <a:noFill/>
          <a:ln/>
        </p:spPr>
        <p:txBody>
          <a:bodyPr wrap="square" lIns="0" tIns="0" rIns="0" bIns="0" rtlCol="0" anchor="ctr"/>
          <a:lstStyle/>
          <a:p>
            <a:pPr indent="0" marL="0">
              <a:lnSpc>
                <a:spcPts val="1300"/>
              </a:lnSpc>
              <a:buNone/>
            </a:pPr>
            <a:r>
              <a:rPr lang="en-US" sz="1050" b="1" dirty="0">
                <a:solidFill>
                  <a:srgbClr val="0D7490"/>
                </a:solidFill>
                <a:latin typeface="Helvetica Neue" pitchFamily="34" charset="0"/>
                <a:ea typeface="Helvetica Neue" pitchFamily="34" charset="-122"/>
                <a:cs typeface="Helvetica Neue" pitchFamily="34" charset="-120"/>
              </a:rPr>
              <a:t>Structure &amp; Tools</a:t>
            </a:r>
            <a:endParaRPr lang="en-US" sz="1050" dirty="0"/>
          </a:p>
        </p:txBody>
      </p:sp>
      <p:sp>
        <p:nvSpPr>
          <p:cNvPr id="8" name="Text 6"/>
          <p:cNvSpPr/>
          <p:nvPr/>
        </p:nvSpPr>
        <p:spPr>
          <a:xfrm>
            <a:off x="3977640" y="2020824"/>
            <a:ext cx="3291840" cy="237744"/>
          </a:xfrm>
          <a:prstGeom prst="rect">
            <a:avLst/>
          </a:prstGeom>
          <a:noFill/>
          <a:ln/>
        </p:spPr>
        <p:txBody>
          <a:bodyPr wrap="square" lIns="0" tIns="0" rIns="0" bIns="0" rtlCol="0" anchor="ctr"/>
          <a:lstStyle/>
          <a:p>
            <a:pPr indent="0" marL="0">
              <a:buNone/>
            </a:pPr>
            <a:r>
              <a:rPr lang="en-US" sz="900" b="1" spc="150" kern="0" dirty="0">
                <a:solidFill>
                  <a:srgbClr val="86868B"/>
                </a:solidFill>
                <a:latin typeface="Helvetica Neue" pitchFamily="34" charset="0"/>
                <a:ea typeface="Helvetica Neue" pitchFamily="34" charset="-122"/>
                <a:cs typeface="Helvetica Neue" pitchFamily="34" charset="-120"/>
              </a:rPr>
              <a:t>OWNS</a:t>
            </a:r>
            <a:endParaRPr lang="en-US" sz="900" dirty="0"/>
          </a:p>
        </p:txBody>
      </p:sp>
      <p:sp>
        <p:nvSpPr>
          <p:cNvPr id="9" name="Text 7"/>
          <p:cNvSpPr/>
          <p:nvPr/>
        </p:nvSpPr>
        <p:spPr>
          <a:xfrm>
            <a:off x="3977640" y="2240280"/>
            <a:ext cx="3429000" cy="868680"/>
          </a:xfrm>
          <a:prstGeom prst="rect">
            <a:avLst/>
          </a:prstGeom>
          <a:noFill/>
          <a:ln/>
        </p:spPr>
        <p:txBody>
          <a:bodyPr wrap="square" lIns="0" tIns="0" rIns="0" bIns="0" rtlCol="0" anchor="ctr"/>
          <a:lstStyle/>
          <a:p>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The ROV frame, the float body, the gripper — every part that holds together, moves, or grabs.</a:t>
            </a:r>
            <a:endParaRPr lang="en-US" sz="1150" dirty="0"/>
          </a:p>
        </p:txBody>
      </p:sp>
      <p:sp>
        <p:nvSpPr>
          <p:cNvPr id="10" name="Text 8"/>
          <p:cNvSpPr/>
          <p:nvPr/>
        </p:nvSpPr>
        <p:spPr>
          <a:xfrm>
            <a:off x="7680960" y="2020824"/>
            <a:ext cx="3474720" cy="237744"/>
          </a:xfrm>
          <a:prstGeom prst="rect">
            <a:avLst/>
          </a:prstGeom>
          <a:noFill/>
          <a:ln/>
        </p:spPr>
        <p:txBody>
          <a:bodyPr wrap="square" lIns="0" tIns="0" rIns="0" bIns="0" rtlCol="0" anchor="ctr"/>
          <a:lstStyle/>
          <a:p>
            <a:pPr indent="0" marL="0">
              <a:buNone/>
            </a:pPr>
            <a:r>
              <a:rPr lang="en-US" sz="900" b="1" spc="150" kern="0" dirty="0">
                <a:solidFill>
                  <a:srgbClr val="86868B"/>
                </a:solidFill>
                <a:latin typeface="Helvetica Neue" pitchFamily="34" charset="0"/>
                <a:ea typeface="Helvetica Neue" pitchFamily="34" charset="-122"/>
                <a:cs typeface="Helvetica Neue" pitchFamily="34" charset="-120"/>
              </a:rPr>
              <a:t>A GOOD FIT IF YOU</a:t>
            </a:r>
            <a:endParaRPr lang="en-US" sz="900" dirty="0"/>
          </a:p>
        </p:txBody>
      </p:sp>
      <p:sp>
        <p:nvSpPr>
          <p:cNvPr id="11" name="Text 9"/>
          <p:cNvSpPr/>
          <p:nvPr/>
        </p:nvSpPr>
        <p:spPr>
          <a:xfrm>
            <a:off x="7680960" y="2240280"/>
            <a:ext cx="3520440" cy="868680"/>
          </a:xfrm>
          <a:prstGeom prst="rect">
            <a:avLst/>
          </a:prstGeom>
          <a:noFill/>
          <a:ln/>
        </p:spPr>
        <p:txBody>
          <a:bodyPr wrap="square" lIns="0" tIns="0" rIns="0" bIns="0" rtlCol="0" anchor="ctr"/>
          <a:lstStyle/>
          <a:p>
            <a:pPr indent="0" marL="0">
              <a:lnSpc>
                <a:spcPts val="1500"/>
              </a:lnSpc>
              <a:buNone/>
            </a:pPr>
            <a:r>
              <a:rPr lang="en-US" sz="1150" dirty="0">
                <a:solidFill>
                  <a:srgbClr val="6E6E73"/>
                </a:solidFill>
                <a:latin typeface="Helvetica Neue" pitchFamily="34" charset="0"/>
                <a:ea typeface="Helvetica Neue" pitchFamily="34" charset="-122"/>
                <a:cs typeface="Helvetica Neue" pitchFamily="34" charset="-120"/>
              </a:rPr>
              <a:t>like building physical things, sketching designs, and figuring out how parts fit.</a:t>
            </a:r>
            <a:endParaRPr lang="en-US" sz="1150" dirty="0"/>
          </a:p>
        </p:txBody>
      </p:sp>
      <p:sp>
        <p:nvSpPr>
          <p:cNvPr id="12" name="Shape 10"/>
          <p:cNvSpPr/>
          <p:nvPr/>
        </p:nvSpPr>
        <p:spPr>
          <a:xfrm>
            <a:off x="822960" y="3310128"/>
            <a:ext cx="10545775" cy="1335024"/>
          </a:xfrm>
          <a:prstGeom prst="roundRect">
            <a:avLst>
              <a:gd name="adj" fmla="val 7534"/>
            </a:avLst>
          </a:prstGeom>
          <a:solidFill>
            <a:srgbClr val="FBFBFD"/>
          </a:solidFill>
          <a:ln w="12700">
            <a:solidFill>
              <a:srgbClr val="E3E3E6"/>
            </a:solidFill>
            <a:prstDash val="solid"/>
          </a:ln>
        </p:spPr>
        <p:txBody>
          <a:bodyPr/>
          <a:p/>
        </p:txBody>
      </p:sp>
      <p:sp>
        <p:nvSpPr>
          <p:cNvPr id="13" name="Shape 11"/>
          <p:cNvSpPr/>
          <p:nvPr/>
        </p:nvSpPr>
        <p:spPr>
          <a:xfrm>
            <a:off x="822960" y="3310128"/>
            <a:ext cx="77724" cy="1335024"/>
          </a:xfrm>
          <a:prstGeom prst="rect">
            <a:avLst/>
          </a:prstGeom>
          <a:solidFill>
            <a:srgbClr val="0D7490"/>
          </a:solidFill>
          <a:ln/>
        </p:spPr>
        <p:txBody>
          <a:bodyPr/>
          <a:p/>
        </p:txBody>
      </p:sp>
      <p:sp>
        <p:nvSpPr>
          <p:cNvPr id="14" name="Text 12"/>
          <p:cNvSpPr/>
          <p:nvPr/>
        </p:nvSpPr>
        <p:spPr>
          <a:xfrm>
            <a:off x="1143000" y="3493008"/>
            <a:ext cx="2606040" cy="457200"/>
          </a:xfrm>
          <a:prstGeom prst="rect">
            <a:avLst/>
          </a:prstGeom>
          <a:noFill/>
          <a:ln/>
        </p:spPr>
        <p:txBody>
          <a:bodyPr wrap="square" lIns="0" tIns="0" rIns="0" bIns="0" rtlCol="0" anchor="ctr"/>
          <a:lstStyle/>
          <a:p>
            <a:pPr indent="0" marL="0">
              <a:buNone/>
            </a:pPr>
            <a:r>
              <a:rPr lang="en-US" sz="1700" b="1" dirty="0">
                <a:solidFill>
                  <a:srgbClr val="1D1D1F"/>
                </a:solidFill>
                <a:latin typeface="Helvetica Neue" pitchFamily="34" charset="0"/>
                <a:ea typeface="Helvetica Neue" pitchFamily="34" charset="-122"/>
                <a:cs typeface="Helvetica Neue" pitchFamily="34" charset="-120"/>
              </a:rPr>
              <a:t>Electrical Lead</a:t>
            </a:r>
            <a:endParaRPr lang="en-US" sz="1700" dirty="0"/>
          </a:p>
        </p:txBody>
      </p:sp>
      <p:sp>
        <p:nvSpPr>
          <p:cNvPr id="15" name="Text 13"/>
          <p:cNvSpPr/>
          <p:nvPr/>
        </p:nvSpPr>
        <p:spPr>
          <a:xfrm>
            <a:off x="1143000" y="3931920"/>
            <a:ext cx="2606040" cy="594360"/>
          </a:xfrm>
          <a:prstGeom prst="rect">
            <a:avLst/>
          </a:prstGeom>
          <a:noFill/>
          <a:ln/>
        </p:spPr>
        <p:txBody>
          <a:bodyPr wrap="square" lIns="0" tIns="0" rIns="0" bIns="0" rtlCol="0" anchor="ctr"/>
          <a:lstStyle/>
          <a:p>
            <a:pPr indent="0" marL="0">
              <a:lnSpc>
                <a:spcPts val="1300"/>
              </a:lnSpc>
              <a:buNone/>
            </a:pPr>
            <a:r>
              <a:rPr lang="en-US" sz="1050" b="1" dirty="0">
                <a:solidFill>
                  <a:srgbClr val="0D7490"/>
                </a:solidFill>
                <a:latin typeface="Helvetica Neue" pitchFamily="34" charset="0"/>
                <a:ea typeface="Helvetica Neue" pitchFamily="34" charset="-122"/>
                <a:cs typeface="Helvetica Neue" pitchFamily="34" charset="-120"/>
              </a:rPr>
              <a:t>Power &amp; Wiring</a:t>
            </a:r>
            <a:endParaRPr lang="en-US" sz="1050" dirty="0"/>
          </a:p>
        </p:txBody>
      </p:sp>
      <p:sp>
        <p:nvSpPr>
          <p:cNvPr id="16" name="Text 14"/>
          <p:cNvSpPr/>
          <p:nvPr/>
        </p:nvSpPr>
        <p:spPr>
          <a:xfrm>
            <a:off x="3977640" y="3502152"/>
            <a:ext cx="3291840" cy="237744"/>
          </a:xfrm>
          <a:prstGeom prst="rect">
            <a:avLst/>
          </a:prstGeom>
          <a:noFill/>
          <a:ln/>
        </p:spPr>
        <p:txBody>
          <a:bodyPr wrap="square" lIns="0" tIns="0" rIns="0" bIns="0" rtlCol="0" anchor="ctr"/>
          <a:lstStyle/>
          <a:p>
            <a:pPr indent="0" marL="0">
              <a:buNone/>
            </a:pPr>
            <a:r>
              <a:rPr lang="en-US" sz="900" b="1" spc="150" kern="0" dirty="0">
                <a:solidFill>
                  <a:srgbClr val="86868B"/>
                </a:solidFill>
                <a:latin typeface="Helvetica Neue" pitchFamily="34" charset="0"/>
                <a:ea typeface="Helvetica Neue" pitchFamily="34" charset="-122"/>
                <a:cs typeface="Helvetica Neue" pitchFamily="34" charset="-120"/>
              </a:rPr>
              <a:t>OWNS</a:t>
            </a:r>
            <a:endParaRPr lang="en-US" sz="900" dirty="0"/>
          </a:p>
        </p:txBody>
      </p:sp>
      <p:sp>
        <p:nvSpPr>
          <p:cNvPr id="17" name="Text 15"/>
          <p:cNvSpPr/>
          <p:nvPr/>
        </p:nvSpPr>
        <p:spPr>
          <a:xfrm>
            <a:off x="3977640" y="3721608"/>
            <a:ext cx="3429000" cy="868680"/>
          </a:xfrm>
          <a:prstGeom prst="rect">
            <a:avLst/>
          </a:prstGeom>
          <a:noFill/>
          <a:ln/>
        </p:spPr>
        <p:txBody>
          <a:bodyPr wrap="square" lIns="0" tIns="0" rIns="0" bIns="0" rtlCol="0" anchor="ctr"/>
          <a:lstStyle/>
          <a:p>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The tether, the topside control box, fuses, and every wire termination that carries current.</a:t>
            </a:r>
            <a:endParaRPr lang="en-US" sz="1150" dirty="0"/>
          </a:p>
        </p:txBody>
      </p:sp>
      <p:sp>
        <p:nvSpPr>
          <p:cNvPr id="18" name="Text 16"/>
          <p:cNvSpPr/>
          <p:nvPr/>
        </p:nvSpPr>
        <p:spPr>
          <a:xfrm>
            <a:off x="7680960" y="3502152"/>
            <a:ext cx="3474720" cy="237744"/>
          </a:xfrm>
          <a:prstGeom prst="rect">
            <a:avLst/>
          </a:prstGeom>
          <a:noFill/>
          <a:ln/>
        </p:spPr>
        <p:txBody>
          <a:bodyPr wrap="square" lIns="0" tIns="0" rIns="0" bIns="0" rtlCol="0" anchor="ctr"/>
          <a:lstStyle/>
          <a:p>
            <a:pPr indent="0" marL="0">
              <a:buNone/>
            </a:pPr>
            <a:r>
              <a:rPr lang="en-US" sz="900" b="1" spc="150" kern="0" dirty="0">
                <a:solidFill>
                  <a:srgbClr val="86868B"/>
                </a:solidFill>
                <a:latin typeface="Helvetica Neue" pitchFamily="34" charset="0"/>
                <a:ea typeface="Helvetica Neue" pitchFamily="34" charset="-122"/>
                <a:cs typeface="Helvetica Neue" pitchFamily="34" charset="-120"/>
              </a:rPr>
              <a:t>A GOOD FIT IF YOU</a:t>
            </a:r>
            <a:endParaRPr lang="en-US" sz="900" dirty="0"/>
          </a:p>
        </p:txBody>
      </p:sp>
      <p:sp>
        <p:nvSpPr>
          <p:cNvPr id="19" name="Text 17"/>
          <p:cNvSpPr/>
          <p:nvPr/>
        </p:nvSpPr>
        <p:spPr>
          <a:xfrm>
            <a:off x="7680960" y="3721608"/>
            <a:ext cx="3520440" cy="868680"/>
          </a:xfrm>
          <a:prstGeom prst="rect">
            <a:avLst/>
          </a:prstGeom>
          <a:noFill/>
          <a:ln/>
        </p:spPr>
        <p:txBody>
          <a:bodyPr wrap="square" lIns="0" tIns="0" rIns="0" bIns="0" rtlCol="0" anchor="ctr"/>
          <a:lstStyle/>
          <a:p>
            <a:pPr indent="0" marL="0">
              <a:lnSpc>
                <a:spcPts val="1500"/>
              </a:lnSpc>
              <a:buNone/>
            </a:pPr>
            <a:r>
              <a:rPr lang="en-US" sz="1150" dirty="0">
                <a:solidFill>
                  <a:srgbClr val="6E6E73"/>
                </a:solidFill>
                <a:latin typeface="Helvetica Neue" pitchFamily="34" charset="0"/>
                <a:ea typeface="Helvetica Neue" pitchFamily="34" charset="-122"/>
                <a:cs typeface="Helvetica Neue" pitchFamily="34" charset="-120"/>
              </a:rPr>
              <a:t>are patient with detail work, like soldering and wiring, and respect that electricity is serious.</a:t>
            </a:r>
            <a:endParaRPr lang="en-US" sz="1150" dirty="0"/>
          </a:p>
        </p:txBody>
      </p:sp>
      <p:sp>
        <p:nvSpPr>
          <p:cNvPr id="20" name="Shape 18"/>
          <p:cNvSpPr/>
          <p:nvPr/>
        </p:nvSpPr>
        <p:spPr>
          <a:xfrm>
            <a:off x="822960" y="4791456"/>
            <a:ext cx="10545775" cy="1335024"/>
          </a:xfrm>
          <a:prstGeom prst="roundRect">
            <a:avLst>
              <a:gd name="adj" fmla="val 7534"/>
            </a:avLst>
          </a:prstGeom>
          <a:solidFill>
            <a:srgbClr val="FBFBFD"/>
          </a:solidFill>
          <a:ln w="12700">
            <a:solidFill>
              <a:srgbClr val="E3E3E6"/>
            </a:solidFill>
            <a:prstDash val="solid"/>
          </a:ln>
        </p:spPr>
        <p:txBody>
          <a:bodyPr/>
          <a:p/>
        </p:txBody>
      </p:sp>
      <p:sp>
        <p:nvSpPr>
          <p:cNvPr id="21" name="Shape 19"/>
          <p:cNvSpPr/>
          <p:nvPr/>
        </p:nvSpPr>
        <p:spPr>
          <a:xfrm>
            <a:off x="822960" y="4791456"/>
            <a:ext cx="77724" cy="1335024"/>
          </a:xfrm>
          <a:prstGeom prst="rect">
            <a:avLst/>
          </a:prstGeom>
          <a:solidFill>
            <a:srgbClr val="0D7490"/>
          </a:solidFill>
          <a:ln/>
        </p:spPr>
        <p:txBody>
          <a:bodyPr/>
          <a:p/>
        </p:txBody>
      </p:sp>
      <p:sp>
        <p:nvSpPr>
          <p:cNvPr id="22" name="Text 20"/>
          <p:cNvSpPr/>
          <p:nvPr/>
        </p:nvSpPr>
        <p:spPr>
          <a:xfrm>
            <a:off x="1143000" y="4974336"/>
            <a:ext cx="2606040" cy="457200"/>
          </a:xfrm>
          <a:prstGeom prst="rect">
            <a:avLst/>
          </a:prstGeom>
          <a:noFill/>
          <a:ln/>
        </p:spPr>
        <p:txBody>
          <a:bodyPr wrap="square" lIns="0" tIns="0" rIns="0" bIns="0" rtlCol="0" anchor="ctr"/>
          <a:lstStyle/>
          <a:p>
            <a:pPr indent="0" marL="0">
              <a:buNone/>
            </a:pPr>
            <a:r>
              <a:rPr lang="en-US" sz="1700" b="1" dirty="0">
                <a:solidFill>
                  <a:srgbClr val="1D1D1F"/>
                </a:solidFill>
                <a:latin typeface="Helvetica Neue" pitchFamily="34" charset="0"/>
                <a:ea typeface="Helvetica Neue" pitchFamily="34" charset="-122"/>
                <a:cs typeface="Helvetica Neue" pitchFamily="34" charset="-120"/>
              </a:rPr>
              <a:t>Software Lead</a:t>
            </a:r>
            <a:endParaRPr lang="en-US" sz="1700" dirty="0"/>
          </a:p>
        </p:txBody>
      </p:sp>
      <p:sp>
        <p:nvSpPr>
          <p:cNvPr id="23" name="Text 21"/>
          <p:cNvSpPr/>
          <p:nvPr/>
        </p:nvSpPr>
        <p:spPr>
          <a:xfrm>
            <a:off x="1143000" y="5413248"/>
            <a:ext cx="2606040" cy="594360"/>
          </a:xfrm>
          <a:prstGeom prst="rect">
            <a:avLst/>
          </a:prstGeom>
          <a:noFill/>
          <a:ln/>
        </p:spPr>
        <p:txBody>
          <a:bodyPr wrap="square" lIns="0" tIns="0" rIns="0" bIns="0" rtlCol="0" anchor="ctr"/>
          <a:lstStyle/>
          <a:p>
            <a:pPr indent="0" marL="0">
              <a:lnSpc>
                <a:spcPts val="1300"/>
              </a:lnSpc>
              <a:buNone/>
            </a:pPr>
            <a:r>
              <a:rPr lang="en-US" sz="1050" b="1" dirty="0">
                <a:solidFill>
                  <a:srgbClr val="0D7490"/>
                </a:solidFill>
                <a:latin typeface="Helvetica Neue" pitchFamily="34" charset="0"/>
                <a:ea typeface="Helvetica Neue" pitchFamily="34" charset="-122"/>
                <a:cs typeface="Helvetica Neue" pitchFamily="34" charset="-120"/>
              </a:rPr>
              <a:t>Code &amp; Vision</a:t>
            </a:r>
            <a:endParaRPr lang="en-US" sz="1050" dirty="0"/>
          </a:p>
        </p:txBody>
      </p:sp>
      <p:sp>
        <p:nvSpPr>
          <p:cNvPr id="24" name="Text 22"/>
          <p:cNvSpPr/>
          <p:nvPr/>
        </p:nvSpPr>
        <p:spPr>
          <a:xfrm>
            <a:off x="3977640" y="4983480"/>
            <a:ext cx="3291840" cy="237744"/>
          </a:xfrm>
          <a:prstGeom prst="rect">
            <a:avLst/>
          </a:prstGeom>
          <a:noFill/>
          <a:ln/>
        </p:spPr>
        <p:txBody>
          <a:bodyPr wrap="square" lIns="0" tIns="0" rIns="0" bIns="0" rtlCol="0" anchor="ctr"/>
          <a:lstStyle/>
          <a:p>
            <a:pPr indent="0" marL="0">
              <a:buNone/>
            </a:pPr>
            <a:r>
              <a:rPr lang="en-US" sz="900" b="1" spc="150" kern="0" dirty="0">
                <a:solidFill>
                  <a:srgbClr val="86868B"/>
                </a:solidFill>
                <a:latin typeface="Helvetica Neue" pitchFamily="34" charset="0"/>
                <a:ea typeface="Helvetica Neue" pitchFamily="34" charset="-122"/>
                <a:cs typeface="Helvetica Neue" pitchFamily="34" charset="-120"/>
              </a:rPr>
              <a:t>OWNS</a:t>
            </a:r>
            <a:endParaRPr lang="en-US" sz="900" dirty="0"/>
          </a:p>
        </p:txBody>
      </p:sp>
      <p:sp>
        <p:nvSpPr>
          <p:cNvPr id="25" name="Text 23"/>
          <p:cNvSpPr/>
          <p:nvPr/>
        </p:nvSpPr>
        <p:spPr>
          <a:xfrm>
            <a:off x="3977640" y="5202936"/>
            <a:ext cx="3429000" cy="868680"/>
          </a:xfrm>
          <a:prstGeom prst="rect">
            <a:avLst/>
          </a:prstGeom>
          <a:noFill/>
          <a:ln/>
        </p:spPr>
        <p:txBody>
          <a:bodyPr wrap="square" lIns="0" tIns="0" rIns="0" bIns="0" rtlCol="0" anchor="ctr"/>
          <a:lstStyle/>
          <a:p>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The control code that drives the ROV and the computer-vision program that reads the camera.</a:t>
            </a:r>
            <a:endParaRPr lang="en-US" sz="1150" dirty="0"/>
          </a:p>
        </p:txBody>
      </p:sp>
      <p:sp>
        <p:nvSpPr>
          <p:cNvPr id="26" name="Text 24"/>
          <p:cNvSpPr/>
          <p:nvPr/>
        </p:nvSpPr>
        <p:spPr>
          <a:xfrm>
            <a:off x="7680960" y="4983480"/>
            <a:ext cx="3474720" cy="237744"/>
          </a:xfrm>
          <a:prstGeom prst="rect">
            <a:avLst/>
          </a:prstGeom>
          <a:noFill/>
          <a:ln/>
        </p:spPr>
        <p:txBody>
          <a:bodyPr wrap="square" lIns="0" tIns="0" rIns="0" bIns="0" rtlCol="0" anchor="ctr"/>
          <a:lstStyle/>
          <a:p>
            <a:pPr indent="0" marL="0">
              <a:buNone/>
            </a:pPr>
            <a:r>
              <a:rPr lang="en-US" sz="900" b="1" spc="150" kern="0" dirty="0">
                <a:solidFill>
                  <a:srgbClr val="86868B"/>
                </a:solidFill>
                <a:latin typeface="Helvetica Neue" pitchFamily="34" charset="0"/>
                <a:ea typeface="Helvetica Neue" pitchFamily="34" charset="-122"/>
                <a:cs typeface="Helvetica Neue" pitchFamily="34" charset="-120"/>
              </a:rPr>
              <a:t>A GOOD FIT IF YOU</a:t>
            </a:r>
            <a:endParaRPr lang="en-US" sz="900" dirty="0"/>
          </a:p>
        </p:txBody>
      </p:sp>
      <p:sp>
        <p:nvSpPr>
          <p:cNvPr id="27" name="Text 25"/>
          <p:cNvSpPr/>
          <p:nvPr/>
        </p:nvSpPr>
        <p:spPr>
          <a:xfrm>
            <a:off x="7680960" y="5202936"/>
            <a:ext cx="3520440" cy="868680"/>
          </a:xfrm>
          <a:prstGeom prst="rect">
            <a:avLst/>
          </a:prstGeom>
          <a:noFill/>
          <a:ln/>
        </p:spPr>
        <p:txBody>
          <a:bodyPr wrap="square" lIns="0" tIns="0" rIns="0" bIns="0" rtlCol="0" anchor="ctr"/>
          <a:lstStyle/>
          <a:p>
            <a:pPr indent="0" marL="0">
              <a:lnSpc>
                <a:spcPts val="1500"/>
              </a:lnSpc>
              <a:buNone/>
            </a:pPr>
            <a:r>
              <a:rPr lang="en-US" sz="1150" dirty="0">
                <a:solidFill>
                  <a:srgbClr val="6E6E73"/>
                </a:solidFill>
                <a:latin typeface="Helvetica Neue" pitchFamily="34" charset="0"/>
                <a:ea typeface="Helvetica Neue" pitchFamily="34" charset="-122"/>
                <a:cs typeface="Helvetica Neue" pitchFamily="34" charset="-120"/>
              </a:rPr>
              <a:t>like programming, want to learn Python and OpenCV, and enjoy debugging until it works.</a:t>
            </a:r>
            <a:endParaRPr lang="en-US" sz="1150" dirty="0"/>
          </a:p>
        </p:txBody>
      </p:sp>
      <p:sp>
        <p:nvSpPr>
          <p:cNvPr id="28" name="Shape 26"/>
          <p:cNvSpPr/>
          <p:nvPr/>
        </p:nvSpPr>
        <p:spPr>
          <a:xfrm>
            <a:off x="822960" y="6437376"/>
            <a:ext cx="10545775" cy="0"/>
          </a:xfrm>
          <a:prstGeom prst="line">
            <a:avLst/>
          </a:prstGeom>
          <a:noFill/>
          <a:ln w="9525">
            <a:solidFill>
              <a:srgbClr val="E3E3E6"/>
            </a:solidFill>
            <a:prstDash val="solid"/>
          </a:ln>
        </p:spPr>
        <p:txBody>
          <a:bodyPr/>
          <a:p/>
        </p:txBody>
      </p:sp>
      <p:sp>
        <p:nvSpPr>
          <p:cNvPr id="29" name="Text 27"/>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30" name="Text 28"/>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14 / 29</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WE ARE A COMPANY</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How we choose — today, before we leave.</a:t>
            </a:r>
            <a:endParaRPr lang="en-US" sz="3000" dirty="0"/>
          </a:p>
        </p:txBody>
      </p:sp>
      <p:sp>
        <p:nvSpPr>
          <p:cNvPr id="4" name="Shape 2"/>
          <p:cNvSpPr/>
          <p:nvPr/>
        </p:nvSpPr>
        <p:spPr>
          <a:xfrm>
            <a:off x="822960" y="1865376"/>
            <a:ext cx="457200" cy="457200"/>
          </a:xfrm>
          <a:prstGeom prst="ellipse">
            <a:avLst/>
          </a:prstGeom>
          <a:solidFill>
            <a:srgbClr val="0D7490"/>
          </a:solidFill>
          <a:ln/>
        </p:spPr>
        <p:txBody>
          <a:bodyPr/>
          <a:p/>
        </p:txBody>
      </p:sp>
      <p:sp>
        <p:nvSpPr>
          <p:cNvPr id="5" name="Text 3"/>
          <p:cNvSpPr/>
          <p:nvPr/>
        </p:nvSpPr>
        <p:spPr>
          <a:xfrm>
            <a:off x="822960" y="186537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Neue" pitchFamily="34" charset="0"/>
                <a:ea typeface="Helvetica Neue" pitchFamily="34" charset="-122"/>
                <a:cs typeface="Helvetica Neue" pitchFamily="34" charset="-120"/>
              </a:rPr>
              <a:t>1</a:t>
            </a:r>
            <a:endParaRPr lang="en-US" sz="1400" dirty="0"/>
          </a:p>
        </p:txBody>
      </p:sp>
      <p:sp>
        <p:nvSpPr>
          <p:cNvPr id="6" name="Text 4"/>
          <p:cNvSpPr/>
          <p:nvPr/>
        </p:nvSpPr>
        <p:spPr>
          <a:xfrm>
            <a:off x="1481328" y="1828800"/>
            <a:ext cx="3657600" cy="457200"/>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Hear all six</a:t>
            </a:r>
            <a:endParaRPr lang="en-US" sz="1600" dirty="0"/>
          </a:p>
        </p:txBody>
      </p:sp>
      <p:sp>
        <p:nvSpPr>
          <p:cNvPr id="7" name="Text 5"/>
          <p:cNvSpPr/>
          <p:nvPr/>
        </p:nvSpPr>
        <p:spPr>
          <a:xfrm>
            <a:off x="5212080" y="1810512"/>
            <a:ext cx="6126480" cy="594360"/>
          </a:xfrm>
          <a:prstGeom prst="rect">
            <a:avLst/>
          </a:prstGeom>
          <a:noFill/>
          <a:ln/>
        </p:spPr>
        <p:txBody>
          <a:bodyPr wrap="square" lIns="0" tIns="0" rIns="0" bIns="0" rtlCol="0" anchor="ctr"/>
          <a:lstStyle/>
          <a:p>
            <a:pPr indent="0" marL="0">
              <a:lnSpc>
                <a:spcPts val="1600"/>
              </a:lnSpc>
              <a:buNone/>
            </a:pPr>
            <a:r>
              <a:rPr lang="en-US" sz="1250" dirty="0">
                <a:solidFill>
                  <a:srgbClr val="6E6E73"/>
                </a:solidFill>
                <a:latin typeface="Helvetica Neue" pitchFamily="34" charset="0"/>
                <a:ea typeface="Helvetica Neue" pitchFamily="34" charset="-122"/>
                <a:cs typeface="Helvetica Neue" pitchFamily="34" charset="-120"/>
              </a:rPr>
              <a:t>We have just walked every role. Sit with all of them for a moment — no rush.</a:t>
            </a:r>
            <a:endParaRPr lang="en-US" sz="1250" dirty="0"/>
          </a:p>
        </p:txBody>
      </p:sp>
      <p:sp>
        <p:nvSpPr>
          <p:cNvPr id="8" name="Shape 6"/>
          <p:cNvSpPr/>
          <p:nvPr/>
        </p:nvSpPr>
        <p:spPr>
          <a:xfrm>
            <a:off x="1051560" y="2395728"/>
            <a:ext cx="0" cy="384048"/>
          </a:xfrm>
          <a:prstGeom prst="line">
            <a:avLst/>
          </a:prstGeom>
          <a:noFill/>
          <a:ln w="19050">
            <a:solidFill>
              <a:srgbClr val="D6E7EB"/>
            </a:solidFill>
            <a:prstDash val="solid"/>
          </a:ln>
        </p:spPr>
        <p:txBody>
          <a:bodyPr/>
          <a:p/>
        </p:txBody>
      </p:sp>
      <p:sp>
        <p:nvSpPr>
          <p:cNvPr id="9" name="Shape 7"/>
          <p:cNvSpPr/>
          <p:nvPr/>
        </p:nvSpPr>
        <p:spPr>
          <a:xfrm>
            <a:off x="822960" y="2816352"/>
            <a:ext cx="457200" cy="457200"/>
          </a:xfrm>
          <a:prstGeom prst="ellipse">
            <a:avLst/>
          </a:prstGeom>
          <a:solidFill>
            <a:srgbClr val="0D7490"/>
          </a:solidFill>
          <a:ln/>
        </p:spPr>
        <p:txBody>
          <a:bodyPr/>
          <a:p/>
        </p:txBody>
      </p:sp>
      <p:sp>
        <p:nvSpPr>
          <p:cNvPr id="10" name="Text 8"/>
          <p:cNvSpPr/>
          <p:nvPr/>
        </p:nvSpPr>
        <p:spPr>
          <a:xfrm>
            <a:off x="822960" y="281635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Neue" pitchFamily="34" charset="0"/>
                <a:ea typeface="Helvetica Neue" pitchFamily="34" charset="-122"/>
                <a:cs typeface="Helvetica Neue" pitchFamily="34" charset="-120"/>
              </a:rPr>
              <a:t>2</a:t>
            </a:r>
            <a:endParaRPr lang="en-US" sz="1400" dirty="0"/>
          </a:p>
        </p:txBody>
      </p:sp>
      <p:sp>
        <p:nvSpPr>
          <p:cNvPr id="11" name="Text 9"/>
          <p:cNvSpPr/>
          <p:nvPr/>
        </p:nvSpPr>
        <p:spPr>
          <a:xfrm>
            <a:off x="1481328" y="2779776"/>
            <a:ext cx="3657600" cy="457200"/>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Write your top two</a:t>
            </a:r>
            <a:endParaRPr lang="en-US" sz="1600" dirty="0"/>
          </a:p>
        </p:txBody>
      </p:sp>
      <p:sp>
        <p:nvSpPr>
          <p:cNvPr id="12" name="Text 10"/>
          <p:cNvSpPr/>
          <p:nvPr/>
        </p:nvSpPr>
        <p:spPr>
          <a:xfrm>
            <a:off x="5212080" y="2761488"/>
            <a:ext cx="6126480" cy="594360"/>
          </a:xfrm>
          <a:prstGeom prst="rect">
            <a:avLst/>
          </a:prstGeom>
          <a:noFill/>
          <a:ln/>
        </p:spPr>
        <p:txBody>
          <a:bodyPr wrap="square" lIns="0" tIns="0" rIns="0" bIns="0" rtlCol="0" anchor="ctr"/>
          <a:lstStyle/>
          <a:p>
            <a:pPr indent="0" marL="0">
              <a:lnSpc>
                <a:spcPts val="1600"/>
              </a:lnSpc>
              <a:buNone/>
            </a:pPr>
            <a:r>
              <a:rPr lang="en-US" sz="1250" dirty="0">
                <a:solidFill>
                  <a:srgbClr val="6E6E73"/>
                </a:solidFill>
                <a:latin typeface="Helvetica Neue" pitchFamily="34" charset="0"/>
                <a:ea typeface="Helvetica Neue" pitchFamily="34" charset="-122"/>
                <a:cs typeface="Helvetica Neue" pitchFamily="34" charset="-120"/>
              </a:rPr>
              <a:t>Each student writes a first and second choice on paper. Two, not one — it keeps us flexible.</a:t>
            </a:r>
            <a:endParaRPr lang="en-US" sz="1250" dirty="0"/>
          </a:p>
        </p:txBody>
      </p:sp>
      <p:sp>
        <p:nvSpPr>
          <p:cNvPr id="13" name="Shape 11"/>
          <p:cNvSpPr/>
          <p:nvPr/>
        </p:nvSpPr>
        <p:spPr>
          <a:xfrm>
            <a:off x="1051560" y="3346704"/>
            <a:ext cx="0" cy="384048"/>
          </a:xfrm>
          <a:prstGeom prst="line">
            <a:avLst/>
          </a:prstGeom>
          <a:noFill/>
          <a:ln w="19050">
            <a:solidFill>
              <a:srgbClr val="D6E7EB"/>
            </a:solidFill>
            <a:prstDash val="solid"/>
          </a:ln>
        </p:spPr>
        <p:txBody>
          <a:bodyPr/>
          <a:p/>
        </p:txBody>
      </p:sp>
      <p:sp>
        <p:nvSpPr>
          <p:cNvPr id="14" name="Shape 12"/>
          <p:cNvSpPr/>
          <p:nvPr/>
        </p:nvSpPr>
        <p:spPr>
          <a:xfrm>
            <a:off x="822960" y="3767328"/>
            <a:ext cx="457200" cy="457200"/>
          </a:xfrm>
          <a:prstGeom prst="ellipse">
            <a:avLst/>
          </a:prstGeom>
          <a:solidFill>
            <a:srgbClr val="0D7490"/>
          </a:solidFill>
          <a:ln/>
        </p:spPr>
        <p:txBody>
          <a:bodyPr/>
          <a:p/>
        </p:txBody>
      </p:sp>
      <p:sp>
        <p:nvSpPr>
          <p:cNvPr id="15" name="Text 13"/>
          <p:cNvSpPr/>
          <p:nvPr/>
        </p:nvSpPr>
        <p:spPr>
          <a:xfrm>
            <a:off x="822960" y="376732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Neue" pitchFamily="34" charset="0"/>
                <a:ea typeface="Helvetica Neue" pitchFamily="34" charset="-122"/>
                <a:cs typeface="Helvetica Neue" pitchFamily="34" charset="-120"/>
              </a:rPr>
              <a:t>3</a:t>
            </a:r>
            <a:endParaRPr lang="en-US" sz="1400" dirty="0"/>
          </a:p>
        </p:txBody>
      </p:sp>
      <p:sp>
        <p:nvSpPr>
          <p:cNvPr id="16" name="Text 14"/>
          <p:cNvSpPr/>
          <p:nvPr/>
        </p:nvSpPr>
        <p:spPr>
          <a:xfrm>
            <a:off x="1481328" y="3730752"/>
            <a:ext cx="3657600" cy="457200"/>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Talk it through</a:t>
            </a:r>
            <a:endParaRPr lang="en-US" sz="1600" dirty="0"/>
          </a:p>
        </p:txBody>
      </p:sp>
      <p:sp>
        <p:nvSpPr>
          <p:cNvPr id="17" name="Text 15"/>
          <p:cNvSpPr/>
          <p:nvPr/>
        </p:nvSpPr>
        <p:spPr>
          <a:xfrm>
            <a:off x="5212080" y="3712464"/>
            <a:ext cx="6126480" cy="594360"/>
          </a:xfrm>
          <a:prstGeom prst="rect">
            <a:avLst/>
          </a:prstGeom>
          <a:noFill/>
          <a:ln/>
        </p:spPr>
        <p:txBody>
          <a:bodyPr wrap="square" lIns="0" tIns="0" rIns="0" bIns="0" rtlCol="0" anchor="ctr"/>
          <a:lstStyle/>
          <a:p>
            <a:pPr indent="0" marL="0">
              <a:lnSpc>
                <a:spcPts val="1600"/>
              </a:lnSpc>
              <a:buNone/>
            </a:pPr>
            <a:r>
              <a:rPr lang="en-US" sz="1250" dirty="0">
                <a:solidFill>
                  <a:srgbClr val="6E6E73"/>
                </a:solidFill>
                <a:latin typeface="Helvetica Neue" pitchFamily="34" charset="0"/>
                <a:ea typeface="Helvetica Neue" pitchFamily="34" charset="-122"/>
                <a:cs typeface="Helvetica Neue" pitchFamily="34" charset="-120"/>
              </a:rPr>
              <a:t>We compare picks out loud. Where two students want one seat, we discuss; where a seat is empty, we recruit.</a:t>
            </a:r>
            <a:endParaRPr lang="en-US" sz="1250" dirty="0"/>
          </a:p>
        </p:txBody>
      </p:sp>
      <p:sp>
        <p:nvSpPr>
          <p:cNvPr id="18" name="Shape 16"/>
          <p:cNvSpPr/>
          <p:nvPr/>
        </p:nvSpPr>
        <p:spPr>
          <a:xfrm>
            <a:off x="1051560" y="4297680"/>
            <a:ext cx="0" cy="384048"/>
          </a:xfrm>
          <a:prstGeom prst="line">
            <a:avLst/>
          </a:prstGeom>
          <a:noFill/>
          <a:ln w="19050">
            <a:solidFill>
              <a:srgbClr val="D6E7EB"/>
            </a:solidFill>
            <a:prstDash val="solid"/>
          </a:ln>
        </p:spPr>
        <p:txBody>
          <a:bodyPr/>
          <a:p/>
        </p:txBody>
      </p:sp>
      <p:sp>
        <p:nvSpPr>
          <p:cNvPr id="19" name="Shape 17"/>
          <p:cNvSpPr/>
          <p:nvPr/>
        </p:nvSpPr>
        <p:spPr>
          <a:xfrm>
            <a:off x="822960" y="4718304"/>
            <a:ext cx="457200" cy="457200"/>
          </a:xfrm>
          <a:prstGeom prst="ellipse">
            <a:avLst/>
          </a:prstGeom>
          <a:solidFill>
            <a:srgbClr val="0D7490"/>
          </a:solidFill>
          <a:ln/>
        </p:spPr>
        <p:txBody>
          <a:bodyPr/>
          <a:p/>
        </p:txBody>
      </p:sp>
      <p:sp>
        <p:nvSpPr>
          <p:cNvPr id="20" name="Text 18"/>
          <p:cNvSpPr/>
          <p:nvPr/>
        </p:nvSpPr>
        <p:spPr>
          <a:xfrm>
            <a:off x="822960" y="471830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Neue" pitchFamily="34" charset="0"/>
                <a:ea typeface="Helvetica Neue" pitchFamily="34" charset="-122"/>
                <a:cs typeface="Helvetica Neue" pitchFamily="34" charset="-120"/>
              </a:rPr>
              <a:t>4</a:t>
            </a:r>
            <a:endParaRPr lang="en-US" sz="1400" dirty="0"/>
          </a:p>
        </p:txBody>
      </p:sp>
      <p:sp>
        <p:nvSpPr>
          <p:cNvPr id="21" name="Text 19"/>
          <p:cNvSpPr/>
          <p:nvPr/>
        </p:nvSpPr>
        <p:spPr>
          <a:xfrm>
            <a:off x="1481328" y="4681728"/>
            <a:ext cx="3657600" cy="457200"/>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Advisor confirms</a:t>
            </a:r>
            <a:endParaRPr lang="en-US" sz="1600" dirty="0"/>
          </a:p>
        </p:txBody>
      </p:sp>
      <p:sp>
        <p:nvSpPr>
          <p:cNvPr id="22" name="Text 20"/>
          <p:cNvSpPr/>
          <p:nvPr/>
        </p:nvSpPr>
        <p:spPr>
          <a:xfrm>
            <a:off x="5212080" y="4663440"/>
            <a:ext cx="6126480" cy="594360"/>
          </a:xfrm>
          <a:prstGeom prst="rect">
            <a:avLst/>
          </a:prstGeom>
          <a:noFill/>
          <a:ln/>
        </p:spPr>
        <p:txBody>
          <a:bodyPr wrap="square" lIns="0" tIns="0" rIns="0" bIns="0" rtlCol="0" anchor="ctr"/>
          <a:lstStyle/>
          <a:p>
            <a:pPr indent="0" marL="0">
              <a:lnSpc>
                <a:spcPts val="1600"/>
              </a:lnSpc>
              <a:buNone/>
            </a:pPr>
            <a:r>
              <a:rPr lang="en-US" sz="1250" dirty="0">
                <a:solidFill>
                  <a:srgbClr val="6E6E73"/>
                </a:solidFill>
                <a:latin typeface="Helvetica Neue" pitchFamily="34" charset="0"/>
                <a:ea typeface="Helvetica Neue" pitchFamily="34" charset="-122"/>
                <a:cs typeface="Helvetica Neue" pitchFamily="34" charset="-120"/>
              </a:rPr>
              <a:t>The advisor confirms the final set so every role is filled and every student is placed.</a:t>
            </a:r>
            <a:endParaRPr lang="en-US" sz="1250" dirty="0"/>
          </a:p>
        </p:txBody>
      </p:sp>
      <p:sp>
        <p:nvSpPr>
          <p:cNvPr id="23" name="Shape 21"/>
          <p:cNvSpPr/>
          <p:nvPr/>
        </p:nvSpPr>
        <p:spPr>
          <a:xfrm>
            <a:off x="822960" y="5650992"/>
            <a:ext cx="10545775" cy="658368"/>
          </a:xfrm>
          <a:prstGeom prst="roundRect">
            <a:avLst>
              <a:gd name="adj" fmla="val 15278"/>
            </a:avLst>
          </a:prstGeom>
          <a:solidFill>
            <a:srgbClr val="EAF2F4"/>
          </a:solidFill>
          <a:ln w="12700">
            <a:solidFill>
              <a:srgbClr val="EAF2F4"/>
            </a:solidFill>
            <a:prstDash val="solid"/>
          </a:ln>
        </p:spPr>
        <p:txBody>
          <a:bodyPr/>
          <a:p/>
        </p:txBody>
      </p:sp>
      <p:sp>
        <p:nvSpPr>
          <p:cNvPr id="24" name="Text 22"/>
          <p:cNvSpPr/>
          <p:nvPr/>
        </p:nvSpPr>
        <p:spPr>
          <a:xfrm>
            <a:off x="1143000" y="5650992"/>
            <a:ext cx="9966960" cy="658368"/>
          </a:xfrm>
          <a:prstGeom prst="rect">
            <a:avLst/>
          </a:prstGeom>
          <a:noFill/>
          <a:ln/>
        </p:spPr>
        <p:txBody>
          <a:bodyPr wrap="square" lIns="0" tIns="0" rIns="0" bIns="0" rtlCol="0" anchor="ctr"/>
          <a:lstStyle/>
          <a:p>
            <a:pPr indent="0" marL="0">
              <a:lnSpc>
                <a:spcPts val="1500"/>
              </a:lnSpc>
              <a:buNone/>
            </a:pPr>
            <a:r>
              <a:rPr lang="en-US" sz="1150" b="1" dirty="0">
                <a:solidFill>
                  <a:srgbClr val="095D75"/>
                </a:solidFill>
                <a:latin typeface="Helvetica Neue" pitchFamily="34" charset="0"/>
                <a:ea typeface="Helvetica Neue" pitchFamily="34" charset="-122"/>
                <a:cs typeface="Helvetica Neue" pitchFamily="34" charset="-120"/>
              </a:rPr>
              <a:t xml:space="preserve">Two things to remember.  </a:t>
            </a:r>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No role is lesser than another — and roles can rotate at phase boundaries, so a choice today is not a cage for the season.</a:t>
            </a:r>
            <a:endParaRPr lang="en-US" sz="1150" dirty="0"/>
          </a:p>
        </p:txBody>
      </p:sp>
      <p:sp>
        <p:nvSpPr>
          <p:cNvPr id="25" name="Shape 23"/>
          <p:cNvSpPr/>
          <p:nvPr/>
        </p:nvSpPr>
        <p:spPr>
          <a:xfrm>
            <a:off x="822960" y="6437376"/>
            <a:ext cx="10545775" cy="0"/>
          </a:xfrm>
          <a:prstGeom prst="line">
            <a:avLst/>
          </a:prstGeom>
          <a:noFill/>
          <a:ln w="9525">
            <a:solidFill>
              <a:srgbClr val="E3E3E6"/>
            </a:solidFill>
            <a:prstDash val="solid"/>
          </a:ln>
        </p:spPr>
        <p:txBody>
          <a:bodyPr/>
          <a:p/>
        </p:txBody>
      </p:sp>
      <p:sp>
        <p:nvSpPr>
          <p:cNvPr id="26" name="Text 24"/>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27" name="Text 25"/>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15 / 29</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BFBFD"/>
        </a:solidFill>
      </p:bgPr>
    </p:bg>
    <p:spTree>
      <p:nvGrpSpPr>
        <p:cNvPr id="1" name=""/>
        <p:cNvGrpSpPr/>
        <p:nvPr/>
      </p:nvGrpSpPr>
      <p:grpSpPr>
        <a:xfrm>
          <a:off x="0" y="0"/>
          <a:ext cx="0" cy="0"/>
          <a:chOff x="0" y="0"/>
          <a:chExt cx="0" cy="0"/>
        </a:xfrm>
      </p:grpSpPr>
      <p:sp>
        <p:nvSpPr>
          <p:cNvPr id="2" name="Text 0"/>
          <p:cNvSpPr/>
          <p:nvPr/>
        </p:nvSpPr>
        <p:spPr>
          <a:xfrm>
            <a:off x="0" y="2286000"/>
            <a:ext cx="12191695" cy="457200"/>
          </a:xfrm>
          <a:prstGeom prst="rect">
            <a:avLst/>
          </a:prstGeom>
          <a:noFill/>
          <a:ln/>
        </p:spPr>
        <p:txBody>
          <a:bodyPr wrap="square" lIns="0" tIns="0" rIns="0" bIns="0" rtlCol="0" anchor="ctr"/>
          <a:lstStyle/>
          <a:p>
            <a:pPr algn="ctr" indent="0" marL="0">
              <a:buNone/>
            </a:pPr>
            <a:r>
              <a:rPr lang="en-US" sz="1500" b="1" spc="500" kern="0" dirty="0">
                <a:solidFill>
                  <a:srgbClr val="0D7490"/>
                </a:solidFill>
                <a:latin typeface="Helvetica Neue" pitchFamily="34" charset="0"/>
                <a:ea typeface="Helvetica Neue" pitchFamily="34" charset="-122"/>
                <a:cs typeface="Helvetica Neue" pitchFamily="34" charset="-120"/>
              </a:rPr>
              <a:t>BREAK</a:t>
            </a:r>
            <a:endParaRPr lang="en-US" sz="1500" dirty="0"/>
          </a:p>
        </p:txBody>
      </p:sp>
      <p:sp>
        <p:nvSpPr>
          <p:cNvPr id="3" name="Text 1"/>
          <p:cNvSpPr/>
          <p:nvPr/>
        </p:nvSpPr>
        <p:spPr>
          <a:xfrm>
            <a:off x="0" y="2697480"/>
            <a:ext cx="12191695" cy="1005840"/>
          </a:xfrm>
          <a:prstGeom prst="rect">
            <a:avLst/>
          </a:prstGeom>
          <a:noFill/>
          <a:ln/>
        </p:spPr>
        <p:txBody>
          <a:bodyPr wrap="square" lIns="0" tIns="0" rIns="0" bIns="0" rtlCol="0" anchor="ctr"/>
          <a:lstStyle/>
          <a:p>
            <a:pPr algn="ctr" indent="0" marL="0">
              <a:buNone/>
            </a:pPr>
            <a:r>
              <a:rPr lang="en-US" sz="5200" b="1" dirty="0">
                <a:solidFill>
                  <a:srgbClr val="1D1D1F"/>
                </a:solidFill>
                <a:latin typeface="Helvetica Neue" pitchFamily="34" charset="0"/>
                <a:ea typeface="Helvetica Neue" pitchFamily="34" charset="-122"/>
                <a:cs typeface="Helvetica Neue" pitchFamily="34" charset="-120"/>
              </a:rPr>
              <a:t>Ten minutes.</a:t>
            </a:r>
            <a:endParaRPr lang="en-US" sz="5200" dirty="0"/>
          </a:p>
        </p:txBody>
      </p:sp>
      <p:sp>
        <p:nvSpPr>
          <p:cNvPr id="4" name="Shape 2"/>
          <p:cNvSpPr/>
          <p:nvPr/>
        </p:nvSpPr>
        <p:spPr>
          <a:xfrm>
            <a:off x="5455768" y="3977640"/>
            <a:ext cx="1280160" cy="0"/>
          </a:xfrm>
          <a:prstGeom prst="line">
            <a:avLst/>
          </a:prstGeom>
          <a:noFill/>
          <a:ln w="12700">
            <a:solidFill>
              <a:srgbClr val="E3E3E6"/>
            </a:solidFill>
            <a:prstDash val="solid"/>
          </a:ln>
        </p:spPr>
        <p:txBody>
          <a:bodyPr/>
          <a:p/>
        </p:txBody>
      </p:sp>
      <p:sp>
        <p:nvSpPr>
          <p:cNvPr id="5" name="Text 3"/>
          <p:cNvSpPr/>
          <p:nvPr/>
        </p:nvSpPr>
        <p:spPr>
          <a:xfrm>
            <a:off x="0" y="4206240"/>
            <a:ext cx="12191695" cy="457200"/>
          </a:xfrm>
          <a:prstGeom prst="rect">
            <a:avLst/>
          </a:prstGeom>
          <a:noFill/>
          <a:ln/>
        </p:spPr>
        <p:txBody>
          <a:bodyPr wrap="square" lIns="0" tIns="0" rIns="0" bIns="0" rtlCol="0" anchor="ctr"/>
          <a:lstStyle/>
          <a:p>
            <a:pPr algn="ctr" indent="0" marL="0">
              <a:buNone/>
            </a:pPr>
            <a:r>
              <a:rPr lang="en-US" sz="1500" dirty="0">
                <a:solidFill>
                  <a:srgbClr val="6E6E73"/>
                </a:solidFill>
                <a:latin typeface="Helvetica Neue" pitchFamily="34" charset="0"/>
                <a:ea typeface="Helvetica Neue" pitchFamily="34" charset="-122"/>
                <a:cs typeface="Helvetica Neue" pitchFamily="34" charset="-120"/>
              </a:rPr>
              <a:t>We resume at 1:40 — and, like always, we start on time.</a:t>
            </a:r>
            <a:endParaRPr lang="en-US" sz="1500" dirty="0"/>
          </a:p>
        </p:txBody>
      </p:sp>
      <p:sp>
        <p:nvSpPr>
          <p:cNvPr id="6" name="Shape 4"/>
          <p:cNvSpPr/>
          <p:nvPr/>
        </p:nvSpPr>
        <p:spPr>
          <a:xfrm>
            <a:off x="822960" y="6437376"/>
            <a:ext cx="10545775" cy="0"/>
          </a:xfrm>
          <a:prstGeom prst="line">
            <a:avLst/>
          </a:prstGeom>
          <a:noFill/>
          <a:ln w="9525">
            <a:solidFill>
              <a:srgbClr val="E3E3E6"/>
            </a:solidFill>
            <a:prstDash val="solid"/>
          </a:ln>
        </p:spPr>
        <p:txBody>
          <a:bodyPr/>
          <a:p/>
        </p:txBody>
      </p:sp>
      <p:sp>
        <p:nvSpPr>
          <p:cNvPr id="7" name="Text 5"/>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8" name="Text 6"/>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16 / 29</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BFBFD"/>
        </a:solidFill>
      </p:bgPr>
    </p:bg>
    <p:spTree>
      <p:nvGrpSpPr>
        <p:cNvPr id="1" name=""/>
        <p:cNvGrpSpPr/>
        <p:nvPr/>
      </p:nvGrpSpPr>
      <p:grpSpPr>
        <a:xfrm>
          <a:off x="0" y="0"/>
          <a:ext cx="0" cy="0"/>
          <a:chOff x="0" y="0"/>
          <a:chExt cx="0" cy="0"/>
        </a:xfrm>
      </p:grpSpPr>
      <p:sp>
        <p:nvSpPr>
          <p:cNvPr id="2" name="Text 0"/>
          <p:cNvSpPr/>
          <p:nvPr/>
        </p:nvSpPr>
        <p:spPr>
          <a:xfrm>
            <a:off x="4572000" y="182880"/>
            <a:ext cx="7315200" cy="6492240"/>
          </a:xfrm>
          <a:prstGeom prst="rect">
            <a:avLst/>
          </a:prstGeom>
          <a:noFill/>
          <a:ln/>
        </p:spPr>
        <p:txBody>
          <a:bodyPr wrap="square" lIns="0" tIns="0" rIns="0" bIns="0" rtlCol="0" anchor="ctr"/>
          <a:lstStyle/>
          <a:p>
            <a:pPr algn="r" indent="0" marL="0">
              <a:buNone/>
            </a:pPr>
            <a:r>
              <a:rPr lang="en-US" sz="36000" b="1" dirty="0">
                <a:solidFill>
                  <a:srgbClr val="EEF0F1"/>
                </a:solidFill>
                <a:latin typeface="Helvetica Neue" pitchFamily="34" charset="0"/>
                <a:ea typeface="Helvetica Neue" pitchFamily="34" charset="-122"/>
                <a:cs typeface="Helvetica Neue" pitchFamily="34" charset="-120"/>
              </a:rPr>
              <a:t>04</a:t>
            </a:r>
            <a:endParaRPr lang="en-US" sz="36000" dirty="0"/>
          </a:p>
        </p:txBody>
      </p:sp>
      <p:sp>
        <p:nvSpPr>
          <p:cNvPr id="3" name="Shape 1"/>
          <p:cNvSpPr/>
          <p:nvPr/>
        </p:nvSpPr>
        <p:spPr>
          <a:xfrm>
            <a:off x="841248" y="2395728"/>
            <a:ext cx="566928" cy="91440"/>
          </a:xfrm>
          <a:prstGeom prst="rect">
            <a:avLst/>
          </a:prstGeom>
          <a:solidFill>
            <a:srgbClr val="0D7490"/>
          </a:solidFill>
          <a:ln/>
        </p:spPr>
        <p:txBody>
          <a:bodyPr/>
          <a:p/>
        </p:txBody>
      </p:sp>
      <p:sp>
        <p:nvSpPr>
          <p:cNvPr id="4" name="Text 2"/>
          <p:cNvSpPr/>
          <p:nvPr/>
        </p:nvSpPr>
        <p:spPr>
          <a:xfrm>
            <a:off x="822960" y="2615184"/>
            <a:ext cx="6400800" cy="310896"/>
          </a:xfrm>
          <a:prstGeom prst="rect">
            <a:avLst/>
          </a:prstGeom>
          <a:noFill/>
          <a:ln/>
        </p:spPr>
        <p:txBody>
          <a:bodyPr wrap="square" lIns="0" tIns="0" rIns="0" bIns="0" rtlCol="0" anchor="ctr"/>
          <a:lstStyle/>
          <a:p>
            <a:pPr indent="0" marL="0">
              <a:buNone/>
            </a:pPr>
            <a:r>
              <a:rPr lang="en-US" sz="1300" b="1" spc="250" kern="0" dirty="0">
                <a:solidFill>
                  <a:srgbClr val="0D7490"/>
                </a:solidFill>
                <a:latin typeface="Helvetica Neue" pitchFamily="34" charset="0"/>
                <a:ea typeface="Helvetica Neue" pitchFamily="34" charset="-122"/>
                <a:cs typeface="Helvetica Neue" pitchFamily="34" charset="-120"/>
              </a:rPr>
              <a:t>SECTION 04</a:t>
            </a:r>
            <a:endParaRPr lang="en-US" sz="1300" dirty="0"/>
          </a:p>
        </p:txBody>
      </p:sp>
      <p:sp>
        <p:nvSpPr>
          <p:cNvPr id="5" name="Text 3"/>
          <p:cNvSpPr/>
          <p:nvPr/>
        </p:nvSpPr>
        <p:spPr>
          <a:xfrm>
            <a:off x="786384" y="2926080"/>
            <a:ext cx="6949440" cy="1371600"/>
          </a:xfrm>
          <a:prstGeom prst="rect">
            <a:avLst/>
          </a:prstGeom>
          <a:noFill/>
          <a:ln/>
        </p:spPr>
        <p:txBody>
          <a:bodyPr wrap="square" lIns="0" tIns="0" rIns="0" bIns="0" rtlCol="0" anchor="ctr"/>
          <a:lstStyle/>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The Season</a:t>
            </a:r>
            <a:endParaRPr lang="en-US" sz="4000" dirty="0"/>
          </a:p>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Ahead</a:t>
            </a:r>
            <a:endParaRPr lang="en-US" sz="4000" dirty="0"/>
          </a:p>
        </p:txBody>
      </p:sp>
      <p:sp>
        <p:nvSpPr>
          <p:cNvPr id="6" name="Shape 4"/>
          <p:cNvSpPr/>
          <p:nvPr/>
        </p:nvSpPr>
        <p:spPr>
          <a:xfrm>
            <a:off x="841248" y="4370832"/>
            <a:ext cx="2971800" cy="420624"/>
          </a:xfrm>
          <a:prstGeom prst="roundRect">
            <a:avLst>
              <a:gd name="adj" fmla="val 50000"/>
            </a:avLst>
          </a:prstGeom>
          <a:solidFill>
            <a:srgbClr val="0D7490"/>
          </a:solidFill>
          <a:ln/>
        </p:spPr>
        <p:txBody>
          <a:bodyPr/>
          <a:p/>
        </p:txBody>
      </p:sp>
      <p:sp>
        <p:nvSpPr>
          <p:cNvPr id="7" name="Text 5"/>
          <p:cNvSpPr/>
          <p:nvPr/>
        </p:nvSpPr>
        <p:spPr>
          <a:xfrm>
            <a:off x="841248" y="4370832"/>
            <a:ext cx="2971800" cy="420624"/>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Helvetica Neue" pitchFamily="34" charset="0"/>
                <a:ea typeface="Helvetica Neue" pitchFamily="34" charset="-122"/>
                <a:cs typeface="Helvetica Neue" pitchFamily="34" charset="-120"/>
              </a:rPr>
              <a:t>1:40 – 2:15   ·   35 MIN</a:t>
            </a:r>
            <a:endParaRPr lang="en-US" sz="1050" dirty="0"/>
          </a:p>
        </p:txBody>
      </p:sp>
      <p:sp>
        <p:nvSpPr>
          <p:cNvPr id="8" name="Text 6"/>
          <p:cNvSpPr/>
          <p:nvPr/>
        </p:nvSpPr>
        <p:spPr>
          <a:xfrm>
            <a:off x="841248" y="5029200"/>
            <a:ext cx="6126480" cy="1005840"/>
          </a:xfrm>
          <a:prstGeom prst="rect">
            <a:avLst/>
          </a:prstGeom>
          <a:noFill/>
          <a:ln/>
        </p:spPr>
        <p:txBody>
          <a:bodyPr wrap="square" lIns="0" tIns="0" rIns="0" bIns="0" rtlCol="0" anchor="ctr"/>
          <a:lstStyle/>
          <a:p>
            <a:pPr indent="0" marL="0">
              <a:lnSpc>
                <a:spcPts val="2200"/>
              </a:lnSpc>
              <a:buNone/>
            </a:pPr>
            <a:r>
              <a:rPr lang="en-US" sz="1500" i="1" dirty="0">
                <a:solidFill>
                  <a:srgbClr val="6E6E73"/>
                </a:solidFill>
                <a:latin typeface="Helvetica Neue" pitchFamily="34" charset="0"/>
                <a:ea typeface="Helvetica Neue" pitchFamily="34" charset="-122"/>
                <a:cs typeface="Helvetica Neue" pitchFamily="34" charset="-120"/>
              </a:rPr>
              <a:t>Six phases carry the team from an empty room to the regional. Here is the whole map.</a:t>
            </a:r>
            <a:endParaRPr lang="en-US" sz="1500" dirty="0"/>
          </a:p>
        </p:txBody>
      </p:sp>
      <p:sp>
        <p:nvSpPr>
          <p:cNvPr id="9" name="Shape 7"/>
          <p:cNvSpPr/>
          <p:nvPr/>
        </p:nvSpPr>
        <p:spPr>
          <a:xfrm>
            <a:off x="822960" y="6437376"/>
            <a:ext cx="10545775" cy="0"/>
          </a:xfrm>
          <a:prstGeom prst="line">
            <a:avLst/>
          </a:prstGeom>
          <a:noFill/>
          <a:ln w="9525">
            <a:solidFill>
              <a:srgbClr val="E3E3E6"/>
            </a:solidFill>
            <a:prstDash val="solid"/>
          </a:ln>
        </p:spPr>
        <p:txBody>
          <a:bodyPr/>
          <a:p/>
        </p:txBody>
      </p:sp>
      <p:sp>
        <p:nvSpPr>
          <p:cNvPr id="10" name="Text 8"/>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1" name="Text 9"/>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17 / 29</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THE SEASON AHEAD</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Six phases, June to April.</a:t>
            </a:r>
            <a:endParaRPr lang="en-US" sz="3000" dirty="0"/>
          </a:p>
        </p:txBody>
      </p:sp>
      <p:sp>
        <p:nvSpPr>
          <p:cNvPr id="4" name="Shape 2"/>
          <p:cNvSpPr/>
          <p:nvPr/>
        </p:nvSpPr>
        <p:spPr>
          <a:xfrm>
            <a:off x="822960" y="1755648"/>
            <a:ext cx="10545775" cy="667512"/>
          </a:xfrm>
          <a:prstGeom prst="roundRect">
            <a:avLst>
              <a:gd name="adj" fmla="val 15068"/>
            </a:avLst>
          </a:prstGeom>
          <a:solidFill>
            <a:srgbClr val="EAF2F4"/>
          </a:solidFill>
          <a:ln w="12700">
            <a:solidFill>
              <a:srgbClr val="EAF2F4"/>
            </a:solidFill>
            <a:prstDash val="solid"/>
          </a:ln>
        </p:spPr>
        <p:txBody>
          <a:bodyPr/>
          <a:p/>
        </p:txBody>
      </p:sp>
      <p:sp>
        <p:nvSpPr>
          <p:cNvPr id="5" name="Shape 3"/>
          <p:cNvSpPr/>
          <p:nvPr/>
        </p:nvSpPr>
        <p:spPr>
          <a:xfrm>
            <a:off x="987552" y="1874520"/>
            <a:ext cx="457200" cy="457200"/>
          </a:xfrm>
          <a:prstGeom prst="ellipse">
            <a:avLst/>
          </a:prstGeom>
          <a:solidFill>
            <a:srgbClr val="0D7490"/>
          </a:solidFill>
          <a:ln/>
        </p:spPr>
        <p:txBody>
          <a:bodyPr/>
          <a:p/>
        </p:txBody>
      </p:sp>
      <p:sp>
        <p:nvSpPr>
          <p:cNvPr id="6" name="Text 4"/>
          <p:cNvSpPr/>
          <p:nvPr/>
        </p:nvSpPr>
        <p:spPr>
          <a:xfrm>
            <a:off x="987552" y="18745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Neue" pitchFamily="34" charset="0"/>
                <a:ea typeface="Helvetica Neue" pitchFamily="34" charset="-122"/>
                <a:cs typeface="Helvetica Neue" pitchFamily="34" charset="-120"/>
              </a:rPr>
              <a:t>1</a:t>
            </a:r>
            <a:endParaRPr lang="en-US" sz="1400" dirty="0"/>
          </a:p>
        </p:txBody>
      </p:sp>
      <p:sp>
        <p:nvSpPr>
          <p:cNvPr id="7" name="Text 5"/>
          <p:cNvSpPr/>
          <p:nvPr/>
        </p:nvSpPr>
        <p:spPr>
          <a:xfrm>
            <a:off x="1691640" y="1801368"/>
            <a:ext cx="3200400" cy="329184"/>
          </a:xfrm>
          <a:prstGeom prst="rect">
            <a:avLst/>
          </a:prstGeom>
          <a:noFill/>
          <a:ln/>
        </p:spPr>
        <p:txBody>
          <a:bodyPr wrap="square" lIns="0" tIns="0" rIns="0" bIns="0" rtlCol="0" anchor="ctr"/>
          <a:lstStyle/>
          <a:p>
            <a:pPr indent="0" marL="0">
              <a:buNone/>
            </a:pPr>
            <a:r>
              <a:rPr lang="en-US" sz="1450" b="1" dirty="0">
                <a:solidFill>
                  <a:srgbClr val="1D1D1F"/>
                </a:solidFill>
                <a:latin typeface="Helvetica Neue" pitchFamily="34" charset="0"/>
                <a:ea typeface="Helvetica Neue" pitchFamily="34" charset="-122"/>
                <a:cs typeface="Helvetica Neue" pitchFamily="34" charset="-120"/>
              </a:rPr>
              <a:t>Phase 1 — Foundation</a:t>
            </a:r>
            <a:endParaRPr lang="en-US" sz="1450" dirty="0"/>
          </a:p>
        </p:txBody>
      </p:sp>
      <p:sp>
        <p:nvSpPr>
          <p:cNvPr id="8" name="Text 6"/>
          <p:cNvSpPr/>
          <p:nvPr/>
        </p:nvSpPr>
        <p:spPr>
          <a:xfrm>
            <a:off x="1691640" y="2121408"/>
            <a:ext cx="3200400" cy="274320"/>
          </a:xfrm>
          <a:prstGeom prst="rect">
            <a:avLst/>
          </a:prstGeom>
          <a:noFill/>
          <a:ln/>
        </p:spPr>
        <p:txBody>
          <a:bodyPr wrap="square" lIns="0" tIns="0" rIns="0" bIns="0" rtlCol="0" anchor="ctr"/>
          <a:lstStyle/>
          <a:p>
            <a:pPr indent="0" marL="0">
              <a:buNone/>
            </a:pPr>
            <a:r>
              <a:rPr lang="en-US" sz="1050" dirty="0">
                <a:solidFill>
                  <a:srgbClr val="0D7490"/>
                </a:solidFill>
                <a:latin typeface="Helvetica Neue" pitchFamily="34" charset="0"/>
                <a:ea typeface="Helvetica Neue" pitchFamily="34" charset="-122"/>
                <a:cs typeface="Helvetica Neue" pitchFamily="34" charset="-120"/>
              </a:rPr>
              <a:t>Jun – Jul 2026</a:t>
            </a:r>
            <a:endParaRPr lang="en-US" sz="1050" dirty="0"/>
          </a:p>
        </p:txBody>
      </p:sp>
      <p:sp>
        <p:nvSpPr>
          <p:cNvPr id="9" name="Text 7"/>
          <p:cNvSpPr/>
          <p:nvPr/>
        </p:nvSpPr>
        <p:spPr>
          <a:xfrm>
            <a:off x="5029200" y="1792224"/>
            <a:ext cx="6126480" cy="219456"/>
          </a:xfrm>
          <a:prstGeom prst="rect">
            <a:avLst/>
          </a:prstGeom>
          <a:noFill/>
          <a:ln/>
        </p:spPr>
        <p:txBody>
          <a:bodyPr wrap="square" lIns="0" tIns="0" rIns="0" bIns="0" rtlCol="0" anchor="ctr"/>
          <a:lstStyle/>
          <a:p>
            <a:pPr indent="0" marL="0">
              <a:buNone/>
            </a:pPr>
            <a:r>
              <a:rPr lang="en-US" sz="800" b="1" spc="200" kern="0" dirty="0">
                <a:solidFill>
                  <a:srgbClr val="095D75"/>
                </a:solidFill>
                <a:latin typeface="Helvetica Neue" pitchFamily="34" charset="0"/>
                <a:ea typeface="Helvetica Neue" pitchFamily="34" charset="-122"/>
                <a:cs typeface="Helvetica Neue" pitchFamily="34" charset="-120"/>
              </a:rPr>
              <a:t>WE ARE HERE</a:t>
            </a:r>
            <a:endParaRPr lang="en-US" sz="800" dirty="0"/>
          </a:p>
        </p:txBody>
      </p:sp>
      <p:sp>
        <p:nvSpPr>
          <p:cNvPr id="10" name="Text 8"/>
          <p:cNvSpPr/>
          <p:nvPr/>
        </p:nvSpPr>
        <p:spPr>
          <a:xfrm>
            <a:off x="5029200" y="1956816"/>
            <a:ext cx="6126480" cy="457200"/>
          </a:xfrm>
          <a:prstGeom prst="rect">
            <a:avLst/>
          </a:prstGeom>
          <a:noFill/>
          <a:ln/>
        </p:spPr>
        <p:txBody>
          <a:bodyPr wrap="square" lIns="0" tIns="0" rIns="0" bIns="0" rtlCol="0" anchor="ctr"/>
          <a:lstStyle/>
          <a:p>
            <a:pPr indent="0" marL="0">
              <a:lnSpc>
                <a:spcPts val="1600"/>
              </a:lnSpc>
              <a:buNone/>
            </a:pPr>
            <a:r>
              <a:rPr lang="en-US" sz="1200" b="1" dirty="0">
                <a:solidFill>
                  <a:srgbClr val="1D1D1F"/>
                </a:solidFill>
                <a:latin typeface="Helvetica Neue" pitchFamily="34" charset="0"/>
                <a:ea typeface="Helvetica Neue" pitchFamily="34" charset="-122"/>
                <a:cs typeface="Helvetica Neue" pitchFamily="34" charset="-120"/>
              </a:rPr>
              <a:t>A team that exists, a starter ROV wet, and kids who have soldered.</a:t>
            </a:r>
            <a:endParaRPr lang="en-US" sz="1200" dirty="0"/>
          </a:p>
        </p:txBody>
      </p:sp>
      <p:sp>
        <p:nvSpPr>
          <p:cNvPr id="11" name="Shape 9"/>
          <p:cNvSpPr/>
          <p:nvPr/>
        </p:nvSpPr>
        <p:spPr>
          <a:xfrm>
            <a:off x="987552" y="2596896"/>
            <a:ext cx="457200" cy="457200"/>
          </a:xfrm>
          <a:prstGeom prst="ellipse">
            <a:avLst/>
          </a:prstGeom>
          <a:solidFill>
            <a:srgbClr val="FFFFFF"/>
          </a:solidFill>
          <a:ln/>
        </p:spPr>
        <p:txBody>
          <a:bodyPr/>
          <a:p/>
        </p:txBody>
      </p:sp>
      <p:sp>
        <p:nvSpPr>
          <p:cNvPr id="12" name="Text 10"/>
          <p:cNvSpPr/>
          <p:nvPr/>
        </p:nvSpPr>
        <p:spPr>
          <a:xfrm>
            <a:off x="987552" y="2596896"/>
            <a:ext cx="457200" cy="457200"/>
          </a:xfrm>
          <a:prstGeom prst="rect">
            <a:avLst/>
          </a:prstGeom>
          <a:noFill/>
          <a:ln/>
        </p:spPr>
        <p:txBody>
          <a:bodyPr wrap="square" lIns="0" tIns="0" rIns="0" bIns="0" rtlCol="0" anchor="ctr"/>
          <a:lstStyle/>
          <a:p>
            <a:pPr algn="ctr" indent="0" marL="0">
              <a:buNone/>
            </a:pPr>
            <a:r>
              <a:rPr lang="en-US" sz="1400" b="1" dirty="0">
                <a:solidFill>
                  <a:srgbClr val="0D7490"/>
                </a:solidFill>
                <a:latin typeface="Helvetica Neue" pitchFamily="34" charset="0"/>
                <a:ea typeface="Helvetica Neue" pitchFamily="34" charset="-122"/>
                <a:cs typeface="Helvetica Neue" pitchFamily="34" charset="-120"/>
              </a:rPr>
              <a:t>2</a:t>
            </a:r>
            <a:endParaRPr lang="en-US" sz="1400" dirty="0"/>
          </a:p>
        </p:txBody>
      </p:sp>
      <p:sp>
        <p:nvSpPr>
          <p:cNvPr id="13" name="Shape 11"/>
          <p:cNvSpPr/>
          <p:nvPr/>
        </p:nvSpPr>
        <p:spPr>
          <a:xfrm>
            <a:off x="987552" y="2596896"/>
            <a:ext cx="457200" cy="457200"/>
          </a:xfrm>
          <a:prstGeom prst="ellipse">
            <a:avLst/>
          </a:prstGeom>
          <a:solidFill>
            <a:srgbClr val="FFFFFF"/>
          </a:solidFill>
          <a:ln w="15875">
            <a:solidFill>
              <a:srgbClr val="D6E7EB"/>
            </a:solidFill>
            <a:prstDash val="solid"/>
          </a:ln>
        </p:spPr>
        <p:txBody>
          <a:bodyPr/>
          <a:p/>
        </p:txBody>
      </p:sp>
      <p:sp>
        <p:nvSpPr>
          <p:cNvPr id="14" name="Text 12"/>
          <p:cNvSpPr/>
          <p:nvPr/>
        </p:nvSpPr>
        <p:spPr>
          <a:xfrm>
            <a:off x="987552" y="2596896"/>
            <a:ext cx="457200" cy="457200"/>
          </a:xfrm>
          <a:prstGeom prst="rect">
            <a:avLst/>
          </a:prstGeom>
          <a:noFill/>
          <a:ln/>
        </p:spPr>
        <p:txBody>
          <a:bodyPr wrap="square" lIns="0" tIns="0" rIns="0" bIns="0" rtlCol="0" anchor="ctr"/>
          <a:lstStyle/>
          <a:p>
            <a:pPr algn="ctr" indent="0" marL="0">
              <a:buNone/>
            </a:pPr>
            <a:r>
              <a:rPr lang="en-US" sz="1400" b="1" dirty="0">
                <a:solidFill>
                  <a:srgbClr val="0D7490"/>
                </a:solidFill>
                <a:latin typeface="Helvetica Neue" pitchFamily="34" charset="0"/>
                <a:ea typeface="Helvetica Neue" pitchFamily="34" charset="-122"/>
                <a:cs typeface="Helvetica Neue" pitchFamily="34" charset="-120"/>
              </a:rPr>
              <a:t>2</a:t>
            </a:r>
            <a:endParaRPr lang="en-US" sz="1400" dirty="0"/>
          </a:p>
        </p:txBody>
      </p:sp>
      <p:sp>
        <p:nvSpPr>
          <p:cNvPr id="15" name="Text 13"/>
          <p:cNvSpPr/>
          <p:nvPr/>
        </p:nvSpPr>
        <p:spPr>
          <a:xfrm>
            <a:off x="1691640" y="2523744"/>
            <a:ext cx="3200400" cy="329184"/>
          </a:xfrm>
          <a:prstGeom prst="rect">
            <a:avLst/>
          </a:prstGeom>
          <a:noFill/>
          <a:ln/>
        </p:spPr>
        <p:txBody>
          <a:bodyPr wrap="square" lIns="0" tIns="0" rIns="0" bIns="0" rtlCol="0" anchor="ctr"/>
          <a:lstStyle/>
          <a:p>
            <a:pPr indent="0" marL="0">
              <a:buNone/>
            </a:pPr>
            <a:r>
              <a:rPr lang="en-US" sz="1450" b="1" dirty="0">
                <a:solidFill>
                  <a:srgbClr val="1D1D1F"/>
                </a:solidFill>
                <a:latin typeface="Helvetica Neue" pitchFamily="34" charset="0"/>
                <a:ea typeface="Helvetica Neue" pitchFamily="34" charset="-122"/>
                <a:cs typeface="Helvetica Neue" pitchFamily="34" charset="-120"/>
              </a:rPr>
              <a:t>Phase 2 — Capability</a:t>
            </a:r>
            <a:endParaRPr lang="en-US" sz="1450" dirty="0"/>
          </a:p>
        </p:txBody>
      </p:sp>
      <p:sp>
        <p:nvSpPr>
          <p:cNvPr id="16" name="Text 14"/>
          <p:cNvSpPr/>
          <p:nvPr/>
        </p:nvSpPr>
        <p:spPr>
          <a:xfrm>
            <a:off x="1691640" y="2843784"/>
            <a:ext cx="3200400" cy="274320"/>
          </a:xfrm>
          <a:prstGeom prst="rect">
            <a:avLst/>
          </a:prstGeom>
          <a:noFill/>
          <a:ln/>
        </p:spPr>
        <p:txBody>
          <a:bodyPr wrap="square" lIns="0" tIns="0" rIns="0" bIns="0" rtlCol="0" anchor="ctr"/>
          <a:lstStyle/>
          <a:p>
            <a:pPr indent="0" marL="0">
              <a:buNone/>
            </a:pPr>
            <a:r>
              <a:rPr lang="en-US" sz="1050" dirty="0">
                <a:solidFill>
                  <a:srgbClr val="0D7490"/>
                </a:solidFill>
                <a:latin typeface="Helvetica Neue" pitchFamily="34" charset="0"/>
                <a:ea typeface="Helvetica Neue" pitchFamily="34" charset="-122"/>
                <a:cs typeface="Helvetica Neue" pitchFamily="34" charset="-120"/>
              </a:rPr>
              <a:t>Aug – mid-Oct 2026</a:t>
            </a:r>
            <a:endParaRPr lang="en-US" sz="1050" dirty="0"/>
          </a:p>
        </p:txBody>
      </p:sp>
      <p:sp>
        <p:nvSpPr>
          <p:cNvPr id="17" name="Text 15"/>
          <p:cNvSpPr/>
          <p:nvPr/>
        </p:nvSpPr>
        <p:spPr>
          <a:xfrm>
            <a:off x="5029200" y="2478024"/>
            <a:ext cx="6126480" cy="630936"/>
          </a:xfrm>
          <a:prstGeom prst="rect">
            <a:avLst/>
          </a:prstGeom>
          <a:noFill/>
          <a:ln/>
        </p:spPr>
        <p:txBody>
          <a:bodyPr wrap="square" lIns="0" tIns="0" rIns="0" bIns="0" rtlCol="0" anchor="ctr"/>
          <a:lstStyle/>
          <a:p>
            <a:pPr indent="0" marL="0">
              <a:lnSpc>
                <a:spcPts val="1600"/>
              </a:lnSpc>
              <a:buNone/>
            </a:pPr>
            <a:r>
              <a:rPr lang="en-US" sz="1200" dirty="0">
                <a:solidFill>
                  <a:srgbClr val="6E6E73"/>
                </a:solidFill>
                <a:latin typeface="Helvetica Neue" pitchFamily="34" charset="0"/>
                <a:ea typeface="Helvetica Neue" pitchFamily="34" charset="-122"/>
                <a:cs typeface="Helvetica Neue" pitchFamily="34" charset="-120"/>
              </a:rPr>
              <a:t>Weekly cadence returns. Each sub-team takes a skill-building mini-project.</a:t>
            </a:r>
            <a:endParaRPr lang="en-US" sz="1200" dirty="0"/>
          </a:p>
        </p:txBody>
      </p:sp>
      <p:sp>
        <p:nvSpPr>
          <p:cNvPr id="18" name="Shape 16"/>
          <p:cNvSpPr/>
          <p:nvPr/>
        </p:nvSpPr>
        <p:spPr>
          <a:xfrm>
            <a:off x="987552" y="3319272"/>
            <a:ext cx="457200" cy="457200"/>
          </a:xfrm>
          <a:prstGeom prst="ellipse">
            <a:avLst/>
          </a:prstGeom>
          <a:solidFill>
            <a:srgbClr val="FFFFFF"/>
          </a:solidFill>
          <a:ln/>
        </p:spPr>
        <p:txBody>
          <a:bodyPr/>
          <a:p/>
        </p:txBody>
      </p:sp>
      <p:sp>
        <p:nvSpPr>
          <p:cNvPr id="19" name="Text 17"/>
          <p:cNvSpPr/>
          <p:nvPr/>
        </p:nvSpPr>
        <p:spPr>
          <a:xfrm>
            <a:off x="987552" y="3319272"/>
            <a:ext cx="457200" cy="457200"/>
          </a:xfrm>
          <a:prstGeom prst="rect">
            <a:avLst/>
          </a:prstGeom>
          <a:noFill/>
          <a:ln/>
        </p:spPr>
        <p:txBody>
          <a:bodyPr wrap="square" lIns="0" tIns="0" rIns="0" bIns="0" rtlCol="0" anchor="ctr"/>
          <a:lstStyle/>
          <a:p>
            <a:pPr algn="ctr" indent="0" marL="0">
              <a:buNone/>
            </a:pPr>
            <a:r>
              <a:rPr lang="en-US" sz="1400" b="1" dirty="0">
                <a:solidFill>
                  <a:srgbClr val="0D7490"/>
                </a:solidFill>
                <a:latin typeface="Helvetica Neue" pitchFamily="34" charset="0"/>
                <a:ea typeface="Helvetica Neue" pitchFamily="34" charset="-122"/>
                <a:cs typeface="Helvetica Neue" pitchFamily="34" charset="-120"/>
              </a:rPr>
              <a:t>3</a:t>
            </a:r>
            <a:endParaRPr lang="en-US" sz="1400" dirty="0"/>
          </a:p>
        </p:txBody>
      </p:sp>
      <p:sp>
        <p:nvSpPr>
          <p:cNvPr id="20" name="Shape 18"/>
          <p:cNvSpPr/>
          <p:nvPr/>
        </p:nvSpPr>
        <p:spPr>
          <a:xfrm>
            <a:off x="987552" y="3319272"/>
            <a:ext cx="457200" cy="457200"/>
          </a:xfrm>
          <a:prstGeom prst="ellipse">
            <a:avLst/>
          </a:prstGeom>
          <a:solidFill>
            <a:srgbClr val="FFFFFF"/>
          </a:solidFill>
          <a:ln w="15875">
            <a:solidFill>
              <a:srgbClr val="D6E7EB"/>
            </a:solidFill>
            <a:prstDash val="solid"/>
          </a:ln>
        </p:spPr>
        <p:txBody>
          <a:bodyPr/>
          <a:p/>
        </p:txBody>
      </p:sp>
      <p:sp>
        <p:nvSpPr>
          <p:cNvPr id="21" name="Text 19"/>
          <p:cNvSpPr/>
          <p:nvPr/>
        </p:nvSpPr>
        <p:spPr>
          <a:xfrm>
            <a:off x="987552" y="3319272"/>
            <a:ext cx="457200" cy="457200"/>
          </a:xfrm>
          <a:prstGeom prst="rect">
            <a:avLst/>
          </a:prstGeom>
          <a:noFill/>
          <a:ln/>
        </p:spPr>
        <p:txBody>
          <a:bodyPr wrap="square" lIns="0" tIns="0" rIns="0" bIns="0" rtlCol="0" anchor="ctr"/>
          <a:lstStyle/>
          <a:p>
            <a:pPr algn="ctr" indent="0" marL="0">
              <a:buNone/>
            </a:pPr>
            <a:r>
              <a:rPr lang="en-US" sz="1400" b="1" dirty="0">
                <a:solidFill>
                  <a:srgbClr val="0D7490"/>
                </a:solidFill>
                <a:latin typeface="Helvetica Neue" pitchFamily="34" charset="0"/>
                <a:ea typeface="Helvetica Neue" pitchFamily="34" charset="-122"/>
                <a:cs typeface="Helvetica Neue" pitchFamily="34" charset="-120"/>
              </a:rPr>
              <a:t>3</a:t>
            </a:r>
            <a:endParaRPr lang="en-US" sz="1400" dirty="0"/>
          </a:p>
        </p:txBody>
      </p:sp>
      <p:sp>
        <p:nvSpPr>
          <p:cNvPr id="22" name="Text 20"/>
          <p:cNvSpPr/>
          <p:nvPr/>
        </p:nvSpPr>
        <p:spPr>
          <a:xfrm>
            <a:off x="1691640" y="3246120"/>
            <a:ext cx="3200400" cy="329184"/>
          </a:xfrm>
          <a:prstGeom prst="rect">
            <a:avLst/>
          </a:prstGeom>
          <a:noFill/>
          <a:ln/>
        </p:spPr>
        <p:txBody>
          <a:bodyPr wrap="square" lIns="0" tIns="0" rIns="0" bIns="0" rtlCol="0" anchor="ctr"/>
          <a:lstStyle/>
          <a:p>
            <a:pPr indent="0" marL="0">
              <a:buNone/>
            </a:pPr>
            <a:r>
              <a:rPr lang="en-US" sz="1450" b="1" dirty="0">
                <a:solidFill>
                  <a:srgbClr val="1D1D1F"/>
                </a:solidFill>
                <a:latin typeface="Helvetica Neue" pitchFamily="34" charset="0"/>
                <a:ea typeface="Helvetica Neue" pitchFamily="34" charset="-122"/>
                <a:cs typeface="Helvetica Neue" pitchFamily="34" charset="-120"/>
              </a:rPr>
              <a:t>Phase 3 — Design</a:t>
            </a:r>
            <a:endParaRPr lang="en-US" sz="1450" dirty="0"/>
          </a:p>
        </p:txBody>
      </p:sp>
      <p:sp>
        <p:nvSpPr>
          <p:cNvPr id="23" name="Text 21"/>
          <p:cNvSpPr/>
          <p:nvPr/>
        </p:nvSpPr>
        <p:spPr>
          <a:xfrm>
            <a:off x="1691640" y="3566160"/>
            <a:ext cx="3200400" cy="274320"/>
          </a:xfrm>
          <a:prstGeom prst="rect">
            <a:avLst/>
          </a:prstGeom>
          <a:noFill/>
          <a:ln/>
        </p:spPr>
        <p:txBody>
          <a:bodyPr wrap="square" lIns="0" tIns="0" rIns="0" bIns="0" rtlCol="0" anchor="ctr"/>
          <a:lstStyle/>
          <a:p>
            <a:pPr indent="0" marL="0">
              <a:buNone/>
            </a:pPr>
            <a:r>
              <a:rPr lang="en-US" sz="1050" dirty="0">
                <a:solidFill>
                  <a:srgbClr val="0D7490"/>
                </a:solidFill>
                <a:latin typeface="Helvetica Neue" pitchFamily="34" charset="0"/>
                <a:ea typeface="Helvetica Neue" pitchFamily="34" charset="-122"/>
                <a:cs typeface="Helvetica Neue" pitchFamily="34" charset="-120"/>
              </a:rPr>
              <a:t>mid-Oct 2026 – mid-Jan 2027</a:t>
            </a:r>
            <a:endParaRPr lang="en-US" sz="1050" dirty="0"/>
          </a:p>
        </p:txBody>
      </p:sp>
      <p:sp>
        <p:nvSpPr>
          <p:cNvPr id="24" name="Text 22"/>
          <p:cNvSpPr/>
          <p:nvPr/>
        </p:nvSpPr>
        <p:spPr>
          <a:xfrm>
            <a:off x="5029200" y="3200400"/>
            <a:ext cx="6126480" cy="630936"/>
          </a:xfrm>
          <a:prstGeom prst="rect">
            <a:avLst/>
          </a:prstGeom>
          <a:noFill/>
          <a:ln/>
        </p:spPr>
        <p:txBody>
          <a:bodyPr wrap="square" lIns="0" tIns="0" rIns="0" bIns="0" rtlCol="0" anchor="ctr"/>
          <a:lstStyle/>
          <a:p>
            <a:pPr indent="0" marL="0">
              <a:lnSpc>
                <a:spcPts val="1600"/>
              </a:lnSpc>
              <a:buNone/>
            </a:pPr>
            <a:r>
              <a:rPr lang="en-US" sz="1200" dirty="0">
                <a:solidFill>
                  <a:srgbClr val="6E6E73"/>
                </a:solidFill>
                <a:latin typeface="Helvetica Neue" pitchFamily="34" charset="0"/>
                <a:ea typeface="Helvetica Neue" pitchFamily="34" charset="-122"/>
                <a:cs typeface="Helvetica Neue" pitchFamily="34" charset="-120"/>
              </a:rPr>
              <a:t>The 2027 manual drops. Decompose missions, run trade studies, lock CAD.</a:t>
            </a:r>
            <a:endParaRPr lang="en-US" sz="1200" dirty="0"/>
          </a:p>
        </p:txBody>
      </p:sp>
      <p:sp>
        <p:nvSpPr>
          <p:cNvPr id="25" name="Shape 23"/>
          <p:cNvSpPr/>
          <p:nvPr/>
        </p:nvSpPr>
        <p:spPr>
          <a:xfrm>
            <a:off x="987552" y="4041648"/>
            <a:ext cx="457200" cy="457200"/>
          </a:xfrm>
          <a:prstGeom prst="ellipse">
            <a:avLst/>
          </a:prstGeom>
          <a:solidFill>
            <a:srgbClr val="FFFFFF"/>
          </a:solidFill>
          <a:ln/>
        </p:spPr>
        <p:txBody>
          <a:bodyPr/>
          <a:p/>
        </p:txBody>
      </p:sp>
      <p:sp>
        <p:nvSpPr>
          <p:cNvPr id="26" name="Text 24"/>
          <p:cNvSpPr/>
          <p:nvPr/>
        </p:nvSpPr>
        <p:spPr>
          <a:xfrm>
            <a:off x="987552" y="4041648"/>
            <a:ext cx="457200" cy="457200"/>
          </a:xfrm>
          <a:prstGeom prst="rect">
            <a:avLst/>
          </a:prstGeom>
          <a:noFill/>
          <a:ln/>
        </p:spPr>
        <p:txBody>
          <a:bodyPr wrap="square" lIns="0" tIns="0" rIns="0" bIns="0" rtlCol="0" anchor="ctr"/>
          <a:lstStyle/>
          <a:p>
            <a:pPr algn="ctr" indent="0" marL="0">
              <a:buNone/>
            </a:pPr>
            <a:r>
              <a:rPr lang="en-US" sz="1400" b="1" dirty="0">
                <a:solidFill>
                  <a:srgbClr val="0D7490"/>
                </a:solidFill>
                <a:latin typeface="Helvetica Neue" pitchFamily="34" charset="0"/>
                <a:ea typeface="Helvetica Neue" pitchFamily="34" charset="-122"/>
                <a:cs typeface="Helvetica Neue" pitchFamily="34" charset="-120"/>
              </a:rPr>
              <a:t>4</a:t>
            </a:r>
            <a:endParaRPr lang="en-US" sz="1400" dirty="0"/>
          </a:p>
        </p:txBody>
      </p:sp>
      <p:sp>
        <p:nvSpPr>
          <p:cNvPr id="27" name="Shape 25"/>
          <p:cNvSpPr/>
          <p:nvPr/>
        </p:nvSpPr>
        <p:spPr>
          <a:xfrm>
            <a:off x="987552" y="4041648"/>
            <a:ext cx="457200" cy="457200"/>
          </a:xfrm>
          <a:prstGeom prst="ellipse">
            <a:avLst/>
          </a:prstGeom>
          <a:solidFill>
            <a:srgbClr val="FFFFFF"/>
          </a:solidFill>
          <a:ln w="15875">
            <a:solidFill>
              <a:srgbClr val="D6E7EB"/>
            </a:solidFill>
            <a:prstDash val="solid"/>
          </a:ln>
        </p:spPr>
        <p:txBody>
          <a:bodyPr/>
          <a:p/>
        </p:txBody>
      </p:sp>
      <p:sp>
        <p:nvSpPr>
          <p:cNvPr id="28" name="Text 26"/>
          <p:cNvSpPr/>
          <p:nvPr/>
        </p:nvSpPr>
        <p:spPr>
          <a:xfrm>
            <a:off x="987552" y="4041648"/>
            <a:ext cx="457200" cy="457200"/>
          </a:xfrm>
          <a:prstGeom prst="rect">
            <a:avLst/>
          </a:prstGeom>
          <a:noFill/>
          <a:ln/>
        </p:spPr>
        <p:txBody>
          <a:bodyPr wrap="square" lIns="0" tIns="0" rIns="0" bIns="0" rtlCol="0" anchor="ctr"/>
          <a:lstStyle/>
          <a:p>
            <a:pPr algn="ctr" indent="0" marL="0">
              <a:buNone/>
            </a:pPr>
            <a:r>
              <a:rPr lang="en-US" sz="1400" b="1" dirty="0">
                <a:solidFill>
                  <a:srgbClr val="0D7490"/>
                </a:solidFill>
                <a:latin typeface="Helvetica Neue" pitchFamily="34" charset="0"/>
                <a:ea typeface="Helvetica Neue" pitchFamily="34" charset="-122"/>
                <a:cs typeface="Helvetica Neue" pitchFamily="34" charset="-120"/>
              </a:rPr>
              <a:t>4</a:t>
            </a:r>
            <a:endParaRPr lang="en-US" sz="1400" dirty="0"/>
          </a:p>
        </p:txBody>
      </p:sp>
      <p:sp>
        <p:nvSpPr>
          <p:cNvPr id="29" name="Text 27"/>
          <p:cNvSpPr/>
          <p:nvPr/>
        </p:nvSpPr>
        <p:spPr>
          <a:xfrm>
            <a:off x="1691640" y="3968496"/>
            <a:ext cx="3200400" cy="329184"/>
          </a:xfrm>
          <a:prstGeom prst="rect">
            <a:avLst/>
          </a:prstGeom>
          <a:noFill/>
          <a:ln/>
        </p:spPr>
        <p:txBody>
          <a:bodyPr wrap="square" lIns="0" tIns="0" rIns="0" bIns="0" rtlCol="0" anchor="ctr"/>
          <a:lstStyle/>
          <a:p>
            <a:pPr indent="0" marL="0">
              <a:buNone/>
            </a:pPr>
            <a:r>
              <a:rPr lang="en-US" sz="1450" b="1" dirty="0">
                <a:solidFill>
                  <a:srgbClr val="1D1D1F"/>
                </a:solidFill>
                <a:latin typeface="Helvetica Neue" pitchFamily="34" charset="0"/>
                <a:ea typeface="Helvetica Neue" pitchFamily="34" charset="-122"/>
                <a:cs typeface="Helvetica Neue" pitchFamily="34" charset="-120"/>
              </a:rPr>
              <a:t>Phase 4 — Build</a:t>
            </a:r>
            <a:endParaRPr lang="en-US" sz="1450" dirty="0"/>
          </a:p>
        </p:txBody>
      </p:sp>
      <p:sp>
        <p:nvSpPr>
          <p:cNvPr id="30" name="Text 28"/>
          <p:cNvSpPr/>
          <p:nvPr/>
        </p:nvSpPr>
        <p:spPr>
          <a:xfrm>
            <a:off x="1691640" y="4288536"/>
            <a:ext cx="3200400" cy="274320"/>
          </a:xfrm>
          <a:prstGeom prst="rect">
            <a:avLst/>
          </a:prstGeom>
          <a:noFill/>
          <a:ln/>
        </p:spPr>
        <p:txBody>
          <a:bodyPr wrap="square" lIns="0" tIns="0" rIns="0" bIns="0" rtlCol="0" anchor="ctr"/>
          <a:lstStyle/>
          <a:p>
            <a:pPr indent="0" marL="0">
              <a:buNone/>
            </a:pPr>
            <a:r>
              <a:rPr lang="en-US" sz="1050" dirty="0">
                <a:solidFill>
                  <a:srgbClr val="0D7490"/>
                </a:solidFill>
                <a:latin typeface="Helvetica Neue" pitchFamily="34" charset="0"/>
                <a:ea typeface="Helvetica Neue" pitchFamily="34" charset="-122"/>
                <a:cs typeface="Helvetica Neue" pitchFamily="34" charset="-120"/>
              </a:rPr>
              <a:t>mid-Jan – Feb 2027</a:t>
            </a:r>
            <a:endParaRPr lang="en-US" sz="1050" dirty="0"/>
          </a:p>
        </p:txBody>
      </p:sp>
      <p:sp>
        <p:nvSpPr>
          <p:cNvPr id="31" name="Text 29"/>
          <p:cNvSpPr/>
          <p:nvPr/>
        </p:nvSpPr>
        <p:spPr>
          <a:xfrm>
            <a:off x="5029200" y="3922776"/>
            <a:ext cx="6126480" cy="630936"/>
          </a:xfrm>
          <a:prstGeom prst="rect">
            <a:avLst/>
          </a:prstGeom>
          <a:noFill/>
          <a:ln/>
        </p:spPr>
        <p:txBody>
          <a:bodyPr wrap="square" lIns="0" tIns="0" rIns="0" bIns="0" rtlCol="0" anchor="ctr"/>
          <a:lstStyle/>
          <a:p>
            <a:pPr indent="0" marL="0">
              <a:lnSpc>
                <a:spcPts val="1600"/>
              </a:lnSpc>
              <a:buNone/>
            </a:pPr>
            <a:r>
              <a:rPr lang="en-US" sz="1200" dirty="0">
                <a:solidFill>
                  <a:srgbClr val="6E6E73"/>
                </a:solidFill>
                <a:latin typeface="Helvetica Neue" pitchFamily="34" charset="0"/>
                <a:ea typeface="Helvetica Neue" pitchFamily="34" charset="-122"/>
                <a:cs typeface="Helvetica Neue" pitchFamily="34" charset="-120"/>
              </a:rPr>
              <a:t>Construction. Frame, electronics, tether, float, and manipulator come together.</a:t>
            </a:r>
            <a:endParaRPr lang="en-US" sz="1200" dirty="0"/>
          </a:p>
        </p:txBody>
      </p:sp>
      <p:sp>
        <p:nvSpPr>
          <p:cNvPr id="32" name="Shape 30"/>
          <p:cNvSpPr/>
          <p:nvPr/>
        </p:nvSpPr>
        <p:spPr>
          <a:xfrm>
            <a:off x="987552" y="4764024"/>
            <a:ext cx="457200" cy="457200"/>
          </a:xfrm>
          <a:prstGeom prst="ellipse">
            <a:avLst/>
          </a:prstGeom>
          <a:solidFill>
            <a:srgbClr val="FFFFFF"/>
          </a:solidFill>
          <a:ln/>
        </p:spPr>
        <p:txBody>
          <a:bodyPr/>
          <a:p/>
        </p:txBody>
      </p:sp>
      <p:sp>
        <p:nvSpPr>
          <p:cNvPr id="33" name="Text 31"/>
          <p:cNvSpPr/>
          <p:nvPr/>
        </p:nvSpPr>
        <p:spPr>
          <a:xfrm>
            <a:off x="987552" y="4764024"/>
            <a:ext cx="457200" cy="457200"/>
          </a:xfrm>
          <a:prstGeom prst="rect">
            <a:avLst/>
          </a:prstGeom>
          <a:noFill/>
          <a:ln/>
        </p:spPr>
        <p:txBody>
          <a:bodyPr wrap="square" lIns="0" tIns="0" rIns="0" bIns="0" rtlCol="0" anchor="ctr"/>
          <a:lstStyle/>
          <a:p>
            <a:pPr algn="ctr" indent="0" marL="0">
              <a:buNone/>
            </a:pPr>
            <a:r>
              <a:rPr lang="en-US" sz="1400" b="1" dirty="0">
                <a:solidFill>
                  <a:srgbClr val="0D7490"/>
                </a:solidFill>
                <a:latin typeface="Helvetica Neue" pitchFamily="34" charset="0"/>
                <a:ea typeface="Helvetica Neue" pitchFamily="34" charset="-122"/>
                <a:cs typeface="Helvetica Neue" pitchFamily="34" charset="-120"/>
              </a:rPr>
              <a:t>5</a:t>
            </a:r>
            <a:endParaRPr lang="en-US" sz="1400" dirty="0"/>
          </a:p>
        </p:txBody>
      </p:sp>
      <p:sp>
        <p:nvSpPr>
          <p:cNvPr id="34" name="Shape 32"/>
          <p:cNvSpPr/>
          <p:nvPr/>
        </p:nvSpPr>
        <p:spPr>
          <a:xfrm>
            <a:off x="987552" y="4764024"/>
            <a:ext cx="457200" cy="457200"/>
          </a:xfrm>
          <a:prstGeom prst="ellipse">
            <a:avLst/>
          </a:prstGeom>
          <a:solidFill>
            <a:srgbClr val="FFFFFF"/>
          </a:solidFill>
          <a:ln w="15875">
            <a:solidFill>
              <a:srgbClr val="D6E7EB"/>
            </a:solidFill>
            <a:prstDash val="solid"/>
          </a:ln>
        </p:spPr>
        <p:txBody>
          <a:bodyPr/>
          <a:p/>
        </p:txBody>
      </p:sp>
      <p:sp>
        <p:nvSpPr>
          <p:cNvPr id="35" name="Text 33"/>
          <p:cNvSpPr/>
          <p:nvPr/>
        </p:nvSpPr>
        <p:spPr>
          <a:xfrm>
            <a:off x="987552" y="4764024"/>
            <a:ext cx="457200" cy="457200"/>
          </a:xfrm>
          <a:prstGeom prst="rect">
            <a:avLst/>
          </a:prstGeom>
          <a:noFill/>
          <a:ln/>
        </p:spPr>
        <p:txBody>
          <a:bodyPr wrap="square" lIns="0" tIns="0" rIns="0" bIns="0" rtlCol="0" anchor="ctr"/>
          <a:lstStyle/>
          <a:p>
            <a:pPr algn="ctr" indent="0" marL="0">
              <a:buNone/>
            </a:pPr>
            <a:r>
              <a:rPr lang="en-US" sz="1400" b="1" dirty="0">
                <a:solidFill>
                  <a:srgbClr val="0D7490"/>
                </a:solidFill>
                <a:latin typeface="Helvetica Neue" pitchFamily="34" charset="0"/>
                <a:ea typeface="Helvetica Neue" pitchFamily="34" charset="-122"/>
                <a:cs typeface="Helvetica Neue" pitchFamily="34" charset="-120"/>
              </a:rPr>
              <a:t>5</a:t>
            </a:r>
            <a:endParaRPr lang="en-US" sz="1400" dirty="0"/>
          </a:p>
        </p:txBody>
      </p:sp>
      <p:sp>
        <p:nvSpPr>
          <p:cNvPr id="36" name="Text 34"/>
          <p:cNvSpPr/>
          <p:nvPr/>
        </p:nvSpPr>
        <p:spPr>
          <a:xfrm>
            <a:off x="1691640" y="4690872"/>
            <a:ext cx="3200400" cy="329184"/>
          </a:xfrm>
          <a:prstGeom prst="rect">
            <a:avLst/>
          </a:prstGeom>
          <a:noFill/>
          <a:ln/>
        </p:spPr>
        <p:txBody>
          <a:bodyPr wrap="square" lIns="0" tIns="0" rIns="0" bIns="0" rtlCol="0" anchor="ctr"/>
          <a:lstStyle/>
          <a:p>
            <a:pPr indent="0" marL="0">
              <a:buNone/>
            </a:pPr>
            <a:r>
              <a:rPr lang="en-US" sz="1450" b="1" dirty="0">
                <a:solidFill>
                  <a:srgbClr val="1D1D1F"/>
                </a:solidFill>
                <a:latin typeface="Helvetica Neue" pitchFamily="34" charset="0"/>
                <a:ea typeface="Helvetica Neue" pitchFamily="34" charset="-122"/>
                <a:cs typeface="Helvetica Neue" pitchFamily="34" charset="-120"/>
              </a:rPr>
              <a:t>Phase 5 — Test &amp; Document</a:t>
            </a:r>
            <a:endParaRPr lang="en-US" sz="1450" dirty="0"/>
          </a:p>
        </p:txBody>
      </p:sp>
      <p:sp>
        <p:nvSpPr>
          <p:cNvPr id="37" name="Text 35"/>
          <p:cNvSpPr/>
          <p:nvPr/>
        </p:nvSpPr>
        <p:spPr>
          <a:xfrm>
            <a:off x="1691640" y="5010912"/>
            <a:ext cx="3200400" cy="274320"/>
          </a:xfrm>
          <a:prstGeom prst="rect">
            <a:avLst/>
          </a:prstGeom>
          <a:noFill/>
          <a:ln/>
        </p:spPr>
        <p:txBody>
          <a:bodyPr wrap="square" lIns="0" tIns="0" rIns="0" bIns="0" rtlCol="0" anchor="ctr"/>
          <a:lstStyle/>
          <a:p>
            <a:pPr indent="0" marL="0">
              <a:buNone/>
            </a:pPr>
            <a:r>
              <a:rPr lang="en-US" sz="1050" dirty="0">
                <a:solidFill>
                  <a:srgbClr val="0D7490"/>
                </a:solidFill>
                <a:latin typeface="Helvetica Neue" pitchFamily="34" charset="0"/>
                <a:ea typeface="Helvetica Neue" pitchFamily="34" charset="-122"/>
                <a:cs typeface="Helvetica Neue" pitchFamily="34" charset="-120"/>
              </a:rPr>
              <a:t>March 2027</a:t>
            </a:r>
            <a:endParaRPr lang="en-US" sz="1050" dirty="0"/>
          </a:p>
        </p:txBody>
      </p:sp>
      <p:sp>
        <p:nvSpPr>
          <p:cNvPr id="38" name="Text 36"/>
          <p:cNvSpPr/>
          <p:nvPr/>
        </p:nvSpPr>
        <p:spPr>
          <a:xfrm>
            <a:off x="5029200" y="4645152"/>
            <a:ext cx="6126480" cy="630936"/>
          </a:xfrm>
          <a:prstGeom prst="rect">
            <a:avLst/>
          </a:prstGeom>
          <a:noFill/>
          <a:ln/>
        </p:spPr>
        <p:txBody>
          <a:bodyPr wrap="square" lIns="0" tIns="0" rIns="0" bIns="0" rtlCol="0" anchor="ctr"/>
          <a:lstStyle/>
          <a:p>
            <a:pPr indent="0" marL="0">
              <a:lnSpc>
                <a:spcPts val="1600"/>
              </a:lnSpc>
              <a:buNone/>
            </a:pPr>
            <a:r>
              <a:rPr lang="en-US" sz="1200" dirty="0">
                <a:solidFill>
                  <a:srgbClr val="6E6E73"/>
                </a:solidFill>
                <a:latin typeface="Helvetica Neue" pitchFamily="34" charset="0"/>
                <a:ea typeface="Helvetica Neue" pitchFamily="34" charset="-122"/>
                <a:cs typeface="Helvetica Neue" pitchFamily="34" charset="-120"/>
              </a:rPr>
              <a:t>Full-mission rehearsals, the JSEA, and the technical documentation.</a:t>
            </a:r>
            <a:endParaRPr lang="en-US" sz="1200" dirty="0"/>
          </a:p>
        </p:txBody>
      </p:sp>
      <p:sp>
        <p:nvSpPr>
          <p:cNvPr id="39" name="Shape 37"/>
          <p:cNvSpPr/>
          <p:nvPr/>
        </p:nvSpPr>
        <p:spPr>
          <a:xfrm>
            <a:off x="987552" y="5486400"/>
            <a:ext cx="457200" cy="457200"/>
          </a:xfrm>
          <a:prstGeom prst="ellipse">
            <a:avLst/>
          </a:prstGeom>
          <a:solidFill>
            <a:srgbClr val="FFFFFF"/>
          </a:solidFill>
          <a:ln/>
        </p:spPr>
        <p:txBody>
          <a:bodyPr/>
          <a:p/>
        </p:txBody>
      </p:sp>
      <p:sp>
        <p:nvSpPr>
          <p:cNvPr id="40" name="Text 38"/>
          <p:cNvSpPr/>
          <p:nvPr/>
        </p:nvSpPr>
        <p:spPr>
          <a:xfrm>
            <a:off x="987552" y="5486400"/>
            <a:ext cx="457200" cy="457200"/>
          </a:xfrm>
          <a:prstGeom prst="rect">
            <a:avLst/>
          </a:prstGeom>
          <a:noFill/>
          <a:ln/>
        </p:spPr>
        <p:txBody>
          <a:bodyPr wrap="square" lIns="0" tIns="0" rIns="0" bIns="0" rtlCol="0" anchor="ctr"/>
          <a:lstStyle/>
          <a:p>
            <a:pPr algn="ctr" indent="0" marL="0">
              <a:buNone/>
            </a:pPr>
            <a:r>
              <a:rPr lang="en-US" sz="1400" b="1" dirty="0">
                <a:solidFill>
                  <a:srgbClr val="0D7490"/>
                </a:solidFill>
                <a:latin typeface="Helvetica Neue" pitchFamily="34" charset="0"/>
                <a:ea typeface="Helvetica Neue" pitchFamily="34" charset="-122"/>
                <a:cs typeface="Helvetica Neue" pitchFamily="34" charset="-120"/>
              </a:rPr>
              <a:t>6</a:t>
            </a:r>
            <a:endParaRPr lang="en-US" sz="1400" dirty="0"/>
          </a:p>
        </p:txBody>
      </p:sp>
      <p:sp>
        <p:nvSpPr>
          <p:cNvPr id="41" name="Shape 39"/>
          <p:cNvSpPr/>
          <p:nvPr/>
        </p:nvSpPr>
        <p:spPr>
          <a:xfrm>
            <a:off x="987552" y="5486400"/>
            <a:ext cx="457200" cy="457200"/>
          </a:xfrm>
          <a:prstGeom prst="ellipse">
            <a:avLst/>
          </a:prstGeom>
          <a:solidFill>
            <a:srgbClr val="FFFFFF"/>
          </a:solidFill>
          <a:ln w="15875">
            <a:solidFill>
              <a:srgbClr val="D6E7EB"/>
            </a:solidFill>
            <a:prstDash val="solid"/>
          </a:ln>
        </p:spPr>
        <p:txBody>
          <a:bodyPr/>
          <a:p/>
        </p:txBody>
      </p:sp>
      <p:sp>
        <p:nvSpPr>
          <p:cNvPr id="42" name="Text 40"/>
          <p:cNvSpPr/>
          <p:nvPr/>
        </p:nvSpPr>
        <p:spPr>
          <a:xfrm>
            <a:off x="987552" y="5486400"/>
            <a:ext cx="457200" cy="457200"/>
          </a:xfrm>
          <a:prstGeom prst="rect">
            <a:avLst/>
          </a:prstGeom>
          <a:noFill/>
          <a:ln/>
        </p:spPr>
        <p:txBody>
          <a:bodyPr wrap="square" lIns="0" tIns="0" rIns="0" bIns="0" rtlCol="0" anchor="ctr"/>
          <a:lstStyle/>
          <a:p>
            <a:pPr algn="ctr" indent="0" marL="0">
              <a:buNone/>
            </a:pPr>
            <a:r>
              <a:rPr lang="en-US" sz="1400" b="1" dirty="0">
                <a:solidFill>
                  <a:srgbClr val="0D7490"/>
                </a:solidFill>
                <a:latin typeface="Helvetica Neue" pitchFamily="34" charset="0"/>
                <a:ea typeface="Helvetica Neue" pitchFamily="34" charset="-122"/>
                <a:cs typeface="Helvetica Neue" pitchFamily="34" charset="-120"/>
              </a:rPr>
              <a:t>6</a:t>
            </a:r>
            <a:endParaRPr lang="en-US" sz="1400" dirty="0"/>
          </a:p>
        </p:txBody>
      </p:sp>
      <p:sp>
        <p:nvSpPr>
          <p:cNvPr id="43" name="Text 41"/>
          <p:cNvSpPr/>
          <p:nvPr/>
        </p:nvSpPr>
        <p:spPr>
          <a:xfrm>
            <a:off x="1691640" y="5413248"/>
            <a:ext cx="3200400" cy="329184"/>
          </a:xfrm>
          <a:prstGeom prst="rect">
            <a:avLst/>
          </a:prstGeom>
          <a:noFill/>
          <a:ln/>
        </p:spPr>
        <p:txBody>
          <a:bodyPr wrap="square" lIns="0" tIns="0" rIns="0" bIns="0" rtlCol="0" anchor="ctr"/>
          <a:lstStyle/>
          <a:p>
            <a:pPr indent="0" marL="0">
              <a:buNone/>
            </a:pPr>
            <a:r>
              <a:rPr lang="en-US" sz="1450" b="1" dirty="0">
                <a:solidFill>
                  <a:srgbClr val="1D1D1F"/>
                </a:solidFill>
                <a:latin typeface="Helvetica Neue" pitchFamily="34" charset="0"/>
                <a:ea typeface="Helvetica Neue" pitchFamily="34" charset="-122"/>
                <a:cs typeface="Helvetica Neue" pitchFamily="34" charset="-120"/>
              </a:rPr>
              <a:t>Phase 6 — Polish &amp; Compete</a:t>
            </a:r>
            <a:endParaRPr lang="en-US" sz="1450" dirty="0"/>
          </a:p>
        </p:txBody>
      </p:sp>
      <p:sp>
        <p:nvSpPr>
          <p:cNvPr id="44" name="Text 42"/>
          <p:cNvSpPr/>
          <p:nvPr/>
        </p:nvSpPr>
        <p:spPr>
          <a:xfrm>
            <a:off x="1691640" y="5733288"/>
            <a:ext cx="3200400" cy="274320"/>
          </a:xfrm>
          <a:prstGeom prst="rect">
            <a:avLst/>
          </a:prstGeom>
          <a:noFill/>
          <a:ln/>
        </p:spPr>
        <p:txBody>
          <a:bodyPr wrap="square" lIns="0" tIns="0" rIns="0" bIns="0" rtlCol="0" anchor="ctr"/>
          <a:lstStyle/>
          <a:p>
            <a:pPr indent="0" marL="0">
              <a:buNone/>
            </a:pPr>
            <a:r>
              <a:rPr lang="en-US" sz="1050" dirty="0">
                <a:solidFill>
                  <a:srgbClr val="0D7490"/>
                </a:solidFill>
                <a:latin typeface="Helvetica Neue" pitchFamily="34" charset="0"/>
                <a:ea typeface="Helvetica Neue" pitchFamily="34" charset="-122"/>
                <a:cs typeface="Helvetica Neue" pitchFamily="34" charset="-120"/>
              </a:rPr>
              <a:t>April 2027</a:t>
            </a:r>
            <a:endParaRPr lang="en-US" sz="1050" dirty="0"/>
          </a:p>
        </p:txBody>
      </p:sp>
      <p:sp>
        <p:nvSpPr>
          <p:cNvPr id="45" name="Text 43"/>
          <p:cNvSpPr/>
          <p:nvPr/>
        </p:nvSpPr>
        <p:spPr>
          <a:xfrm>
            <a:off x="5029200" y="5367528"/>
            <a:ext cx="6126480" cy="630936"/>
          </a:xfrm>
          <a:prstGeom prst="rect">
            <a:avLst/>
          </a:prstGeom>
          <a:noFill/>
          <a:ln/>
        </p:spPr>
        <p:txBody>
          <a:bodyPr wrap="square" lIns="0" tIns="0" rIns="0" bIns="0" rtlCol="0" anchor="ctr"/>
          <a:lstStyle/>
          <a:p>
            <a:pPr indent="0" marL="0">
              <a:lnSpc>
                <a:spcPts val="1600"/>
              </a:lnSpc>
              <a:buNone/>
            </a:pPr>
            <a:r>
              <a:rPr lang="en-US" sz="1200" dirty="0">
                <a:solidFill>
                  <a:srgbClr val="6E6E73"/>
                </a:solidFill>
                <a:latin typeface="Helvetica Neue" pitchFamily="34" charset="0"/>
                <a:ea typeface="Helvetica Neue" pitchFamily="34" charset="-122"/>
                <a:cs typeface="Helvetica Neue" pitchFamily="34" charset="-120"/>
              </a:rPr>
              <a:t>Documents in, display printed, presentation rehearsed — travel to our 2027 regional.</a:t>
            </a:r>
            <a:endParaRPr lang="en-US" sz="1200" dirty="0"/>
          </a:p>
        </p:txBody>
      </p:sp>
      <p:sp>
        <p:nvSpPr>
          <p:cNvPr id="46" name="Shape 44"/>
          <p:cNvSpPr/>
          <p:nvPr/>
        </p:nvSpPr>
        <p:spPr>
          <a:xfrm>
            <a:off x="822960" y="6437376"/>
            <a:ext cx="10545775" cy="0"/>
          </a:xfrm>
          <a:prstGeom prst="line">
            <a:avLst/>
          </a:prstGeom>
          <a:noFill/>
          <a:ln w="9525">
            <a:solidFill>
              <a:srgbClr val="E3E3E6"/>
            </a:solidFill>
            <a:prstDash val="solid"/>
          </a:ln>
        </p:spPr>
        <p:txBody>
          <a:bodyPr/>
          <a:p/>
        </p:txBody>
      </p:sp>
      <p:sp>
        <p:nvSpPr>
          <p:cNvPr id="47" name="Text 45"/>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48" name="Text 46"/>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18 / 29</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THE SEASON AHEAD</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Phase 1 — our first six weeks.</a:t>
            </a:r>
            <a:endParaRPr lang="en-US" sz="3000" dirty="0"/>
          </a:p>
        </p:txBody>
      </p:sp>
      <p:sp>
        <p:nvSpPr>
          <p:cNvPr id="4" name="Text 2"/>
          <p:cNvSpPr/>
          <p:nvPr/>
        </p:nvSpPr>
        <p:spPr>
          <a:xfrm>
            <a:off x="822960" y="1755648"/>
            <a:ext cx="10515600" cy="457200"/>
          </a:xfrm>
          <a:prstGeom prst="rect">
            <a:avLst/>
          </a:prstGeom>
          <a:noFill/>
          <a:ln/>
        </p:spPr>
        <p:txBody>
          <a:bodyPr wrap="square" lIns="0" tIns="0" rIns="0" bIns="0" rtlCol="0" anchor="ctr"/>
          <a:lstStyle/>
          <a:p>
            <a:pPr indent="0" marL="0">
              <a:buNone/>
            </a:pPr>
            <a:r>
              <a:rPr lang="en-US" sz="1400" dirty="0">
                <a:solidFill>
                  <a:srgbClr val="6E6E73"/>
                </a:solidFill>
                <a:latin typeface="Helvetica Neue" pitchFamily="34" charset="0"/>
                <a:ea typeface="Helvetica Neue" pitchFamily="34" charset="-122"/>
                <a:cs typeface="Helvetica Neue" pitchFamily="34" charset="-120"/>
              </a:rPr>
              <a:t>Phase 1 runs mid-June through July. Six weeks, six themes. We are inside Week 1 right now.</a:t>
            </a:r>
            <a:endParaRPr lang="en-US" sz="1400" dirty="0"/>
          </a:p>
        </p:txBody>
      </p:sp>
      <p:sp>
        <p:nvSpPr>
          <p:cNvPr id="5" name="Shape 3"/>
          <p:cNvSpPr/>
          <p:nvPr/>
        </p:nvSpPr>
        <p:spPr>
          <a:xfrm>
            <a:off x="822960" y="2395728"/>
            <a:ext cx="1627632" cy="3063240"/>
          </a:xfrm>
          <a:prstGeom prst="roundRect">
            <a:avLst>
              <a:gd name="adj" fmla="val 6180"/>
            </a:avLst>
          </a:prstGeom>
          <a:solidFill>
            <a:srgbClr val="0D7490"/>
          </a:solidFill>
          <a:ln w="12700">
            <a:solidFill>
              <a:srgbClr val="0D7490"/>
            </a:solidFill>
            <a:prstDash val="solid"/>
          </a:ln>
        </p:spPr>
        <p:txBody>
          <a:bodyPr/>
          <a:p/>
        </p:txBody>
      </p:sp>
      <p:sp>
        <p:nvSpPr>
          <p:cNvPr id="6" name="Text 4"/>
          <p:cNvSpPr/>
          <p:nvPr/>
        </p:nvSpPr>
        <p:spPr>
          <a:xfrm>
            <a:off x="1024128" y="2633472"/>
            <a:ext cx="1225296" cy="219456"/>
          </a:xfrm>
          <a:prstGeom prst="rect">
            <a:avLst/>
          </a:prstGeom>
          <a:noFill/>
          <a:ln/>
        </p:spPr>
        <p:txBody>
          <a:bodyPr wrap="square" lIns="0" tIns="0" rIns="0" bIns="0" rtlCol="0" anchor="ctr"/>
          <a:lstStyle/>
          <a:p>
            <a:pPr indent="0" marL="0">
              <a:buNone/>
            </a:pPr>
            <a:r>
              <a:rPr lang="en-US" sz="800" b="1" spc="150" kern="0" dirty="0">
                <a:solidFill>
                  <a:srgbClr val="9FCEDA"/>
                </a:solidFill>
                <a:latin typeface="Helvetica Neue" pitchFamily="34" charset="0"/>
                <a:ea typeface="Helvetica Neue" pitchFamily="34" charset="-122"/>
                <a:cs typeface="Helvetica Neue" pitchFamily="34" charset="-120"/>
              </a:rPr>
              <a:t>WEEK</a:t>
            </a:r>
            <a:endParaRPr lang="en-US" sz="800" dirty="0"/>
          </a:p>
        </p:txBody>
      </p:sp>
      <p:sp>
        <p:nvSpPr>
          <p:cNvPr id="7" name="Text 5"/>
          <p:cNvSpPr/>
          <p:nvPr/>
        </p:nvSpPr>
        <p:spPr>
          <a:xfrm>
            <a:off x="1024128" y="2798064"/>
            <a:ext cx="1225296" cy="640080"/>
          </a:xfrm>
          <a:prstGeom prst="rect">
            <a:avLst/>
          </a:prstGeom>
          <a:noFill/>
          <a:ln/>
        </p:spPr>
        <p:txBody>
          <a:bodyPr wrap="square" lIns="0" tIns="0" rIns="0" bIns="0" rtlCol="0" anchor="ctr"/>
          <a:lstStyle/>
          <a:p>
            <a:pPr indent="0" marL="0">
              <a:buNone/>
            </a:pPr>
            <a:r>
              <a:rPr lang="en-US" sz="3400" b="1" dirty="0">
                <a:solidFill>
                  <a:srgbClr val="FFFFFF"/>
                </a:solidFill>
                <a:latin typeface="Helvetica Neue" pitchFamily="34" charset="0"/>
                <a:ea typeface="Helvetica Neue" pitchFamily="34" charset="-122"/>
                <a:cs typeface="Helvetica Neue" pitchFamily="34" charset="-120"/>
              </a:rPr>
              <a:t>1</a:t>
            </a:r>
            <a:endParaRPr lang="en-US" sz="3400" dirty="0"/>
          </a:p>
        </p:txBody>
      </p:sp>
      <p:sp>
        <p:nvSpPr>
          <p:cNvPr id="8" name="Shape 6"/>
          <p:cNvSpPr/>
          <p:nvPr/>
        </p:nvSpPr>
        <p:spPr>
          <a:xfrm>
            <a:off x="1024128" y="3529584"/>
            <a:ext cx="1225296" cy="0"/>
          </a:xfrm>
          <a:prstGeom prst="line">
            <a:avLst/>
          </a:prstGeom>
          <a:noFill/>
          <a:ln w="9525">
            <a:solidFill>
              <a:srgbClr val="3E7E91"/>
            </a:solidFill>
            <a:prstDash val="solid"/>
          </a:ln>
        </p:spPr>
        <p:txBody>
          <a:bodyPr/>
          <a:p/>
        </p:txBody>
      </p:sp>
      <p:sp>
        <p:nvSpPr>
          <p:cNvPr id="9" name="Text 7"/>
          <p:cNvSpPr/>
          <p:nvPr/>
        </p:nvSpPr>
        <p:spPr>
          <a:xfrm>
            <a:off x="1005840" y="3639312"/>
            <a:ext cx="1335024" cy="457200"/>
          </a:xfrm>
          <a:prstGeom prst="rect">
            <a:avLst/>
          </a:prstGeom>
          <a:noFill/>
          <a:ln/>
        </p:spPr>
        <p:txBody>
          <a:bodyPr wrap="square" lIns="0" tIns="0" rIns="0" bIns="0" rtlCol="0" anchor="ctr"/>
          <a:lstStyle/>
          <a:p>
            <a:pPr indent="0" marL="0">
              <a:lnSpc>
                <a:spcPts val="1400"/>
              </a:lnSpc>
              <a:buNone/>
            </a:pPr>
            <a:r>
              <a:rPr lang="en-US" sz="1150" b="1" dirty="0">
                <a:solidFill>
                  <a:srgbClr val="FFFFFF"/>
                </a:solidFill>
                <a:latin typeface="Helvetica Neue" pitchFamily="34" charset="0"/>
                <a:ea typeface="Helvetica Neue" pitchFamily="34" charset="-122"/>
                <a:cs typeface="Helvetica Neue" pitchFamily="34" charset="-120"/>
              </a:rPr>
              <a:t>Kickoff</a:t>
            </a:r>
            <a:endParaRPr lang="en-US" sz="1150" dirty="0"/>
          </a:p>
        </p:txBody>
      </p:sp>
      <p:sp>
        <p:nvSpPr>
          <p:cNvPr id="10" name="Text 8"/>
          <p:cNvSpPr/>
          <p:nvPr/>
        </p:nvSpPr>
        <p:spPr>
          <a:xfrm>
            <a:off x="1024128" y="4187952"/>
            <a:ext cx="1261872" cy="1097280"/>
          </a:xfrm>
          <a:prstGeom prst="rect">
            <a:avLst/>
          </a:prstGeom>
          <a:noFill/>
          <a:ln/>
        </p:spPr>
        <p:txBody>
          <a:bodyPr wrap="square" lIns="0" tIns="0" rIns="0" bIns="0" rtlCol="0" anchor="ctr"/>
          <a:lstStyle/>
          <a:p>
            <a:pPr indent="0" marL="0">
              <a:lnSpc>
                <a:spcPts val="1300"/>
              </a:lnSpc>
              <a:buNone/>
            </a:pPr>
            <a:r>
              <a:rPr lang="en-US" sz="950" dirty="0">
                <a:solidFill>
                  <a:srgbClr val="EAF2F4"/>
                </a:solidFill>
                <a:latin typeface="Helvetica Neue" pitchFamily="34" charset="0"/>
                <a:ea typeface="Helvetica Neue" pitchFamily="34" charset="-122"/>
                <a:cs typeface="Helvetica Neue" pitchFamily="34" charset="-120"/>
              </a:rPr>
              <a:t>Form the company, set the safety habit.</a:t>
            </a:r>
            <a:endParaRPr lang="en-US" sz="950" dirty="0"/>
          </a:p>
        </p:txBody>
      </p:sp>
      <p:sp>
        <p:nvSpPr>
          <p:cNvPr id="11" name="Shape 9"/>
          <p:cNvSpPr/>
          <p:nvPr/>
        </p:nvSpPr>
        <p:spPr>
          <a:xfrm>
            <a:off x="1005840" y="4983480"/>
            <a:ext cx="1261872" cy="292608"/>
          </a:xfrm>
          <a:prstGeom prst="roundRect">
            <a:avLst>
              <a:gd name="adj" fmla="val 50000"/>
            </a:avLst>
          </a:prstGeom>
          <a:solidFill>
            <a:srgbClr val="FFFFFF"/>
          </a:solidFill>
          <a:ln/>
        </p:spPr>
        <p:txBody>
          <a:bodyPr/>
          <a:p/>
        </p:txBody>
      </p:sp>
      <p:sp>
        <p:nvSpPr>
          <p:cNvPr id="12" name="Text 10"/>
          <p:cNvSpPr/>
          <p:nvPr/>
        </p:nvSpPr>
        <p:spPr>
          <a:xfrm>
            <a:off x="1005840" y="4983480"/>
            <a:ext cx="1261872" cy="292608"/>
          </a:xfrm>
          <a:prstGeom prst="rect">
            <a:avLst/>
          </a:prstGeom>
          <a:noFill/>
          <a:ln/>
        </p:spPr>
        <p:txBody>
          <a:bodyPr wrap="square" lIns="0" tIns="0" rIns="0" bIns="0" rtlCol="0" anchor="ctr"/>
          <a:lstStyle/>
          <a:p>
            <a:pPr algn="ctr" indent="0" marL="0">
              <a:buNone/>
            </a:pPr>
            <a:r>
              <a:rPr lang="en-US" sz="1050" b="1" spc="150" kern="0" dirty="0">
                <a:solidFill>
                  <a:srgbClr val="095D75"/>
                </a:solidFill>
                <a:latin typeface="Helvetica Neue" pitchFamily="34" charset="0"/>
                <a:ea typeface="Helvetica Neue" pitchFamily="34" charset="-122"/>
                <a:cs typeface="Helvetica Neue" pitchFamily="34" charset="-120"/>
              </a:rPr>
              <a:t>WE ARE HERE</a:t>
            </a:r>
            <a:endParaRPr lang="en-US" sz="1050" dirty="0"/>
          </a:p>
        </p:txBody>
      </p:sp>
      <p:sp>
        <p:nvSpPr>
          <p:cNvPr id="13" name="Shape 11"/>
          <p:cNvSpPr/>
          <p:nvPr/>
        </p:nvSpPr>
        <p:spPr>
          <a:xfrm>
            <a:off x="2581351" y="2395728"/>
            <a:ext cx="1627632" cy="3063240"/>
          </a:xfrm>
          <a:prstGeom prst="roundRect">
            <a:avLst>
              <a:gd name="adj" fmla="val 6180"/>
            </a:avLst>
          </a:prstGeom>
          <a:solidFill>
            <a:srgbClr val="FBFBFD"/>
          </a:solidFill>
          <a:ln w="12700">
            <a:solidFill>
              <a:srgbClr val="E3E3E6"/>
            </a:solidFill>
            <a:prstDash val="solid"/>
          </a:ln>
        </p:spPr>
        <p:txBody>
          <a:bodyPr/>
          <a:p/>
        </p:txBody>
      </p:sp>
      <p:sp>
        <p:nvSpPr>
          <p:cNvPr id="14" name="Text 12"/>
          <p:cNvSpPr/>
          <p:nvPr/>
        </p:nvSpPr>
        <p:spPr>
          <a:xfrm>
            <a:off x="2782519" y="2633472"/>
            <a:ext cx="1225296" cy="219456"/>
          </a:xfrm>
          <a:prstGeom prst="rect">
            <a:avLst/>
          </a:prstGeom>
          <a:noFill/>
          <a:ln/>
        </p:spPr>
        <p:txBody>
          <a:bodyPr wrap="square" lIns="0" tIns="0" rIns="0" bIns="0" rtlCol="0" anchor="ctr"/>
          <a:lstStyle/>
          <a:p>
            <a:pPr indent="0" marL="0">
              <a:buNone/>
            </a:pPr>
            <a:r>
              <a:rPr lang="en-US" sz="800" b="1" spc="150" kern="0" dirty="0">
                <a:solidFill>
                  <a:srgbClr val="86868B"/>
                </a:solidFill>
                <a:latin typeface="Helvetica Neue" pitchFamily="34" charset="0"/>
                <a:ea typeface="Helvetica Neue" pitchFamily="34" charset="-122"/>
                <a:cs typeface="Helvetica Neue" pitchFamily="34" charset="-120"/>
              </a:rPr>
              <a:t>WEEK</a:t>
            </a:r>
            <a:endParaRPr lang="en-US" sz="800" dirty="0"/>
          </a:p>
        </p:txBody>
      </p:sp>
      <p:sp>
        <p:nvSpPr>
          <p:cNvPr id="15" name="Text 13"/>
          <p:cNvSpPr/>
          <p:nvPr/>
        </p:nvSpPr>
        <p:spPr>
          <a:xfrm>
            <a:off x="2782519" y="2798064"/>
            <a:ext cx="1225296" cy="640080"/>
          </a:xfrm>
          <a:prstGeom prst="rect">
            <a:avLst/>
          </a:prstGeom>
          <a:noFill/>
          <a:ln/>
        </p:spPr>
        <p:txBody>
          <a:bodyPr wrap="square" lIns="0" tIns="0" rIns="0" bIns="0" rtlCol="0" anchor="ctr"/>
          <a:lstStyle/>
          <a:p>
            <a:pPr indent="0" marL="0">
              <a:buNone/>
            </a:pPr>
            <a:r>
              <a:rPr lang="en-US" sz="3400" b="1" dirty="0">
                <a:solidFill>
                  <a:srgbClr val="0D7490"/>
                </a:solidFill>
                <a:latin typeface="Helvetica Neue" pitchFamily="34" charset="0"/>
                <a:ea typeface="Helvetica Neue" pitchFamily="34" charset="-122"/>
                <a:cs typeface="Helvetica Neue" pitchFamily="34" charset="-120"/>
              </a:rPr>
              <a:t>2</a:t>
            </a:r>
            <a:endParaRPr lang="en-US" sz="3400" dirty="0"/>
          </a:p>
        </p:txBody>
      </p:sp>
      <p:sp>
        <p:nvSpPr>
          <p:cNvPr id="16" name="Shape 14"/>
          <p:cNvSpPr/>
          <p:nvPr/>
        </p:nvSpPr>
        <p:spPr>
          <a:xfrm>
            <a:off x="2782519" y="3529584"/>
            <a:ext cx="1225296" cy="0"/>
          </a:xfrm>
          <a:prstGeom prst="line">
            <a:avLst/>
          </a:prstGeom>
          <a:noFill/>
          <a:ln w="9525">
            <a:solidFill>
              <a:srgbClr val="E3E3E6"/>
            </a:solidFill>
            <a:prstDash val="solid"/>
          </a:ln>
        </p:spPr>
        <p:txBody>
          <a:bodyPr/>
          <a:p/>
        </p:txBody>
      </p:sp>
      <p:sp>
        <p:nvSpPr>
          <p:cNvPr id="17" name="Text 15"/>
          <p:cNvSpPr/>
          <p:nvPr/>
        </p:nvSpPr>
        <p:spPr>
          <a:xfrm>
            <a:off x="2764231" y="3639312"/>
            <a:ext cx="1335024" cy="457200"/>
          </a:xfrm>
          <a:prstGeom prst="rect">
            <a:avLst/>
          </a:prstGeom>
          <a:noFill/>
          <a:ln/>
        </p:spPr>
        <p:txBody>
          <a:bodyPr wrap="square" lIns="0" tIns="0" rIns="0" bIns="0" rtlCol="0" anchor="ctr"/>
          <a:lstStyle/>
          <a:p>
            <a:pPr indent="0" marL="0">
              <a:lnSpc>
                <a:spcPts val="1400"/>
              </a:lnSpc>
              <a:buNone/>
            </a:pPr>
            <a:r>
              <a:rPr lang="en-US" sz="1150" b="1" dirty="0">
                <a:solidFill>
                  <a:srgbClr val="1D1D1F"/>
                </a:solidFill>
                <a:latin typeface="Helvetica Neue" pitchFamily="34" charset="0"/>
                <a:ea typeface="Helvetica Neue" pitchFamily="34" charset="-122"/>
                <a:cs typeface="Helvetica Neue" pitchFamily="34" charset="-120"/>
              </a:rPr>
              <a:t>Soldering</a:t>
            </a:r>
            <a:endParaRPr lang="en-US" sz="1150" dirty="0"/>
          </a:p>
        </p:txBody>
      </p:sp>
      <p:sp>
        <p:nvSpPr>
          <p:cNvPr id="18" name="Text 16"/>
          <p:cNvSpPr/>
          <p:nvPr/>
        </p:nvSpPr>
        <p:spPr>
          <a:xfrm>
            <a:off x="2782519" y="4187952"/>
            <a:ext cx="1261872" cy="1097280"/>
          </a:xfrm>
          <a:prstGeom prst="rect">
            <a:avLst/>
          </a:prstGeom>
          <a:noFill/>
          <a:ln/>
        </p:spPr>
        <p:txBody>
          <a:bodyPr wrap="square" lIns="0" tIns="0" rIns="0" bIns="0" rtlCol="0" anchor="ctr"/>
          <a:lstStyle/>
          <a:p>
            <a:pPr indent="0" marL="0">
              <a:lnSpc>
                <a:spcPts val="1300"/>
              </a:lnSpc>
              <a:buNone/>
            </a:pPr>
            <a:r>
              <a:rPr lang="en-US" sz="950" dirty="0">
                <a:solidFill>
                  <a:srgbClr val="6E6E73"/>
                </a:solidFill>
                <a:latin typeface="Helvetica Neue" pitchFamily="34" charset="0"/>
                <a:ea typeface="Helvetica Neue" pitchFamily="34" charset="-122"/>
                <a:cs typeface="Helvetica Neue" pitchFamily="34" charset="-120"/>
              </a:rPr>
              <a:t>Bootcamp — and the kit comes out of the box.</a:t>
            </a:r>
            <a:endParaRPr lang="en-US" sz="950" dirty="0"/>
          </a:p>
        </p:txBody>
      </p:sp>
      <p:sp>
        <p:nvSpPr>
          <p:cNvPr id="19" name="Shape 17"/>
          <p:cNvSpPr/>
          <p:nvPr/>
        </p:nvSpPr>
        <p:spPr>
          <a:xfrm>
            <a:off x="4339742" y="2395728"/>
            <a:ext cx="1627632" cy="3063240"/>
          </a:xfrm>
          <a:prstGeom prst="roundRect">
            <a:avLst>
              <a:gd name="adj" fmla="val 6180"/>
            </a:avLst>
          </a:prstGeom>
          <a:solidFill>
            <a:srgbClr val="FBFBFD"/>
          </a:solidFill>
          <a:ln w="12700">
            <a:solidFill>
              <a:srgbClr val="E3E3E6"/>
            </a:solidFill>
            <a:prstDash val="solid"/>
          </a:ln>
        </p:spPr>
        <p:txBody>
          <a:bodyPr/>
          <a:p/>
        </p:txBody>
      </p:sp>
      <p:sp>
        <p:nvSpPr>
          <p:cNvPr id="20" name="Text 18"/>
          <p:cNvSpPr/>
          <p:nvPr/>
        </p:nvSpPr>
        <p:spPr>
          <a:xfrm>
            <a:off x="4540910" y="2633472"/>
            <a:ext cx="1225296" cy="219456"/>
          </a:xfrm>
          <a:prstGeom prst="rect">
            <a:avLst/>
          </a:prstGeom>
          <a:noFill/>
          <a:ln/>
        </p:spPr>
        <p:txBody>
          <a:bodyPr wrap="square" lIns="0" tIns="0" rIns="0" bIns="0" rtlCol="0" anchor="ctr"/>
          <a:lstStyle/>
          <a:p>
            <a:pPr indent="0" marL="0">
              <a:buNone/>
            </a:pPr>
            <a:r>
              <a:rPr lang="en-US" sz="800" b="1" spc="150" kern="0" dirty="0">
                <a:solidFill>
                  <a:srgbClr val="86868B"/>
                </a:solidFill>
                <a:latin typeface="Helvetica Neue" pitchFamily="34" charset="0"/>
                <a:ea typeface="Helvetica Neue" pitchFamily="34" charset="-122"/>
                <a:cs typeface="Helvetica Neue" pitchFamily="34" charset="-120"/>
              </a:rPr>
              <a:t>WEEK</a:t>
            </a:r>
            <a:endParaRPr lang="en-US" sz="800" dirty="0"/>
          </a:p>
        </p:txBody>
      </p:sp>
      <p:sp>
        <p:nvSpPr>
          <p:cNvPr id="21" name="Text 19"/>
          <p:cNvSpPr/>
          <p:nvPr/>
        </p:nvSpPr>
        <p:spPr>
          <a:xfrm>
            <a:off x="4540910" y="2798064"/>
            <a:ext cx="1225296" cy="640080"/>
          </a:xfrm>
          <a:prstGeom prst="rect">
            <a:avLst/>
          </a:prstGeom>
          <a:noFill/>
          <a:ln/>
        </p:spPr>
        <p:txBody>
          <a:bodyPr wrap="square" lIns="0" tIns="0" rIns="0" bIns="0" rtlCol="0" anchor="ctr"/>
          <a:lstStyle/>
          <a:p>
            <a:pPr indent="0" marL="0">
              <a:buNone/>
            </a:pPr>
            <a:r>
              <a:rPr lang="en-US" sz="3400" b="1" dirty="0">
                <a:solidFill>
                  <a:srgbClr val="0D7490"/>
                </a:solidFill>
                <a:latin typeface="Helvetica Neue" pitchFamily="34" charset="0"/>
                <a:ea typeface="Helvetica Neue" pitchFamily="34" charset="-122"/>
                <a:cs typeface="Helvetica Neue" pitchFamily="34" charset="-120"/>
              </a:rPr>
              <a:t>3</a:t>
            </a:r>
            <a:endParaRPr lang="en-US" sz="3400" dirty="0"/>
          </a:p>
        </p:txBody>
      </p:sp>
      <p:sp>
        <p:nvSpPr>
          <p:cNvPr id="22" name="Shape 20"/>
          <p:cNvSpPr/>
          <p:nvPr/>
        </p:nvSpPr>
        <p:spPr>
          <a:xfrm>
            <a:off x="4540910" y="3529584"/>
            <a:ext cx="1225296" cy="0"/>
          </a:xfrm>
          <a:prstGeom prst="line">
            <a:avLst/>
          </a:prstGeom>
          <a:noFill/>
          <a:ln w="9525">
            <a:solidFill>
              <a:srgbClr val="E3E3E6"/>
            </a:solidFill>
            <a:prstDash val="solid"/>
          </a:ln>
        </p:spPr>
        <p:txBody>
          <a:bodyPr/>
          <a:p/>
        </p:txBody>
      </p:sp>
      <p:sp>
        <p:nvSpPr>
          <p:cNvPr id="23" name="Text 21"/>
          <p:cNvSpPr/>
          <p:nvPr/>
        </p:nvSpPr>
        <p:spPr>
          <a:xfrm>
            <a:off x="4522622" y="3639312"/>
            <a:ext cx="1335024" cy="457200"/>
          </a:xfrm>
          <a:prstGeom prst="rect">
            <a:avLst/>
          </a:prstGeom>
          <a:noFill/>
          <a:ln/>
        </p:spPr>
        <p:txBody>
          <a:bodyPr wrap="square" lIns="0" tIns="0" rIns="0" bIns="0" rtlCol="0" anchor="ctr"/>
          <a:lstStyle/>
          <a:p>
            <a:pPr indent="0" marL="0">
              <a:lnSpc>
                <a:spcPts val="1400"/>
              </a:lnSpc>
              <a:buNone/>
            </a:pPr>
            <a:r>
              <a:rPr lang="en-US" sz="1150" b="1" dirty="0">
                <a:solidFill>
                  <a:srgbClr val="1D1D1F"/>
                </a:solidFill>
                <a:latin typeface="Helvetica Neue" pitchFamily="34" charset="0"/>
                <a:ea typeface="Helvetica Neue" pitchFamily="34" charset="-122"/>
                <a:cs typeface="Helvetica Neue" pitchFamily="34" charset="-120"/>
              </a:rPr>
              <a:t>First Splash</a:t>
            </a:r>
            <a:endParaRPr lang="en-US" sz="1150" dirty="0"/>
          </a:p>
        </p:txBody>
      </p:sp>
      <p:sp>
        <p:nvSpPr>
          <p:cNvPr id="24" name="Text 22"/>
          <p:cNvSpPr/>
          <p:nvPr/>
        </p:nvSpPr>
        <p:spPr>
          <a:xfrm>
            <a:off x="4540910" y="4187952"/>
            <a:ext cx="1261872" cy="1097280"/>
          </a:xfrm>
          <a:prstGeom prst="rect">
            <a:avLst/>
          </a:prstGeom>
          <a:noFill/>
          <a:ln/>
        </p:spPr>
        <p:txBody>
          <a:bodyPr wrap="square" lIns="0" tIns="0" rIns="0" bIns="0" rtlCol="0" anchor="ctr"/>
          <a:lstStyle/>
          <a:p>
            <a:pPr indent="0" marL="0">
              <a:lnSpc>
                <a:spcPts val="1300"/>
              </a:lnSpc>
              <a:buNone/>
            </a:pPr>
            <a:r>
              <a:rPr lang="en-US" sz="950" dirty="0">
                <a:solidFill>
                  <a:srgbClr val="6E6E73"/>
                </a:solidFill>
                <a:latin typeface="Helvetica Neue" pitchFamily="34" charset="0"/>
                <a:ea typeface="Helvetica Neue" pitchFamily="34" charset="-122"/>
                <a:cs typeface="Helvetica Neue" pitchFamily="34" charset="-120"/>
              </a:rPr>
              <a:t>Electronics done — every kid in the pool.</a:t>
            </a:r>
            <a:endParaRPr lang="en-US" sz="950" dirty="0"/>
          </a:p>
        </p:txBody>
      </p:sp>
      <p:sp>
        <p:nvSpPr>
          <p:cNvPr id="25" name="Shape 23"/>
          <p:cNvSpPr/>
          <p:nvPr/>
        </p:nvSpPr>
        <p:spPr>
          <a:xfrm>
            <a:off x="6098134" y="2395728"/>
            <a:ext cx="1627632" cy="3063240"/>
          </a:xfrm>
          <a:prstGeom prst="roundRect">
            <a:avLst>
              <a:gd name="adj" fmla="val 6180"/>
            </a:avLst>
          </a:prstGeom>
          <a:solidFill>
            <a:srgbClr val="FBFBFD"/>
          </a:solidFill>
          <a:ln w="12700">
            <a:solidFill>
              <a:srgbClr val="E3E3E6"/>
            </a:solidFill>
            <a:prstDash val="solid"/>
          </a:ln>
        </p:spPr>
        <p:txBody>
          <a:bodyPr/>
          <a:p/>
        </p:txBody>
      </p:sp>
      <p:sp>
        <p:nvSpPr>
          <p:cNvPr id="26" name="Text 24"/>
          <p:cNvSpPr/>
          <p:nvPr/>
        </p:nvSpPr>
        <p:spPr>
          <a:xfrm>
            <a:off x="6299302" y="2633472"/>
            <a:ext cx="1225296" cy="219456"/>
          </a:xfrm>
          <a:prstGeom prst="rect">
            <a:avLst/>
          </a:prstGeom>
          <a:noFill/>
          <a:ln/>
        </p:spPr>
        <p:txBody>
          <a:bodyPr wrap="square" lIns="0" tIns="0" rIns="0" bIns="0" rtlCol="0" anchor="ctr"/>
          <a:lstStyle/>
          <a:p>
            <a:pPr indent="0" marL="0">
              <a:buNone/>
            </a:pPr>
            <a:r>
              <a:rPr lang="en-US" sz="800" b="1" spc="150" kern="0" dirty="0">
                <a:solidFill>
                  <a:srgbClr val="86868B"/>
                </a:solidFill>
                <a:latin typeface="Helvetica Neue" pitchFamily="34" charset="0"/>
                <a:ea typeface="Helvetica Neue" pitchFamily="34" charset="-122"/>
                <a:cs typeface="Helvetica Neue" pitchFamily="34" charset="-120"/>
              </a:rPr>
              <a:t>WEEK</a:t>
            </a:r>
            <a:endParaRPr lang="en-US" sz="800" dirty="0"/>
          </a:p>
        </p:txBody>
      </p:sp>
      <p:sp>
        <p:nvSpPr>
          <p:cNvPr id="27" name="Text 25"/>
          <p:cNvSpPr/>
          <p:nvPr/>
        </p:nvSpPr>
        <p:spPr>
          <a:xfrm>
            <a:off x="6299302" y="2798064"/>
            <a:ext cx="1225296" cy="640080"/>
          </a:xfrm>
          <a:prstGeom prst="rect">
            <a:avLst/>
          </a:prstGeom>
          <a:noFill/>
          <a:ln/>
        </p:spPr>
        <p:txBody>
          <a:bodyPr wrap="square" lIns="0" tIns="0" rIns="0" bIns="0" rtlCol="0" anchor="ctr"/>
          <a:lstStyle/>
          <a:p>
            <a:pPr indent="0" marL="0">
              <a:buNone/>
            </a:pPr>
            <a:r>
              <a:rPr lang="en-US" sz="3400" b="1" dirty="0">
                <a:solidFill>
                  <a:srgbClr val="0D7490"/>
                </a:solidFill>
                <a:latin typeface="Helvetica Neue" pitchFamily="34" charset="0"/>
                <a:ea typeface="Helvetica Neue" pitchFamily="34" charset="-122"/>
                <a:cs typeface="Helvetica Neue" pitchFamily="34" charset="-120"/>
              </a:rPr>
              <a:t>4</a:t>
            </a:r>
            <a:endParaRPr lang="en-US" sz="3400" dirty="0"/>
          </a:p>
        </p:txBody>
      </p:sp>
      <p:sp>
        <p:nvSpPr>
          <p:cNvPr id="28" name="Shape 26"/>
          <p:cNvSpPr/>
          <p:nvPr/>
        </p:nvSpPr>
        <p:spPr>
          <a:xfrm>
            <a:off x="6299302" y="3529584"/>
            <a:ext cx="1225296" cy="0"/>
          </a:xfrm>
          <a:prstGeom prst="line">
            <a:avLst/>
          </a:prstGeom>
          <a:noFill/>
          <a:ln w="9525">
            <a:solidFill>
              <a:srgbClr val="E3E3E6"/>
            </a:solidFill>
            <a:prstDash val="solid"/>
          </a:ln>
        </p:spPr>
        <p:txBody>
          <a:bodyPr/>
          <a:p/>
        </p:txBody>
      </p:sp>
      <p:sp>
        <p:nvSpPr>
          <p:cNvPr id="29" name="Text 27"/>
          <p:cNvSpPr/>
          <p:nvPr/>
        </p:nvSpPr>
        <p:spPr>
          <a:xfrm>
            <a:off x="6281014" y="3639312"/>
            <a:ext cx="1335024" cy="457200"/>
          </a:xfrm>
          <a:prstGeom prst="rect">
            <a:avLst/>
          </a:prstGeom>
          <a:noFill/>
          <a:ln/>
        </p:spPr>
        <p:txBody>
          <a:bodyPr wrap="square" lIns="0" tIns="0" rIns="0" bIns="0" rtlCol="0" anchor="ctr"/>
          <a:lstStyle/>
          <a:p>
            <a:pPr indent="0" marL="0">
              <a:lnSpc>
                <a:spcPts val="1400"/>
              </a:lnSpc>
              <a:buNone/>
            </a:pPr>
            <a:r>
              <a:rPr lang="en-US" sz="1150" b="1" dirty="0">
                <a:solidFill>
                  <a:srgbClr val="1D1D1F"/>
                </a:solidFill>
                <a:latin typeface="Helvetica Neue" pitchFamily="34" charset="0"/>
                <a:ea typeface="Helvetica Neue" pitchFamily="34" charset="-122"/>
                <a:cs typeface="Helvetica Neue" pitchFamily="34" charset="-120"/>
              </a:rPr>
              <a:t>Build</a:t>
            </a:r>
            <a:endParaRPr lang="en-US" sz="1150" dirty="0"/>
          </a:p>
        </p:txBody>
      </p:sp>
      <p:sp>
        <p:nvSpPr>
          <p:cNvPr id="30" name="Text 28"/>
          <p:cNvSpPr/>
          <p:nvPr/>
        </p:nvSpPr>
        <p:spPr>
          <a:xfrm>
            <a:off x="6299302" y="4187952"/>
            <a:ext cx="1261872" cy="1097280"/>
          </a:xfrm>
          <a:prstGeom prst="rect">
            <a:avLst/>
          </a:prstGeom>
          <a:noFill/>
          <a:ln/>
        </p:spPr>
        <p:txBody>
          <a:bodyPr wrap="square" lIns="0" tIns="0" rIns="0" bIns="0" rtlCol="0" anchor="ctr"/>
          <a:lstStyle/>
          <a:p>
            <a:pPr indent="0" marL="0">
              <a:lnSpc>
                <a:spcPts val="1300"/>
              </a:lnSpc>
              <a:buNone/>
            </a:pPr>
            <a:r>
              <a:rPr lang="en-US" sz="950" dirty="0">
                <a:solidFill>
                  <a:srgbClr val="6E6E73"/>
                </a:solidFill>
                <a:latin typeface="Helvetica Neue" pitchFamily="34" charset="0"/>
                <a:ea typeface="Helvetica Neue" pitchFamily="34" charset="-122"/>
                <a:cs typeface="Helvetica Neue" pitchFamily="34" charset="-120"/>
              </a:rPr>
              <a:t>The Triggerfish assembled; capsule leaks fixed.</a:t>
            </a:r>
            <a:endParaRPr lang="en-US" sz="950" dirty="0"/>
          </a:p>
        </p:txBody>
      </p:sp>
      <p:sp>
        <p:nvSpPr>
          <p:cNvPr id="31" name="Shape 29"/>
          <p:cNvSpPr/>
          <p:nvPr/>
        </p:nvSpPr>
        <p:spPr>
          <a:xfrm>
            <a:off x="7856525" y="2395728"/>
            <a:ext cx="1627632" cy="3063240"/>
          </a:xfrm>
          <a:prstGeom prst="roundRect">
            <a:avLst>
              <a:gd name="adj" fmla="val 6180"/>
            </a:avLst>
          </a:prstGeom>
          <a:solidFill>
            <a:srgbClr val="FBFBFD"/>
          </a:solidFill>
          <a:ln w="12700">
            <a:solidFill>
              <a:srgbClr val="E3E3E6"/>
            </a:solidFill>
            <a:prstDash val="solid"/>
          </a:ln>
        </p:spPr>
        <p:txBody>
          <a:bodyPr/>
          <a:p/>
        </p:txBody>
      </p:sp>
      <p:sp>
        <p:nvSpPr>
          <p:cNvPr id="32" name="Text 30"/>
          <p:cNvSpPr/>
          <p:nvPr/>
        </p:nvSpPr>
        <p:spPr>
          <a:xfrm>
            <a:off x="8057693" y="2633472"/>
            <a:ext cx="1225296" cy="219456"/>
          </a:xfrm>
          <a:prstGeom prst="rect">
            <a:avLst/>
          </a:prstGeom>
          <a:noFill/>
          <a:ln/>
        </p:spPr>
        <p:txBody>
          <a:bodyPr wrap="square" lIns="0" tIns="0" rIns="0" bIns="0" rtlCol="0" anchor="ctr"/>
          <a:lstStyle/>
          <a:p>
            <a:pPr indent="0" marL="0">
              <a:buNone/>
            </a:pPr>
            <a:r>
              <a:rPr lang="en-US" sz="800" b="1" spc="150" kern="0" dirty="0">
                <a:solidFill>
                  <a:srgbClr val="86868B"/>
                </a:solidFill>
                <a:latin typeface="Helvetica Neue" pitchFamily="34" charset="0"/>
                <a:ea typeface="Helvetica Neue" pitchFamily="34" charset="-122"/>
                <a:cs typeface="Helvetica Neue" pitchFamily="34" charset="-120"/>
              </a:rPr>
              <a:t>WEEK</a:t>
            </a:r>
            <a:endParaRPr lang="en-US" sz="800" dirty="0"/>
          </a:p>
        </p:txBody>
      </p:sp>
      <p:sp>
        <p:nvSpPr>
          <p:cNvPr id="33" name="Text 31"/>
          <p:cNvSpPr/>
          <p:nvPr/>
        </p:nvSpPr>
        <p:spPr>
          <a:xfrm>
            <a:off x="8057693" y="2798064"/>
            <a:ext cx="1225296" cy="640080"/>
          </a:xfrm>
          <a:prstGeom prst="rect">
            <a:avLst/>
          </a:prstGeom>
          <a:noFill/>
          <a:ln/>
        </p:spPr>
        <p:txBody>
          <a:bodyPr wrap="square" lIns="0" tIns="0" rIns="0" bIns="0" rtlCol="0" anchor="ctr"/>
          <a:lstStyle/>
          <a:p>
            <a:pPr indent="0" marL="0">
              <a:buNone/>
            </a:pPr>
            <a:r>
              <a:rPr lang="en-US" sz="3400" b="1" dirty="0">
                <a:solidFill>
                  <a:srgbClr val="0D7490"/>
                </a:solidFill>
                <a:latin typeface="Helvetica Neue" pitchFamily="34" charset="0"/>
                <a:ea typeface="Helvetica Neue" pitchFamily="34" charset="-122"/>
                <a:cs typeface="Helvetica Neue" pitchFamily="34" charset="-120"/>
              </a:rPr>
              <a:t>5</a:t>
            </a:r>
            <a:endParaRPr lang="en-US" sz="3400" dirty="0"/>
          </a:p>
        </p:txBody>
      </p:sp>
      <p:sp>
        <p:nvSpPr>
          <p:cNvPr id="34" name="Shape 32"/>
          <p:cNvSpPr/>
          <p:nvPr/>
        </p:nvSpPr>
        <p:spPr>
          <a:xfrm>
            <a:off x="8057693" y="3529584"/>
            <a:ext cx="1225296" cy="0"/>
          </a:xfrm>
          <a:prstGeom prst="line">
            <a:avLst/>
          </a:prstGeom>
          <a:noFill/>
          <a:ln w="9525">
            <a:solidFill>
              <a:srgbClr val="E3E3E6"/>
            </a:solidFill>
            <a:prstDash val="solid"/>
          </a:ln>
        </p:spPr>
        <p:txBody>
          <a:bodyPr/>
          <a:p/>
        </p:txBody>
      </p:sp>
      <p:sp>
        <p:nvSpPr>
          <p:cNvPr id="35" name="Text 33"/>
          <p:cNvSpPr/>
          <p:nvPr/>
        </p:nvSpPr>
        <p:spPr>
          <a:xfrm>
            <a:off x="8039405" y="3639312"/>
            <a:ext cx="1335024" cy="457200"/>
          </a:xfrm>
          <a:prstGeom prst="rect">
            <a:avLst/>
          </a:prstGeom>
          <a:noFill/>
          <a:ln/>
        </p:spPr>
        <p:txBody>
          <a:bodyPr wrap="square" lIns="0" tIns="0" rIns="0" bIns="0" rtlCol="0" anchor="ctr"/>
          <a:lstStyle/>
          <a:p>
            <a:pPr indent="0" marL="0">
              <a:lnSpc>
                <a:spcPts val="1400"/>
              </a:lnSpc>
              <a:buNone/>
            </a:pPr>
            <a:r>
              <a:rPr lang="en-US" sz="1150" b="1" dirty="0">
                <a:solidFill>
                  <a:srgbClr val="1D1D1F"/>
                </a:solidFill>
                <a:latin typeface="Helvetica Neue" pitchFamily="34" charset="0"/>
                <a:ea typeface="Helvetica Neue" pitchFamily="34" charset="-122"/>
                <a:cs typeface="Helvetica Neue" pitchFamily="34" charset="-120"/>
              </a:rPr>
              <a:t>Pilot</a:t>
            </a:r>
            <a:endParaRPr lang="en-US" sz="1150" dirty="0"/>
          </a:p>
        </p:txBody>
      </p:sp>
      <p:sp>
        <p:nvSpPr>
          <p:cNvPr id="36" name="Text 34"/>
          <p:cNvSpPr/>
          <p:nvPr/>
        </p:nvSpPr>
        <p:spPr>
          <a:xfrm>
            <a:off x="8057693" y="4187952"/>
            <a:ext cx="1261872" cy="1097280"/>
          </a:xfrm>
          <a:prstGeom prst="rect">
            <a:avLst/>
          </a:prstGeom>
          <a:noFill/>
          <a:ln/>
        </p:spPr>
        <p:txBody>
          <a:bodyPr wrap="square" lIns="0" tIns="0" rIns="0" bIns="0" rtlCol="0" anchor="ctr"/>
          <a:lstStyle/>
          <a:p>
            <a:pPr indent="0" marL="0">
              <a:lnSpc>
                <a:spcPts val="1300"/>
              </a:lnSpc>
              <a:buNone/>
            </a:pPr>
            <a:r>
              <a:rPr lang="en-US" sz="950" dirty="0">
                <a:solidFill>
                  <a:srgbClr val="6E6E73"/>
                </a:solidFill>
                <a:latin typeface="Helvetica Neue" pitchFamily="34" charset="0"/>
                <a:ea typeface="Helvetica Neue" pitchFamily="34" charset="-122"/>
                <a:cs typeface="Helvetica Neue" pitchFamily="34" charset="-120"/>
              </a:rPr>
              <a:t>Every kid flies; capsules pass three dry dives.</a:t>
            </a:r>
            <a:endParaRPr lang="en-US" sz="950" dirty="0"/>
          </a:p>
        </p:txBody>
      </p:sp>
      <p:sp>
        <p:nvSpPr>
          <p:cNvPr id="37" name="Shape 35"/>
          <p:cNvSpPr/>
          <p:nvPr/>
        </p:nvSpPr>
        <p:spPr>
          <a:xfrm>
            <a:off x="9614916" y="2395728"/>
            <a:ext cx="1627632" cy="3063240"/>
          </a:xfrm>
          <a:prstGeom prst="roundRect">
            <a:avLst>
              <a:gd name="adj" fmla="val 6180"/>
            </a:avLst>
          </a:prstGeom>
          <a:solidFill>
            <a:srgbClr val="FBFBFD"/>
          </a:solidFill>
          <a:ln w="12700">
            <a:solidFill>
              <a:srgbClr val="E3E3E6"/>
            </a:solidFill>
            <a:prstDash val="solid"/>
          </a:ln>
        </p:spPr>
        <p:txBody>
          <a:bodyPr/>
          <a:p/>
        </p:txBody>
      </p:sp>
      <p:sp>
        <p:nvSpPr>
          <p:cNvPr id="38" name="Text 36"/>
          <p:cNvSpPr/>
          <p:nvPr/>
        </p:nvSpPr>
        <p:spPr>
          <a:xfrm>
            <a:off x="9816084" y="2633472"/>
            <a:ext cx="1225296" cy="219456"/>
          </a:xfrm>
          <a:prstGeom prst="rect">
            <a:avLst/>
          </a:prstGeom>
          <a:noFill/>
          <a:ln/>
        </p:spPr>
        <p:txBody>
          <a:bodyPr wrap="square" lIns="0" tIns="0" rIns="0" bIns="0" rtlCol="0" anchor="ctr"/>
          <a:lstStyle/>
          <a:p>
            <a:pPr indent="0" marL="0">
              <a:buNone/>
            </a:pPr>
            <a:r>
              <a:rPr lang="en-US" sz="800" b="1" spc="150" kern="0" dirty="0">
                <a:solidFill>
                  <a:srgbClr val="86868B"/>
                </a:solidFill>
                <a:latin typeface="Helvetica Neue" pitchFamily="34" charset="0"/>
                <a:ea typeface="Helvetica Neue" pitchFamily="34" charset="-122"/>
                <a:cs typeface="Helvetica Neue" pitchFamily="34" charset="-120"/>
              </a:rPr>
              <a:t>WEEK</a:t>
            </a:r>
            <a:endParaRPr lang="en-US" sz="800" dirty="0"/>
          </a:p>
        </p:txBody>
      </p:sp>
      <p:sp>
        <p:nvSpPr>
          <p:cNvPr id="39" name="Text 37"/>
          <p:cNvSpPr/>
          <p:nvPr/>
        </p:nvSpPr>
        <p:spPr>
          <a:xfrm>
            <a:off x="9816084" y="2798064"/>
            <a:ext cx="1225296" cy="640080"/>
          </a:xfrm>
          <a:prstGeom prst="rect">
            <a:avLst/>
          </a:prstGeom>
          <a:noFill/>
          <a:ln/>
        </p:spPr>
        <p:txBody>
          <a:bodyPr wrap="square" lIns="0" tIns="0" rIns="0" bIns="0" rtlCol="0" anchor="ctr"/>
          <a:lstStyle/>
          <a:p>
            <a:pPr indent="0" marL="0">
              <a:buNone/>
            </a:pPr>
            <a:r>
              <a:rPr lang="en-US" sz="3400" b="1" dirty="0">
                <a:solidFill>
                  <a:srgbClr val="0D7490"/>
                </a:solidFill>
                <a:latin typeface="Helvetica Neue" pitchFamily="34" charset="0"/>
                <a:ea typeface="Helvetica Neue" pitchFamily="34" charset="-122"/>
                <a:cs typeface="Helvetica Neue" pitchFamily="34" charset="-120"/>
              </a:rPr>
              <a:t>6</a:t>
            </a:r>
            <a:endParaRPr lang="en-US" sz="3400" dirty="0"/>
          </a:p>
        </p:txBody>
      </p:sp>
      <p:sp>
        <p:nvSpPr>
          <p:cNvPr id="40" name="Shape 38"/>
          <p:cNvSpPr/>
          <p:nvPr/>
        </p:nvSpPr>
        <p:spPr>
          <a:xfrm>
            <a:off x="9816084" y="3529584"/>
            <a:ext cx="1225296" cy="0"/>
          </a:xfrm>
          <a:prstGeom prst="line">
            <a:avLst/>
          </a:prstGeom>
          <a:noFill/>
          <a:ln w="9525">
            <a:solidFill>
              <a:srgbClr val="E3E3E6"/>
            </a:solidFill>
            <a:prstDash val="solid"/>
          </a:ln>
        </p:spPr>
        <p:txBody>
          <a:bodyPr/>
          <a:p/>
        </p:txBody>
      </p:sp>
      <p:sp>
        <p:nvSpPr>
          <p:cNvPr id="41" name="Text 39"/>
          <p:cNvSpPr/>
          <p:nvPr/>
        </p:nvSpPr>
        <p:spPr>
          <a:xfrm>
            <a:off x="9797796" y="3639312"/>
            <a:ext cx="1335024" cy="457200"/>
          </a:xfrm>
          <a:prstGeom prst="rect">
            <a:avLst/>
          </a:prstGeom>
          <a:noFill/>
          <a:ln/>
        </p:spPr>
        <p:txBody>
          <a:bodyPr wrap="square" lIns="0" tIns="0" rIns="0" bIns="0" rtlCol="0" anchor="ctr"/>
          <a:lstStyle/>
          <a:p>
            <a:pPr indent="0" marL="0">
              <a:lnSpc>
                <a:spcPts val="1400"/>
              </a:lnSpc>
              <a:buNone/>
            </a:pPr>
            <a:r>
              <a:rPr lang="en-US" sz="1150" b="1" dirty="0">
                <a:solidFill>
                  <a:srgbClr val="1D1D1F"/>
                </a:solidFill>
                <a:latin typeface="Helvetica Neue" pitchFamily="34" charset="0"/>
                <a:ea typeface="Helvetica Neue" pitchFamily="34" charset="-122"/>
                <a:cs typeface="Helvetica Neue" pitchFamily="34" charset="-120"/>
              </a:rPr>
              <a:t>Showcase</a:t>
            </a:r>
            <a:endParaRPr lang="en-US" sz="1150" dirty="0"/>
          </a:p>
        </p:txBody>
      </p:sp>
      <p:sp>
        <p:nvSpPr>
          <p:cNvPr id="42" name="Text 40"/>
          <p:cNvSpPr/>
          <p:nvPr/>
        </p:nvSpPr>
        <p:spPr>
          <a:xfrm>
            <a:off x="9816084" y="4187952"/>
            <a:ext cx="1261872" cy="1097280"/>
          </a:xfrm>
          <a:prstGeom prst="rect">
            <a:avLst/>
          </a:prstGeom>
          <a:noFill/>
          <a:ln/>
        </p:spPr>
        <p:txBody>
          <a:bodyPr wrap="square" lIns="0" tIns="0" rIns="0" bIns="0" rtlCol="0" anchor="ctr"/>
          <a:lstStyle/>
          <a:p>
            <a:pPr indent="0" marL="0">
              <a:lnSpc>
                <a:spcPts val="1300"/>
              </a:lnSpc>
              <a:buNone/>
            </a:pPr>
            <a:r>
              <a:rPr lang="en-US" sz="950" dirty="0">
                <a:solidFill>
                  <a:srgbClr val="6E6E73"/>
                </a:solidFill>
                <a:latin typeface="Helvetica Neue" pitchFamily="34" charset="0"/>
                <a:ea typeface="Helvetica Neue" pitchFamily="34" charset="-122"/>
                <a:cs typeface="Helvetica Neue" pitchFamily="34" charset="-120"/>
              </a:rPr>
              <a:t>Demo day for parents and sponsors. Phase 2 begins.</a:t>
            </a:r>
            <a:endParaRPr lang="en-US" sz="950" dirty="0"/>
          </a:p>
        </p:txBody>
      </p:sp>
      <p:sp>
        <p:nvSpPr>
          <p:cNvPr id="43" name="Shape 41"/>
          <p:cNvSpPr/>
          <p:nvPr/>
        </p:nvSpPr>
        <p:spPr>
          <a:xfrm>
            <a:off x="822960" y="6437376"/>
            <a:ext cx="10545775" cy="0"/>
          </a:xfrm>
          <a:prstGeom prst="line">
            <a:avLst/>
          </a:prstGeom>
          <a:noFill/>
          <a:ln w="9525">
            <a:solidFill>
              <a:srgbClr val="E3E3E6"/>
            </a:solidFill>
            <a:prstDash val="solid"/>
          </a:ln>
        </p:spPr>
        <p:txBody>
          <a:bodyPr/>
          <a:p/>
        </p:txBody>
      </p:sp>
      <p:sp>
        <p:nvSpPr>
          <p:cNvPr id="44" name="Text 42"/>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45" name="Text 43"/>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19 / 29</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THE SEASON AHEAD</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What Phase 1 must produce.</a:t>
            </a:r>
            <a:endParaRPr lang="en-US" sz="3000" dirty="0"/>
          </a:p>
        </p:txBody>
      </p:sp>
      <p:sp>
        <p:nvSpPr>
          <p:cNvPr id="4" name="Shape 2"/>
          <p:cNvSpPr/>
          <p:nvPr/>
        </p:nvSpPr>
        <p:spPr>
          <a:xfrm>
            <a:off x="822960" y="1783080"/>
            <a:ext cx="10545775" cy="1371600"/>
          </a:xfrm>
          <a:prstGeom prst="roundRect">
            <a:avLst>
              <a:gd name="adj" fmla="val 7333"/>
            </a:avLst>
          </a:prstGeom>
          <a:solidFill>
            <a:srgbClr val="095D75"/>
          </a:solidFill>
          <a:ln w="12700">
            <a:solidFill>
              <a:srgbClr val="095D75"/>
            </a:solidFill>
            <a:prstDash val="solid"/>
          </a:ln>
        </p:spPr>
        <p:txBody>
          <a:bodyPr/>
          <a:p/>
        </p:txBody>
      </p:sp>
      <p:sp>
        <p:nvSpPr>
          <p:cNvPr id="5" name="Text 3"/>
          <p:cNvSpPr/>
          <p:nvPr/>
        </p:nvSpPr>
        <p:spPr>
          <a:xfrm>
            <a:off x="1234440" y="1783080"/>
            <a:ext cx="9692640" cy="1371600"/>
          </a:xfrm>
          <a:prstGeom prst="rect">
            <a:avLst/>
          </a:prstGeom>
          <a:noFill/>
          <a:ln/>
        </p:spPr>
        <p:txBody>
          <a:bodyPr wrap="square" lIns="0" tIns="0" rIns="0" bIns="0" rtlCol="0" anchor="ctr"/>
          <a:lstStyle/>
          <a:p>
            <a:pPr indent="0" marL="0">
              <a:lnSpc>
                <a:spcPts val="2700"/>
              </a:lnSpc>
              <a:buNone/>
            </a:pPr>
            <a:r>
              <a:rPr lang="en-US" sz="2100" b="1" i="1" dirty="0">
                <a:solidFill>
                  <a:srgbClr val="FFFFFF"/>
                </a:solidFill>
                <a:latin typeface="Helvetica Neue" pitchFamily="34" charset="0"/>
                <a:ea typeface="Helvetica Neue" pitchFamily="34" charset="-122"/>
                <a:cs typeface="Helvetica Neue" pitchFamily="34" charset="-120"/>
              </a:rPr>
              <a:t>“The goal of Phase 1 is not a competition ROV. It is a team that exists.”</a:t>
            </a:r>
            <a:endParaRPr lang="en-US" sz="2100" dirty="0"/>
          </a:p>
        </p:txBody>
      </p:sp>
      <p:sp>
        <p:nvSpPr>
          <p:cNvPr id="6" name="Text 4"/>
          <p:cNvSpPr/>
          <p:nvPr/>
        </p:nvSpPr>
        <p:spPr>
          <a:xfrm>
            <a:off x="822960" y="3419856"/>
            <a:ext cx="10515600" cy="457200"/>
          </a:xfrm>
          <a:prstGeom prst="rect">
            <a:avLst/>
          </a:prstGeom>
          <a:noFill/>
          <a:ln/>
        </p:spPr>
        <p:txBody>
          <a:bodyPr wrap="square" lIns="0" tIns="0" rIns="0" bIns="0" rtlCol="0" anchor="ctr"/>
          <a:lstStyle/>
          <a:p>
            <a:pPr indent="0" marL="0">
              <a:buNone/>
            </a:pPr>
            <a:r>
              <a:rPr lang="en-US" sz="1400" dirty="0">
                <a:solidFill>
                  <a:srgbClr val="6E6E73"/>
                </a:solidFill>
                <a:latin typeface="Helvetica Neue" pitchFamily="34" charset="0"/>
                <a:ea typeface="Helvetica Neue" pitchFamily="34" charset="-122"/>
                <a:cs typeface="Helvetica Neue" pitchFamily="34" charset="-120"/>
              </a:rPr>
              <a:t>By the end of July, three things are true — and only these three need to be true:</a:t>
            </a:r>
            <a:endParaRPr lang="en-US" sz="1400" dirty="0"/>
          </a:p>
        </p:txBody>
      </p:sp>
      <p:sp>
        <p:nvSpPr>
          <p:cNvPr id="7" name="Shape 5"/>
          <p:cNvSpPr/>
          <p:nvPr/>
        </p:nvSpPr>
        <p:spPr>
          <a:xfrm>
            <a:off x="822960" y="3931920"/>
            <a:ext cx="3310128" cy="2057400"/>
          </a:xfrm>
          <a:prstGeom prst="roundRect">
            <a:avLst>
              <a:gd name="adj" fmla="val 4889"/>
            </a:avLst>
          </a:prstGeom>
          <a:solidFill>
            <a:srgbClr val="FBFBFD"/>
          </a:solidFill>
          <a:ln w="12700">
            <a:solidFill>
              <a:srgbClr val="E3E3E6"/>
            </a:solidFill>
            <a:prstDash val="solid"/>
          </a:ln>
        </p:spPr>
        <p:txBody>
          <a:bodyPr/>
          <a:p/>
        </p:txBody>
      </p:sp>
      <p:sp>
        <p:nvSpPr>
          <p:cNvPr id="8" name="Shape 6"/>
          <p:cNvSpPr/>
          <p:nvPr/>
        </p:nvSpPr>
        <p:spPr>
          <a:xfrm>
            <a:off x="1097280" y="4206240"/>
            <a:ext cx="420624" cy="420624"/>
          </a:xfrm>
          <a:prstGeom prst="ellipse">
            <a:avLst/>
          </a:prstGeom>
          <a:solidFill>
            <a:srgbClr val="EAF2F4"/>
          </a:solidFill>
          <a:ln/>
        </p:spPr>
        <p:txBody>
          <a:bodyPr/>
          <a:p/>
        </p:txBody>
      </p:sp>
      <p:sp>
        <p:nvSpPr>
          <p:cNvPr id="9" name="Text 7"/>
          <p:cNvSpPr/>
          <p:nvPr/>
        </p:nvSpPr>
        <p:spPr>
          <a:xfrm>
            <a:off x="1097280" y="4206240"/>
            <a:ext cx="420624" cy="420624"/>
          </a:xfrm>
          <a:prstGeom prst="rect">
            <a:avLst/>
          </a:prstGeom>
          <a:noFill/>
          <a:ln/>
        </p:spPr>
        <p:txBody>
          <a:bodyPr wrap="square" lIns="0" tIns="0" rIns="0" bIns="0" rtlCol="0" anchor="ctr"/>
          <a:lstStyle/>
          <a:p>
            <a:pPr algn="ctr" indent="0" marL="0">
              <a:buNone/>
            </a:pPr>
            <a:r>
              <a:rPr lang="en-US" sz="1288" b="1" dirty="0">
                <a:solidFill>
                  <a:srgbClr val="0D7490"/>
                </a:solidFill>
                <a:latin typeface="Helvetica Neue" pitchFamily="34" charset="0"/>
                <a:ea typeface="Helvetica Neue" pitchFamily="34" charset="-122"/>
                <a:cs typeface="Helvetica Neue" pitchFamily="34" charset="-120"/>
              </a:rPr>
              <a:t>1</a:t>
            </a:r>
            <a:endParaRPr lang="en-US" sz="1288" dirty="0"/>
          </a:p>
        </p:txBody>
      </p:sp>
      <p:sp>
        <p:nvSpPr>
          <p:cNvPr id="10" name="Text 8"/>
          <p:cNvSpPr/>
          <p:nvPr/>
        </p:nvSpPr>
        <p:spPr>
          <a:xfrm>
            <a:off x="1097280" y="4773168"/>
            <a:ext cx="2761488" cy="603504"/>
          </a:xfrm>
          <a:prstGeom prst="rect">
            <a:avLst/>
          </a:prstGeom>
          <a:noFill/>
          <a:ln/>
        </p:spPr>
        <p:txBody>
          <a:bodyPr wrap="square" lIns="0" tIns="0" rIns="0" bIns="0" rtlCol="0" anchor="ctr"/>
          <a:lstStyle/>
          <a:p>
            <a:pPr indent="0" marL="0">
              <a:lnSpc>
                <a:spcPts val="1700"/>
              </a:lnSpc>
              <a:buNone/>
            </a:pPr>
            <a:r>
              <a:rPr lang="en-US" sz="1450" b="1" dirty="0">
                <a:solidFill>
                  <a:srgbClr val="1D1D1F"/>
                </a:solidFill>
                <a:latin typeface="Helvetica Neue" pitchFamily="34" charset="0"/>
                <a:ea typeface="Helvetica Neue" pitchFamily="34" charset="-122"/>
                <a:cs typeface="Helvetica Neue" pitchFamily="34" charset="-120"/>
              </a:rPr>
              <a:t>A team that exists</a:t>
            </a:r>
            <a:endParaRPr lang="en-US" sz="1450" dirty="0"/>
          </a:p>
        </p:txBody>
      </p:sp>
      <p:sp>
        <p:nvSpPr>
          <p:cNvPr id="11" name="Text 9"/>
          <p:cNvSpPr/>
          <p:nvPr/>
        </p:nvSpPr>
        <p:spPr>
          <a:xfrm>
            <a:off x="1097280" y="5303520"/>
            <a:ext cx="2779776" cy="594360"/>
          </a:xfrm>
          <a:prstGeom prst="rect">
            <a:avLst/>
          </a:prstGeom>
          <a:noFill/>
          <a:ln/>
        </p:spPr>
        <p:txBody>
          <a:bodyPr wrap="square" lIns="0" tIns="0" rIns="0" bIns="0" rtlCol="0" anchor="ctr"/>
          <a:lstStyle/>
          <a:p>
            <a:pPr indent="0" marL="0">
              <a:lnSpc>
                <a:spcPts val="1450"/>
              </a:lnSpc>
              <a:buNone/>
            </a:pPr>
            <a:r>
              <a:rPr lang="en-US" sz="1100" dirty="0">
                <a:solidFill>
                  <a:srgbClr val="6E6E73"/>
                </a:solidFill>
                <a:latin typeface="Helvetica Neue" pitchFamily="34" charset="0"/>
                <a:ea typeface="Helvetica Neue" pitchFamily="34" charset="-122"/>
                <a:cs typeface="Helvetica Neue" pitchFamily="34" charset="-120"/>
              </a:rPr>
              <a:t>Six roles filled, a meeting rhythm that holds, and a safety habit that is automatic.</a:t>
            </a:r>
            <a:endParaRPr lang="en-US" sz="1100" dirty="0"/>
          </a:p>
        </p:txBody>
      </p:sp>
      <p:sp>
        <p:nvSpPr>
          <p:cNvPr id="12" name="Shape 10"/>
          <p:cNvSpPr/>
          <p:nvPr/>
        </p:nvSpPr>
        <p:spPr>
          <a:xfrm>
            <a:off x="4434840" y="3931920"/>
            <a:ext cx="3310128" cy="2057400"/>
          </a:xfrm>
          <a:prstGeom prst="roundRect">
            <a:avLst>
              <a:gd name="adj" fmla="val 4889"/>
            </a:avLst>
          </a:prstGeom>
          <a:solidFill>
            <a:srgbClr val="FBFBFD"/>
          </a:solidFill>
          <a:ln w="12700">
            <a:solidFill>
              <a:srgbClr val="E3E3E6"/>
            </a:solidFill>
            <a:prstDash val="solid"/>
          </a:ln>
        </p:spPr>
        <p:txBody>
          <a:bodyPr/>
          <a:p/>
        </p:txBody>
      </p:sp>
      <p:sp>
        <p:nvSpPr>
          <p:cNvPr id="13" name="Shape 11"/>
          <p:cNvSpPr/>
          <p:nvPr/>
        </p:nvSpPr>
        <p:spPr>
          <a:xfrm>
            <a:off x="4709160" y="4206240"/>
            <a:ext cx="420624" cy="420624"/>
          </a:xfrm>
          <a:prstGeom prst="ellipse">
            <a:avLst/>
          </a:prstGeom>
          <a:solidFill>
            <a:srgbClr val="EAF2F4"/>
          </a:solidFill>
          <a:ln/>
        </p:spPr>
        <p:txBody>
          <a:bodyPr/>
          <a:p/>
        </p:txBody>
      </p:sp>
      <p:sp>
        <p:nvSpPr>
          <p:cNvPr id="14" name="Text 12"/>
          <p:cNvSpPr/>
          <p:nvPr/>
        </p:nvSpPr>
        <p:spPr>
          <a:xfrm>
            <a:off x="4709160" y="4206240"/>
            <a:ext cx="420624" cy="420624"/>
          </a:xfrm>
          <a:prstGeom prst="rect">
            <a:avLst/>
          </a:prstGeom>
          <a:noFill/>
          <a:ln/>
        </p:spPr>
        <p:txBody>
          <a:bodyPr wrap="square" lIns="0" tIns="0" rIns="0" bIns="0" rtlCol="0" anchor="ctr"/>
          <a:lstStyle/>
          <a:p>
            <a:pPr algn="ctr" indent="0" marL="0">
              <a:buNone/>
            </a:pPr>
            <a:r>
              <a:rPr lang="en-US" sz="1288" b="1" dirty="0">
                <a:solidFill>
                  <a:srgbClr val="0D7490"/>
                </a:solidFill>
                <a:latin typeface="Helvetica Neue" pitchFamily="34" charset="0"/>
                <a:ea typeface="Helvetica Neue" pitchFamily="34" charset="-122"/>
                <a:cs typeface="Helvetica Neue" pitchFamily="34" charset="-120"/>
              </a:rPr>
              <a:t>2</a:t>
            </a:r>
            <a:endParaRPr lang="en-US" sz="1288" dirty="0"/>
          </a:p>
        </p:txBody>
      </p:sp>
      <p:sp>
        <p:nvSpPr>
          <p:cNvPr id="15" name="Text 13"/>
          <p:cNvSpPr/>
          <p:nvPr/>
        </p:nvSpPr>
        <p:spPr>
          <a:xfrm>
            <a:off x="4709160" y="4773168"/>
            <a:ext cx="2761488" cy="603504"/>
          </a:xfrm>
          <a:prstGeom prst="rect">
            <a:avLst/>
          </a:prstGeom>
          <a:noFill/>
          <a:ln/>
        </p:spPr>
        <p:txBody>
          <a:bodyPr wrap="square" lIns="0" tIns="0" rIns="0" bIns="0" rtlCol="0" anchor="ctr"/>
          <a:lstStyle/>
          <a:p>
            <a:pPr indent="0" marL="0">
              <a:lnSpc>
                <a:spcPts val="1700"/>
              </a:lnSpc>
              <a:buNone/>
            </a:pPr>
            <a:r>
              <a:rPr lang="en-US" sz="1450" b="1" dirty="0">
                <a:solidFill>
                  <a:srgbClr val="1D1D1F"/>
                </a:solidFill>
                <a:latin typeface="Helvetica Neue" pitchFamily="34" charset="0"/>
                <a:ea typeface="Helvetica Neue" pitchFamily="34" charset="-122"/>
                <a:cs typeface="Helvetica Neue" pitchFamily="34" charset="-120"/>
              </a:rPr>
              <a:t>A starter ROV in the water</a:t>
            </a:r>
            <a:endParaRPr lang="en-US" sz="1450" dirty="0"/>
          </a:p>
        </p:txBody>
      </p:sp>
      <p:sp>
        <p:nvSpPr>
          <p:cNvPr id="16" name="Text 14"/>
          <p:cNvSpPr/>
          <p:nvPr/>
        </p:nvSpPr>
        <p:spPr>
          <a:xfrm>
            <a:off x="4709160" y="5303520"/>
            <a:ext cx="2779776" cy="594360"/>
          </a:xfrm>
          <a:prstGeom prst="rect">
            <a:avLst/>
          </a:prstGeom>
          <a:noFill/>
          <a:ln/>
        </p:spPr>
        <p:txBody>
          <a:bodyPr wrap="square" lIns="0" tIns="0" rIns="0" bIns="0" rtlCol="0" anchor="ctr"/>
          <a:lstStyle/>
          <a:p>
            <a:pPr indent="0" marL="0">
              <a:lnSpc>
                <a:spcPts val="1450"/>
              </a:lnSpc>
              <a:buNone/>
            </a:pPr>
            <a:r>
              <a:rPr lang="en-US" sz="1100" dirty="0">
                <a:solidFill>
                  <a:srgbClr val="6E6E73"/>
                </a:solidFill>
                <a:latin typeface="Helvetica Neue" pitchFamily="34" charset="0"/>
                <a:ea typeface="Helvetica Neue" pitchFamily="34" charset="-122"/>
                <a:cs typeface="Helvetica Neue" pitchFamily="34" charset="-120"/>
              </a:rPr>
              <a:t>The SeaMATE Triggerfish built and swimming — every member has piloted it.</a:t>
            </a:r>
            <a:endParaRPr lang="en-US" sz="1100" dirty="0"/>
          </a:p>
        </p:txBody>
      </p:sp>
      <p:sp>
        <p:nvSpPr>
          <p:cNvPr id="17" name="Shape 15"/>
          <p:cNvSpPr/>
          <p:nvPr/>
        </p:nvSpPr>
        <p:spPr>
          <a:xfrm>
            <a:off x="8046720" y="3931920"/>
            <a:ext cx="3310128" cy="2057400"/>
          </a:xfrm>
          <a:prstGeom prst="roundRect">
            <a:avLst>
              <a:gd name="adj" fmla="val 4889"/>
            </a:avLst>
          </a:prstGeom>
          <a:solidFill>
            <a:srgbClr val="FBFBFD"/>
          </a:solidFill>
          <a:ln w="12700">
            <a:solidFill>
              <a:srgbClr val="E3E3E6"/>
            </a:solidFill>
            <a:prstDash val="solid"/>
          </a:ln>
        </p:spPr>
        <p:txBody>
          <a:bodyPr/>
          <a:p/>
        </p:txBody>
      </p:sp>
      <p:sp>
        <p:nvSpPr>
          <p:cNvPr id="18" name="Shape 16"/>
          <p:cNvSpPr/>
          <p:nvPr/>
        </p:nvSpPr>
        <p:spPr>
          <a:xfrm>
            <a:off x="8321040" y="4206240"/>
            <a:ext cx="420624" cy="420624"/>
          </a:xfrm>
          <a:prstGeom prst="ellipse">
            <a:avLst/>
          </a:prstGeom>
          <a:solidFill>
            <a:srgbClr val="EAF2F4"/>
          </a:solidFill>
          <a:ln/>
        </p:spPr>
        <p:txBody>
          <a:bodyPr/>
          <a:p/>
        </p:txBody>
      </p:sp>
      <p:sp>
        <p:nvSpPr>
          <p:cNvPr id="19" name="Text 17"/>
          <p:cNvSpPr/>
          <p:nvPr/>
        </p:nvSpPr>
        <p:spPr>
          <a:xfrm>
            <a:off x="8321040" y="4206240"/>
            <a:ext cx="420624" cy="420624"/>
          </a:xfrm>
          <a:prstGeom prst="rect">
            <a:avLst/>
          </a:prstGeom>
          <a:noFill/>
          <a:ln/>
        </p:spPr>
        <p:txBody>
          <a:bodyPr wrap="square" lIns="0" tIns="0" rIns="0" bIns="0" rtlCol="0" anchor="ctr"/>
          <a:lstStyle/>
          <a:p>
            <a:pPr algn="ctr" indent="0" marL="0">
              <a:buNone/>
            </a:pPr>
            <a:r>
              <a:rPr lang="en-US" sz="1288" b="1" dirty="0">
                <a:solidFill>
                  <a:srgbClr val="0D7490"/>
                </a:solidFill>
                <a:latin typeface="Helvetica Neue" pitchFamily="34" charset="0"/>
                <a:ea typeface="Helvetica Neue" pitchFamily="34" charset="-122"/>
                <a:cs typeface="Helvetica Neue" pitchFamily="34" charset="-120"/>
              </a:rPr>
              <a:t>3</a:t>
            </a:r>
            <a:endParaRPr lang="en-US" sz="1288" dirty="0"/>
          </a:p>
        </p:txBody>
      </p:sp>
      <p:sp>
        <p:nvSpPr>
          <p:cNvPr id="20" name="Text 18"/>
          <p:cNvSpPr/>
          <p:nvPr/>
        </p:nvSpPr>
        <p:spPr>
          <a:xfrm>
            <a:off x="8321040" y="4773168"/>
            <a:ext cx="2761488" cy="603504"/>
          </a:xfrm>
          <a:prstGeom prst="rect">
            <a:avLst/>
          </a:prstGeom>
          <a:noFill/>
          <a:ln/>
        </p:spPr>
        <p:txBody>
          <a:bodyPr wrap="square" lIns="0" tIns="0" rIns="0" bIns="0" rtlCol="0" anchor="ctr"/>
          <a:lstStyle/>
          <a:p>
            <a:pPr indent="0" marL="0">
              <a:lnSpc>
                <a:spcPts val="1700"/>
              </a:lnSpc>
              <a:buNone/>
            </a:pPr>
            <a:r>
              <a:rPr lang="en-US" sz="1450" b="1" dirty="0">
                <a:solidFill>
                  <a:srgbClr val="1D1D1F"/>
                </a:solidFill>
                <a:latin typeface="Helvetica Neue" pitchFamily="34" charset="0"/>
                <a:ea typeface="Helvetica Neue" pitchFamily="34" charset="-122"/>
                <a:cs typeface="Helvetica Neue" pitchFamily="34" charset="-120"/>
              </a:rPr>
              <a:t>Kids who have soldered</a:t>
            </a:r>
            <a:endParaRPr lang="en-US" sz="1450" dirty="0"/>
          </a:p>
        </p:txBody>
      </p:sp>
      <p:sp>
        <p:nvSpPr>
          <p:cNvPr id="21" name="Text 19"/>
          <p:cNvSpPr/>
          <p:nvPr/>
        </p:nvSpPr>
        <p:spPr>
          <a:xfrm>
            <a:off x="8321040" y="5303520"/>
            <a:ext cx="2779776" cy="594360"/>
          </a:xfrm>
          <a:prstGeom prst="rect">
            <a:avLst/>
          </a:prstGeom>
          <a:noFill/>
          <a:ln/>
        </p:spPr>
        <p:txBody>
          <a:bodyPr wrap="square" lIns="0" tIns="0" rIns="0" bIns="0" rtlCol="0" anchor="ctr"/>
          <a:lstStyle/>
          <a:p>
            <a:pPr indent="0" marL="0">
              <a:lnSpc>
                <a:spcPts val="1450"/>
              </a:lnSpc>
              <a:buNone/>
            </a:pPr>
            <a:r>
              <a:rPr lang="en-US" sz="1100" dirty="0">
                <a:solidFill>
                  <a:srgbClr val="6E6E73"/>
                </a:solidFill>
                <a:latin typeface="Helvetica Neue" pitchFamily="34" charset="0"/>
                <a:ea typeface="Helvetica Neue" pitchFamily="34" charset="-122"/>
                <a:cs typeface="Helvetica Neue" pitchFamily="34" charset="-120"/>
              </a:rPr>
              <a:t>Real hands-on skill: a clean joint, a sealed capsule, a multimeter read correctly.</a:t>
            </a:r>
            <a:endParaRPr lang="en-US" sz="1100" dirty="0"/>
          </a:p>
        </p:txBody>
      </p:sp>
      <p:sp>
        <p:nvSpPr>
          <p:cNvPr id="22" name="Shape 20"/>
          <p:cNvSpPr/>
          <p:nvPr/>
        </p:nvSpPr>
        <p:spPr>
          <a:xfrm>
            <a:off x="822960" y="6437376"/>
            <a:ext cx="10545775" cy="0"/>
          </a:xfrm>
          <a:prstGeom prst="line">
            <a:avLst/>
          </a:prstGeom>
          <a:noFill/>
          <a:ln w="9525">
            <a:solidFill>
              <a:srgbClr val="E3E3E6"/>
            </a:solidFill>
            <a:prstDash val="solid"/>
          </a:ln>
        </p:spPr>
        <p:txBody>
          <a:bodyPr/>
          <a:p/>
        </p:txBody>
      </p:sp>
      <p:sp>
        <p:nvSpPr>
          <p:cNvPr id="23" name="Text 21"/>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24" name="Text 22"/>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20 / 29</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BFBFD"/>
        </a:solidFill>
      </p:bgPr>
    </p:bg>
    <p:spTree>
      <p:nvGrpSpPr>
        <p:cNvPr id="1" name=""/>
        <p:cNvGrpSpPr/>
        <p:nvPr/>
      </p:nvGrpSpPr>
      <p:grpSpPr>
        <a:xfrm>
          <a:off x="0" y="0"/>
          <a:ext cx="0" cy="0"/>
          <a:chOff x="0" y="0"/>
          <a:chExt cx="0" cy="0"/>
        </a:xfrm>
      </p:grpSpPr>
      <p:sp>
        <p:nvSpPr>
          <p:cNvPr id="2" name="Text 0"/>
          <p:cNvSpPr/>
          <p:nvPr/>
        </p:nvSpPr>
        <p:spPr>
          <a:xfrm>
            <a:off x="4572000" y="182880"/>
            <a:ext cx="7315200" cy="6492240"/>
          </a:xfrm>
          <a:prstGeom prst="rect">
            <a:avLst/>
          </a:prstGeom>
          <a:noFill/>
          <a:ln/>
        </p:spPr>
        <p:txBody>
          <a:bodyPr wrap="square" lIns="0" tIns="0" rIns="0" bIns="0" rtlCol="0" anchor="ctr"/>
          <a:lstStyle/>
          <a:p>
            <a:pPr algn="r" indent="0" marL="0">
              <a:buNone/>
            </a:pPr>
            <a:r>
              <a:rPr lang="en-US" sz="36000" b="1" dirty="0">
                <a:solidFill>
                  <a:srgbClr val="EEF0F1"/>
                </a:solidFill>
                <a:latin typeface="Helvetica Neue" pitchFamily="34" charset="0"/>
                <a:ea typeface="Helvetica Neue" pitchFamily="34" charset="-122"/>
                <a:cs typeface="Helvetica Neue" pitchFamily="34" charset="-120"/>
              </a:rPr>
              <a:t>05</a:t>
            </a:r>
            <a:endParaRPr lang="en-US" sz="36000" dirty="0"/>
          </a:p>
        </p:txBody>
      </p:sp>
      <p:sp>
        <p:nvSpPr>
          <p:cNvPr id="3" name="Shape 1"/>
          <p:cNvSpPr/>
          <p:nvPr/>
        </p:nvSpPr>
        <p:spPr>
          <a:xfrm>
            <a:off x="841248" y="2395728"/>
            <a:ext cx="566928" cy="91440"/>
          </a:xfrm>
          <a:prstGeom prst="rect">
            <a:avLst/>
          </a:prstGeom>
          <a:solidFill>
            <a:srgbClr val="0D7490"/>
          </a:solidFill>
          <a:ln/>
        </p:spPr>
        <p:txBody>
          <a:bodyPr/>
          <a:p/>
        </p:txBody>
      </p:sp>
      <p:sp>
        <p:nvSpPr>
          <p:cNvPr id="4" name="Text 2"/>
          <p:cNvSpPr/>
          <p:nvPr/>
        </p:nvSpPr>
        <p:spPr>
          <a:xfrm>
            <a:off x="822960" y="2615184"/>
            <a:ext cx="6400800" cy="310896"/>
          </a:xfrm>
          <a:prstGeom prst="rect">
            <a:avLst/>
          </a:prstGeom>
          <a:noFill/>
          <a:ln/>
        </p:spPr>
        <p:txBody>
          <a:bodyPr wrap="square" lIns="0" tIns="0" rIns="0" bIns="0" rtlCol="0" anchor="ctr"/>
          <a:lstStyle/>
          <a:p>
            <a:pPr indent="0" marL="0">
              <a:buNone/>
            </a:pPr>
            <a:r>
              <a:rPr lang="en-US" sz="1300" b="1" spc="250" kern="0" dirty="0">
                <a:solidFill>
                  <a:srgbClr val="0D7490"/>
                </a:solidFill>
                <a:latin typeface="Helvetica Neue" pitchFamily="34" charset="0"/>
                <a:ea typeface="Helvetica Neue" pitchFamily="34" charset="-122"/>
                <a:cs typeface="Helvetica Neue" pitchFamily="34" charset="-120"/>
              </a:rPr>
              <a:t>SECTION 05</a:t>
            </a:r>
            <a:endParaRPr lang="en-US" sz="1300" dirty="0"/>
          </a:p>
        </p:txBody>
      </p:sp>
      <p:sp>
        <p:nvSpPr>
          <p:cNvPr id="5" name="Text 3"/>
          <p:cNvSpPr/>
          <p:nvPr/>
        </p:nvSpPr>
        <p:spPr>
          <a:xfrm>
            <a:off x="786384" y="2926080"/>
            <a:ext cx="6949440" cy="1371600"/>
          </a:xfrm>
          <a:prstGeom prst="rect">
            <a:avLst/>
          </a:prstGeom>
          <a:noFill/>
          <a:ln/>
        </p:spPr>
        <p:txBody>
          <a:bodyPr wrap="square" lIns="0" tIns="0" rIns="0" bIns="0" rtlCol="0" anchor="ctr"/>
          <a:lstStyle/>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Building Our</a:t>
            </a:r>
            <a:endParaRPr lang="en-US" sz="4000" dirty="0"/>
          </a:p>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Safety Culture</a:t>
            </a:r>
            <a:endParaRPr lang="en-US" sz="4000" dirty="0"/>
          </a:p>
        </p:txBody>
      </p:sp>
      <p:sp>
        <p:nvSpPr>
          <p:cNvPr id="6" name="Shape 4"/>
          <p:cNvSpPr/>
          <p:nvPr/>
        </p:nvSpPr>
        <p:spPr>
          <a:xfrm>
            <a:off x="841248" y="4370832"/>
            <a:ext cx="2971800" cy="420624"/>
          </a:xfrm>
          <a:prstGeom prst="roundRect">
            <a:avLst>
              <a:gd name="adj" fmla="val 50000"/>
            </a:avLst>
          </a:prstGeom>
          <a:solidFill>
            <a:srgbClr val="0D7490"/>
          </a:solidFill>
          <a:ln/>
        </p:spPr>
        <p:txBody>
          <a:bodyPr/>
          <a:p/>
        </p:txBody>
      </p:sp>
      <p:sp>
        <p:nvSpPr>
          <p:cNvPr id="7" name="Text 5"/>
          <p:cNvSpPr/>
          <p:nvPr/>
        </p:nvSpPr>
        <p:spPr>
          <a:xfrm>
            <a:off x="841248" y="4370832"/>
            <a:ext cx="2971800" cy="420624"/>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Helvetica Neue" pitchFamily="34" charset="0"/>
                <a:ea typeface="Helvetica Neue" pitchFamily="34" charset="-122"/>
                <a:cs typeface="Helvetica Neue" pitchFamily="34" charset="-120"/>
              </a:rPr>
              <a:t>2:15 – 2:35   ·   20 MIN</a:t>
            </a:r>
            <a:endParaRPr lang="en-US" sz="1050" dirty="0"/>
          </a:p>
        </p:txBody>
      </p:sp>
      <p:sp>
        <p:nvSpPr>
          <p:cNvPr id="8" name="Text 6"/>
          <p:cNvSpPr/>
          <p:nvPr/>
        </p:nvSpPr>
        <p:spPr>
          <a:xfrm>
            <a:off x="841248" y="5029200"/>
            <a:ext cx="6126480" cy="1005840"/>
          </a:xfrm>
          <a:prstGeom prst="rect">
            <a:avLst/>
          </a:prstGeom>
          <a:noFill/>
          <a:ln/>
        </p:spPr>
        <p:txBody>
          <a:bodyPr wrap="square" lIns="0" tIns="0" rIns="0" bIns="0" rtlCol="0" anchor="ctr"/>
          <a:lstStyle/>
          <a:p>
            <a:pPr indent="0" marL="0">
              <a:lnSpc>
                <a:spcPts val="2200"/>
              </a:lnSpc>
              <a:buNone/>
            </a:pPr>
            <a:r>
              <a:rPr lang="en-US" sz="1500" i="1" dirty="0">
                <a:solidFill>
                  <a:srgbClr val="6E6E73"/>
                </a:solidFill>
                <a:latin typeface="Helvetica Neue" pitchFamily="34" charset="0"/>
                <a:ea typeface="Helvetica Neue" pitchFamily="34" charset="-122"/>
                <a:cs typeface="Helvetica Neue" pitchFamily="34" charset="-120"/>
              </a:rPr>
              <a:t>The brief is one minute. The culture is everything that happens in the other 179.</a:t>
            </a:r>
            <a:endParaRPr lang="en-US" sz="1500" dirty="0"/>
          </a:p>
        </p:txBody>
      </p:sp>
      <p:sp>
        <p:nvSpPr>
          <p:cNvPr id="9" name="Shape 7"/>
          <p:cNvSpPr/>
          <p:nvPr/>
        </p:nvSpPr>
        <p:spPr>
          <a:xfrm>
            <a:off x="822960" y="6437376"/>
            <a:ext cx="10545775" cy="0"/>
          </a:xfrm>
          <a:prstGeom prst="line">
            <a:avLst/>
          </a:prstGeom>
          <a:noFill/>
          <a:ln w="9525">
            <a:solidFill>
              <a:srgbClr val="E3E3E6"/>
            </a:solidFill>
            <a:prstDash val="solid"/>
          </a:ln>
        </p:spPr>
        <p:txBody>
          <a:bodyPr/>
          <a:p/>
        </p:txBody>
      </p:sp>
      <p:sp>
        <p:nvSpPr>
          <p:cNvPr id="10" name="Text 8"/>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1" name="Text 9"/>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21 / 29</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SAFETY CULTURE</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The habits between the briefs.</a:t>
            </a:r>
            <a:endParaRPr lang="en-US" sz="3000" dirty="0"/>
          </a:p>
        </p:txBody>
      </p:sp>
      <p:sp>
        <p:nvSpPr>
          <p:cNvPr id="4" name="Text 2"/>
          <p:cNvSpPr/>
          <p:nvPr/>
        </p:nvSpPr>
        <p:spPr>
          <a:xfrm>
            <a:off x="822960" y="1755648"/>
            <a:ext cx="6400800" cy="914400"/>
          </a:xfrm>
          <a:prstGeom prst="rect">
            <a:avLst/>
          </a:prstGeom>
          <a:noFill/>
          <a:ln/>
        </p:spPr>
        <p:txBody>
          <a:bodyPr wrap="square" lIns="0" tIns="0" rIns="0" bIns="0" rtlCol="0" anchor="ctr"/>
          <a:lstStyle/>
          <a:p>
            <a:pPr indent="0" marL="0">
              <a:lnSpc>
                <a:spcPts val="2100"/>
              </a:lnSpc>
              <a:buNone/>
            </a:pPr>
            <a:r>
              <a:rPr lang="en-US" sz="1400" dirty="0">
                <a:solidFill>
                  <a:srgbClr val="6E6E73"/>
                </a:solidFill>
                <a:latin typeface="Helvetica Neue" pitchFamily="34" charset="0"/>
                <a:ea typeface="Helvetica Neue" pitchFamily="34" charset="-122"/>
                <a:cs typeface="Helvetica Neue" pitchFamily="34" charset="-120"/>
              </a:rPr>
              <a:t>A safety brief is a moment. A safety culture is a habit — the way the team behaves when no one is reciting a checklist. Five habits, starting today.</a:t>
            </a:r>
            <a:endParaRPr lang="en-US" sz="1400" dirty="0"/>
          </a:p>
        </p:txBody>
      </p:sp>
      <p:sp>
        <p:nvSpPr>
          <p:cNvPr id="5" name="Shape 3"/>
          <p:cNvSpPr/>
          <p:nvPr/>
        </p:nvSpPr>
        <p:spPr>
          <a:xfrm>
            <a:off x="822960" y="2788920"/>
            <a:ext cx="365760" cy="365760"/>
          </a:xfrm>
          <a:prstGeom prst="ellipse">
            <a:avLst/>
          </a:prstGeom>
          <a:solidFill>
            <a:srgbClr val="EAF2F4"/>
          </a:solidFill>
          <a:ln/>
        </p:spPr>
        <p:txBody>
          <a:bodyPr/>
          <a:p/>
        </p:txBody>
      </p:sp>
      <p:sp>
        <p:nvSpPr>
          <p:cNvPr id="6" name="Text 4"/>
          <p:cNvSpPr/>
          <p:nvPr/>
        </p:nvSpPr>
        <p:spPr>
          <a:xfrm>
            <a:off x="822960" y="2788920"/>
            <a:ext cx="365760" cy="365760"/>
          </a:xfrm>
          <a:prstGeom prst="rect">
            <a:avLst/>
          </a:prstGeom>
          <a:noFill/>
          <a:ln/>
        </p:spPr>
        <p:txBody>
          <a:bodyPr wrap="square" lIns="0" tIns="0" rIns="0" bIns="0" rtlCol="0" anchor="ctr"/>
          <a:lstStyle/>
          <a:p>
            <a:pPr algn="ctr" indent="0" marL="0">
              <a:buNone/>
            </a:pPr>
            <a:r>
              <a:rPr lang="en-US" sz="1120" b="1" dirty="0">
                <a:solidFill>
                  <a:srgbClr val="0D7490"/>
                </a:solidFill>
                <a:latin typeface="Helvetica Neue" pitchFamily="34" charset="0"/>
                <a:ea typeface="Helvetica Neue" pitchFamily="34" charset="-122"/>
                <a:cs typeface="Helvetica Neue" pitchFamily="34" charset="-120"/>
              </a:rPr>
              <a:t>1</a:t>
            </a:r>
            <a:endParaRPr lang="en-US" sz="1120" dirty="0"/>
          </a:p>
        </p:txBody>
      </p:sp>
      <p:sp>
        <p:nvSpPr>
          <p:cNvPr id="7" name="Text 5"/>
          <p:cNvSpPr/>
          <p:nvPr/>
        </p:nvSpPr>
        <p:spPr>
          <a:xfrm>
            <a:off x="1325880" y="2752344"/>
            <a:ext cx="2423160" cy="420624"/>
          </a:xfrm>
          <a:prstGeom prst="rect">
            <a:avLst/>
          </a:prstGeom>
          <a:noFill/>
          <a:ln/>
        </p:spPr>
        <p:txBody>
          <a:bodyPr wrap="square" lIns="0" tIns="0" rIns="0" bIns="0" rtlCol="0" anchor="ctr"/>
          <a:lstStyle/>
          <a:p>
            <a:pPr indent="0" marL="0">
              <a:buNone/>
            </a:pPr>
            <a:r>
              <a:rPr lang="en-US" sz="1350" b="1" dirty="0">
                <a:solidFill>
                  <a:srgbClr val="1D1D1F"/>
                </a:solidFill>
                <a:latin typeface="Helvetica Neue" pitchFamily="34" charset="0"/>
                <a:ea typeface="Helvetica Neue" pitchFamily="34" charset="-122"/>
                <a:cs typeface="Helvetica Neue" pitchFamily="34" charset="-120"/>
              </a:rPr>
              <a:t>Tool discipline</a:t>
            </a:r>
            <a:endParaRPr lang="en-US" sz="1350" dirty="0"/>
          </a:p>
        </p:txBody>
      </p:sp>
      <p:sp>
        <p:nvSpPr>
          <p:cNvPr id="8" name="Text 6"/>
          <p:cNvSpPr/>
          <p:nvPr/>
        </p:nvSpPr>
        <p:spPr>
          <a:xfrm>
            <a:off x="3840480" y="2715768"/>
            <a:ext cx="3703320" cy="548640"/>
          </a:xfrm>
          <a:prstGeom prst="rect">
            <a:avLst/>
          </a:prstGeom>
          <a:noFill/>
          <a:ln/>
        </p:spPr>
        <p:txBody>
          <a:bodyPr wrap="square" lIns="0" tIns="0" rIns="0" bIns="0" rtlCol="0" anchor="ctr"/>
          <a:lstStyle/>
          <a:p>
            <a:pPr indent="0" marL="0">
              <a:lnSpc>
                <a:spcPts val="1350"/>
              </a:lnSpc>
              <a:buNone/>
            </a:pPr>
            <a:r>
              <a:rPr lang="en-US" sz="1080" dirty="0">
                <a:solidFill>
                  <a:srgbClr val="6E6E73"/>
                </a:solidFill>
                <a:latin typeface="Helvetica Neue" pitchFamily="34" charset="0"/>
                <a:ea typeface="Helvetica Neue" pitchFamily="34" charset="-122"/>
                <a:cs typeface="Helvetica Neue" pitchFamily="34" charset="-120"/>
              </a:rPr>
              <a:t>Every tool capped, returned, and accounted for. Soldering irons go back in their stands — every time.</a:t>
            </a:r>
            <a:endParaRPr lang="en-US" sz="1080" dirty="0"/>
          </a:p>
        </p:txBody>
      </p:sp>
      <p:sp>
        <p:nvSpPr>
          <p:cNvPr id="9" name="Shape 7"/>
          <p:cNvSpPr/>
          <p:nvPr/>
        </p:nvSpPr>
        <p:spPr>
          <a:xfrm>
            <a:off x="822960" y="3447288"/>
            <a:ext cx="365760" cy="365760"/>
          </a:xfrm>
          <a:prstGeom prst="ellipse">
            <a:avLst/>
          </a:prstGeom>
          <a:solidFill>
            <a:srgbClr val="EAF2F4"/>
          </a:solidFill>
          <a:ln/>
        </p:spPr>
        <p:txBody>
          <a:bodyPr/>
          <a:p/>
        </p:txBody>
      </p:sp>
      <p:sp>
        <p:nvSpPr>
          <p:cNvPr id="10" name="Text 8"/>
          <p:cNvSpPr/>
          <p:nvPr/>
        </p:nvSpPr>
        <p:spPr>
          <a:xfrm>
            <a:off x="822960" y="3447288"/>
            <a:ext cx="365760" cy="365760"/>
          </a:xfrm>
          <a:prstGeom prst="rect">
            <a:avLst/>
          </a:prstGeom>
          <a:noFill/>
          <a:ln/>
        </p:spPr>
        <p:txBody>
          <a:bodyPr wrap="square" lIns="0" tIns="0" rIns="0" bIns="0" rtlCol="0" anchor="ctr"/>
          <a:lstStyle/>
          <a:p>
            <a:pPr algn="ctr" indent="0" marL="0">
              <a:buNone/>
            </a:pPr>
            <a:r>
              <a:rPr lang="en-US" sz="1120" b="1" dirty="0">
                <a:solidFill>
                  <a:srgbClr val="0D7490"/>
                </a:solidFill>
                <a:latin typeface="Helvetica Neue" pitchFamily="34" charset="0"/>
                <a:ea typeface="Helvetica Neue" pitchFamily="34" charset="-122"/>
                <a:cs typeface="Helvetica Neue" pitchFamily="34" charset="-120"/>
              </a:rPr>
              <a:t>2</a:t>
            </a:r>
            <a:endParaRPr lang="en-US" sz="1120" dirty="0"/>
          </a:p>
        </p:txBody>
      </p:sp>
      <p:sp>
        <p:nvSpPr>
          <p:cNvPr id="11" name="Text 9"/>
          <p:cNvSpPr/>
          <p:nvPr/>
        </p:nvSpPr>
        <p:spPr>
          <a:xfrm>
            <a:off x="1325880" y="3410712"/>
            <a:ext cx="2423160" cy="420624"/>
          </a:xfrm>
          <a:prstGeom prst="rect">
            <a:avLst/>
          </a:prstGeom>
          <a:noFill/>
          <a:ln/>
        </p:spPr>
        <p:txBody>
          <a:bodyPr wrap="square" lIns="0" tIns="0" rIns="0" bIns="0" rtlCol="0" anchor="ctr"/>
          <a:lstStyle/>
          <a:p>
            <a:pPr indent="0" marL="0">
              <a:buNone/>
            </a:pPr>
            <a:r>
              <a:rPr lang="en-US" sz="1350" b="1" dirty="0">
                <a:solidFill>
                  <a:srgbClr val="1D1D1F"/>
                </a:solidFill>
                <a:latin typeface="Helvetica Neue" pitchFamily="34" charset="0"/>
                <a:ea typeface="Helvetica Neue" pitchFamily="34" charset="-122"/>
                <a:cs typeface="Helvetica Neue" pitchFamily="34" charset="-120"/>
              </a:rPr>
              <a:t>The buddy rule</a:t>
            </a:r>
            <a:endParaRPr lang="en-US" sz="1350" dirty="0"/>
          </a:p>
        </p:txBody>
      </p:sp>
      <p:sp>
        <p:nvSpPr>
          <p:cNvPr id="12" name="Text 10"/>
          <p:cNvSpPr/>
          <p:nvPr/>
        </p:nvSpPr>
        <p:spPr>
          <a:xfrm>
            <a:off x="3840480" y="3374136"/>
            <a:ext cx="3703320" cy="548640"/>
          </a:xfrm>
          <a:prstGeom prst="rect">
            <a:avLst/>
          </a:prstGeom>
          <a:noFill/>
          <a:ln/>
        </p:spPr>
        <p:txBody>
          <a:bodyPr wrap="square" lIns="0" tIns="0" rIns="0" bIns="0" rtlCol="0" anchor="ctr"/>
          <a:lstStyle/>
          <a:p>
            <a:pPr indent="0" marL="0">
              <a:lnSpc>
                <a:spcPts val="1350"/>
              </a:lnSpc>
              <a:buNone/>
            </a:pPr>
            <a:r>
              <a:rPr lang="en-US" sz="1080" dirty="0">
                <a:solidFill>
                  <a:srgbClr val="6E6E73"/>
                </a:solidFill>
                <a:latin typeface="Helvetica Neue" pitchFamily="34" charset="0"/>
                <a:ea typeface="Helvetica Neue" pitchFamily="34" charset="-122"/>
                <a:cs typeface="Helvetica Neue" pitchFamily="34" charset="-120"/>
              </a:rPr>
              <a:t>No one works at the pool alone. Water and a teammate, always — no exceptions, ever.</a:t>
            </a:r>
            <a:endParaRPr lang="en-US" sz="1080" dirty="0"/>
          </a:p>
        </p:txBody>
      </p:sp>
      <p:sp>
        <p:nvSpPr>
          <p:cNvPr id="13" name="Shape 11"/>
          <p:cNvSpPr/>
          <p:nvPr/>
        </p:nvSpPr>
        <p:spPr>
          <a:xfrm>
            <a:off x="822960" y="4105656"/>
            <a:ext cx="365760" cy="365760"/>
          </a:xfrm>
          <a:prstGeom prst="ellipse">
            <a:avLst/>
          </a:prstGeom>
          <a:solidFill>
            <a:srgbClr val="EAF2F4"/>
          </a:solidFill>
          <a:ln/>
        </p:spPr>
        <p:txBody>
          <a:bodyPr/>
          <a:p/>
        </p:txBody>
      </p:sp>
      <p:sp>
        <p:nvSpPr>
          <p:cNvPr id="14" name="Text 12"/>
          <p:cNvSpPr/>
          <p:nvPr/>
        </p:nvSpPr>
        <p:spPr>
          <a:xfrm>
            <a:off x="822960" y="4105656"/>
            <a:ext cx="365760" cy="365760"/>
          </a:xfrm>
          <a:prstGeom prst="rect">
            <a:avLst/>
          </a:prstGeom>
          <a:noFill/>
          <a:ln/>
        </p:spPr>
        <p:txBody>
          <a:bodyPr wrap="square" lIns="0" tIns="0" rIns="0" bIns="0" rtlCol="0" anchor="ctr"/>
          <a:lstStyle/>
          <a:p>
            <a:pPr algn="ctr" indent="0" marL="0">
              <a:buNone/>
            </a:pPr>
            <a:r>
              <a:rPr lang="en-US" sz="1120" b="1" dirty="0">
                <a:solidFill>
                  <a:srgbClr val="0D7490"/>
                </a:solidFill>
                <a:latin typeface="Helvetica Neue" pitchFamily="34" charset="0"/>
                <a:ea typeface="Helvetica Neue" pitchFamily="34" charset="-122"/>
                <a:cs typeface="Helvetica Neue" pitchFamily="34" charset="-120"/>
              </a:rPr>
              <a:t>3</a:t>
            </a:r>
            <a:endParaRPr lang="en-US" sz="1120" dirty="0"/>
          </a:p>
        </p:txBody>
      </p:sp>
      <p:sp>
        <p:nvSpPr>
          <p:cNvPr id="15" name="Text 13"/>
          <p:cNvSpPr/>
          <p:nvPr/>
        </p:nvSpPr>
        <p:spPr>
          <a:xfrm>
            <a:off x="1325880" y="4069080"/>
            <a:ext cx="2423160" cy="420624"/>
          </a:xfrm>
          <a:prstGeom prst="rect">
            <a:avLst/>
          </a:prstGeom>
          <a:noFill/>
          <a:ln/>
        </p:spPr>
        <p:txBody>
          <a:bodyPr wrap="square" lIns="0" tIns="0" rIns="0" bIns="0" rtlCol="0" anchor="ctr"/>
          <a:lstStyle/>
          <a:p>
            <a:pPr indent="0" marL="0">
              <a:buNone/>
            </a:pPr>
            <a:r>
              <a:rPr lang="en-US" sz="1350" b="1" dirty="0">
                <a:solidFill>
                  <a:srgbClr val="1D1D1F"/>
                </a:solidFill>
                <a:latin typeface="Helvetica Neue" pitchFamily="34" charset="0"/>
                <a:ea typeface="Helvetica Neue" pitchFamily="34" charset="-122"/>
                <a:cs typeface="Helvetica Neue" pitchFamily="34" charset="-120"/>
              </a:rPr>
              <a:t>Respect the current</a:t>
            </a:r>
            <a:endParaRPr lang="en-US" sz="1350" dirty="0"/>
          </a:p>
        </p:txBody>
      </p:sp>
      <p:sp>
        <p:nvSpPr>
          <p:cNvPr id="16" name="Text 14"/>
          <p:cNvSpPr/>
          <p:nvPr/>
        </p:nvSpPr>
        <p:spPr>
          <a:xfrm>
            <a:off x="3840480" y="4032504"/>
            <a:ext cx="3703320" cy="548640"/>
          </a:xfrm>
          <a:prstGeom prst="rect">
            <a:avLst/>
          </a:prstGeom>
          <a:noFill/>
          <a:ln/>
        </p:spPr>
        <p:txBody>
          <a:bodyPr wrap="square" lIns="0" tIns="0" rIns="0" bIns="0" rtlCol="0" anchor="ctr"/>
          <a:lstStyle/>
          <a:p>
            <a:pPr indent="0" marL="0">
              <a:lnSpc>
                <a:spcPts val="1350"/>
              </a:lnSpc>
              <a:buNone/>
            </a:pPr>
            <a:r>
              <a:rPr lang="en-US" sz="1080" dirty="0">
                <a:solidFill>
                  <a:srgbClr val="6E6E73"/>
                </a:solidFill>
                <a:latin typeface="Helvetica Neue" pitchFamily="34" charset="0"/>
                <a:ea typeface="Helvetica Neue" pitchFamily="34" charset="-122"/>
                <a:cs typeface="Helvetica Neue" pitchFamily="34" charset="-120"/>
              </a:rPr>
              <a:t>Batteries and water do not mix. We treat every electrical step as serious, because it is.</a:t>
            </a:r>
            <a:endParaRPr lang="en-US" sz="1080" dirty="0"/>
          </a:p>
        </p:txBody>
      </p:sp>
      <p:sp>
        <p:nvSpPr>
          <p:cNvPr id="17" name="Shape 15"/>
          <p:cNvSpPr/>
          <p:nvPr/>
        </p:nvSpPr>
        <p:spPr>
          <a:xfrm>
            <a:off x="822960" y="4764024"/>
            <a:ext cx="365760" cy="365760"/>
          </a:xfrm>
          <a:prstGeom prst="ellipse">
            <a:avLst/>
          </a:prstGeom>
          <a:solidFill>
            <a:srgbClr val="EAF2F4"/>
          </a:solidFill>
          <a:ln/>
        </p:spPr>
        <p:txBody>
          <a:bodyPr/>
          <a:p/>
        </p:txBody>
      </p:sp>
      <p:sp>
        <p:nvSpPr>
          <p:cNvPr id="18" name="Text 16"/>
          <p:cNvSpPr/>
          <p:nvPr/>
        </p:nvSpPr>
        <p:spPr>
          <a:xfrm>
            <a:off x="822960" y="4764024"/>
            <a:ext cx="365760" cy="365760"/>
          </a:xfrm>
          <a:prstGeom prst="rect">
            <a:avLst/>
          </a:prstGeom>
          <a:noFill/>
          <a:ln/>
        </p:spPr>
        <p:txBody>
          <a:bodyPr wrap="square" lIns="0" tIns="0" rIns="0" bIns="0" rtlCol="0" anchor="ctr"/>
          <a:lstStyle/>
          <a:p>
            <a:pPr algn="ctr" indent="0" marL="0">
              <a:buNone/>
            </a:pPr>
            <a:r>
              <a:rPr lang="en-US" sz="1120" b="1" dirty="0">
                <a:solidFill>
                  <a:srgbClr val="0D7490"/>
                </a:solidFill>
                <a:latin typeface="Helvetica Neue" pitchFamily="34" charset="0"/>
                <a:ea typeface="Helvetica Neue" pitchFamily="34" charset="-122"/>
                <a:cs typeface="Helvetica Neue" pitchFamily="34" charset="-120"/>
              </a:rPr>
              <a:t>4</a:t>
            </a:r>
            <a:endParaRPr lang="en-US" sz="1120" dirty="0"/>
          </a:p>
        </p:txBody>
      </p:sp>
      <p:sp>
        <p:nvSpPr>
          <p:cNvPr id="19" name="Text 17"/>
          <p:cNvSpPr/>
          <p:nvPr/>
        </p:nvSpPr>
        <p:spPr>
          <a:xfrm>
            <a:off x="1325880" y="4727448"/>
            <a:ext cx="2423160" cy="420624"/>
          </a:xfrm>
          <a:prstGeom prst="rect">
            <a:avLst/>
          </a:prstGeom>
          <a:noFill/>
          <a:ln/>
        </p:spPr>
        <p:txBody>
          <a:bodyPr wrap="square" lIns="0" tIns="0" rIns="0" bIns="0" rtlCol="0" anchor="ctr"/>
          <a:lstStyle/>
          <a:p>
            <a:pPr indent="0" marL="0">
              <a:buNone/>
            </a:pPr>
            <a:r>
              <a:rPr lang="en-US" sz="1350" b="1" dirty="0">
                <a:solidFill>
                  <a:srgbClr val="1D1D1F"/>
                </a:solidFill>
                <a:latin typeface="Helvetica Neue" pitchFamily="34" charset="0"/>
                <a:ea typeface="Helvetica Neue" pitchFamily="34" charset="-122"/>
                <a:cs typeface="Helvetica Neue" pitchFamily="34" charset="-120"/>
              </a:rPr>
              <a:t>A clear workspace</a:t>
            </a:r>
            <a:endParaRPr lang="en-US" sz="1350" dirty="0"/>
          </a:p>
        </p:txBody>
      </p:sp>
      <p:sp>
        <p:nvSpPr>
          <p:cNvPr id="20" name="Text 18"/>
          <p:cNvSpPr/>
          <p:nvPr/>
        </p:nvSpPr>
        <p:spPr>
          <a:xfrm>
            <a:off x="3840480" y="4690872"/>
            <a:ext cx="3703320" cy="548640"/>
          </a:xfrm>
          <a:prstGeom prst="rect">
            <a:avLst/>
          </a:prstGeom>
          <a:noFill/>
          <a:ln/>
        </p:spPr>
        <p:txBody>
          <a:bodyPr wrap="square" lIns="0" tIns="0" rIns="0" bIns="0" rtlCol="0" anchor="ctr"/>
          <a:lstStyle/>
          <a:p>
            <a:pPr indent="0" marL="0">
              <a:lnSpc>
                <a:spcPts val="1350"/>
              </a:lnSpc>
              <a:buNone/>
            </a:pPr>
            <a:r>
              <a:rPr lang="en-US" sz="1080" dirty="0">
                <a:solidFill>
                  <a:srgbClr val="6E6E73"/>
                </a:solidFill>
                <a:latin typeface="Helvetica Neue" pitchFamily="34" charset="0"/>
                <a:ea typeface="Helvetica Neue" pitchFamily="34" charset="-122"/>
                <a:cs typeface="Helvetica Neue" pitchFamily="34" charset="-120"/>
              </a:rPr>
              <a:t>Bags off the floor, cords managed, the path walkable. Most injuries are simply a tidy room away.</a:t>
            </a:r>
            <a:endParaRPr lang="en-US" sz="1080" dirty="0"/>
          </a:p>
        </p:txBody>
      </p:sp>
      <p:sp>
        <p:nvSpPr>
          <p:cNvPr id="21" name="Shape 19"/>
          <p:cNvSpPr/>
          <p:nvPr/>
        </p:nvSpPr>
        <p:spPr>
          <a:xfrm>
            <a:off x="822960" y="5422392"/>
            <a:ext cx="365760" cy="365760"/>
          </a:xfrm>
          <a:prstGeom prst="ellipse">
            <a:avLst/>
          </a:prstGeom>
          <a:solidFill>
            <a:srgbClr val="EAF2F4"/>
          </a:solidFill>
          <a:ln/>
        </p:spPr>
        <p:txBody>
          <a:bodyPr/>
          <a:p/>
        </p:txBody>
      </p:sp>
      <p:sp>
        <p:nvSpPr>
          <p:cNvPr id="22" name="Text 20"/>
          <p:cNvSpPr/>
          <p:nvPr/>
        </p:nvSpPr>
        <p:spPr>
          <a:xfrm>
            <a:off x="822960" y="5422392"/>
            <a:ext cx="365760" cy="365760"/>
          </a:xfrm>
          <a:prstGeom prst="rect">
            <a:avLst/>
          </a:prstGeom>
          <a:noFill/>
          <a:ln/>
        </p:spPr>
        <p:txBody>
          <a:bodyPr wrap="square" lIns="0" tIns="0" rIns="0" bIns="0" rtlCol="0" anchor="ctr"/>
          <a:lstStyle/>
          <a:p>
            <a:pPr algn="ctr" indent="0" marL="0">
              <a:buNone/>
            </a:pPr>
            <a:r>
              <a:rPr lang="en-US" sz="1120" b="1" dirty="0">
                <a:solidFill>
                  <a:srgbClr val="0D7490"/>
                </a:solidFill>
                <a:latin typeface="Helvetica Neue" pitchFamily="34" charset="0"/>
                <a:ea typeface="Helvetica Neue" pitchFamily="34" charset="-122"/>
                <a:cs typeface="Helvetica Neue" pitchFamily="34" charset="-120"/>
              </a:rPr>
              <a:t>5</a:t>
            </a:r>
            <a:endParaRPr lang="en-US" sz="1120" dirty="0"/>
          </a:p>
        </p:txBody>
      </p:sp>
      <p:sp>
        <p:nvSpPr>
          <p:cNvPr id="23" name="Text 21"/>
          <p:cNvSpPr/>
          <p:nvPr/>
        </p:nvSpPr>
        <p:spPr>
          <a:xfrm>
            <a:off x="1325880" y="5385816"/>
            <a:ext cx="2423160" cy="420624"/>
          </a:xfrm>
          <a:prstGeom prst="rect">
            <a:avLst/>
          </a:prstGeom>
          <a:noFill/>
          <a:ln/>
        </p:spPr>
        <p:txBody>
          <a:bodyPr wrap="square" lIns="0" tIns="0" rIns="0" bIns="0" rtlCol="0" anchor="ctr"/>
          <a:lstStyle/>
          <a:p>
            <a:pPr indent="0" marL="0">
              <a:buNone/>
            </a:pPr>
            <a:r>
              <a:rPr lang="en-US" sz="1350" b="1" dirty="0">
                <a:solidFill>
                  <a:srgbClr val="1D1D1F"/>
                </a:solidFill>
                <a:latin typeface="Helvetica Neue" pitchFamily="34" charset="0"/>
                <a:ea typeface="Helvetica Neue" pitchFamily="34" charset="-122"/>
                <a:cs typeface="Helvetica Neue" pitchFamily="34" charset="-120"/>
              </a:rPr>
              <a:t>Speak up early</a:t>
            </a:r>
            <a:endParaRPr lang="en-US" sz="1350" dirty="0"/>
          </a:p>
        </p:txBody>
      </p:sp>
      <p:sp>
        <p:nvSpPr>
          <p:cNvPr id="24" name="Text 22"/>
          <p:cNvSpPr/>
          <p:nvPr/>
        </p:nvSpPr>
        <p:spPr>
          <a:xfrm>
            <a:off x="3840480" y="5349240"/>
            <a:ext cx="3703320" cy="548640"/>
          </a:xfrm>
          <a:prstGeom prst="rect">
            <a:avLst/>
          </a:prstGeom>
          <a:noFill/>
          <a:ln/>
        </p:spPr>
        <p:txBody>
          <a:bodyPr wrap="square" lIns="0" tIns="0" rIns="0" bIns="0" rtlCol="0" anchor="ctr"/>
          <a:lstStyle/>
          <a:p>
            <a:pPr indent="0" marL="0">
              <a:lnSpc>
                <a:spcPts val="1350"/>
              </a:lnSpc>
              <a:buNone/>
            </a:pPr>
            <a:r>
              <a:rPr lang="en-US" sz="1080" dirty="0">
                <a:solidFill>
                  <a:srgbClr val="6E6E73"/>
                </a:solidFill>
                <a:latin typeface="Helvetica Neue" pitchFamily="34" charset="0"/>
                <a:ea typeface="Helvetica Neue" pitchFamily="34" charset="-122"/>
                <a:cs typeface="Helvetica Neue" pitchFamily="34" charset="-120"/>
              </a:rPr>
              <a:t>Anyone can call a stop. A near-miss gets reported the same as an injury — no one is in trouble for it.</a:t>
            </a:r>
            <a:endParaRPr lang="en-US" sz="1080" dirty="0"/>
          </a:p>
        </p:txBody>
      </p:sp>
      <p:sp>
        <p:nvSpPr>
          <p:cNvPr id="25" name="Shape 23"/>
          <p:cNvSpPr/>
          <p:nvPr/>
        </p:nvSpPr>
        <p:spPr>
          <a:xfrm>
            <a:off x="7863840" y="2788920"/>
            <a:ext cx="3502152" cy="3035808"/>
          </a:xfrm>
          <a:prstGeom prst="roundRect">
            <a:avLst>
              <a:gd name="adj" fmla="val 3313"/>
            </a:avLst>
          </a:prstGeom>
          <a:solidFill>
            <a:srgbClr val="EAF2F4"/>
          </a:solidFill>
          <a:ln w="12700">
            <a:solidFill>
              <a:srgbClr val="EAF2F4"/>
            </a:solidFill>
            <a:prstDash val="solid"/>
          </a:ln>
        </p:spPr>
        <p:txBody>
          <a:bodyPr/>
          <a:p/>
        </p:txBody>
      </p:sp>
      <p:sp>
        <p:nvSpPr>
          <p:cNvPr id="26" name="Text 24"/>
          <p:cNvSpPr/>
          <p:nvPr/>
        </p:nvSpPr>
        <p:spPr>
          <a:xfrm>
            <a:off x="8183880" y="3072384"/>
            <a:ext cx="2926080" cy="274320"/>
          </a:xfrm>
          <a:prstGeom prst="rect">
            <a:avLst/>
          </a:prstGeom>
          <a:noFill/>
          <a:ln/>
        </p:spPr>
        <p:txBody>
          <a:bodyPr wrap="square" lIns="0" tIns="0" rIns="0" bIns="0" rtlCol="0" anchor="ctr"/>
          <a:lstStyle/>
          <a:p>
            <a:pPr indent="0" marL="0">
              <a:buNone/>
            </a:pPr>
            <a:r>
              <a:rPr lang="en-US" sz="1000" b="1" spc="150" kern="0" dirty="0">
                <a:solidFill>
                  <a:srgbClr val="095D75"/>
                </a:solidFill>
                <a:latin typeface="Helvetica Neue" pitchFamily="34" charset="0"/>
                <a:ea typeface="Helvetica Neue" pitchFamily="34" charset="-122"/>
                <a:cs typeface="Helvetica Neue" pitchFamily="34" charset="-120"/>
              </a:rPr>
              <a:t>MATE INSPECTS THIS</a:t>
            </a:r>
            <a:endParaRPr lang="en-US" sz="1000" dirty="0"/>
          </a:p>
        </p:txBody>
      </p:sp>
      <p:sp>
        <p:nvSpPr>
          <p:cNvPr id="27" name="Text 25"/>
          <p:cNvSpPr/>
          <p:nvPr/>
        </p:nvSpPr>
        <p:spPr>
          <a:xfrm>
            <a:off x="8183880" y="3346704"/>
            <a:ext cx="2926080" cy="502920"/>
          </a:xfrm>
          <a:prstGeom prst="rect">
            <a:avLst/>
          </a:prstGeom>
          <a:noFill/>
          <a:ln/>
        </p:spPr>
        <p:txBody>
          <a:bodyPr wrap="square" lIns="0" tIns="0" rIns="0" bIns="0" rtlCol="0" anchor="ctr"/>
          <a:lstStyle/>
          <a:p>
            <a:pPr indent="0" marL="0">
              <a:buNone/>
            </a:pPr>
            <a:r>
              <a:rPr lang="en-US" sz="1900" b="1" dirty="0">
                <a:solidFill>
                  <a:srgbClr val="1D1D1F"/>
                </a:solidFill>
                <a:latin typeface="Helvetica Neue" pitchFamily="34" charset="0"/>
                <a:ea typeface="Helvetica Neue" pitchFamily="34" charset="-122"/>
                <a:cs typeface="Helvetica Neue" pitchFamily="34" charset="-120"/>
              </a:rPr>
              <a:t>Safety is judged.</a:t>
            </a:r>
            <a:endParaRPr lang="en-US" sz="1900" dirty="0"/>
          </a:p>
        </p:txBody>
      </p:sp>
      <p:sp>
        <p:nvSpPr>
          <p:cNvPr id="28" name="Text 26"/>
          <p:cNvSpPr/>
          <p:nvPr/>
        </p:nvSpPr>
        <p:spPr>
          <a:xfrm>
            <a:off x="8183880" y="3822192"/>
            <a:ext cx="2971800" cy="1920240"/>
          </a:xfrm>
          <a:prstGeom prst="rect">
            <a:avLst/>
          </a:prstGeom>
          <a:noFill/>
          <a:ln/>
        </p:spPr>
        <p:txBody>
          <a:bodyPr wrap="square" lIns="0" tIns="0" rIns="0" bIns="0" rtlCol="0" anchor="ctr"/>
          <a:lstStyle/>
          <a:p>
            <a:pPr indent="0" marL="0">
              <a:lnSpc>
                <a:spcPts val="1500"/>
              </a:lnSpc>
              <a:buNone/>
            </a:pPr>
            <a:r>
              <a:rPr lang="en-US" sz="1100" dirty="0">
                <a:solidFill>
                  <a:srgbClr val="1D1D1F"/>
                </a:solidFill>
                <a:latin typeface="Helvetica Neue" pitchFamily="34" charset="0"/>
                <a:ea typeface="Helvetica Neue" pitchFamily="34" charset="-122"/>
                <a:cs typeface="Helvetica Neue" pitchFamily="34" charset="-120"/>
              </a:rPr>
              <a:t>Every ROV passes a safety inspection before it is allowed in the competition water. Loose wiring, sharp edges, or an unsafe team can keep a robot on the deck.</a:t>
            </a:r>
            <a:endParaRPr lang="en-US" sz="1100" dirty="0"/>
          </a:p>
          <a:p>
            <a:pPr indent="0" marL="0">
              <a:lnSpc>
                <a:spcPts val="1500"/>
              </a:lnSpc>
              <a:buNone/>
            </a:pPr>
            <a:endParaRPr lang="en-US" sz="1100" dirty="0"/>
          </a:p>
          <a:p>
            <a:pPr indent="0" marL="0">
              <a:lnSpc>
                <a:spcPts val="1500"/>
              </a:lnSpc>
              <a:buNone/>
            </a:pPr>
            <a:r>
              <a:rPr lang="en-US" sz="1100" dirty="0">
                <a:solidFill>
                  <a:srgbClr val="1D1D1F"/>
                </a:solidFill>
                <a:latin typeface="Helvetica Neue" pitchFamily="34" charset="0"/>
                <a:ea typeface="Helvetica Neue" pitchFamily="34" charset="-122"/>
                <a:cs typeface="Helvetica Neue" pitchFamily="34" charset="-120"/>
              </a:rPr>
              <a:t>A team that is not safe does not get to compete. We build that habit now, not in April.</a:t>
            </a:r>
            <a:endParaRPr lang="en-US" sz="1100" dirty="0"/>
          </a:p>
        </p:txBody>
      </p:sp>
      <p:sp>
        <p:nvSpPr>
          <p:cNvPr id="29" name="Shape 27"/>
          <p:cNvSpPr/>
          <p:nvPr/>
        </p:nvSpPr>
        <p:spPr>
          <a:xfrm>
            <a:off x="822960" y="6437376"/>
            <a:ext cx="10545775" cy="0"/>
          </a:xfrm>
          <a:prstGeom prst="line">
            <a:avLst/>
          </a:prstGeom>
          <a:noFill/>
          <a:ln w="9525">
            <a:solidFill>
              <a:srgbClr val="E3E3E6"/>
            </a:solidFill>
            <a:prstDash val="solid"/>
          </a:ln>
        </p:spPr>
        <p:txBody>
          <a:bodyPr/>
          <a:p/>
        </p:txBody>
      </p:sp>
      <p:sp>
        <p:nvSpPr>
          <p:cNvPr id="30" name="Text 28"/>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31" name="Text 29"/>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22 / 29</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BFBFD"/>
        </a:solidFill>
      </p:bgPr>
    </p:bg>
    <p:spTree>
      <p:nvGrpSpPr>
        <p:cNvPr id="1" name=""/>
        <p:cNvGrpSpPr/>
        <p:nvPr/>
      </p:nvGrpSpPr>
      <p:grpSpPr>
        <a:xfrm>
          <a:off x="0" y="0"/>
          <a:ext cx="0" cy="0"/>
          <a:chOff x="0" y="0"/>
          <a:chExt cx="0" cy="0"/>
        </a:xfrm>
      </p:grpSpPr>
      <p:sp>
        <p:nvSpPr>
          <p:cNvPr id="2" name="Text 0"/>
          <p:cNvSpPr/>
          <p:nvPr/>
        </p:nvSpPr>
        <p:spPr>
          <a:xfrm>
            <a:off x="4572000" y="182880"/>
            <a:ext cx="7315200" cy="6492240"/>
          </a:xfrm>
          <a:prstGeom prst="rect">
            <a:avLst/>
          </a:prstGeom>
          <a:noFill/>
          <a:ln/>
        </p:spPr>
        <p:txBody>
          <a:bodyPr wrap="square" lIns="0" tIns="0" rIns="0" bIns="0" rtlCol="0" anchor="ctr"/>
          <a:lstStyle/>
          <a:p>
            <a:pPr algn="r" indent="0" marL="0">
              <a:buNone/>
            </a:pPr>
            <a:r>
              <a:rPr lang="en-US" sz="36000" b="1" dirty="0">
                <a:solidFill>
                  <a:srgbClr val="EEF0F1"/>
                </a:solidFill>
                <a:latin typeface="Helvetica Neue" pitchFamily="34" charset="0"/>
                <a:ea typeface="Helvetica Neue" pitchFamily="34" charset="-122"/>
                <a:cs typeface="Helvetica Neue" pitchFamily="34" charset="-120"/>
              </a:rPr>
              <a:t>06</a:t>
            </a:r>
            <a:endParaRPr lang="en-US" sz="36000" dirty="0"/>
          </a:p>
        </p:txBody>
      </p:sp>
      <p:sp>
        <p:nvSpPr>
          <p:cNvPr id="3" name="Shape 1"/>
          <p:cNvSpPr/>
          <p:nvPr/>
        </p:nvSpPr>
        <p:spPr>
          <a:xfrm>
            <a:off x="841248" y="2395728"/>
            <a:ext cx="566928" cy="91440"/>
          </a:xfrm>
          <a:prstGeom prst="rect">
            <a:avLst/>
          </a:prstGeom>
          <a:solidFill>
            <a:srgbClr val="0D7490"/>
          </a:solidFill>
          <a:ln/>
        </p:spPr>
        <p:txBody>
          <a:bodyPr/>
          <a:p/>
        </p:txBody>
      </p:sp>
      <p:sp>
        <p:nvSpPr>
          <p:cNvPr id="4" name="Text 2"/>
          <p:cNvSpPr/>
          <p:nvPr/>
        </p:nvSpPr>
        <p:spPr>
          <a:xfrm>
            <a:off x="822960" y="2615184"/>
            <a:ext cx="6400800" cy="310896"/>
          </a:xfrm>
          <a:prstGeom prst="rect">
            <a:avLst/>
          </a:prstGeom>
          <a:noFill/>
          <a:ln/>
        </p:spPr>
        <p:txBody>
          <a:bodyPr wrap="square" lIns="0" tIns="0" rIns="0" bIns="0" rtlCol="0" anchor="ctr"/>
          <a:lstStyle/>
          <a:p>
            <a:pPr indent="0" marL="0">
              <a:buNone/>
            </a:pPr>
            <a:r>
              <a:rPr lang="en-US" sz="1300" b="1" spc="250" kern="0" dirty="0">
                <a:solidFill>
                  <a:srgbClr val="0D7490"/>
                </a:solidFill>
                <a:latin typeface="Helvetica Neue" pitchFamily="34" charset="0"/>
                <a:ea typeface="Helvetica Neue" pitchFamily="34" charset="-122"/>
                <a:cs typeface="Helvetica Neue" pitchFamily="34" charset="-120"/>
              </a:rPr>
              <a:t>SECTION 06</a:t>
            </a:r>
            <a:endParaRPr lang="en-US" sz="1300" dirty="0"/>
          </a:p>
        </p:txBody>
      </p:sp>
      <p:sp>
        <p:nvSpPr>
          <p:cNvPr id="5" name="Text 3"/>
          <p:cNvSpPr/>
          <p:nvPr/>
        </p:nvSpPr>
        <p:spPr>
          <a:xfrm>
            <a:off x="786384" y="2926080"/>
            <a:ext cx="6949440" cy="1371600"/>
          </a:xfrm>
          <a:prstGeom prst="rect">
            <a:avLst/>
          </a:prstGeom>
          <a:noFill/>
          <a:ln/>
        </p:spPr>
        <p:txBody>
          <a:bodyPr wrap="square" lIns="0" tIns="0" rIns="0" bIns="0" rtlCol="0" anchor="ctr"/>
          <a:lstStyle/>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The Community</a:t>
            </a:r>
            <a:endParaRPr lang="en-US" sz="4000" dirty="0"/>
          </a:p>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Outreach Log</a:t>
            </a:r>
            <a:endParaRPr lang="en-US" sz="4000" dirty="0"/>
          </a:p>
        </p:txBody>
      </p:sp>
      <p:sp>
        <p:nvSpPr>
          <p:cNvPr id="6" name="Shape 4"/>
          <p:cNvSpPr/>
          <p:nvPr/>
        </p:nvSpPr>
        <p:spPr>
          <a:xfrm>
            <a:off x="841248" y="4370832"/>
            <a:ext cx="2971800" cy="420624"/>
          </a:xfrm>
          <a:prstGeom prst="roundRect">
            <a:avLst>
              <a:gd name="adj" fmla="val 50000"/>
            </a:avLst>
          </a:prstGeom>
          <a:solidFill>
            <a:srgbClr val="0D7490"/>
          </a:solidFill>
          <a:ln/>
        </p:spPr>
        <p:txBody>
          <a:bodyPr/>
          <a:p/>
        </p:txBody>
      </p:sp>
      <p:sp>
        <p:nvSpPr>
          <p:cNvPr id="7" name="Text 5"/>
          <p:cNvSpPr/>
          <p:nvPr/>
        </p:nvSpPr>
        <p:spPr>
          <a:xfrm>
            <a:off x="841248" y="4370832"/>
            <a:ext cx="2971800" cy="420624"/>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Helvetica Neue" pitchFamily="34" charset="0"/>
                <a:ea typeface="Helvetica Neue" pitchFamily="34" charset="-122"/>
                <a:cs typeface="Helvetica Neue" pitchFamily="34" charset="-120"/>
              </a:rPr>
              <a:t>2:35 – 2:50   ·   15 MIN</a:t>
            </a:r>
            <a:endParaRPr lang="en-US" sz="1050" dirty="0"/>
          </a:p>
        </p:txBody>
      </p:sp>
      <p:sp>
        <p:nvSpPr>
          <p:cNvPr id="8" name="Text 6"/>
          <p:cNvSpPr/>
          <p:nvPr/>
        </p:nvSpPr>
        <p:spPr>
          <a:xfrm>
            <a:off x="841248" y="5029200"/>
            <a:ext cx="6126480" cy="1005840"/>
          </a:xfrm>
          <a:prstGeom prst="rect">
            <a:avLst/>
          </a:prstGeom>
          <a:noFill/>
          <a:ln/>
        </p:spPr>
        <p:txBody>
          <a:bodyPr wrap="square" lIns="0" tIns="0" rIns="0" bIns="0" rtlCol="0" anchor="ctr"/>
          <a:lstStyle/>
          <a:p>
            <a:pPr indent="0" marL="0">
              <a:lnSpc>
                <a:spcPts val="2200"/>
              </a:lnSpc>
              <a:buNone/>
            </a:pPr>
            <a:r>
              <a:rPr lang="en-US" sz="1500" i="1" dirty="0">
                <a:solidFill>
                  <a:srgbClr val="6E6E73"/>
                </a:solidFill>
                <a:latin typeface="Helvetica Neue" pitchFamily="34" charset="0"/>
                <a:ea typeface="Helvetica Neue" pitchFamily="34" charset="-122"/>
                <a:cs typeface="Helvetica Neue" pitchFamily="34" charset="-120"/>
              </a:rPr>
              <a:t>A scored part of the competition that is impossible to fake in April — so we start it on day one.</a:t>
            </a:r>
            <a:endParaRPr lang="en-US" sz="1500" dirty="0"/>
          </a:p>
        </p:txBody>
      </p:sp>
      <p:sp>
        <p:nvSpPr>
          <p:cNvPr id="9" name="Shape 7"/>
          <p:cNvSpPr/>
          <p:nvPr/>
        </p:nvSpPr>
        <p:spPr>
          <a:xfrm>
            <a:off x="822960" y="6437376"/>
            <a:ext cx="10545775" cy="0"/>
          </a:xfrm>
          <a:prstGeom prst="line">
            <a:avLst/>
          </a:prstGeom>
          <a:noFill/>
          <a:ln w="9525">
            <a:solidFill>
              <a:srgbClr val="E3E3E6"/>
            </a:solidFill>
            <a:prstDash val="solid"/>
          </a:ln>
        </p:spPr>
        <p:txBody>
          <a:bodyPr/>
          <a:p/>
        </p:txBody>
      </p:sp>
      <p:sp>
        <p:nvSpPr>
          <p:cNvPr id="10" name="Text 8"/>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1" name="Text 9"/>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23 / 29</a:t>
            </a:r>
            <a:endParaRPr lang="en-US" sz="7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COMMUNITY OUTREACH</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We start the log on day one.</a:t>
            </a:r>
            <a:endParaRPr lang="en-US" sz="3000" dirty="0"/>
          </a:p>
        </p:txBody>
      </p:sp>
      <p:sp>
        <p:nvSpPr>
          <p:cNvPr id="4" name="Text 2"/>
          <p:cNvSpPr/>
          <p:nvPr/>
        </p:nvSpPr>
        <p:spPr>
          <a:xfrm>
            <a:off x="822960" y="1783080"/>
            <a:ext cx="6446520" cy="1234440"/>
          </a:xfrm>
          <a:prstGeom prst="rect">
            <a:avLst/>
          </a:prstGeom>
          <a:noFill/>
          <a:ln/>
        </p:spPr>
        <p:txBody>
          <a:bodyPr wrap="square" lIns="0" tIns="0" rIns="0" bIns="0" rtlCol="0" anchor="ctr"/>
          <a:lstStyle/>
          <a:p>
            <a:pPr indent="0" marL="0">
              <a:lnSpc>
                <a:spcPts val="2100"/>
              </a:lnSpc>
              <a:buNone/>
            </a:pPr>
            <a:r>
              <a:rPr lang="en-US" sz="1400" dirty="0">
                <a:solidFill>
                  <a:srgbClr val="6E6E73"/>
                </a:solidFill>
                <a:latin typeface="Helvetica Neue" pitchFamily="34" charset="0"/>
                <a:ea typeface="Helvetica Neue" pitchFamily="34" charset="-122"/>
                <a:cs typeface="Helvetica Neue" pitchFamily="34" charset="-120"/>
              </a:rPr>
              <a:t>RANGER teams are recognized for community outreach and engagement — every demo, every younger student taught, every post that shows the work. It counts. And it cannot be reconstructed from memory the week before competition.</a:t>
            </a:r>
            <a:endParaRPr lang="en-US" sz="1400" dirty="0"/>
          </a:p>
        </p:txBody>
      </p:sp>
      <p:sp>
        <p:nvSpPr>
          <p:cNvPr id="5" name="Text 3"/>
          <p:cNvSpPr/>
          <p:nvPr/>
        </p:nvSpPr>
        <p:spPr>
          <a:xfrm>
            <a:off x="822960" y="3035808"/>
            <a:ext cx="6446520" cy="640080"/>
          </a:xfrm>
          <a:prstGeom prst="rect">
            <a:avLst/>
          </a:prstGeom>
          <a:noFill/>
          <a:ln/>
        </p:spPr>
        <p:txBody>
          <a:bodyPr wrap="square" lIns="0" tIns="0" rIns="0" bIns="0" rtlCol="0" anchor="ctr"/>
          <a:lstStyle/>
          <a:p>
            <a:pPr indent="0" marL="0">
              <a:lnSpc>
                <a:spcPts val="1900"/>
              </a:lnSpc>
              <a:buNone/>
            </a:pPr>
            <a:r>
              <a:rPr lang="en-US" sz="1350" b="1" dirty="0">
                <a:solidFill>
                  <a:srgbClr val="1D1D1F"/>
                </a:solidFill>
                <a:latin typeface="Helvetica Neue" pitchFamily="34" charset="0"/>
                <a:ea typeface="Helvetica Neue" pitchFamily="34" charset="-122"/>
                <a:cs typeface="Helvetica Neue" pitchFamily="34" charset="-120"/>
              </a:rPr>
              <a:t>So the rule is simple: if it happened, it gets logged the same week — four columns, nothing fancy.</a:t>
            </a:r>
            <a:endParaRPr lang="en-US" sz="1350" dirty="0"/>
          </a:p>
        </p:txBody>
      </p:sp>
      <p:sp>
        <p:nvSpPr>
          <p:cNvPr id="6" name="Shape 4"/>
          <p:cNvSpPr/>
          <p:nvPr/>
        </p:nvSpPr>
        <p:spPr>
          <a:xfrm>
            <a:off x="822960" y="3840480"/>
            <a:ext cx="6446520" cy="384048"/>
          </a:xfrm>
          <a:prstGeom prst="rect">
            <a:avLst/>
          </a:prstGeom>
          <a:solidFill>
            <a:srgbClr val="0D7490"/>
          </a:solidFill>
          <a:ln/>
        </p:spPr>
        <p:txBody>
          <a:bodyPr/>
          <a:p/>
        </p:txBody>
      </p:sp>
      <p:sp>
        <p:nvSpPr>
          <p:cNvPr id="7" name="Text 5"/>
          <p:cNvSpPr/>
          <p:nvPr/>
        </p:nvSpPr>
        <p:spPr>
          <a:xfrm>
            <a:off x="950976" y="3840480"/>
            <a:ext cx="969264" cy="384048"/>
          </a:xfrm>
          <a:prstGeom prst="rect">
            <a:avLst/>
          </a:prstGeom>
          <a:noFill/>
          <a:ln/>
        </p:spPr>
        <p:txBody>
          <a:bodyPr wrap="square" lIns="0" tIns="0" rIns="0" bIns="0" rtlCol="0" anchor="ctr"/>
          <a:lstStyle/>
          <a:p>
            <a:pPr indent="0" marL="0">
              <a:buNone/>
            </a:pPr>
            <a:r>
              <a:rPr lang="en-US" sz="900" b="1" spc="100" kern="0" dirty="0">
                <a:solidFill>
                  <a:srgbClr val="FFFFFF"/>
                </a:solidFill>
                <a:latin typeface="Helvetica Neue" pitchFamily="34" charset="0"/>
                <a:ea typeface="Helvetica Neue" pitchFamily="34" charset="-122"/>
                <a:cs typeface="Helvetica Neue" pitchFamily="34" charset="-120"/>
              </a:rPr>
              <a:t>DATE</a:t>
            </a:r>
            <a:endParaRPr lang="en-US" sz="900" dirty="0"/>
          </a:p>
        </p:txBody>
      </p:sp>
      <p:sp>
        <p:nvSpPr>
          <p:cNvPr id="8" name="Text 6"/>
          <p:cNvSpPr/>
          <p:nvPr/>
        </p:nvSpPr>
        <p:spPr>
          <a:xfrm>
            <a:off x="2048256" y="3840480"/>
            <a:ext cx="2615184" cy="384048"/>
          </a:xfrm>
          <a:prstGeom prst="rect">
            <a:avLst/>
          </a:prstGeom>
          <a:noFill/>
          <a:ln/>
        </p:spPr>
        <p:txBody>
          <a:bodyPr wrap="square" lIns="0" tIns="0" rIns="0" bIns="0" rtlCol="0" anchor="ctr"/>
          <a:lstStyle/>
          <a:p>
            <a:pPr indent="0" marL="0">
              <a:buNone/>
            </a:pPr>
            <a:r>
              <a:rPr lang="en-US" sz="900" b="1" spc="100" kern="0" dirty="0">
                <a:solidFill>
                  <a:srgbClr val="FFFFFF"/>
                </a:solidFill>
                <a:latin typeface="Helvetica Neue" pitchFamily="34" charset="0"/>
                <a:ea typeface="Helvetica Neue" pitchFamily="34" charset="-122"/>
                <a:cs typeface="Helvetica Neue" pitchFamily="34" charset="-120"/>
              </a:rPr>
              <a:t>WHAT WE DID</a:t>
            </a:r>
            <a:endParaRPr lang="en-US" sz="900" dirty="0"/>
          </a:p>
        </p:txBody>
      </p:sp>
      <p:sp>
        <p:nvSpPr>
          <p:cNvPr id="9" name="Text 7"/>
          <p:cNvSpPr/>
          <p:nvPr/>
        </p:nvSpPr>
        <p:spPr>
          <a:xfrm>
            <a:off x="4791456" y="3840480"/>
            <a:ext cx="1335024" cy="384048"/>
          </a:xfrm>
          <a:prstGeom prst="rect">
            <a:avLst/>
          </a:prstGeom>
          <a:noFill/>
          <a:ln/>
        </p:spPr>
        <p:txBody>
          <a:bodyPr wrap="square" lIns="0" tIns="0" rIns="0" bIns="0" rtlCol="0" anchor="ctr"/>
          <a:lstStyle/>
          <a:p>
            <a:pPr indent="0" marL="0">
              <a:buNone/>
            </a:pPr>
            <a:r>
              <a:rPr lang="en-US" sz="900" b="1" spc="100" kern="0" dirty="0">
                <a:solidFill>
                  <a:srgbClr val="FFFFFF"/>
                </a:solidFill>
                <a:latin typeface="Helvetica Neue" pitchFamily="34" charset="0"/>
                <a:ea typeface="Helvetica Neue" pitchFamily="34" charset="-122"/>
                <a:cs typeface="Helvetica Neue" pitchFamily="34" charset="-120"/>
              </a:rPr>
              <a:t>WHO IT REACHED</a:t>
            </a:r>
            <a:endParaRPr lang="en-US" sz="900" dirty="0"/>
          </a:p>
        </p:txBody>
      </p:sp>
      <p:sp>
        <p:nvSpPr>
          <p:cNvPr id="10" name="Text 8"/>
          <p:cNvSpPr/>
          <p:nvPr/>
        </p:nvSpPr>
        <p:spPr>
          <a:xfrm>
            <a:off x="6254496" y="3840480"/>
            <a:ext cx="1014984" cy="384048"/>
          </a:xfrm>
          <a:prstGeom prst="rect">
            <a:avLst/>
          </a:prstGeom>
          <a:noFill/>
          <a:ln/>
        </p:spPr>
        <p:txBody>
          <a:bodyPr wrap="square" lIns="0" tIns="0" rIns="0" bIns="0" rtlCol="0" anchor="ctr"/>
          <a:lstStyle/>
          <a:p>
            <a:pPr indent="0" marL="0">
              <a:buNone/>
            </a:pPr>
            <a:r>
              <a:rPr lang="en-US" sz="900" b="1" spc="100" kern="0" dirty="0">
                <a:solidFill>
                  <a:srgbClr val="FFFFFF"/>
                </a:solidFill>
                <a:latin typeface="Helvetica Neue" pitchFamily="34" charset="0"/>
                <a:ea typeface="Helvetica Neue" pitchFamily="34" charset="-122"/>
                <a:cs typeface="Helvetica Neue" pitchFamily="34" charset="-120"/>
              </a:rPr>
              <a:t>REACH</a:t>
            </a:r>
            <a:endParaRPr lang="en-US" sz="900" dirty="0"/>
          </a:p>
        </p:txBody>
      </p:sp>
      <p:sp>
        <p:nvSpPr>
          <p:cNvPr id="11" name="Shape 9"/>
          <p:cNvSpPr/>
          <p:nvPr/>
        </p:nvSpPr>
        <p:spPr>
          <a:xfrm>
            <a:off x="822960" y="4224528"/>
            <a:ext cx="6446520" cy="457200"/>
          </a:xfrm>
          <a:prstGeom prst="rect">
            <a:avLst/>
          </a:prstGeom>
          <a:solidFill>
            <a:srgbClr val="FBFBFD"/>
          </a:solidFill>
          <a:ln w="9525">
            <a:solidFill>
              <a:srgbClr val="E3E3E6"/>
            </a:solidFill>
            <a:prstDash val="solid"/>
          </a:ln>
        </p:spPr>
        <p:txBody>
          <a:bodyPr/>
          <a:p/>
        </p:txBody>
      </p:sp>
      <p:sp>
        <p:nvSpPr>
          <p:cNvPr id="12" name="Text 10"/>
          <p:cNvSpPr/>
          <p:nvPr/>
        </p:nvSpPr>
        <p:spPr>
          <a:xfrm>
            <a:off x="950976" y="4224528"/>
            <a:ext cx="969264" cy="457200"/>
          </a:xfrm>
          <a:prstGeom prst="rect">
            <a:avLst/>
          </a:prstGeom>
          <a:noFill/>
          <a:ln/>
        </p:spPr>
        <p:txBody>
          <a:bodyPr wrap="square" lIns="0" tIns="0" rIns="0" bIns="0" rtlCol="0" anchor="ctr"/>
          <a:lstStyle/>
          <a:p>
            <a:pPr indent="0" marL="0">
              <a:buNone/>
            </a:pPr>
            <a:r>
              <a:rPr lang="en-US" sz="1050" dirty="0">
                <a:solidFill>
                  <a:srgbClr val="1D1D1F"/>
                </a:solidFill>
                <a:latin typeface="Helvetica Neue" pitchFamily="34" charset="0"/>
                <a:ea typeface="Helvetica Neue" pitchFamily="34" charset="-122"/>
                <a:cs typeface="Helvetica Neue" pitchFamily="34" charset="-120"/>
              </a:rPr>
              <a:t>Week 1</a:t>
            </a:r>
            <a:endParaRPr lang="en-US" sz="1050" dirty="0"/>
          </a:p>
        </p:txBody>
      </p:sp>
      <p:sp>
        <p:nvSpPr>
          <p:cNvPr id="13" name="Text 11"/>
          <p:cNvSpPr/>
          <p:nvPr/>
        </p:nvSpPr>
        <p:spPr>
          <a:xfrm>
            <a:off x="2048256" y="4224528"/>
            <a:ext cx="2615184" cy="457200"/>
          </a:xfrm>
          <a:prstGeom prst="rect">
            <a:avLst/>
          </a:prstGeom>
          <a:noFill/>
          <a:ln/>
        </p:spPr>
        <p:txBody>
          <a:bodyPr wrap="square" lIns="0" tIns="0" rIns="0" bIns="0" rtlCol="0" anchor="ctr"/>
          <a:lstStyle/>
          <a:p>
            <a:pPr indent="0" marL="0">
              <a:buNone/>
            </a:pPr>
            <a:r>
              <a:rPr lang="en-US" sz="1050" dirty="0">
                <a:solidFill>
                  <a:srgbClr val="1D1D1F"/>
                </a:solidFill>
                <a:latin typeface="Helvetica Neue" pitchFamily="34" charset="0"/>
                <a:ea typeface="Helvetica Neue" pitchFamily="34" charset="-122"/>
                <a:cs typeface="Helvetica Neue" pitchFamily="34" charset="-120"/>
              </a:rPr>
              <a:t>Team kickoff — company formed</a:t>
            </a:r>
            <a:endParaRPr lang="en-US" sz="1050" dirty="0"/>
          </a:p>
        </p:txBody>
      </p:sp>
      <p:sp>
        <p:nvSpPr>
          <p:cNvPr id="14" name="Text 12"/>
          <p:cNvSpPr/>
          <p:nvPr/>
        </p:nvSpPr>
        <p:spPr>
          <a:xfrm>
            <a:off x="4791456" y="4224528"/>
            <a:ext cx="1335024" cy="457200"/>
          </a:xfrm>
          <a:prstGeom prst="rect">
            <a:avLst/>
          </a:prstGeom>
          <a:noFill/>
          <a:ln/>
        </p:spPr>
        <p:txBody>
          <a:bodyPr wrap="square" lIns="0" tIns="0" rIns="0" bIns="0" rtlCol="0" anchor="ctr"/>
          <a:lstStyle/>
          <a:p>
            <a:pPr indent="0" marL="0">
              <a:buNone/>
            </a:pPr>
            <a:r>
              <a:rPr lang="en-US" sz="1050" dirty="0">
                <a:solidFill>
                  <a:srgbClr val="1D1D1F"/>
                </a:solidFill>
                <a:latin typeface="Helvetica Neue" pitchFamily="34" charset="0"/>
                <a:ea typeface="Helvetica Neue" pitchFamily="34" charset="-122"/>
                <a:cs typeface="Helvetica Neue" pitchFamily="34" charset="-120"/>
              </a:rPr>
              <a:t>6 students</a:t>
            </a:r>
            <a:endParaRPr lang="en-US" sz="1050" dirty="0"/>
          </a:p>
        </p:txBody>
      </p:sp>
      <p:sp>
        <p:nvSpPr>
          <p:cNvPr id="15" name="Text 13"/>
          <p:cNvSpPr/>
          <p:nvPr/>
        </p:nvSpPr>
        <p:spPr>
          <a:xfrm>
            <a:off x="6254496" y="4224528"/>
            <a:ext cx="1014984" cy="457200"/>
          </a:xfrm>
          <a:prstGeom prst="rect">
            <a:avLst/>
          </a:prstGeom>
          <a:noFill/>
          <a:ln/>
        </p:spPr>
        <p:txBody>
          <a:bodyPr wrap="square" lIns="0" tIns="0" rIns="0" bIns="0" rtlCol="0" anchor="ctr"/>
          <a:lstStyle/>
          <a:p>
            <a:pPr indent="0" marL="0">
              <a:buNone/>
            </a:pPr>
            <a:r>
              <a:rPr lang="en-US" sz="1050" dirty="0">
                <a:solidFill>
                  <a:srgbClr val="1D1D1F"/>
                </a:solidFill>
                <a:latin typeface="Helvetica Neue" pitchFamily="34" charset="0"/>
                <a:ea typeface="Helvetica Neue" pitchFamily="34" charset="-122"/>
                <a:cs typeface="Helvetica Neue" pitchFamily="34" charset="-120"/>
              </a:rPr>
              <a:t>6</a:t>
            </a:r>
            <a:endParaRPr lang="en-US" sz="1050" dirty="0"/>
          </a:p>
        </p:txBody>
      </p:sp>
      <p:sp>
        <p:nvSpPr>
          <p:cNvPr id="16" name="Shape 14"/>
          <p:cNvSpPr/>
          <p:nvPr/>
        </p:nvSpPr>
        <p:spPr>
          <a:xfrm>
            <a:off x="822960" y="4681728"/>
            <a:ext cx="6446520" cy="457200"/>
          </a:xfrm>
          <a:prstGeom prst="rect">
            <a:avLst/>
          </a:prstGeom>
          <a:solidFill>
            <a:srgbClr val="FFFFFF"/>
          </a:solidFill>
          <a:ln w="9525">
            <a:solidFill>
              <a:srgbClr val="E3E3E6"/>
            </a:solidFill>
            <a:prstDash val="solid"/>
          </a:ln>
        </p:spPr>
        <p:txBody>
          <a:bodyPr/>
          <a:p/>
        </p:txBody>
      </p:sp>
      <p:sp>
        <p:nvSpPr>
          <p:cNvPr id="17" name="Text 15"/>
          <p:cNvSpPr/>
          <p:nvPr/>
        </p:nvSpPr>
        <p:spPr>
          <a:xfrm>
            <a:off x="950976" y="4681728"/>
            <a:ext cx="969264" cy="457200"/>
          </a:xfrm>
          <a:prstGeom prst="rect">
            <a:avLst/>
          </a:prstGeom>
          <a:noFill/>
          <a:ln/>
        </p:spPr>
        <p:txBody>
          <a:bodyPr wrap="square" lIns="0" tIns="0" rIns="0" bIns="0" rtlCol="0" anchor="ctr"/>
          <a:lstStyle/>
          <a:p>
            <a:pPr indent="0" marL="0">
              <a:buNone/>
            </a:pPr>
            <a:r>
              <a:rPr lang="en-US" sz="1050" i="1" dirty="0">
                <a:solidFill>
                  <a:srgbClr val="86868B"/>
                </a:solidFill>
                <a:latin typeface="Helvetica Neue" pitchFamily="34" charset="0"/>
                <a:ea typeface="Helvetica Neue" pitchFamily="34" charset="-122"/>
                <a:cs typeface="Helvetica Neue" pitchFamily="34" charset="-120"/>
              </a:rPr>
              <a:t>—</a:t>
            </a:r>
            <a:endParaRPr lang="en-US" sz="1050" dirty="0"/>
          </a:p>
        </p:txBody>
      </p:sp>
      <p:sp>
        <p:nvSpPr>
          <p:cNvPr id="18" name="Text 16"/>
          <p:cNvSpPr/>
          <p:nvPr/>
        </p:nvSpPr>
        <p:spPr>
          <a:xfrm>
            <a:off x="2048256" y="4681728"/>
            <a:ext cx="2615184" cy="457200"/>
          </a:xfrm>
          <a:prstGeom prst="rect">
            <a:avLst/>
          </a:prstGeom>
          <a:noFill/>
          <a:ln/>
        </p:spPr>
        <p:txBody>
          <a:bodyPr wrap="square" lIns="0" tIns="0" rIns="0" bIns="0" rtlCol="0" anchor="ctr"/>
          <a:lstStyle/>
          <a:p>
            <a:pPr indent="0" marL="0">
              <a:buNone/>
            </a:pPr>
            <a:r>
              <a:rPr lang="en-US" sz="1050" i="1" dirty="0">
                <a:solidFill>
                  <a:srgbClr val="86868B"/>
                </a:solidFill>
                <a:latin typeface="Helvetica Neue" pitchFamily="34" charset="0"/>
                <a:ea typeface="Helvetica Neue" pitchFamily="34" charset="-122"/>
                <a:cs typeface="Helvetica Neue" pitchFamily="34" charset="-120"/>
              </a:rPr>
              <a:t>Your first entry goes here</a:t>
            </a:r>
            <a:endParaRPr lang="en-US" sz="1050" dirty="0"/>
          </a:p>
        </p:txBody>
      </p:sp>
      <p:sp>
        <p:nvSpPr>
          <p:cNvPr id="19" name="Text 17"/>
          <p:cNvSpPr/>
          <p:nvPr/>
        </p:nvSpPr>
        <p:spPr>
          <a:xfrm>
            <a:off x="4791456" y="4681728"/>
            <a:ext cx="1335024" cy="457200"/>
          </a:xfrm>
          <a:prstGeom prst="rect">
            <a:avLst/>
          </a:prstGeom>
          <a:noFill/>
          <a:ln/>
        </p:spPr>
        <p:txBody>
          <a:bodyPr wrap="square" lIns="0" tIns="0" rIns="0" bIns="0" rtlCol="0" anchor="ctr"/>
          <a:lstStyle/>
          <a:p>
            <a:pPr indent="0" marL="0">
              <a:buNone/>
            </a:pPr>
            <a:r>
              <a:rPr lang="en-US" sz="1050" i="1" dirty="0">
                <a:solidFill>
                  <a:srgbClr val="86868B"/>
                </a:solidFill>
                <a:latin typeface="Helvetica Neue" pitchFamily="34" charset="0"/>
                <a:ea typeface="Helvetica Neue" pitchFamily="34" charset="-122"/>
                <a:cs typeface="Helvetica Neue" pitchFamily="34" charset="-120"/>
              </a:rPr>
              <a:t>—</a:t>
            </a:r>
            <a:endParaRPr lang="en-US" sz="1050" dirty="0"/>
          </a:p>
        </p:txBody>
      </p:sp>
      <p:sp>
        <p:nvSpPr>
          <p:cNvPr id="20" name="Text 18"/>
          <p:cNvSpPr/>
          <p:nvPr/>
        </p:nvSpPr>
        <p:spPr>
          <a:xfrm>
            <a:off x="6254496" y="4681728"/>
            <a:ext cx="1014984" cy="457200"/>
          </a:xfrm>
          <a:prstGeom prst="rect">
            <a:avLst/>
          </a:prstGeom>
          <a:noFill/>
          <a:ln/>
        </p:spPr>
        <p:txBody>
          <a:bodyPr wrap="square" lIns="0" tIns="0" rIns="0" bIns="0" rtlCol="0" anchor="ctr"/>
          <a:lstStyle/>
          <a:p>
            <a:pPr indent="0" marL="0">
              <a:buNone/>
            </a:pPr>
            <a:r>
              <a:rPr lang="en-US" sz="1050" i="1" dirty="0">
                <a:solidFill>
                  <a:srgbClr val="86868B"/>
                </a:solidFill>
                <a:latin typeface="Helvetica Neue" pitchFamily="34" charset="0"/>
                <a:ea typeface="Helvetica Neue" pitchFamily="34" charset="-122"/>
                <a:cs typeface="Helvetica Neue" pitchFamily="34" charset="-120"/>
              </a:rPr>
              <a:t>—</a:t>
            </a:r>
            <a:endParaRPr lang="en-US" sz="1050" dirty="0"/>
          </a:p>
        </p:txBody>
      </p:sp>
      <p:sp>
        <p:nvSpPr>
          <p:cNvPr id="21" name="Shape 19"/>
          <p:cNvSpPr/>
          <p:nvPr/>
        </p:nvSpPr>
        <p:spPr>
          <a:xfrm>
            <a:off x="7635240" y="1783080"/>
            <a:ext cx="3730752" cy="4069080"/>
          </a:xfrm>
          <a:prstGeom prst="roundRect">
            <a:avLst>
              <a:gd name="adj" fmla="val 2696"/>
            </a:avLst>
          </a:prstGeom>
          <a:solidFill>
            <a:srgbClr val="095D75"/>
          </a:solidFill>
          <a:ln w="12700">
            <a:solidFill>
              <a:srgbClr val="095D75"/>
            </a:solidFill>
            <a:prstDash val="solid"/>
          </a:ln>
        </p:spPr>
        <p:txBody>
          <a:bodyPr/>
          <a:p/>
        </p:txBody>
      </p:sp>
      <p:sp>
        <p:nvSpPr>
          <p:cNvPr id="22" name="Text 20"/>
          <p:cNvSpPr/>
          <p:nvPr/>
        </p:nvSpPr>
        <p:spPr>
          <a:xfrm>
            <a:off x="7955280" y="2103120"/>
            <a:ext cx="3108960" cy="274320"/>
          </a:xfrm>
          <a:prstGeom prst="rect">
            <a:avLst/>
          </a:prstGeom>
          <a:noFill/>
          <a:ln/>
        </p:spPr>
        <p:txBody>
          <a:bodyPr wrap="square" lIns="0" tIns="0" rIns="0" bIns="0" rtlCol="0" anchor="ctr"/>
          <a:lstStyle/>
          <a:p>
            <a:pPr indent="0" marL="0">
              <a:buNone/>
            </a:pPr>
            <a:r>
              <a:rPr lang="en-US" sz="1000" b="1" spc="150" kern="0" dirty="0">
                <a:solidFill>
                  <a:srgbClr val="9FCEDA"/>
                </a:solidFill>
                <a:latin typeface="Helvetica Neue" pitchFamily="34" charset="0"/>
                <a:ea typeface="Helvetica Neue" pitchFamily="34" charset="-122"/>
                <a:cs typeface="Helvetica Neue" pitchFamily="34" charset="-120"/>
              </a:rPr>
              <a:t>WHY DAY ONE</a:t>
            </a:r>
            <a:endParaRPr lang="en-US" sz="1000" dirty="0"/>
          </a:p>
        </p:txBody>
      </p:sp>
      <p:sp>
        <p:nvSpPr>
          <p:cNvPr id="23" name="Text 21"/>
          <p:cNvSpPr/>
          <p:nvPr/>
        </p:nvSpPr>
        <p:spPr>
          <a:xfrm>
            <a:off x="7955280" y="2395728"/>
            <a:ext cx="3154680" cy="914400"/>
          </a:xfrm>
          <a:prstGeom prst="rect">
            <a:avLst/>
          </a:prstGeom>
          <a:noFill/>
          <a:ln/>
        </p:spPr>
        <p:txBody>
          <a:bodyPr wrap="square" lIns="0" tIns="0" rIns="0" bIns="0" rtlCol="0" anchor="ctr"/>
          <a:lstStyle/>
          <a:p>
            <a:pPr indent="0" marL="0">
              <a:lnSpc>
                <a:spcPts val="2400"/>
              </a:lnSpc>
              <a:buNone/>
            </a:pPr>
            <a:r>
              <a:rPr lang="en-US" sz="1900" b="1" dirty="0">
                <a:solidFill>
                  <a:srgbClr val="FFFFFF"/>
                </a:solidFill>
                <a:latin typeface="Helvetica Neue" pitchFamily="34" charset="0"/>
                <a:ea typeface="Helvetica Neue" pitchFamily="34" charset="-122"/>
                <a:cs typeface="Helvetica Neue" pitchFamily="34" charset="-120"/>
              </a:rPr>
              <a:t>You cannot remember a year.</a:t>
            </a:r>
            <a:endParaRPr lang="en-US" sz="1900" dirty="0"/>
          </a:p>
        </p:txBody>
      </p:sp>
      <p:sp>
        <p:nvSpPr>
          <p:cNvPr id="24" name="Text 22"/>
          <p:cNvSpPr/>
          <p:nvPr/>
        </p:nvSpPr>
        <p:spPr>
          <a:xfrm>
            <a:off x="7955280" y="3346704"/>
            <a:ext cx="3154680" cy="1371600"/>
          </a:xfrm>
          <a:prstGeom prst="rect">
            <a:avLst/>
          </a:prstGeom>
          <a:noFill/>
          <a:ln/>
        </p:spPr>
        <p:txBody>
          <a:bodyPr wrap="square" lIns="0" tIns="0" rIns="0" bIns="0" rtlCol="0" anchor="ctr"/>
          <a:lstStyle/>
          <a:p>
            <a:pPr indent="0" marL="0">
              <a:lnSpc>
                <a:spcPts val="1550"/>
              </a:lnSpc>
              <a:buNone/>
            </a:pPr>
            <a:r>
              <a:rPr lang="en-US" sz="1100" dirty="0">
                <a:solidFill>
                  <a:srgbClr val="EAF2F4"/>
                </a:solidFill>
                <a:latin typeface="Helvetica Neue" pitchFamily="34" charset="0"/>
                <a:ea typeface="Helvetica Neue" pitchFamily="34" charset="-122"/>
                <a:cs typeface="Helvetica Neue" pitchFamily="34" charset="-120"/>
              </a:rPr>
              <a:t>By April, ten months of small moments have blurred together. A log written as you go is honest, complete, and effortless. A log written from memory is neither.</a:t>
            </a:r>
            <a:endParaRPr lang="en-US" sz="1100" dirty="0"/>
          </a:p>
        </p:txBody>
      </p:sp>
      <p:sp>
        <p:nvSpPr>
          <p:cNvPr id="25" name="Shape 23"/>
          <p:cNvSpPr/>
          <p:nvPr/>
        </p:nvSpPr>
        <p:spPr>
          <a:xfrm>
            <a:off x="7955280" y="4864608"/>
            <a:ext cx="3108960" cy="0"/>
          </a:xfrm>
          <a:prstGeom prst="line">
            <a:avLst/>
          </a:prstGeom>
          <a:noFill/>
          <a:ln w="12700">
            <a:solidFill>
              <a:srgbClr val="3E7E91"/>
            </a:solidFill>
            <a:prstDash val="solid"/>
          </a:ln>
        </p:spPr>
        <p:txBody>
          <a:bodyPr/>
          <a:p/>
        </p:txBody>
      </p:sp>
      <p:sp>
        <p:nvSpPr>
          <p:cNvPr id="26" name="Text 24"/>
          <p:cNvSpPr/>
          <p:nvPr/>
        </p:nvSpPr>
        <p:spPr>
          <a:xfrm>
            <a:off x="7955280" y="4992624"/>
            <a:ext cx="3154680" cy="292608"/>
          </a:xfrm>
          <a:prstGeom prst="rect">
            <a:avLst/>
          </a:prstGeom>
          <a:noFill/>
          <a:ln/>
        </p:spPr>
        <p:txBody>
          <a:bodyPr wrap="square" lIns="0" tIns="0" rIns="0" bIns="0" rtlCol="0" anchor="ctr"/>
          <a:lstStyle/>
          <a:p>
            <a:pPr indent="0" marL="0">
              <a:buNone/>
            </a:pPr>
            <a:r>
              <a:rPr lang="en-US" sz="1100" b="1" dirty="0">
                <a:solidFill>
                  <a:srgbClr val="9FCEDA"/>
                </a:solidFill>
                <a:latin typeface="Helvetica Neue" pitchFamily="34" charset="0"/>
                <a:ea typeface="Helvetica Neue" pitchFamily="34" charset="-122"/>
                <a:cs typeface="Helvetica Neue" pitchFamily="34" charset="-120"/>
              </a:rPr>
              <a:t xml:space="preserve">OWNER   </a:t>
            </a:r>
            <a:pPr indent="0" marL="0">
              <a:buNone/>
            </a:pPr>
            <a:r>
              <a:rPr lang="en-US" sz="1100" dirty="0">
                <a:solidFill>
                  <a:srgbClr val="FFFFFF"/>
                </a:solidFill>
                <a:latin typeface="Helvetica Neue" pitchFamily="34" charset="0"/>
                <a:ea typeface="Helvetica Neue" pitchFamily="34" charset="-122"/>
                <a:cs typeface="Helvetica Neue" pitchFamily="34" charset="-120"/>
              </a:rPr>
              <a:t>Communications Lead</a:t>
            </a:r>
            <a:endParaRPr lang="en-US" sz="1100" dirty="0"/>
          </a:p>
        </p:txBody>
      </p:sp>
      <p:sp>
        <p:nvSpPr>
          <p:cNvPr id="27" name="Text 25"/>
          <p:cNvSpPr/>
          <p:nvPr/>
        </p:nvSpPr>
        <p:spPr>
          <a:xfrm>
            <a:off x="7955280" y="5321808"/>
            <a:ext cx="3154680" cy="457200"/>
          </a:xfrm>
          <a:prstGeom prst="rect">
            <a:avLst/>
          </a:prstGeom>
          <a:noFill/>
          <a:ln/>
        </p:spPr>
        <p:txBody>
          <a:bodyPr wrap="square" lIns="0" tIns="0" rIns="0" bIns="0" rtlCol="0" anchor="ctr"/>
          <a:lstStyle/>
          <a:p>
            <a:pPr indent="0" marL="0">
              <a:lnSpc>
                <a:spcPts val="1400"/>
              </a:lnSpc>
              <a:buNone/>
            </a:pPr>
            <a:r>
              <a:rPr lang="en-US" sz="1100" b="1" dirty="0">
                <a:solidFill>
                  <a:srgbClr val="9FCEDA"/>
                </a:solidFill>
                <a:latin typeface="Helvetica Neue" pitchFamily="34" charset="0"/>
                <a:ea typeface="Helvetica Neue" pitchFamily="34" charset="-122"/>
                <a:cs typeface="Helvetica Neue" pitchFamily="34" charset="-120"/>
              </a:rPr>
              <a:t xml:space="preserve">OPENS   </a:t>
            </a:r>
            <a:pPr indent="0" marL="0">
              <a:lnSpc>
                <a:spcPts val="1400"/>
              </a:lnSpc>
              <a:buNone/>
            </a:pPr>
            <a:r>
              <a:rPr lang="en-US" sz="1100" dirty="0">
                <a:solidFill>
                  <a:srgbClr val="FFFFFF"/>
                </a:solidFill>
                <a:latin typeface="Helvetica Neue" pitchFamily="34" charset="0"/>
                <a:ea typeface="Helvetica Neue" pitchFamily="34" charset="-122"/>
                <a:cs typeface="Helvetica Neue" pitchFamily="34" charset="-120"/>
              </a:rPr>
              <a:t>Today — this meeting is entry one</a:t>
            </a:r>
            <a:endParaRPr lang="en-US" sz="1100" dirty="0"/>
          </a:p>
        </p:txBody>
      </p:sp>
      <p:sp>
        <p:nvSpPr>
          <p:cNvPr id="28" name="Shape 26"/>
          <p:cNvSpPr/>
          <p:nvPr/>
        </p:nvSpPr>
        <p:spPr>
          <a:xfrm>
            <a:off x="822960" y="6437376"/>
            <a:ext cx="10545775" cy="0"/>
          </a:xfrm>
          <a:prstGeom prst="line">
            <a:avLst/>
          </a:prstGeom>
          <a:noFill/>
          <a:ln w="9525">
            <a:solidFill>
              <a:srgbClr val="E3E3E6"/>
            </a:solidFill>
            <a:prstDash val="solid"/>
          </a:ln>
        </p:spPr>
        <p:txBody>
          <a:bodyPr/>
          <a:p/>
        </p:txBody>
      </p:sp>
      <p:sp>
        <p:nvSpPr>
          <p:cNvPr id="29" name="Text 27"/>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30" name="Text 28"/>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24 / 29</a:t>
            </a:r>
            <a:endParaRPr lang="en-US" sz="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BFBFD"/>
        </a:solidFill>
      </p:bgPr>
    </p:bg>
    <p:spTree>
      <p:nvGrpSpPr>
        <p:cNvPr id="1" name=""/>
        <p:cNvGrpSpPr/>
        <p:nvPr/>
      </p:nvGrpSpPr>
      <p:grpSpPr>
        <a:xfrm>
          <a:off x="0" y="0"/>
          <a:ext cx="0" cy="0"/>
          <a:chOff x="0" y="0"/>
          <a:chExt cx="0" cy="0"/>
        </a:xfrm>
      </p:grpSpPr>
      <p:sp>
        <p:nvSpPr>
          <p:cNvPr id="2" name="Text 0"/>
          <p:cNvSpPr/>
          <p:nvPr/>
        </p:nvSpPr>
        <p:spPr>
          <a:xfrm>
            <a:off x="4572000" y="182880"/>
            <a:ext cx="7315200" cy="6492240"/>
          </a:xfrm>
          <a:prstGeom prst="rect">
            <a:avLst/>
          </a:prstGeom>
          <a:noFill/>
          <a:ln/>
        </p:spPr>
        <p:txBody>
          <a:bodyPr wrap="square" lIns="0" tIns="0" rIns="0" bIns="0" rtlCol="0" anchor="ctr"/>
          <a:lstStyle/>
          <a:p>
            <a:pPr algn="r" indent="0" marL="0">
              <a:buNone/>
            </a:pPr>
            <a:r>
              <a:rPr lang="en-US" sz="36000" b="1" dirty="0">
                <a:solidFill>
                  <a:srgbClr val="EEF0F1"/>
                </a:solidFill>
                <a:latin typeface="Helvetica Neue" pitchFamily="34" charset="0"/>
                <a:ea typeface="Helvetica Neue" pitchFamily="34" charset="-122"/>
                <a:cs typeface="Helvetica Neue" pitchFamily="34" charset="-120"/>
              </a:rPr>
              <a:t>07</a:t>
            </a:r>
            <a:endParaRPr lang="en-US" sz="36000" dirty="0"/>
          </a:p>
        </p:txBody>
      </p:sp>
      <p:sp>
        <p:nvSpPr>
          <p:cNvPr id="3" name="Shape 1"/>
          <p:cNvSpPr/>
          <p:nvPr/>
        </p:nvSpPr>
        <p:spPr>
          <a:xfrm>
            <a:off x="841248" y="2395728"/>
            <a:ext cx="566928" cy="91440"/>
          </a:xfrm>
          <a:prstGeom prst="rect">
            <a:avLst/>
          </a:prstGeom>
          <a:solidFill>
            <a:srgbClr val="0D7490"/>
          </a:solidFill>
          <a:ln/>
        </p:spPr>
        <p:txBody>
          <a:bodyPr/>
          <a:p/>
        </p:txBody>
      </p:sp>
      <p:sp>
        <p:nvSpPr>
          <p:cNvPr id="4" name="Text 2"/>
          <p:cNvSpPr/>
          <p:nvPr/>
        </p:nvSpPr>
        <p:spPr>
          <a:xfrm>
            <a:off x="822960" y="2615184"/>
            <a:ext cx="6400800" cy="310896"/>
          </a:xfrm>
          <a:prstGeom prst="rect">
            <a:avLst/>
          </a:prstGeom>
          <a:noFill/>
          <a:ln/>
        </p:spPr>
        <p:txBody>
          <a:bodyPr wrap="square" lIns="0" tIns="0" rIns="0" bIns="0" rtlCol="0" anchor="ctr"/>
          <a:lstStyle/>
          <a:p>
            <a:pPr indent="0" marL="0">
              <a:buNone/>
            </a:pPr>
            <a:r>
              <a:rPr lang="en-US" sz="1300" b="1" spc="250" kern="0" dirty="0">
                <a:solidFill>
                  <a:srgbClr val="0D7490"/>
                </a:solidFill>
                <a:latin typeface="Helvetica Neue" pitchFamily="34" charset="0"/>
                <a:ea typeface="Helvetica Neue" pitchFamily="34" charset="-122"/>
                <a:cs typeface="Helvetica Neue" pitchFamily="34" charset="-120"/>
              </a:rPr>
              <a:t>SECTION 07</a:t>
            </a:r>
            <a:endParaRPr lang="en-US" sz="1300" dirty="0"/>
          </a:p>
        </p:txBody>
      </p:sp>
      <p:sp>
        <p:nvSpPr>
          <p:cNvPr id="5" name="Text 3"/>
          <p:cNvSpPr/>
          <p:nvPr/>
        </p:nvSpPr>
        <p:spPr>
          <a:xfrm>
            <a:off x="786384" y="2926080"/>
            <a:ext cx="6949440" cy="1371600"/>
          </a:xfrm>
          <a:prstGeom prst="rect">
            <a:avLst/>
          </a:prstGeom>
          <a:noFill/>
          <a:ln/>
        </p:spPr>
        <p:txBody>
          <a:bodyPr wrap="square" lIns="0" tIns="0" rIns="0" bIns="0" rtlCol="0" anchor="ctr"/>
          <a:lstStyle/>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Wrap-Up &amp;</a:t>
            </a:r>
            <a:endParaRPr lang="en-US" sz="4000" dirty="0"/>
          </a:p>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Homework</a:t>
            </a:r>
            <a:endParaRPr lang="en-US" sz="4000" dirty="0"/>
          </a:p>
        </p:txBody>
      </p:sp>
      <p:sp>
        <p:nvSpPr>
          <p:cNvPr id="6" name="Shape 4"/>
          <p:cNvSpPr/>
          <p:nvPr/>
        </p:nvSpPr>
        <p:spPr>
          <a:xfrm>
            <a:off x="841248" y="4370832"/>
            <a:ext cx="2971800" cy="420624"/>
          </a:xfrm>
          <a:prstGeom prst="roundRect">
            <a:avLst>
              <a:gd name="adj" fmla="val 50000"/>
            </a:avLst>
          </a:prstGeom>
          <a:solidFill>
            <a:srgbClr val="0D7490"/>
          </a:solidFill>
          <a:ln/>
        </p:spPr>
        <p:txBody>
          <a:bodyPr/>
          <a:p/>
        </p:txBody>
      </p:sp>
      <p:sp>
        <p:nvSpPr>
          <p:cNvPr id="7" name="Text 5"/>
          <p:cNvSpPr/>
          <p:nvPr/>
        </p:nvSpPr>
        <p:spPr>
          <a:xfrm>
            <a:off x="841248" y="4370832"/>
            <a:ext cx="2971800" cy="420624"/>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Helvetica Neue" pitchFamily="34" charset="0"/>
                <a:ea typeface="Helvetica Neue" pitchFamily="34" charset="-122"/>
                <a:cs typeface="Helvetica Neue" pitchFamily="34" charset="-120"/>
              </a:rPr>
              <a:t>2:50 – 3:00   ·   10 MIN</a:t>
            </a:r>
            <a:endParaRPr lang="en-US" sz="1050" dirty="0"/>
          </a:p>
        </p:txBody>
      </p:sp>
      <p:sp>
        <p:nvSpPr>
          <p:cNvPr id="8" name="Text 6"/>
          <p:cNvSpPr/>
          <p:nvPr/>
        </p:nvSpPr>
        <p:spPr>
          <a:xfrm>
            <a:off x="841248" y="5029200"/>
            <a:ext cx="6126480" cy="1005840"/>
          </a:xfrm>
          <a:prstGeom prst="rect">
            <a:avLst/>
          </a:prstGeom>
          <a:noFill/>
          <a:ln/>
        </p:spPr>
        <p:txBody>
          <a:bodyPr wrap="square" lIns="0" tIns="0" rIns="0" bIns="0" rtlCol="0" anchor="ctr"/>
          <a:lstStyle/>
          <a:p>
            <a:pPr indent="0" marL="0">
              <a:lnSpc>
                <a:spcPts val="2200"/>
              </a:lnSpc>
              <a:buNone/>
            </a:pPr>
            <a:r>
              <a:rPr lang="en-US" sz="1500" i="1" dirty="0">
                <a:solidFill>
                  <a:srgbClr val="6E6E73"/>
                </a:solidFill>
                <a:latin typeface="Helvetica Neue" pitchFamily="34" charset="0"/>
                <a:ea typeface="Helvetica Neue" pitchFamily="34" charset="-122"/>
                <a:cs typeface="Helvetica Neue" pitchFamily="34" charset="-120"/>
              </a:rPr>
              <a:t>Close the loop: what each student carries out, and what the team carries forward.</a:t>
            </a:r>
            <a:endParaRPr lang="en-US" sz="1500" dirty="0"/>
          </a:p>
        </p:txBody>
      </p:sp>
      <p:sp>
        <p:nvSpPr>
          <p:cNvPr id="9" name="Shape 7"/>
          <p:cNvSpPr/>
          <p:nvPr/>
        </p:nvSpPr>
        <p:spPr>
          <a:xfrm>
            <a:off x="822960" y="6437376"/>
            <a:ext cx="10545775" cy="0"/>
          </a:xfrm>
          <a:prstGeom prst="line">
            <a:avLst/>
          </a:prstGeom>
          <a:noFill/>
          <a:ln w="9525">
            <a:solidFill>
              <a:srgbClr val="E3E3E6"/>
            </a:solidFill>
            <a:prstDash val="solid"/>
          </a:ln>
        </p:spPr>
        <p:txBody>
          <a:bodyPr/>
          <a:p/>
        </p:txBody>
      </p:sp>
      <p:sp>
        <p:nvSpPr>
          <p:cNvPr id="10" name="Text 8"/>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1" name="Text 9"/>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25 / 29</a:t>
            </a:r>
            <a:endParaRPr lang="en-US" sz="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WRAP-UP &amp; HOMEWORK</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Before we meet again.</a:t>
            </a:r>
            <a:endParaRPr lang="en-US" sz="3000" dirty="0"/>
          </a:p>
        </p:txBody>
      </p:sp>
      <p:sp>
        <p:nvSpPr>
          <p:cNvPr id="4" name="Text 2"/>
          <p:cNvSpPr/>
          <p:nvPr/>
        </p:nvSpPr>
        <p:spPr>
          <a:xfrm>
            <a:off x="822960" y="1783080"/>
            <a:ext cx="4937760" cy="274320"/>
          </a:xfrm>
          <a:prstGeom prst="rect">
            <a:avLst/>
          </a:prstGeom>
          <a:noFill/>
          <a:ln/>
        </p:spPr>
        <p:txBody>
          <a:bodyPr wrap="square" lIns="0" tIns="0" rIns="0" bIns="0" rtlCol="0" anchor="ctr"/>
          <a:lstStyle/>
          <a:p>
            <a:pPr indent="0" marL="0">
              <a:buNone/>
            </a:pPr>
            <a:r>
              <a:rPr lang="en-US" sz="1050" b="1" spc="150" kern="0" dirty="0">
                <a:solidFill>
                  <a:srgbClr val="0D7490"/>
                </a:solidFill>
                <a:latin typeface="Helvetica Neue" pitchFamily="34" charset="0"/>
                <a:ea typeface="Helvetica Neue" pitchFamily="34" charset="-122"/>
                <a:cs typeface="Helvetica Neue" pitchFamily="34" charset="-120"/>
              </a:rPr>
              <a:t>EVERY STUDENT</a:t>
            </a:r>
            <a:endParaRPr lang="en-US" sz="1050" dirty="0"/>
          </a:p>
        </p:txBody>
      </p:sp>
      <p:sp>
        <p:nvSpPr>
          <p:cNvPr id="5" name="Shape 3"/>
          <p:cNvSpPr/>
          <p:nvPr/>
        </p:nvSpPr>
        <p:spPr>
          <a:xfrm>
            <a:off x="822960" y="2139696"/>
            <a:ext cx="347472" cy="347472"/>
          </a:xfrm>
          <a:prstGeom prst="ellipse">
            <a:avLst/>
          </a:prstGeom>
          <a:solidFill>
            <a:srgbClr val="EAF2F4"/>
          </a:solidFill>
          <a:ln/>
        </p:spPr>
        <p:txBody>
          <a:bodyPr/>
          <a:p/>
        </p:txBody>
      </p:sp>
      <p:sp>
        <p:nvSpPr>
          <p:cNvPr id="6" name="Text 4"/>
          <p:cNvSpPr/>
          <p:nvPr/>
        </p:nvSpPr>
        <p:spPr>
          <a:xfrm>
            <a:off x="822960" y="2139696"/>
            <a:ext cx="347472" cy="347472"/>
          </a:xfrm>
          <a:prstGeom prst="rect">
            <a:avLst/>
          </a:prstGeom>
          <a:noFill/>
          <a:ln/>
        </p:spPr>
        <p:txBody>
          <a:bodyPr wrap="square" lIns="0" tIns="0" rIns="0" bIns="0" rtlCol="0" anchor="ctr"/>
          <a:lstStyle/>
          <a:p>
            <a:pPr algn="ctr" indent="0" marL="0">
              <a:buNone/>
            </a:pPr>
            <a:r>
              <a:rPr lang="en-US" sz="1064" b="1" dirty="0">
                <a:solidFill>
                  <a:srgbClr val="0D7490"/>
                </a:solidFill>
                <a:latin typeface="Helvetica Neue" pitchFamily="34" charset="0"/>
                <a:ea typeface="Helvetica Neue" pitchFamily="34" charset="-122"/>
                <a:cs typeface="Helvetica Neue" pitchFamily="34" charset="-120"/>
              </a:rPr>
              <a:t>1</a:t>
            </a:r>
            <a:endParaRPr lang="en-US" sz="1064" dirty="0"/>
          </a:p>
        </p:txBody>
      </p:sp>
      <p:sp>
        <p:nvSpPr>
          <p:cNvPr id="7" name="Text 5"/>
          <p:cNvSpPr/>
          <p:nvPr/>
        </p:nvSpPr>
        <p:spPr>
          <a:xfrm>
            <a:off x="1298448" y="2084832"/>
            <a:ext cx="4480560" cy="640080"/>
          </a:xfrm>
          <a:prstGeom prst="rect">
            <a:avLst/>
          </a:prstGeom>
          <a:noFill/>
          <a:ln/>
        </p:spPr>
        <p:txBody>
          <a:bodyPr wrap="square" lIns="0" tIns="0" rIns="0" bIns="0" rtlCol="0" anchor="ctr"/>
          <a:lstStyle/>
          <a:p>
            <a:pPr indent="0" marL="0">
              <a:lnSpc>
                <a:spcPts val="1550"/>
              </a:lnSpc>
              <a:buNone/>
            </a:pPr>
            <a:r>
              <a:rPr lang="en-US" sz="1200" dirty="0">
                <a:solidFill>
                  <a:srgbClr val="1D1D1F"/>
                </a:solidFill>
                <a:latin typeface="Helvetica Neue" pitchFamily="34" charset="0"/>
                <a:ea typeface="Helvetica Neue" pitchFamily="34" charset="-122"/>
                <a:cs typeface="Helvetica Neue" pitchFamily="34" charset="-120"/>
              </a:rPr>
              <a:t>Know your role — be able to say it out loud and name what it owns.</a:t>
            </a:r>
            <a:endParaRPr lang="en-US" sz="1200" dirty="0"/>
          </a:p>
        </p:txBody>
      </p:sp>
      <p:sp>
        <p:nvSpPr>
          <p:cNvPr id="8" name="Shape 6"/>
          <p:cNvSpPr/>
          <p:nvPr/>
        </p:nvSpPr>
        <p:spPr>
          <a:xfrm>
            <a:off x="822960" y="2907792"/>
            <a:ext cx="347472" cy="347472"/>
          </a:xfrm>
          <a:prstGeom prst="ellipse">
            <a:avLst/>
          </a:prstGeom>
          <a:solidFill>
            <a:srgbClr val="EAF2F4"/>
          </a:solidFill>
          <a:ln/>
        </p:spPr>
        <p:txBody>
          <a:bodyPr/>
          <a:p/>
        </p:txBody>
      </p:sp>
      <p:sp>
        <p:nvSpPr>
          <p:cNvPr id="9" name="Text 7"/>
          <p:cNvSpPr/>
          <p:nvPr/>
        </p:nvSpPr>
        <p:spPr>
          <a:xfrm>
            <a:off x="822960" y="2907792"/>
            <a:ext cx="347472" cy="347472"/>
          </a:xfrm>
          <a:prstGeom prst="rect">
            <a:avLst/>
          </a:prstGeom>
          <a:noFill/>
          <a:ln/>
        </p:spPr>
        <p:txBody>
          <a:bodyPr wrap="square" lIns="0" tIns="0" rIns="0" bIns="0" rtlCol="0" anchor="ctr"/>
          <a:lstStyle/>
          <a:p>
            <a:pPr algn="ctr" indent="0" marL="0">
              <a:buNone/>
            </a:pPr>
            <a:r>
              <a:rPr lang="en-US" sz="1064" b="1" dirty="0">
                <a:solidFill>
                  <a:srgbClr val="0D7490"/>
                </a:solidFill>
                <a:latin typeface="Helvetica Neue" pitchFamily="34" charset="0"/>
                <a:ea typeface="Helvetica Neue" pitchFamily="34" charset="-122"/>
                <a:cs typeface="Helvetica Neue" pitchFamily="34" charset="-120"/>
              </a:rPr>
              <a:t>2</a:t>
            </a:r>
            <a:endParaRPr lang="en-US" sz="1064" dirty="0"/>
          </a:p>
        </p:txBody>
      </p:sp>
      <p:sp>
        <p:nvSpPr>
          <p:cNvPr id="10" name="Text 8"/>
          <p:cNvSpPr/>
          <p:nvPr/>
        </p:nvSpPr>
        <p:spPr>
          <a:xfrm>
            <a:off x="1298448" y="2852928"/>
            <a:ext cx="4480560" cy="640080"/>
          </a:xfrm>
          <a:prstGeom prst="rect">
            <a:avLst/>
          </a:prstGeom>
          <a:noFill/>
          <a:ln/>
        </p:spPr>
        <p:txBody>
          <a:bodyPr wrap="square" lIns="0" tIns="0" rIns="0" bIns="0" rtlCol="0" anchor="ctr"/>
          <a:lstStyle/>
          <a:p>
            <a:pPr indent="0" marL="0">
              <a:lnSpc>
                <a:spcPts val="1550"/>
              </a:lnSpc>
              <a:buNone/>
            </a:pPr>
            <a:r>
              <a:rPr lang="en-US" sz="1200" dirty="0">
                <a:solidFill>
                  <a:srgbClr val="1D1D1F"/>
                </a:solidFill>
                <a:latin typeface="Helvetica Neue" pitchFamily="34" charset="0"/>
                <a:ea typeface="Helvetica Neue" pitchFamily="34" charset="-122"/>
                <a:cs typeface="Helvetica Neue" pitchFamily="34" charset="-120"/>
              </a:rPr>
              <a:t>Watch the MATE pre-watch for Class 1.2: Using Tools and Soldering &amp; Waterproofing Wires.</a:t>
            </a:r>
            <a:endParaRPr lang="en-US" sz="1200" dirty="0"/>
          </a:p>
        </p:txBody>
      </p:sp>
      <p:sp>
        <p:nvSpPr>
          <p:cNvPr id="11" name="Shape 9"/>
          <p:cNvSpPr/>
          <p:nvPr/>
        </p:nvSpPr>
        <p:spPr>
          <a:xfrm>
            <a:off x="822960" y="3675888"/>
            <a:ext cx="347472" cy="347472"/>
          </a:xfrm>
          <a:prstGeom prst="ellipse">
            <a:avLst/>
          </a:prstGeom>
          <a:solidFill>
            <a:srgbClr val="EAF2F4"/>
          </a:solidFill>
          <a:ln/>
        </p:spPr>
        <p:txBody>
          <a:bodyPr/>
          <a:p/>
        </p:txBody>
      </p:sp>
      <p:sp>
        <p:nvSpPr>
          <p:cNvPr id="12" name="Text 10"/>
          <p:cNvSpPr/>
          <p:nvPr/>
        </p:nvSpPr>
        <p:spPr>
          <a:xfrm>
            <a:off x="822960" y="3675888"/>
            <a:ext cx="347472" cy="347472"/>
          </a:xfrm>
          <a:prstGeom prst="rect">
            <a:avLst/>
          </a:prstGeom>
          <a:noFill/>
          <a:ln/>
        </p:spPr>
        <p:txBody>
          <a:bodyPr wrap="square" lIns="0" tIns="0" rIns="0" bIns="0" rtlCol="0" anchor="ctr"/>
          <a:lstStyle/>
          <a:p>
            <a:pPr algn="ctr" indent="0" marL="0">
              <a:buNone/>
            </a:pPr>
            <a:r>
              <a:rPr lang="en-US" sz="1064" b="1" dirty="0">
                <a:solidFill>
                  <a:srgbClr val="0D7490"/>
                </a:solidFill>
                <a:latin typeface="Helvetica Neue" pitchFamily="34" charset="0"/>
                <a:ea typeface="Helvetica Neue" pitchFamily="34" charset="-122"/>
                <a:cs typeface="Helvetica Neue" pitchFamily="34" charset="-120"/>
              </a:rPr>
              <a:t>3</a:t>
            </a:r>
            <a:endParaRPr lang="en-US" sz="1064" dirty="0"/>
          </a:p>
        </p:txBody>
      </p:sp>
      <p:sp>
        <p:nvSpPr>
          <p:cNvPr id="13" name="Text 11"/>
          <p:cNvSpPr/>
          <p:nvPr/>
        </p:nvSpPr>
        <p:spPr>
          <a:xfrm>
            <a:off x="1298448" y="3621024"/>
            <a:ext cx="4480560" cy="640080"/>
          </a:xfrm>
          <a:prstGeom prst="rect">
            <a:avLst/>
          </a:prstGeom>
          <a:noFill/>
          <a:ln/>
        </p:spPr>
        <p:txBody>
          <a:bodyPr wrap="square" lIns="0" tIns="0" rIns="0" bIns="0" rtlCol="0" anchor="ctr"/>
          <a:lstStyle/>
          <a:p>
            <a:pPr indent="0" marL="0">
              <a:lnSpc>
                <a:spcPts val="1550"/>
              </a:lnSpc>
              <a:buNone/>
            </a:pPr>
            <a:r>
              <a:rPr lang="en-US" sz="1200" dirty="0">
                <a:solidFill>
                  <a:srgbClr val="1D1D1F"/>
                </a:solidFill>
                <a:latin typeface="Helvetica Neue" pitchFamily="34" charset="0"/>
                <a:ea typeface="Helvetica Neue" pitchFamily="34" charset="-122"/>
                <a:cs typeface="Helvetica Neue" pitchFamily="34" charset="-120"/>
              </a:rPr>
              <a:t>Bring closed-toe shoes — soldering irons are on the table next meeting.</a:t>
            </a:r>
            <a:endParaRPr lang="en-US" sz="1200" dirty="0"/>
          </a:p>
        </p:txBody>
      </p:sp>
      <p:sp>
        <p:nvSpPr>
          <p:cNvPr id="14" name="Text 12"/>
          <p:cNvSpPr/>
          <p:nvPr/>
        </p:nvSpPr>
        <p:spPr>
          <a:xfrm>
            <a:off x="822960" y="4572000"/>
            <a:ext cx="5120640" cy="274320"/>
          </a:xfrm>
          <a:prstGeom prst="rect">
            <a:avLst/>
          </a:prstGeom>
          <a:noFill/>
          <a:ln/>
        </p:spPr>
        <p:txBody>
          <a:bodyPr wrap="square" lIns="0" tIns="0" rIns="0" bIns="0" rtlCol="0" anchor="ctr"/>
          <a:lstStyle/>
          <a:p>
            <a:pPr indent="0" marL="0">
              <a:buNone/>
            </a:pPr>
            <a:r>
              <a:rPr lang="en-US" sz="1050" b="1" spc="100" kern="0" dirty="0">
                <a:solidFill>
                  <a:srgbClr val="0D7490"/>
                </a:solidFill>
                <a:latin typeface="Helvetica Neue" pitchFamily="34" charset="0"/>
                <a:ea typeface="Helvetica Neue" pitchFamily="34" charset="-122"/>
                <a:cs typeface="Helvetica Neue" pitchFamily="34" charset="-120"/>
              </a:rPr>
              <a:t>THE PARALLEL TRACK  ·  LEADS &amp; ADVISORS</a:t>
            </a:r>
            <a:endParaRPr lang="en-US" sz="1050" dirty="0"/>
          </a:p>
        </p:txBody>
      </p:sp>
      <p:sp>
        <p:nvSpPr>
          <p:cNvPr id="15" name="Text 13"/>
          <p:cNvSpPr/>
          <p:nvPr/>
        </p:nvSpPr>
        <p:spPr>
          <a:xfrm>
            <a:off x="822960" y="4882896"/>
            <a:ext cx="5029200" cy="1188720"/>
          </a:xfrm>
          <a:prstGeom prst="rect">
            <a:avLst/>
          </a:prstGeom>
          <a:noFill/>
          <a:ln/>
        </p:spPr>
        <p:txBody>
          <a:bodyPr wrap="square" lIns="0" tIns="0" rIns="0" bIns="0" rtlCol="0" anchor="ctr"/>
          <a:lstStyle/>
          <a:p>
            <a:pPr indent="0" marL="0">
              <a:lnSpc>
                <a:spcPts val="1600"/>
              </a:lnSpc>
              <a:buNone/>
            </a:pPr>
            <a:r>
              <a:rPr lang="en-US" sz="1150" dirty="0">
                <a:solidFill>
                  <a:srgbClr val="6E6E73"/>
                </a:solidFill>
                <a:latin typeface="Helvetica Neue" pitchFamily="34" charset="0"/>
                <a:ea typeface="Helvetica Neue" pitchFamily="34" charset="-122"/>
                <a:cs typeface="Helvetica Neue" pitchFamily="34" charset="-120"/>
              </a:rPr>
              <a:t>Pool access for the year. MATE registration, waivers, and insurance. The fundraising kickoff. This work runs quietly alongside the build — and it starts now.</a:t>
            </a:r>
            <a:endParaRPr lang="en-US" sz="1150" dirty="0"/>
          </a:p>
        </p:txBody>
      </p:sp>
      <p:sp>
        <p:nvSpPr>
          <p:cNvPr id="16" name="Shape 14"/>
          <p:cNvSpPr/>
          <p:nvPr/>
        </p:nvSpPr>
        <p:spPr>
          <a:xfrm>
            <a:off x="6263640" y="1783080"/>
            <a:ext cx="5102352" cy="4297680"/>
          </a:xfrm>
          <a:prstGeom prst="roundRect">
            <a:avLst>
              <a:gd name="adj" fmla="val 2340"/>
            </a:avLst>
          </a:prstGeom>
          <a:solidFill>
            <a:srgbClr val="0D7490"/>
          </a:solidFill>
          <a:ln w="12700">
            <a:solidFill>
              <a:srgbClr val="0D7490"/>
            </a:solidFill>
            <a:prstDash val="solid"/>
          </a:ln>
        </p:spPr>
        <p:txBody>
          <a:bodyPr/>
          <a:p/>
        </p:txBody>
      </p:sp>
      <p:sp>
        <p:nvSpPr>
          <p:cNvPr id="17" name="Text 15"/>
          <p:cNvSpPr/>
          <p:nvPr/>
        </p:nvSpPr>
        <p:spPr>
          <a:xfrm>
            <a:off x="6675120" y="2157984"/>
            <a:ext cx="4297680" cy="274320"/>
          </a:xfrm>
          <a:prstGeom prst="rect">
            <a:avLst/>
          </a:prstGeom>
          <a:noFill/>
          <a:ln/>
        </p:spPr>
        <p:txBody>
          <a:bodyPr wrap="square" lIns="0" tIns="0" rIns="0" bIns="0" rtlCol="0" anchor="ctr"/>
          <a:lstStyle/>
          <a:p>
            <a:pPr indent="0" marL="0">
              <a:buNone/>
            </a:pPr>
            <a:r>
              <a:rPr lang="en-US" sz="1100" b="1" spc="200" kern="0" dirty="0">
                <a:solidFill>
                  <a:srgbClr val="9FCEDA"/>
                </a:solidFill>
                <a:latin typeface="Helvetica Neue" pitchFamily="34" charset="0"/>
                <a:ea typeface="Helvetica Neue" pitchFamily="34" charset="-122"/>
                <a:cs typeface="Helvetica Neue" pitchFamily="34" charset="-120"/>
              </a:rPr>
              <a:t>NEXT MEETING  ·  WEEK 2</a:t>
            </a:r>
            <a:endParaRPr lang="en-US" sz="1100" dirty="0"/>
          </a:p>
        </p:txBody>
      </p:sp>
      <p:sp>
        <p:nvSpPr>
          <p:cNvPr id="18" name="Text 16"/>
          <p:cNvSpPr/>
          <p:nvPr/>
        </p:nvSpPr>
        <p:spPr>
          <a:xfrm>
            <a:off x="6675120" y="2487168"/>
            <a:ext cx="4297680" cy="1508760"/>
          </a:xfrm>
          <a:prstGeom prst="rect">
            <a:avLst/>
          </a:prstGeom>
          <a:noFill/>
          <a:ln/>
        </p:spPr>
        <p:txBody>
          <a:bodyPr wrap="square" lIns="0" tIns="0" rIns="0" bIns="0" rtlCol="0" anchor="ctr"/>
          <a:lstStyle/>
          <a:p>
            <a:pPr indent="0" marL="0">
              <a:lnSpc>
                <a:spcPts val="4200"/>
              </a:lnSpc>
              <a:buNone/>
            </a:pPr>
            <a:r>
              <a:rPr lang="en-US" sz="4000" b="1" dirty="0">
                <a:solidFill>
                  <a:srgbClr val="FFFFFF"/>
                </a:solidFill>
                <a:latin typeface="Helvetica Neue" pitchFamily="34" charset="0"/>
                <a:ea typeface="Helvetica Neue" pitchFamily="34" charset="-122"/>
                <a:cs typeface="Helvetica Neue" pitchFamily="34" charset="-120"/>
              </a:rPr>
              <a:t>Soldering</a:t>
            </a:r>
            <a:endParaRPr lang="en-US" sz="4000" dirty="0"/>
          </a:p>
          <a:p>
            <a:pPr indent="0" marL="0">
              <a:lnSpc>
                <a:spcPts val="4200"/>
              </a:lnSpc>
              <a:buNone/>
            </a:pPr>
            <a:r>
              <a:rPr lang="en-US" sz="4000" b="1" dirty="0">
                <a:solidFill>
                  <a:srgbClr val="FFFFFF"/>
                </a:solidFill>
                <a:latin typeface="Helvetica Neue" pitchFamily="34" charset="0"/>
                <a:ea typeface="Helvetica Neue" pitchFamily="34" charset="-122"/>
                <a:cs typeface="Helvetica Neue" pitchFamily="34" charset="-120"/>
              </a:rPr>
              <a:t>Bootcamp</a:t>
            </a:r>
            <a:endParaRPr lang="en-US" sz="4000" dirty="0"/>
          </a:p>
        </p:txBody>
      </p:sp>
      <p:sp>
        <p:nvSpPr>
          <p:cNvPr id="19" name="Shape 17"/>
          <p:cNvSpPr/>
          <p:nvPr/>
        </p:nvSpPr>
        <p:spPr>
          <a:xfrm>
            <a:off x="6675120" y="4114800"/>
            <a:ext cx="4251960" cy="0"/>
          </a:xfrm>
          <a:prstGeom prst="line">
            <a:avLst/>
          </a:prstGeom>
          <a:noFill/>
          <a:ln w="12700">
            <a:solidFill>
              <a:srgbClr val="3E7E91"/>
            </a:solidFill>
            <a:prstDash val="solid"/>
          </a:ln>
        </p:spPr>
        <p:txBody>
          <a:bodyPr/>
          <a:p/>
        </p:txBody>
      </p:sp>
      <p:sp>
        <p:nvSpPr>
          <p:cNvPr id="20" name="Text 18"/>
          <p:cNvSpPr/>
          <p:nvPr/>
        </p:nvSpPr>
        <p:spPr>
          <a:xfrm>
            <a:off x="6675120" y="4279392"/>
            <a:ext cx="4297680" cy="1554480"/>
          </a:xfrm>
          <a:prstGeom prst="rect">
            <a:avLst/>
          </a:prstGeom>
          <a:noFill/>
          <a:ln/>
        </p:spPr>
        <p:txBody>
          <a:bodyPr wrap="square" lIns="0" tIns="0" rIns="0" bIns="0" rtlCol="0" anchor="ctr"/>
          <a:lstStyle/>
          <a:p>
            <a:pPr indent="0" marL="0">
              <a:lnSpc>
                <a:spcPts val="1750"/>
              </a:lnSpc>
              <a:buNone/>
            </a:pPr>
            <a:r>
              <a:rPr lang="en-US" sz="1250" dirty="0">
                <a:solidFill>
                  <a:srgbClr val="EAF2F4"/>
                </a:solidFill>
                <a:latin typeface="Helvetica Neue" pitchFamily="34" charset="0"/>
                <a:ea typeface="Helvetica Neue" pitchFamily="34" charset="-122"/>
                <a:cs typeface="Helvetica Neue" pitchFamily="34" charset="-120"/>
              </a:rPr>
              <a:t>MATE teaches the concepts as pre-watch homework, so class time goes straight to the bench — every kid solders, and the Triggerfish comes out of the box.</a:t>
            </a:r>
            <a:endParaRPr lang="en-US" sz="1250" dirty="0"/>
          </a:p>
        </p:txBody>
      </p:sp>
      <p:sp>
        <p:nvSpPr>
          <p:cNvPr id="21" name="Shape 19"/>
          <p:cNvSpPr/>
          <p:nvPr/>
        </p:nvSpPr>
        <p:spPr>
          <a:xfrm>
            <a:off x="822960" y="6437376"/>
            <a:ext cx="10545775" cy="0"/>
          </a:xfrm>
          <a:prstGeom prst="line">
            <a:avLst/>
          </a:prstGeom>
          <a:noFill/>
          <a:ln w="9525">
            <a:solidFill>
              <a:srgbClr val="E3E3E6"/>
            </a:solidFill>
            <a:prstDash val="solid"/>
          </a:ln>
        </p:spPr>
        <p:txBody>
          <a:bodyPr/>
          <a:p/>
        </p:txBody>
      </p:sp>
      <p:sp>
        <p:nvSpPr>
          <p:cNvPr id="22" name="Text 20"/>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23" name="Text 21"/>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26 / 29</a:t>
            </a:r>
            <a:endParaRPr lang="en-US" sz="750" dirty="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30352"/>
            <a:ext cx="10515600" cy="292608"/>
          </a:xfrm>
          <a:prstGeom prst="rect">
            <a:avLst/>
          </a:prstGeom>
          <a:noFill/>
        </p:spPr>
        <p:txBody>
          <a:bodyPr wrap="square" lIns="0" rIns="0" tIns="0" bIns="0" anchor="t">
            <a:spAutoFit/>
          </a:bodyPr>
          <a:lstStyle/>
          <a:p>
            <a:pPr algn="l"/>
            <a:r>
              <a:rPr sz="1200" b="1" i="0" cap="all" spc="180">
                <a:solidFill>
                  <a:srgbClr val="0D7490"/>
                </a:solidFill>
                <a:latin typeface="Helvetica Neue"/>
              </a:rPr>
              <a:t>ACTION ITEMS</a:t>
            </a:r>
          </a:p>
        </p:txBody>
      </p:sp>
      <p:sp>
        <p:nvSpPr>
          <p:cNvPr id="3" name="TextBox 2"/>
          <p:cNvSpPr txBox="1"/>
          <p:nvPr/>
        </p:nvSpPr>
        <p:spPr>
          <a:xfrm>
            <a:off x="804672" y="822960"/>
            <a:ext cx="10515600" cy="868680"/>
          </a:xfrm>
          <a:prstGeom prst="rect">
            <a:avLst/>
          </a:prstGeom>
          <a:noFill/>
        </p:spPr>
        <p:txBody>
          <a:bodyPr wrap="square" lIns="0" rIns="0" tIns="0" bIns="0" anchor="t">
            <a:spAutoFit/>
          </a:bodyPr>
          <a:lstStyle/>
          <a:p>
            <a:pPr algn="l">
              <a:lnSpc>
                <a:spcPct val="105000"/>
              </a:lnSpc>
            </a:pPr>
            <a:r>
              <a:rPr sz="3000" b="1" i="0">
                <a:solidFill>
                  <a:srgbClr val="1D1D1F"/>
                </a:solidFill>
                <a:latin typeface="Helvetica Neue"/>
              </a:rPr>
              <a:t>What we decided. Who owns it. When it's due.</a:t>
            </a:r>
          </a:p>
        </p:txBody>
      </p:sp>
      <p:sp>
        <p:nvSpPr>
          <p:cNvPr id="4" name="TextBox 3"/>
          <p:cNvSpPr txBox="1"/>
          <p:nvPr/>
        </p:nvSpPr>
        <p:spPr>
          <a:xfrm>
            <a:off x="822960" y="1700784"/>
            <a:ext cx="10515600" cy="457200"/>
          </a:xfrm>
          <a:prstGeom prst="rect">
            <a:avLst/>
          </a:prstGeom>
          <a:noFill/>
        </p:spPr>
        <p:txBody>
          <a:bodyPr wrap="square" lIns="0" rIns="0" tIns="0" bIns="0" anchor="t">
            <a:spAutoFit/>
          </a:bodyPr>
          <a:lstStyle/>
          <a:p>
            <a:pPr algn="l"/>
            <a:r>
              <a:rPr sz="1400" b="0" i="1">
                <a:solidFill>
                  <a:srgbClr val="6E6E73"/>
                </a:solidFill>
                <a:latin typeface="Helvetica Neue"/>
              </a:rPr>
              <a:t>The Notetaker fills these in during the meeting and reads them back before we leave.</a:t>
            </a:r>
          </a:p>
        </p:txBody>
      </p:sp>
      <p:sp>
        <p:nvSpPr>
          <p:cNvPr id="5" name="Rectangle 4"/>
          <p:cNvSpPr/>
          <p:nvPr/>
        </p:nvSpPr>
        <p:spPr>
          <a:xfrm>
            <a:off x="822960" y="2423160"/>
            <a:ext cx="10543032" cy="384048"/>
          </a:xfrm>
          <a:prstGeom prst="rect">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2459736"/>
            <a:ext cx="5486400" cy="310896"/>
          </a:xfrm>
          <a:prstGeom prst="rect">
            <a:avLst/>
          </a:prstGeom>
          <a:noFill/>
        </p:spPr>
        <p:txBody>
          <a:bodyPr wrap="square" lIns="0" rIns="0" tIns="0" bIns="0" anchor="t">
            <a:spAutoFit/>
          </a:bodyPr>
          <a:lstStyle/>
          <a:p>
            <a:pPr algn="l"/>
            <a:r>
              <a:rPr sz="1000" b="1" i="0" cap="all" spc="180">
                <a:solidFill>
                  <a:srgbClr val="FFFFFF"/>
                </a:solidFill>
                <a:latin typeface="Helvetica Neue"/>
              </a:rPr>
              <a:t>ITEM</a:t>
            </a:r>
          </a:p>
        </p:txBody>
      </p:sp>
      <p:sp>
        <p:nvSpPr>
          <p:cNvPr id="7" name="TextBox 6"/>
          <p:cNvSpPr txBox="1"/>
          <p:nvPr/>
        </p:nvSpPr>
        <p:spPr>
          <a:xfrm>
            <a:off x="6784848" y="2459736"/>
            <a:ext cx="2011680" cy="310896"/>
          </a:xfrm>
          <a:prstGeom prst="rect">
            <a:avLst/>
          </a:prstGeom>
          <a:noFill/>
        </p:spPr>
        <p:txBody>
          <a:bodyPr wrap="square" lIns="0" rIns="0" tIns="0" bIns="0" anchor="t">
            <a:spAutoFit/>
          </a:bodyPr>
          <a:lstStyle/>
          <a:p>
            <a:pPr algn="l"/>
            <a:r>
              <a:rPr sz="1000" b="1" i="0" cap="all" spc="180">
                <a:solidFill>
                  <a:srgbClr val="FFFFFF"/>
                </a:solidFill>
                <a:latin typeface="Helvetica Neue"/>
              </a:rPr>
              <a:t>OWNER</a:t>
            </a:r>
          </a:p>
        </p:txBody>
      </p:sp>
      <p:sp>
        <p:nvSpPr>
          <p:cNvPr id="8" name="TextBox 7"/>
          <p:cNvSpPr txBox="1"/>
          <p:nvPr/>
        </p:nvSpPr>
        <p:spPr>
          <a:xfrm>
            <a:off x="9070848" y="2459736"/>
            <a:ext cx="2221992" cy="310896"/>
          </a:xfrm>
          <a:prstGeom prst="rect">
            <a:avLst/>
          </a:prstGeom>
          <a:noFill/>
        </p:spPr>
        <p:txBody>
          <a:bodyPr wrap="square" lIns="0" rIns="0" tIns="0" bIns="0" anchor="t">
            <a:spAutoFit/>
          </a:bodyPr>
          <a:lstStyle/>
          <a:p>
            <a:pPr algn="l"/>
            <a:r>
              <a:rPr sz="1000" b="1" i="0" cap="all" spc="180">
                <a:solidFill>
                  <a:srgbClr val="FFFFFF"/>
                </a:solidFill>
                <a:latin typeface="Helvetica Neue"/>
              </a:rPr>
              <a:t>DUE</a:t>
            </a:r>
          </a:p>
        </p:txBody>
      </p:sp>
      <p:cxnSp>
        <p:nvCxnSpPr>
          <p:cNvPr id="9" name="Connector 8"/>
          <p:cNvCxnSpPr/>
          <p:nvPr/>
        </p:nvCxnSpPr>
        <p:spPr>
          <a:xfrm>
            <a:off x="822960" y="3374136"/>
            <a:ext cx="10543032" cy="0"/>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583680" y="2807208"/>
            <a:ext cx="0" cy="566928"/>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869680" y="2807208"/>
            <a:ext cx="0" cy="566928"/>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24128" y="3209544"/>
            <a:ext cx="535838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784848" y="3209544"/>
            <a:ext cx="188366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070848" y="3209544"/>
            <a:ext cx="2093976"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22960" y="3941063"/>
            <a:ext cx="10543032" cy="0"/>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83680" y="3374136"/>
            <a:ext cx="0" cy="566927"/>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869680" y="3374136"/>
            <a:ext cx="0" cy="566927"/>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24128" y="3776472"/>
            <a:ext cx="535838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784848" y="3776472"/>
            <a:ext cx="188366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070848" y="3776472"/>
            <a:ext cx="2093976"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22960" y="4507992"/>
            <a:ext cx="10543032" cy="0"/>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583680" y="3941063"/>
            <a:ext cx="0" cy="566929"/>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869680" y="3941063"/>
            <a:ext cx="0" cy="566929"/>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24128" y="4343400"/>
            <a:ext cx="535838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784848" y="4343400"/>
            <a:ext cx="188366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070848" y="4343400"/>
            <a:ext cx="2093976"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22960" y="5074920"/>
            <a:ext cx="10543032" cy="0"/>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583680" y="4507992"/>
            <a:ext cx="0" cy="566928"/>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869680" y="4507992"/>
            <a:ext cx="0" cy="566928"/>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24128" y="4910328"/>
            <a:ext cx="535838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784848" y="4910328"/>
            <a:ext cx="188366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070848" y="4910328"/>
            <a:ext cx="2093976"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22960" y="5641848"/>
            <a:ext cx="10543032" cy="0"/>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583680" y="5074920"/>
            <a:ext cx="0" cy="566928"/>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869680" y="5074920"/>
            <a:ext cx="0" cy="566928"/>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024128" y="5477256"/>
            <a:ext cx="535838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784848" y="5477256"/>
            <a:ext cx="188366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070848" y="5477256"/>
            <a:ext cx="2093976"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41" name="TextBox 40"/>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1 — KICKOFF   ·   27 / 29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30352"/>
            <a:ext cx="10515600" cy="292608"/>
          </a:xfrm>
          <a:prstGeom prst="rect">
            <a:avLst/>
          </a:prstGeom>
          <a:noFill/>
        </p:spPr>
        <p:txBody>
          <a:bodyPr wrap="square" lIns="0" rIns="0" tIns="0" bIns="0" anchor="t">
            <a:spAutoFit/>
          </a:bodyPr>
          <a:lstStyle/>
          <a:p>
            <a:pPr algn="l"/>
            <a:r>
              <a:rPr sz="1200" b="1" i="0" cap="all" spc="180">
                <a:solidFill>
                  <a:srgbClr val="0D7490"/>
                </a:solidFill>
                <a:latin typeface="Helvetica Neue"/>
              </a:rPr>
              <a:t>BEFORE WE LEAVE</a:t>
            </a:r>
          </a:p>
        </p:txBody>
      </p:sp>
      <p:sp>
        <p:nvSpPr>
          <p:cNvPr id="3" name="TextBox 2"/>
          <p:cNvSpPr txBox="1"/>
          <p:nvPr/>
        </p:nvSpPr>
        <p:spPr>
          <a:xfrm>
            <a:off x="804672" y="822960"/>
            <a:ext cx="10515600" cy="868680"/>
          </a:xfrm>
          <a:prstGeom prst="rect">
            <a:avLst/>
          </a:prstGeom>
          <a:noFill/>
        </p:spPr>
        <p:txBody>
          <a:bodyPr wrap="square" lIns="0" rIns="0" tIns="0" bIns="0" anchor="t">
            <a:spAutoFit/>
          </a:bodyPr>
          <a:lstStyle/>
          <a:p>
            <a:pPr algn="l">
              <a:lnSpc>
                <a:spcPct val="105000"/>
              </a:lnSpc>
            </a:pPr>
            <a:r>
              <a:rPr sz="3000" b="1" i="0">
                <a:solidFill>
                  <a:srgbClr val="1D1D1F"/>
                </a:solidFill>
                <a:latin typeface="Helvetica Neue"/>
              </a:rPr>
              <a:t>Tools accounted for. Shop reset.</a:t>
            </a:r>
          </a:p>
        </p:txBody>
      </p:sp>
      <p:sp>
        <p:nvSpPr>
          <p:cNvPr id="4" name="TextBox 3"/>
          <p:cNvSpPr txBox="1"/>
          <p:nvPr/>
        </p:nvSpPr>
        <p:spPr>
          <a:xfrm>
            <a:off x="822960" y="1700784"/>
            <a:ext cx="10515600" cy="457200"/>
          </a:xfrm>
          <a:prstGeom prst="rect">
            <a:avLst/>
          </a:prstGeom>
          <a:noFill/>
        </p:spPr>
        <p:txBody>
          <a:bodyPr wrap="square" lIns="0" rIns="0" tIns="0" bIns="0" anchor="t">
            <a:spAutoFit/>
          </a:bodyPr>
          <a:lstStyle/>
          <a:p>
            <a:pPr algn="l"/>
            <a:r>
              <a:rPr sz="1400" b="0" i="1">
                <a:solidFill>
                  <a:srgbClr val="6E6E73"/>
                </a:solidFill>
                <a:latin typeface="Helvetica Neue"/>
              </a:rPr>
              <a:t>We do this together, every meeting. No exceptions — the Tool Steward leads.</a:t>
            </a:r>
          </a:p>
        </p:txBody>
      </p:sp>
      <p:sp>
        <p:nvSpPr>
          <p:cNvPr id="5" name="Rectangle 4"/>
          <p:cNvSpPr/>
          <p:nvPr/>
        </p:nvSpPr>
        <p:spPr>
          <a:xfrm>
            <a:off x="822960" y="2423160"/>
            <a:ext cx="310896" cy="310896"/>
          </a:xfrm>
          <a:prstGeom prst="rect">
            <a:avLst/>
          </a:prstGeom>
          <a:solidFill>
            <a:srgbClr val="FFFFFF"/>
          </a:solidFill>
          <a:ln w="12700">
            <a:solidFill>
              <a:srgbClr val="8686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08176" y="2404872"/>
            <a:ext cx="9957815" cy="402336"/>
          </a:xfrm>
          <a:prstGeom prst="rect">
            <a:avLst/>
          </a:prstGeom>
          <a:noFill/>
        </p:spPr>
        <p:txBody>
          <a:bodyPr wrap="square" lIns="0" rIns="0" tIns="0" bIns="0" anchor="ctr">
            <a:spAutoFit/>
          </a:bodyPr>
          <a:lstStyle/>
          <a:p>
            <a:pPr algn="l"/>
            <a:r>
              <a:rPr sz="1400" b="0" i="0">
                <a:solidFill>
                  <a:srgbClr val="1D1D1F"/>
                </a:solidFill>
                <a:latin typeface="Helvetica Neue"/>
              </a:rPr>
              <a:t>Soldering irons unplugged, cool, and put away.</a:t>
            </a:r>
          </a:p>
        </p:txBody>
      </p:sp>
      <p:sp>
        <p:nvSpPr>
          <p:cNvPr id="7" name="Rectangle 6"/>
          <p:cNvSpPr/>
          <p:nvPr/>
        </p:nvSpPr>
        <p:spPr>
          <a:xfrm>
            <a:off x="822960" y="2990088"/>
            <a:ext cx="310896" cy="310896"/>
          </a:xfrm>
          <a:prstGeom prst="rect">
            <a:avLst/>
          </a:prstGeom>
          <a:solidFill>
            <a:srgbClr val="FFFFFF"/>
          </a:solidFill>
          <a:ln w="12700">
            <a:solidFill>
              <a:srgbClr val="8686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08176" y="2971800"/>
            <a:ext cx="9957815" cy="402336"/>
          </a:xfrm>
          <a:prstGeom prst="rect">
            <a:avLst/>
          </a:prstGeom>
          <a:noFill/>
        </p:spPr>
        <p:txBody>
          <a:bodyPr wrap="square" lIns="0" rIns="0" tIns="0" bIns="0" anchor="ctr">
            <a:spAutoFit/>
          </a:bodyPr>
          <a:lstStyle/>
          <a:p>
            <a:pPr algn="l"/>
            <a:r>
              <a:rPr sz="1400" b="0" i="0">
                <a:solidFill>
                  <a:srgbClr val="1D1D1F"/>
                </a:solidFill>
                <a:latin typeface="Helvetica Neue"/>
              </a:rPr>
              <a:t>All hand tools and test equipment back in their bins.</a:t>
            </a:r>
          </a:p>
        </p:txBody>
      </p:sp>
      <p:sp>
        <p:nvSpPr>
          <p:cNvPr id="9" name="Rectangle 8"/>
          <p:cNvSpPr/>
          <p:nvPr/>
        </p:nvSpPr>
        <p:spPr>
          <a:xfrm>
            <a:off x="822960" y="3557015"/>
            <a:ext cx="310896" cy="310896"/>
          </a:xfrm>
          <a:prstGeom prst="rect">
            <a:avLst/>
          </a:prstGeom>
          <a:solidFill>
            <a:srgbClr val="FFFFFF"/>
          </a:solidFill>
          <a:ln w="12700">
            <a:solidFill>
              <a:srgbClr val="8686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8176" y="3538727"/>
            <a:ext cx="9957815" cy="402336"/>
          </a:xfrm>
          <a:prstGeom prst="rect">
            <a:avLst/>
          </a:prstGeom>
          <a:noFill/>
        </p:spPr>
        <p:txBody>
          <a:bodyPr wrap="square" lIns="0" rIns="0" tIns="0" bIns="0" anchor="ctr">
            <a:spAutoFit/>
          </a:bodyPr>
          <a:lstStyle/>
          <a:p>
            <a:pPr algn="l"/>
            <a:r>
              <a:rPr sz="1400" b="0" i="0">
                <a:solidFill>
                  <a:srgbClr val="1D1D1F"/>
                </a:solidFill>
                <a:latin typeface="Helvetica Neue"/>
              </a:rPr>
              <a:t>Batteries off charge; charger stations powered down.</a:t>
            </a:r>
          </a:p>
        </p:txBody>
      </p:sp>
      <p:sp>
        <p:nvSpPr>
          <p:cNvPr id="11" name="Rectangle 10"/>
          <p:cNvSpPr/>
          <p:nvPr/>
        </p:nvSpPr>
        <p:spPr>
          <a:xfrm>
            <a:off x="822960" y="4123944"/>
            <a:ext cx="310896" cy="310896"/>
          </a:xfrm>
          <a:prstGeom prst="rect">
            <a:avLst/>
          </a:prstGeom>
          <a:solidFill>
            <a:srgbClr val="FFFFFF"/>
          </a:solidFill>
          <a:ln w="12700">
            <a:solidFill>
              <a:srgbClr val="8686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08176" y="4105656"/>
            <a:ext cx="9957815" cy="402336"/>
          </a:xfrm>
          <a:prstGeom prst="rect">
            <a:avLst/>
          </a:prstGeom>
          <a:noFill/>
        </p:spPr>
        <p:txBody>
          <a:bodyPr wrap="square" lIns="0" rIns="0" tIns="0" bIns="0" anchor="ctr">
            <a:spAutoFit/>
          </a:bodyPr>
          <a:lstStyle/>
          <a:p>
            <a:pPr algn="l"/>
            <a:r>
              <a:rPr sz="1400" b="0" i="0">
                <a:solidFill>
                  <a:srgbClr val="1D1D1F"/>
                </a:solidFill>
                <a:latin typeface="Helvetica Neue"/>
              </a:rPr>
              <a:t>Workshop swept; benches wiped; trash out.</a:t>
            </a:r>
          </a:p>
        </p:txBody>
      </p:sp>
      <p:sp>
        <p:nvSpPr>
          <p:cNvPr id="13" name="Rectangle 12"/>
          <p:cNvSpPr/>
          <p:nvPr/>
        </p:nvSpPr>
        <p:spPr>
          <a:xfrm>
            <a:off x="822960" y="4690872"/>
            <a:ext cx="310896" cy="310896"/>
          </a:xfrm>
          <a:prstGeom prst="rect">
            <a:avLst/>
          </a:prstGeom>
          <a:solidFill>
            <a:srgbClr val="FFFFFF"/>
          </a:solidFill>
          <a:ln w="12700">
            <a:solidFill>
              <a:srgbClr val="8686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08176" y="4672584"/>
            <a:ext cx="9957815" cy="402336"/>
          </a:xfrm>
          <a:prstGeom prst="rect">
            <a:avLst/>
          </a:prstGeom>
          <a:noFill/>
        </p:spPr>
        <p:txBody>
          <a:bodyPr wrap="square" lIns="0" rIns="0" tIns="0" bIns="0" anchor="ctr">
            <a:spAutoFit/>
          </a:bodyPr>
          <a:lstStyle/>
          <a:p>
            <a:pPr algn="l"/>
            <a:r>
              <a:rPr sz="1400" b="0" i="0">
                <a:solidFill>
                  <a:srgbClr val="1D1D1F"/>
                </a:solidFill>
                <a:latin typeface="Helvetica Neue"/>
              </a:rPr>
              <a:t>Today's photos uploaded to the team folder.</a:t>
            </a:r>
          </a:p>
        </p:txBody>
      </p:sp>
      <p:sp>
        <p:nvSpPr>
          <p:cNvPr id="15" name="Rectangle 14"/>
          <p:cNvSpPr/>
          <p:nvPr/>
        </p:nvSpPr>
        <p:spPr>
          <a:xfrm>
            <a:off x="822960" y="5257800"/>
            <a:ext cx="310896" cy="310896"/>
          </a:xfrm>
          <a:prstGeom prst="rect">
            <a:avLst/>
          </a:prstGeom>
          <a:solidFill>
            <a:srgbClr val="FFFFFF"/>
          </a:solidFill>
          <a:ln w="12700">
            <a:solidFill>
              <a:srgbClr val="8686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08176" y="5239512"/>
            <a:ext cx="9957815" cy="402336"/>
          </a:xfrm>
          <a:prstGeom prst="rect">
            <a:avLst/>
          </a:prstGeom>
          <a:noFill/>
        </p:spPr>
        <p:txBody>
          <a:bodyPr wrap="square" lIns="0" rIns="0" tIns="0" bIns="0" anchor="ctr">
            <a:spAutoFit/>
          </a:bodyPr>
          <a:lstStyle/>
          <a:p>
            <a:pPr algn="l"/>
            <a:r>
              <a:rPr sz="1400" b="0" i="0">
                <a:solidFill>
                  <a:srgbClr val="1D1D1F"/>
                </a:solidFill>
                <a:latin typeface="Helvetica Neue"/>
              </a:rPr>
              <a:t>Notetaker's meeting notes filed with the CFO for the engineering notebook.</a:t>
            </a:r>
          </a:p>
        </p:txBody>
      </p:sp>
      <p:cxnSp>
        <p:nvCxnSpPr>
          <p:cNvPr id="17" name="Connector 16"/>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19" name="TextBox 18"/>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1 — KICKOFF   ·   28 / 29</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6">
    <p:bg>
      <p:bgPr>
        <a:solidFill>
          <a:srgbClr val="095D75"/>
        </a:solidFill>
      </p:bgPr>
    </p:bg>
    <p:spTree>
      <p:nvGrpSpPr>
        <p:cNvPr id="1" name=""/>
        <p:cNvGrpSpPr/>
        <p:nvPr/>
      </p:nvGrpSpPr>
      <p:grpSpPr>
        <a:xfrm>
          <a:off x="0" y="0"/>
          <a:ext cx="0" cy="0"/>
          <a:chOff x="0" y="0"/>
          <a:chExt cx="0" cy="0"/>
        </a:xfrm>
      </p:grpSpPr>
      <p:pic>
        <p:nvPicPr>
          <p:cNvPr id="2" name="Image 0" descr="/sessions/focused-friendly-goodall/mnt/SayWatt Website/assets/logo-emblem2.png"/>
          <p:cNvPicPr>
            <a:picLocks noChangeAspect="1"/>
          </p:cNvPicPr>
          <p:nvPr/>
        </p:nvPicPr>
        <p:blipFill>
          <a:blip r:embed="rId1"/>
          <a:stretch>
            <a:fillRect/>
          </a:stretch>
        </p:blipFill>
        <p:spPr>
          <a:xfrm>
            <a:off x="5570068" y="960120"/>
            <a:ext cx="1051560" cy="1051560"/>
          </a:xfrm>
          <a:prstGeom prst="rect">
            <a:avLst/>
          </a:prstGeom>
        </p:spPr>
      </p:pic>
      <p:sp>
        <p:nvSpPr>
          <p:cNvPr id="3" name="Text 0"/>
          <p:cNvSpPr/>
          <p:nvPr/>
        </p:nvSpPr>
        <p:spPr>
          <a:xfrm>
            <a:off x="0" y="2304288"/>
            <a:ext cx="12191695" cy="329184"/>
          </a:xfrm>
          <a:prstGeom prst="rect">
            <a:avLst/>
          </a:prstGeom>
          <a:noFill/>
          <a:ln/>
        </p:spPr>
        <p:txBody>
          <a:bodyPr wrap="square" lIns="0" tIns="0" rIns="0" bIns="0" rtlCol="0" anchor="ctr"/>
          <a:lstStyle/>
          <a:p>
            <a:pPr algn="ctr" indent="0" marL="0">
              <a:buNone/>
            </a:pPr>
            <a:r>
              <a:rPr lang="en-US" sz="1200" b="1" spc="350" kern="0" dirty="0">
                <a:solidFill>
                  <a:srgbClr val="9FCEDA"/>
                </a:solidFill>
                <a:latin typeface="Helvetica Neue" pitchFamily="34" charset="0"/>
                <a:ea typeface="Helvetica Neue" pitchFamily="34" charset="-122"/>
                <a:cs typeface="Helvetica Neue" pitchFamily="34" charset="-120"/>
              </a:rPr>
              <a:t>THE COMPANY EXISTS</a:t>
            </a:r>
            <a:endParaRPr lang="en-US" sz="1200" dirty="0"/>
          </a:p>
        </p:txBody>
      </p:sp>
      <p:sp>
        <p:nvSpPr>
          <p:cNvPr id="4" name="Text 1"/>
          <p:cNvSpPr/>
          <p:nvPr/>
        </p:nvSpPr>
        <p:spPr>
          <a:xfrm>
            <a:off x="0" y="2651760"/>
            <a:ext cx="12191695" cy="914400"/>
          </a:xfrm>
          <a:prstGeom prst="rect">
            <a:avLst/>
          </a:prstGeom>
          <a:noFill/>
          <a:ln/>
        </p:spPr>
        <p:txBody>
          <a:bodyPr wrap="square" lIns="0" tIns="0" rIns="0" bIns="0" rtlCol="0" anchor="ctr"/>
          <a:lstStyle/>
          <a:p>
            <a:pPr algn="ctr" indent="0" marL="0">
              <a:buNone/>
            </a:pPr>
            <a:r>
              <a:rPr lang="en-US" sz="4600" b="1" dirty="0">
                <a:solidFill>
                  <a:srgbClr val="FFFFFF"/>
                </a:solidFill>
                <a:latin typeface="Helvetica Neue" pitchFamily="34" charset="0"/>
                <a:ea typeface="Helvetica Neue" pitchFamily="34" charset="-122"/>
                <a:cs typeface="Helvetica Neue" pitchFamily="34" charset="-120"/>
              </a:rPr>
              <a:t>Now we build.</a:t>
            </a:r>
            <a:endParaRPr lang="en-US" sz="4600" dirty="0"/>
          </a:p>
        </p:txBody>
      </p:sp>
      <p:sp>
        <p:nvSpPr>
          <p:cNvPr id="5" name="Shape 2"/>
          <p:cNvSpPr/>
          <p:nvPr/>
        </p:nvSpPr>
        <p:spPr>
          <a:xfrm>
            <a:off x="5455768" y="3703320"/>
            <a:ext cx="1280160" cy="0"/>
          </a:xfrm>
          <a:prstGeom prst="line">
            <a:avLst/>
          </a:prstGeom>
          <a:noFill/>
          <a:ln w="12700">
            <a:solidFill>
              <a:srgbClr val="3E7E91"/>
            </a:solidFill>
            <a:prstDash val="solid"/>
          </a:ln>
        </p:spPr>
        <p:txBody>
          <a:bodyPr/>
          <a:p/>
        </p:txBody>
      </p:sp>
      <p:sp>
        <p:nvSpPr>
          <p:cNvPr id="6" name="Text 3"/>
          <p:cNvSpPr/>
          <p:nvPr/>
        </p:nvSpPr>
        <p:spPr>
          <a:xfrm>
            <a:off x="1371600" y="3950208"/>
            <a:ext cx="9448495" cy="914400"/>
          </a:xfrm>
          <a:prstGeom prst="rect">
            <a:avLst/>
          </a:prstGeom>
          <a:noFill/>
          <a:ln/>
        </p:spPr>
        <p:txBody>
          <a:bodyPr wrap="square" lIns="0" tIns="0" rIns="0" bIns="0" rtlCol="0" anchor="ctr"/>
          <a:lstStyle/>
          <a:p>
            <a:pPr algn="ctr" indent="0" marL="0">
              <a:lnSpc>
                <a:spcPts val="2200"/>
              </a:lnSpc>
              <a:buNone/>
            </a:pPr>
            <a:r>
              <a:rPr lang="en-US" sz="1500" i="1" dirty="0">
                <a:solidFill>
                  <a:srgbClr val="C9E3EA"/>
                </a:solidFill>
                <a:latin typeface="Helvetica Neue" pitchFamily="34" charset="0"/>
                <a:ea typeface="Helvetica Neue" pitchFamily="34" charset="-122"/>
                <a:cs typeface="Helvetica Neue" pitchFamily="34" charset="-120"/>
              </a:rPr>
              <a:t>By the end of July: a team that exists, a starter ROV in the water, and a room full of</a:t>
            </a:r>
            <a:endParaRPr lang="en-US" sz="1500" dirty="0"/>
          </a:p>
          <a:p>
            <a:pPr algn="ctr" indent="0" marL="0">
              <a:lnSpc>
                <a:spcPts val="2200"/>
              </a:lnSpc>
              <a:buNone/>
            </a:pPr>
            <a:r>
              <a:rPr lang="en-US" sz="1500" i="1" dirty="0">
                <a:solidFill>
                  <a:srgbClr val="C9E3EA"/>
                </a:solidFill>
                <a:latin typeface="Helvetica Neue" pitchFamily="34" charset="0"/>
                <a:ea typeface="Helvetica Neue" pitchFamily="34" charset="-122"/>
                <a:cs typeface="Helvetica Neue" pitchFamily="34" charset="-120"/>
              </a:rPr>
              <a:t>students who have soldered something real.</a:t>
            </a:r>
            <a:endParaRPr lang="en-US" sz="1500" dirty="0"/>
          </a:p>
        </p:txBody>
      </p:sp>
      <p:sp>
        <p:nvSpPr>
          <p:cNvPr id="7" name="Text 4"/>
          <p:cNvSpPr/>
          <p:nvPr/>
        </p:nvSpPr>
        <p:spPr>
          <a:xfrm>
            <a:off x="0" y="5897880"/>
            <a:ext cx="12191695" cy="310896"/>
          </a:xfrm>
          <a:prstGeom prst="rect">
            <a:avLst/>
          </a:prstGeom>
          <a:noFill/>
          <a:ln/>
        </p:spPr>
        <p:txBody>
          <a:bodyPr wrap="square" lIns="0" tIns="0" rIns="0" bIns="0" rtlCol="0" anchor="ctr"/>
          <a:lstStyle/>
          <a:p>
            <a:pPr algn="ctr" indent="0" marL="0">
              <a:buNone/>
            </a:pPr>
            <a:r>
              <a:rPr lang="en-US" sz="900" spc="200" kern="0" dirty="0">
                <a:solidFill>
                  <a:srgbClr val="6BA0AF"/>
                </a:solidFill>
                <a:latin typeface="Helvetica Neue" pitchFamily="34" charset="0"/>
                <a:ea typeface="Helvetica Neue" pitchFamily="34" charset="-122"/>
                <a:cs typeface="Helvetica Neue" pitchFamily="34" charset="-120"/>
              </a:rPr>
              <a:t>SAY WATT ROBOTICS  ·  ROV TEAM      |      NEXT MEETING — WEEK 2, SOLDERING BOOTCAMP</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ROV Team — Week 1: Kickoff</dc:title>
  <dc:subject>PptxGenJS Presentation</dc:subject>
  <dc:creator>Say Watt Robotics — ROV Team</dc:creator>
  <cp:lastModifiedBy>Say Watt Robotics — ROV Team</cp:lastModifiedBy>
  <cp:revision>1</cp:revision>
  <dcterms:created xsi:type="dcterms:W3CDTF">2026-05-25T21:02:30Z</dcterms:created>
  <dcterms:modified xsi:type="dcterms:W3CDTF">2026-05-25T21:02:30Z</dcterms:modified>
</cp:coreProperties>
</file>