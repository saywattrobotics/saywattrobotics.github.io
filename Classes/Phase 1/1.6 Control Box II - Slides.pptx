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high-stakes shift. 1.5 was practice on a real board. 1.6 closes the box and stages the smoke test. The discipline tonight is what protects 1.7's pool day.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agenda end-to-end. Call out the closing line — we do NOT power up today. Smoke test is at 1.7's pre-pool review.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the four roles. The Photographer matters tonight — the pre-power-up meter-check is photo gold for the engineering notebook. ~90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Standing ritual. Same as every week. The Safety Briefer runs it now if they're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standing format as 1.5. The new safety beat tonight is BATTERY STAYS OFF until the pre-power-up review. Hit that line twice — once in the brief, once at the start of section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Inventory what 1.5 closed. Name the open joints. Read the next block from the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this; spend the most time on the headline's verb.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 minutes hands on. Same build loop as 1.5: read, stage, solder, inspect, 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this; spend the most time on the headline's verb.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 wire AND tether termination. Polarity twice. Strain relief on every termination.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this; spend the most time on the headline's verb.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this; spend the most time on the headline's verb.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Fuse selection from measurement. This is the section that wins safety inspection in April.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this; spend the most time on the headline's verb.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Pre-power-up meter-check. Every pad. Three reads. Sign the board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this; spend the most time on the headline's verb.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Wrap-up. Pool prerequisites confirmed before we leave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student items. Confirm each has an owner. Hand off to the Notetaker for the action-items slide. Then the tool-checkout slide; Tool Steward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Notetaker fills these in live as decisions are made. Read back before the closer.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Steward leads. Every kid stays until the workshop is reset.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Dark slide. Read the statement, pause, read the summary. The kids should leave knowing the pool is next week.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 cap="all" spc="200">
                <a:solidFill>
                  <a:srgbClr val="9FCEDA"/>
                </a:solidFill>
                <a:latin typeface="Helvetica Neue"/>
              </a:rPr>
              <a:t>PHASE 1 —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6596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Helvetica Neue"/>
              </a:rPr>
              <a:t>Week 6 — Control Box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0" i="0">
                <a:solidFill>
                  <a:srgbClr val="C9E3EA"/>
                </a:solidFill>
                <a:latin typeface="Helvetica Neue"/>
              </a:rPr>
              <a:t>Finish the wiring. Build the power. Meter-check before the smoke.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10504" y="4480560"/>
            <a:ext cx="1371600" cy="0"/>
          </a:xfrm>
          <a:prstGeom prst="line">
            <a:avLst/>
          </a:prstGeom>
          <a:ln w="12700">
            <a:solidFill>
              <a:srgbClr val="6BA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461772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CEDA"/>
                </a:solidFill>
                <a:latin typeface="Helvetica Neue"/>
              </a:rPr>
              <a:t>Say Watt Robotics  ·  ROV Team  |  2026–2027 MATE ROV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cap="all" spc="180">
                <a:solidFill>
                  <a:srgbClr val="9FCEDA"/>
                </a:solidFill>
                <a:latin typeface="Helvetica Neue"/>
              </a:rPr>
              <a:t>MEETING 6   ·   THREE HOURS   ·   MADISON, ALABAMA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Three hours. Finish the box, build the power, ready to smoke-test.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7490"/>
                </a:solidFill>
                <a:latin typeface="Helvetica Neue"/>
              </a:rP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6596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Welcome &amp; Safety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96596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86868B"/>
                </a:solidFill>
                <a:latin typeface="Helvetica Neue"/>
              </a:rP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7490"/>
                </a:solidFill>
                <a:latin typeface="Helvetica Neue"/>
              </a:rPr>
              <a:t>0:15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50008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Where the Board Stands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35000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86868B"/>
                </a:solidFill>
                <a:latin typeface="Helvetica Neue"/>
              </a:rPr>
              <a:t>15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7490"/>
                </a:solidFill>
                <a:latin typeface="Helvetica Neue"/>
              </a:rP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34056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Finish the Control-Box Wiring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73405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86868B"/>
                </a:solidFill>
                <a:latin typeface="Helvetica Neue"/>
              </a:rPr>
              <a:t>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18104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7490"/>
                </a:solidFill>
                <a:latin typeface="Helvetica Neue"/>
              </a:rPr>
              <a:t>1:30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118104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1810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86868B"/>
                </a:solidFill>
                <a:latin typeface="Helvetica Neue"/>
              </a:rPr>
              <a:t>10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021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7490"/>
                </a:solidFill>
                <a:latin typeface="Helvetica Neue"/>
              </a:rPr>
              <a:t>1:40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0215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ROV Power Wire + Tether Connection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502152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86868B"/>
                </a:solidFill>
                <a:latin typeface="Helvetica Neue"/>
              </a:rPr>
              <a:t>45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7490"/>
                </a:solidFill>
                <a:latin typeface="Helvetica Neue"/>
              </a:rPr>
              <a:t>2:25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88620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Fuse Selection from Measured Full-Load Amps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88620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86868B"/>
                </a:solidFill>
                <a:latin typeface="Helvetica Neue"/>
              </a:rPr>
              <a:t>15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7024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7490"/>
                </a:solidFill>
                <a:latin typeface="Helvetica Neue"/>
              </a:rPr>
              <a:t>2:40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270248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Pre-Power-Up Meter-Check (Three Reads × Every Pad)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27024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86868B"/>
                </a:solidFill>
                <a:latin typeface="Helvetica Neue"/>
              </a:rPr>
              <a:t>20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5429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D7490"/>
                </a:solidFill>
                <a:latin typeface="Helvetica Neue"/>
              </a:rPr>
              <a:t>3:00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654296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Wrap-Up &amp; Homework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65429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86868B"/>
                </a:solidFill>
                <a:latin typeface="Helvetica Neue"/>
              </a:rPr>
              <a:t>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66944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6E6E73"/>
                </a:solidFill>
                <a:latin typeface="Helvetica Neue"/>
              </a:rPr>
              <a:t>We do NOT power the board up today. Smoke test waits for 1.7's pre-pool review.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TODAY'S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Four jobs. Four students. Different every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6E73"/>
                </a:solidFill>
                <a:latin typeface="Helvetica Neue"/>
              </a:rPr>
              <a:t>Every meeting we assign these four — by season's end, every student has done every job.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5074920" cy="178308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06039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 spc="180">
                <a:solidFill>
                  <a:srgbClr val="0D7490"/>
                </a:solidFill>
                <a:latin typeface="Helvetica Neue"/>
              </a:rPr>
              <a:t>NOTETAKER / 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08376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40">
                <a:solidFill>
                  <a:srgbClr val="86868B"/>
                </a:solidFill>
                <a:latin typeface="Helvetica Neue"/>
              </a:rPr>
              <a:t>TODAY:  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10711"/>
            <a:ext cx="443484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E6E73"/>
                </a:solidFill>
                <a:latin typeface="Helvetica Neue"/>
              </a:rPr>
              <a:t>Captures every decision, action item, and blocker. Files notes with the CFO for the engineering notebook.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331720"/>
            <a:ext cx="5074920" cy="178308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39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 spc="180">
                <a:solidFill>
                  <a:srgbClr val="0D7490"/>
                </a:solidFill>
                <a:latin typeface="Helvetica Neue"/>
              </a:rPr>
              <a:t>SAFETY BRIEFER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008376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40">
                <a:solidFill>
                  <a:srgbClr val="86868B"/>
                </a:solidFill>
                <a:latin typeface="Helvetica Neue"/>
              </a:rPr>
              <a:t>TODAY:  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410711"/>
            <a:ext cx="443484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E6E73"/>
                </a:solidFill>
                <a:latin typeface="Helvetica Neue"/>
              </a:rPr>
              <a:t>Delivers the standing four-question safety brief at the start of the meeting.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15968"/>
            <a:ext cx="5074920" cy="178308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90288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 spc="180">
                <a:solidFill>
                  <a:srgbClr val="0D7490"/>
                </a:solidFill>
                <a:latin typeface="Helvetica Neue"/>
              </a:rPr>
              <a:t>PHOTOGRAPHER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992624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40">
                <a:solidFill>
                  <a:srgbClr val="86868B"/>
                </a:solidFill>
                <a:latin typeface="Helvetica Neue"/>
              </a:rPr>
              <a:t>TODAY:  __________________________________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94959"/>
            <a:ext cx="443484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E6E73"/>
                </a:solidFill>
                <a:latin typeface="Helvetica Neue"/>
              </a:rPr>
              <a:t>Captures photos and short videos throughout — feeds the engineering notebook and the marketing display.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315968"/>
            <a:ext cx="5074920" cy="178308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590288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 spc="180">
                <a:solidFill>
                  <a:srgbClr val="0D7490"/>
                </a:solidFill>
                <a:latin typeface="Helvetica Neue"/>
              </a:rPr>
              <a:t>TIMEKEEPER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92624"/>
            <a:ext cx="4434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40">
                <a:solidFill>
                  <a:srgbClr val="86868B"/>
                </a:solidFill>
                <a:latin typeface="Helvetica Neue"/>
              </a:rPr>
              <a:t>TODAY:  __________________________________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394959"/>
            <a:ext cx="443484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E6E73"/>
                </a:solidFill>
                <a:latin typeface="Helvetica Neue"/>
              </a:rPr>
              <a:t>Holds the meeting to the agenda's clock. Calls the time at each block change.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65760" cy="36576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200">
                <a:solidFill>
                  <a:srgbClr val="0D7490"/>
                </a:solidFill>
                <a:latin typeface="Helvetica Neue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173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Welcome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Safety Brief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2743200" cy="365760"/>
          </a:xfrm>
          <a:prstGeom prst="round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cap="all" spc="150">
                <a:solidFill>
                  <a:srgbClr val="FFFFFF"/>
                </a:solidFill>
                <a:latin typeface="Helvetica Neue"/>
              </a:rPr>
              <a:t>0:00 – 0:15   ·   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E6E73"/>
                </a:solidFill>
                <a:latin typeface="Helvetica Neue"/>
              </a:rPr>
              <a:t>Same ritual every meeting. We get sharper at it; the kids start running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914400"/>
            <a:ext cx="5330952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0" b="1" i="0">
                <a:solidFill>
                  <a:srgbClr val="EEF0F1"/>
                </a:solidFill>
                <a:latin typeface="Helvetica Neue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THE STANDING RITUAL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Every meeting opens with a safety brief.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Why we do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57984"/>
            <a:ext cx="4800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Real engineering and dive teams brief safety before every job — not because they expect to fail, but because the discipline of asking the same four questions every time is what makes a team safe in the long run. We start the habit now, when the stakes are small, so it's automatic when they aren't.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334256"/>
            <a:ext cx="310896" cy="310896"/>
          </a:xfrm>
          <a:prstGeom prst="ellipse">
            <a:avLst/>
          </a:prstGeom>
          <a:solidFill>
            <a:srgbClr val="EA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3425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D7490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9768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Helvetica Neue"/>
              </a:rPr>
              <a:t>What are we doing today?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754880"/>
            <a:ext cx="310896" cy="310896"/>
          </a:xfrm>
          <a:prstGeom prst="ellipse">
            <a:avLst/>
          </a:prstGeom>
          <a:solidFill>
            <a:srgbClr val="EA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D7490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718304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Helvetica Neue"/>
              </a:rPr>
              <a:t>What could hurt someone?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175504"/>
            <a:ext cx="310896" cy="310896"/>
          </a:xfrm>
          <a:prstGeom prst="ellipse">
            <a:avLst/>
          </a:prstGeom>
          <a:solidFill>
            <a:srgbClr val="EA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755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D7490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38928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Helvetica Neue"/>
              </a:rPr>
              <a:t>How do we prevent it?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596128"/>
            <a:ext cx="310896" cy="310896"/>
          </a:xfrm>
          <a:prstGeom prst="ellipse">
            <a:avLst/>
          </a:prstGeom>
          <a:solidFill>
            <a:srgbClr val="EA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961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D7490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559552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Helvetica Neue"/>
              </a:rPr>
              <a:t>Who do we tell if something happens?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783080"/>
            <a:ext cx="5376672" cy="4370832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783080"/>
            <a:ext cx="5376672" cy="56692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1783080"/>
            <a:ext cx="53766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cap="all" spc="180">
                <a:solidFill>
                  <a:srgbClr val="FFFFFF"/>
                </a:solidFill>
                <a:latin typeface="Helvetica Neue"/>
              </a:rPr>
              <a:t>TODAY'S BRIEF  ·  MEETING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96312"/>
            <a:ext cx="46451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cap="all" spc="180">
                <a:solidFill>
                  <a:srgbClr val="0D7490"/>
                </a:solidFill>
                <a:latin typeface="Helvetica Neue"/>
              </a:rPr>
              <a:t>THE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15768"/>
            <a:ext cx="4645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Finish soldering the TriggerFish control box. Build the ROV power wire from battery to board. Terminate the tether at the control box.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18688"/>
            <a:ext cx="46451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cap="all" spc="180">
                <a:solidFill>
                  <a:srgbClr val="0D7490"/>
                </a:solidFill>
                <a:latin typeface="Helvetica Neue"/>
              </a:rPr>
              <a:t>THE HAZARDS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38144"/>
            <a:ext cx="4645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Same as 1.5 plus stripped-wire ends (sharp) and 12V DC at the power-wire end once the battery is connected. Battery is OFF during build.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941064"/>
            <a:ext cx="46451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cap="all" spc="180">
                <a:solidFill>
                  <a:srgbClr val="0D7490"/>
                </a:solidFill>
                <a:latin typeface="Helvetica Neue"/>
              </a:rPr>
              <a:t>PREVENTION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160520"/>
            <a:ext cx="4645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Battery stays disconnected until pre-power-up review. No exceptions. Same iron, glasses, fume, hand-wash rules as 1.5.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663440"/>
            <a:ext cx="46451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cap="all" spc="180">
                <a:solidFill>
                  <a:srgbClr val="0D7490"/>
                </a:solidFill>
                <a:latin typeface="Helvetica Neue"/>
              </a:rPr>
              <a:t>IF SOMETHING HAPPENS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882896"/>
            <a:ext cx="4645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Stop. Disconnect the battery first (if connected). Tell the advisor. Burns get cool water for 15 minutes; cuts get the first-aid kit.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385816"/>
            <a:ext cx="46451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cap="all" spc="180">
                <a:solidFill>
                  <a:srgbClr val="0D7490"/>
                </a:solidFill>
                <a:latin typeface="Helvetica Neue"/>
              </a:rPr>
              <a:t>LOOKING AHEAD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605272"/>
            <a:ext cx="4645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6E73"/>
                </a:solidFill>
                <a:latin typeface="Helvetica Neue"/>
              </a:rPr>
              <a:t>1.7 is the capsule build and first pool day. Pool prerequisites — lifeguard, swim checks, photo releases — get confirmed this week, not at the pool deck.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65760" cy="36576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200">
                <a:solidFill>
                  <a:srgbClr val="0D7490"/>
                </a:solidFill>
                <a:latin typeface="Helvetica Neue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173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Where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Board Stands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2743200" cy="365760"/>
          </a:xfrm>
          <a:prstGeom prst="round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cap="all" spc="150">
                <a:solidFill>
                  <a:srgbClr val="FFFFFF"/>
                </a:solidFill>
                <a:latin typeface="Helvetica Neue"/>
              </a:rPr>
              <a:t>0:15 – 0:30   ·   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E6E73"/>
                </a:solidFill>
                <a:latin typeface="Helvetica Neue"/>
              </a:rPr>
              <a:t>Inventory what 1.5 closed. Name the open joints. Read the next block from the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914400"/>
            <a:ext cx="5330952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0" b="1" i="0">
                <a:solidFill>
                  <a:srgbClr val="EEF0F1"/>
                </a:solidFill>
                <a:latin typeface="Helvetica Neue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TRIGGERFISH REV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Where 1.5 left us — and what's left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Coming out of 1.5 the board carries the fuse holder, the two 1000µF / 16V caps, the 3 A practice fuse, and the next block of components per the SeaMATE Guide. Every completed joint should be meter-checked from last week's discipline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06624"/>
            <a:ext cx="1051560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Tonight we close the remaining components on the control box itself, build the ROV power wire from battery to board, terminate the tether at the control box, and re-fuse the circuit to the measured full-load amps from the watt meter (the 3 A practice fuse comes out).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30168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6E73"/>
                </a:solidFill>
                <a:latin typeface="Helvetica Neue"/>
              </a:rPr>
              <a:t>We do NOT power the board up tonight. The smoke test waits for 1.7's pre-pool review. The reason is simple: every wiring fault we catch dry is one we don't catch wet.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65760" cy="36576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200">
                <a:solidFill>
                  <a:srgbClr val="0D7490"/>
                </a:solidFill>
                <a:latin typeface="Helvetica Neue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173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Finish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Control-Box Wiring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2743200" cy="365760"/>
          </a:xfrm>
          <a:prstGeom prst="round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cap="all" spc="150">
                <a:solidFill>
                  <a:srgbClr val="FFFFFF"/>
                </a:solidFill>
                <a:latin typeface="Helvetica Neue"/>
              </a:rPr>
              <a:t>0:30 – 1:30   ·   60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E6E73"/>
                </a:solidFill>
                <a:latin typeface="Helvetica Neue"/>
              </a:rPr>
              <a:t>Sixty minutes hands on. Same build loop as 1.5: read, stage, solder, inspect, meter.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914400"/>
            <a:ext cx="5330952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0" b="1" i="0">
                <a:solidFill>
                  <a:srgbClr val="EEF0F1"/>
                </a:solidFill>
                <a:latin typeface="Helvetica Neue"/>
              </a:rPr>
              <a:t>03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THE BUILD LOOP — UNCHANGED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Read the slide. Stage. Solder. Inspect. Meter.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6E73"/>
                </a:solidFill>
                <a:latin typeface="Helvetica Neue"/>
              </a:rPr>
              <a:t>Same loop as 1.5. We don't get ahead of the Guide.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343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Read the slide as a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06039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One reader, others listen. No iron picked up until the team agrees on what the slide is asking for.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10896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9067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Stage the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83279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Lay them out next to the board, oriented the way they'll go in. Polarity-sensitive parts marked clearly with a piece of tape or a label.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6791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Solder one at a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605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Whoever has the iron owns that joint. Others coach, photograph, or cue up the next component.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66344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451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Inspect and meter-check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937759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Shiny, smooth, concave. Continuity to the next pad in the circuit; no shorts to ground or neighboring pads.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440679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4067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42239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Move to the next slide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714999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Only when the current step passes inspection AND meter-check. The discipline is what gets us through inspection in April.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cap="all" spc="240">
                <a:solidFill>
                  <a:srgbClr val="9FCEDA"/>
                </a:solidFill>
                <a:latin typeface="Helvetica Neue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8892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Helvetica Neue"/>
              </a:rPr>
              <a:t>Ten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C9E3EA"/>
                </a:solidFill>
                <a:latin typeface="Helvetica Neue"/>
              </a:rPr>
              <a:t>We resume in ten — and, like always, we start on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cap="all" spc="180">
                <a:solidFill>
                  <a:srgbClr val="9FCEDA"/>
                </a:solidFill>
                <a:latin typeface="Helvetica Neue"/>
              </a:rPr>
              <a:t>SAY WATT ROBOTICS  ·  ROV TEAM      |      WEEK 6 — CONTROL BOX II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65760" cy="36576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200">
                <a:solidFill>
                  <a:srgbClr val="0D7490"/>
                </a:solidFill>
                <a:latin typeface="Helvetica Neue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173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Power Wire 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Tether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2743200" cy="365760"/>
          </a:xfrm>
          <a:prstGeom prst="round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cap="all" spc="150">
                <a:solidFill>
                  <a:srgbClr val="FFFFFF"/>
                </a:solidFill>
                <a:latin typeface="Helvetica Neue"/>
              </a:rPr>
              <a:t>1:40 – 2:25   ·   45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E6E73"/>
                </a:solidFill>
                <a:latin typeface="Helvetica Neue"/>
              </a:rPr>
              <a:t>From battery to board. From board to tether. Strain relief at every termination.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914400"/>
            <a:ext cx="5330952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0" b="1" i="0">
                <a:solidFill>
                  <a:srgbClr val="EEF0F1"/>
                </a:solidFill>
                <a:latin typeface="Helvetica Neue"/>
              </a:rPr>
              <a:t>04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THE POWER WIRE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Battery to board. Three things matter.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3331464" cy="329184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31720"/>
            <a:ext cx="2746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GAUGE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274624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Heavy enough to carry the measured full-load amps without voltage drop. The team's spec for the TriggerFish: 14 AWG silicone-jacketed, two conductors red/black, ring terminals at the battery 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8744" y="2011680"/>
            <a:ext cx="3331464" cy="329184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1352" y="2331720"/>
            <a:ext cx="2746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POLARITY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1352" y="2788920"/>
            <a:ext cx="274624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Red to positive, black to negative — at BOTH ends. Marked clearly. Reversed polarity at the board feeds the wrong rail and ends the night. Two people verify before commit.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4527" y="2011680"/>
            <a:ext cx="3331464" cy="329184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7135" y="2331720"/>
            <a:ext cx="2746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STRAIN RELIEF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135" y="2788920"/>
            <a:ext cx="274624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Heatshrink + cable tie at the board end. The wire must not be the load-bearing member if someone trips over it. Tape and zip ties as primary strain relief fail safety inspection in April.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THE TETHER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Pre-terminated. Strain relief at both ends.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5134355" cy="329184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31720"/>
            <a:ext cx="45491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CONTROL BOX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45491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Tether conductors terminate at the control box per the SeaMATE Guide. Each conductor is meter-checked end-to-end before the heatshrink goes on the splice.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2011680"/>
            <a:ext cx="5134355" cy="329184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4244" y="2331720"/>
            <a:ext cx="45491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ROV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244" y="2788920"/>
            <a:ext cx="45491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The other end gets terminated to the thrusters and cameras in 1.8. Tonight we land the control-box end and verify continuity through every conductor.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65760" cy="36576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200">
                <a:solidFill>
                  <a:srgbClr val="0D7490"/>
                </a:solidFill>
                <a:latin typeface="Helvetica Neue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173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The Fuse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Lives by Measurement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2743200" cy="365760"/>
          </a:xfrm>
          <a:prstGeom prst="round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cap="all" spc="150">
                <a:solidFill>
                  <a:srgbClr val="FFFFFF"/>
                </a:solidFill>
                <a:latin typeface="Helvetica Neue"/>
              </a:rPr>
              <a:t>2:25 – 2:40   ·   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E6E73"/>
                </a:solidFill>
                <a:latin typeface="Helvetica Neue"/>
              </a:rPr>
              <a:t>Watt meter reads the full-load amps. The fuse sizes one step above. That number lives in the engineering notebook.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914400"/>
            <a:ext cx="5330952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0" b="1" i="0">
                <a:solidFill>
                  <a:srgbClr val="EEF0F1"/>
                </a:solidFill>
                <a:latin typeface="Helvetica Neue"/>
              </a:rPr>
              <a:t>05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FUSE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Measure. Round up to the next blade size. Document.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6E73"/>
                </a:solidFill>
                <a:latin typeface="Helvetica Neue"/>
              </a:rPr>
              <a:t>MATE safety inspection asks for the FLA math. The team that has it cited from a measurement passes clean.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343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Measure full-load amps with the watt 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06039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Battery connected ONLY to the watt meter (not the board). All thrusters and electronics at simulated full-load if possible; if not, the highest measured draw from 1.5 / 1.6 stages plus a safety margin.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10896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9067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Round up to the next standard blade-fuse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83279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If measured FLA is 4.2 A, fuse at 5 A. If 7.1 A, fuse at 10 A. Standard blade sizes — 3 / 5 / 7.5 / 10 / 15 / 20 A. The 3 A practice fuse comes out tonight.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6791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Document in the engineering notebook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605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Measured FLA. Fuse size selected. Citation: ELEC-NRD-003 (the MATE rule that requires the fuse to be sized from measured draw, not guessed).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66344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451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Install and verify the new fuse seats cleanly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937759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New fuse in the holder. Multimeter continuity through the holder. Photograph the holder + the engineering-notebook entry side by side.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65760" cy="36576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200">
                <a:solidFill>
                  <a:srgbClr val="0D7490"/>
                </a:solidFill>
                <a:latin typeface="Helvetica Neue"/>
              </a:rP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173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Pre-Power-Up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Meter-Check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2743200" cy="365760"/>
          </a:xfrm>
          <a:prstGeom prst="round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cap="all" spc="150">
                <a:solidFill>
                  <a:srgbClr val="FFFFFF"/>
                </a:solidFill>
                <a:latin typeface="Helvetica Neue"/>
              </a:rPr>
              <a:t>2:40 – 3:00   ·   20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E6E73"/>
                </a:solidFill>
                <a:latin typeface="Helvetica Neue"/>
              </a:rPr>
              <a:t>Every pad. Three reads. Sign the board off before we leave.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914400"/>
            <a:ext cx="5330952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0" b="1" i="0">
                <a:solidFill>
                  <a:srgbClr val="EEF0F1"/>
                </a:solidFill>
                <a:latin typeface="Helvetica Neue"/>
              </a:rPr>
              <a:t>06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THE THREE READS — EVERY PAD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If we miss a short tonight, we find it the loud way next week.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9339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Continuity from every pad to its intended next pad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Walk the schematic with the multimeter. Every connection on the slide gets a beep at the bench. Silence means re-route or re-flow.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8892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7063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No shorts to ground or to neighboring pads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632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Probe every pad against ground and against immediate neighbors. Beep here means a solder bridge — fix it tonight.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56616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4787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Polarity confirmed at the power-wire termination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4048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Red to positive rail. Black to negative rail. Eyes on the board, eyes on the Guide, eyes on the wire. Three references; one orientation.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343400"/>
            <a:ext cx="384048" cy="384048"/>
          </a:xfrm>
          <a:prstGeom prst="ellipse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2511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Helvetica Neue"/>
              </a:rPr>
              <a:t>Sign the board off in the engineering notebook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177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Whoever did the final meter-check signs the page. Date, time, results. That signature is the answer when a judge asks 'who verified this?' in April.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65760" cy="36576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200">
                <a:solidFill>
                  <a:srgbClr val="0D7490"/>
                </a:solidFill>
                <a:latin typeface="Helvetica Neue"/>
              </a:rP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173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Wrap-Up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1D1F"/>
                </a:solidFill>
                <a:latin typeface="Helvetica Neue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2743200" cy="365760"/>
          </a:xfrm>
          <a:prstGeom prst="round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cap="all" spc="150">
                <a:solidFill>
                  <a:srgbClr val="FFFFFF"/>
                </a:solidFill>
                <a:latin typeface="Helvetica Neue"/>
              </a:rPr>
              <a:t>3:00 – 3:00   ·   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E6E73"/>
                </a:solidFill>
                <a:latin typeface="Helvetica Neue"/>
              </a:rPr>
              <a:t>Capture what we decided. Close the loop. Hand off the next move.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914400"/>
            <a:ext cx="5330952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0" b="1" i="0">
                <a:solidFill>
                  <a:srgbClr val="EEF0F1"/>
                </a:solidFill>
                <a:latin typeface="Helvetica Neue"/>
              </a:rPr>
              <a:t>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WRAP-UP &amp;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Before we meet again.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 spc="180">
                <a:solidFill>
                  <a:srgbClr val="0D7490"/>
                </a:solidFill>
                <a:latin typeface="Helvetica Neue"/>
              </a:rPr>
              <a:t>EVERY STUDENT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310896" cy="310896"/>
          </a:xfrm>
          <a:prstGeom prst="ellipse">
            <a:avLst/>
          </a:prstGeom>
          <a:solidFill>
            <a:srgbClr val="EA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D7490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21992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D1D1F"/>
                </a:solidFill>
                <a:latin typeface="Helvetica Neue"/>
              </a:rPr>
              <a:t>Pool prerequisites for 1.7 — confirm with your parents that your photo-release form is signed and your swim-comfort form is on file. We do not get in the water without both.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08960"/>
            <a:ext cx="310896" cy="310896"/>
          </a:xfrm>
          <a:prstGeom prst="ellipse">
            <a:avLst/>
          </a:prstGeom>
          <a:solidFill>
            <a:srgbClr val="EA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D7490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90672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D1D1F"/>
                </a:solidFill>
                <a:latin typeface="Helvetica Neue"/>
              </a:rPr>
              <a:t>Re-read the SeaMATE Guide sections on capsule construction. The kit doesn't come with capsules — we build them in 1.7.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977640"/>
            <a:ext cx="310896" cy="310896"/>
          </a:xfrm>
          <a:prstGeom prst="ellipse">
            <a:avLst/>
          </a:prstGeom>
          <a:solidFill>
            <a:srgbClr val="EA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7764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D7490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59352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D1D1F"/>
                </a:solidFill>
                <a:latin typeface="Helvetica Neue"/>
              </a:rPr>
              <a:t>Bring closed-toe shoes AND a towel + change of clothes next week. The capsule drop is on a pool deck.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5376672" cy="150876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 spc="180">
                <a:solidFill>
                  <a:srgbClr val="0D7490"/>
                </a:solidFill>
                <a:latin typeface="Helvetica Neue"/>
              </a:rPr>
              <a:t>THE PARALLEL TRACK  ·  LEADS &amp; ADVISORS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40280"/>
            <a:ext cx="48463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E73"/>
                </a:solidFill>
                <a:latin typeface="Helvetica Neue"/>
              </a:rPr>
              <a:t>Advisors: confirm lifeguard coverage, host pool rules in writing, photo releases returned for every kid expected in frame. These are the gating items for 1.7 — without any one of them, the pool day slips a week.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474720"/>
            <a:ext cx="5376672" cy="2286000"/>
          </a:xfrm>
          <a:prstGeom prst="rect">
            <a:avLst/>
          </a:prstGeom>
          <a:solidFill>
            <a:srgbClr val="FBFBFD"/>
          </a:solidFill>
          <a:ln w="9525">
            <a:solidFill>
              <a:srgbClr val="E3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5661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 spc="180">
                <a:solidFill>
                  <a:srgbClr val="0D7490"/>
                </a:solidFill>
                <a:latin typeface="Helvetica Neue"/>
              </a:rPr>
              <a:t>NEXT MEETING  ·  WEEK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8862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1D1F"/>
                </a:solidFill>
                <a:latin typeface="Helvetica Neue"/>
              </a:rPr>
              <a:t>Capsule Build &amp; First Splash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6634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6E6E73"/>
                </a:solidFill>
                <a:latin typeface="Helvetica Neue"/>
              </a:rPr>
              <a:t>Build the watertight capsules — PVC, end caps, O-rings, marine epoxy. Pool deck. Every kid in the water. Capsule drop #1: assemble dry, drop wet, retrieve, check the towel inside, log the result.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ACTION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What we decided. Who owns it. When it's due.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6E73"/>
                </a:solidFill>
                <a:latin typeface="Helvetica Neue"/>
              </a:rPr>
              <a:t>The Notetaker fills these in during the meeting and reads them back before we leave.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10543032" cy="384048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459736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 spc="180">
                <a:solidFill>
                  <a:srgbClr val="FFFFFF"/>
                </a:solidFill>
                <a:latin typeface="Helvetica Neue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459736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 spc="180">
                <a:solidFill>
                  <a:srgbClr val="FFFFFF"/>
                </a:solidFill>
                <a:latin typeface="Helvetica Neue"/>
              </a:rP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0848" y="2459736"/>
            <a:ext cx="2221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cap="all" spc="180">
                <a:solidFill>
                  <a:srgbClr val="FFFFFF"/>
                </a:solidFill>
                <a:latin typeface="Helvetica Neue"/>
              </a:rPr>
              <a:t>DUE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374136"/>
            <a:ext cx="10543032" cy="0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2807208"/>
            <a:ext cx="0" cy="566928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69680" y="2807208"/>
            <a:ext cx="0" cy="566928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4128" y="3209544"/>
            <a:ext cx="5358384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84848" y="3209544"/>
            <a:ext cx="1883664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70848" y="3209544"/>
            <a:ext cx="2093976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" y="3941063"/>
            <a:ext cx="10543032" cy="0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3374136"/>
            <a:ext cx="0" cy="566927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69680" y="3374136"/>
            <a:ext cx="0" cy="566927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4128" y="3776472"/>
            <a:ext cx="5358384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84848" y="3776472"/>
            <a:ext cx="1883664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70848" y="3776472"/>
            <a:ext cx="2093976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" y="4507992"/>
            <a:ext cx="10543032" cy="0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0" y="3941063"/>
            <a:ext cx="0" cy="566929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69680" y="3941063"/>
            <a:ext cx="0" cy="566929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4128" y="4343400"/>
            <a:ext cx="5358384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784848" y="4343400"/>
            <a:ext cx="1883664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70848" y="4343400"/>
            <a:ext cx="2093976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" y="5074920"/>
            <a:ext cx="10543032" cy="0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83680" y="4507992"/>
            <a:ext cx="0" cy="566928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69680" y="4507992"/>
            <a:ext cx="0" cy="566928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4128" y="4910328"/>
            <a:ext cx="5358384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84848" y="4910328"/>
            <a:ext cx="1883664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70848" y="4910328"/>
            <a:ext cx="2093976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2960" y="5641848"/>
            <a:ext cx="10543032" cy="0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583680" y="5074920"/>
            <a:ext cx="0" cy="566928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869680" y="5074920"/>
            <a:ext cx="0" cy="566928"/>
          </a:xfrm>
          <a:prstGeom prst="line">
            <a:avLst/>
          </a:prstGeom>
          <a:ln w="6350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4128" y="5477256"/>
            <a:ext cx="5358384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84848" y="5477256"/>
            <a:ext cx="1883664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70848" y="5477256"/>
            <a:ext cx="2093976" cy="0"/>
          </a:xfrm>
          <a:prstGeom prst="line">
            <a:avLst/>
          </a:prstGeom>
          <a:ln w="444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cap="all" spc="180">
                <a:solidFill>
                  <a:srgbClr val="0D7490"/>
                </a:solidFill>
                <a:latin typeface="Helvetica Neue"/>
              </a:rPr>
              <a:t>BEFORE WE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8229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1F"/>
                </a:solidFill>
                <a:latin typeface="Helvetica Neue"/>
              </a:rPr>
              <a:t>Tools accounted for. Shop reset.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6E73"/>
                </a:solidFill>
                <a:latin typeface="Helvetica Neue"/>
              </a:rPr>
              <a:t>We do this together, every meeting. No exceptions — the Tool Steward leads.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2404872"/>
            <a:ext cx="9957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Soldering irons unplugged, cool, and put away.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90088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2971800"/>
            <a:ext cx="9957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Control box secured in its tray; power wire and tether coiled neatly beside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557015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3538727"/>
            <a:ext cx="9957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Battery STILL DISCONNECTED — confirmed by two people before leaving the room.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2394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8176" y="4105656"/>
            <a:ext cx="9957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Multimeter and watt meter back in their cases.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690872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8176" y="4672584"/>
            <a:ext cx="9957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Workshop swept; benches wiped; sharps disposed.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2578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8176" y="5239512"/>
            <a:ext cx="9957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Today's photos uploaded to the team folder.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824727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8686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08176" y="5806440"/>
            <a:ext cx="995781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Notetaker's meeting notes filed with the CFO for the engineering notebook.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6437376"/>
            <a:ext cx="10543032" cy="0"/>
          </a:xfrm>
          <a:prstGeom prst="line">
            <a:avLst/>
          </a:prstGeom>
          <a:ln w="9525">
            <a:solidFill>
              <a:srgbClr val="E3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SAY WATT ROBOTICS  ·  ROV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9592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 cap="all" spc="180">
                <a:solidFill>
                  <a:srgbClr val="86868B"/>
                </a:solidFill>
                <a:latin typeface="Helvetica Neue"/>
              </a:rPr>
              <a:t>WEEK 6 — CONTROL BOX II   ·   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cap="all" spc="240">
                <a:solidFill>
                  <a:srgbClr val="9FCEDA"/>
                </a:solidFill>
                <a:latin typeface="Helvetica Neue"/>
              </a:rPr>
              <a:t>THE BOARD IS DONE. THE BOX IS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Helvetica Neue"/>
              </a:rPr>
              <a:t>Next week, the capsules — and the pool.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1">
                <a:solidFill>
                  <a:srgbClr val="C9E3EA"/>
                </a:solidFill>
                <a:latin typeface="Helvetica Neue"/>
              </a:rPr>
              <a:t>Smoke test happens during 1.7's pre-pool review. If the meter-check holds, we power up and we drop the first capsule the same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cap="all" spc="180">
                <a:solidFill>
                  <a:srgbClr val="9FCEDA"/>
                </a:solidFill>
                <a:latin typeface="Helvetica Neue"/>
              </a:rPr>
              <a:t>SAY WATT ROBOTICS  ·  ROV TEAM      |      NEXT MEETING — WEEK 7, CAPSULE BUILD &amp; FIRST SPLASH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