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frame: tonight is the bridge between practice and the real thing. The kids should hear 'we earned this' explicitly. Run the title slide for ~30 seconds, then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agenda end-to-end. Call out that the break sits between the where-we-pick-up brief and the hands-on block on purpose — kids should be fresh before they touch the real board. ~60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the four roles RIGHT NOW. Names on the slide. The Notetaker carries the action-items slide later — they need to know they're on the clock. ~90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Standing ritual. Hand off to the kids if they're ready; you read it once if 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Either you deliver this or the assigned Safety Briefer does — choose at the top of the meeting. Move through the four standing questions, then the today's-brief card. Slow down on PREVENTION; the back-of-board heat hazard is the one new solderers forget.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02 — the PufferFish. Hold the practice-board metaphor: low stakes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03 — picking up the TriggerFish where 1.3 left off. iPad with the Guide should already be queued.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04 — the next block of components. This is the longest hands-on stretch; let the kids own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05 — meter-check discipline. Don't let this slide get skipped. Three reads,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spend the most time on the headline's verb.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06 — wrap-up. Capture what we decided; close the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three student items out loud. Confirm each item has an owner. Hand off to the Notetaker for the action-items slide; they read what they captured and you confirm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Notetaker fills these in live as decisions are made. Read back before the closer.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Steward leads. Every kid stays until the workshop is reset.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Dark slide. Read the statement, pause, read the italic summary. Don't add commentary — the kids should leave on the line, not on your gloss. ~30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095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463040"/>
            <a:ext cx="12191695" cy="411480"/>
          </a:xfrm>
          <a:prstGeom prst="rect">
            <a:avLst/>
          </a:prstGeom>
          <a:noFill/>
        </p:spPr>
        <p:txBody>
          <a:bodyPr wrap="square" lIns="0" rIns="0" tIns="0" bIns="0" anchor="t">
            <a:spAutoFit/>
          </a:bodyPr>
          <a:lstStyle/>
          <a:p>
            <a:pPr algn="ctr"/>
            <a:r>
              <a:rPr sz="1250" b="1" i="0" cap="all" spc="200">
                <a:solidFill>
                  <a:srgbClr val="9FCEDA"/>
                </a:solidFill>
                <a:latin typeface="Helvetica Neue"/>
              </a:rPr>
              <a:t>PHASE 1 — FOUNDATION</a:t>
            </a:r>
          </a:p>
        </p:txBody>
      </p:sp>
      <p:sp>
        <p:nvSpPr>
          <p:cNvPr id="6" name="TextBox 5"/>
          <p:cNvSpPr txBox="1"/>
          <p:nvPr/>
        </p:nvSpPr>
        <p:spPr>
          <a:xfrm>
            <a:off x="0" y="1965960"/>
            <a:ext cx="12191695" cy="1371600"/>
          </a:xfrm>
          <a:prstGeom prst="rect">
            <a:avLst/>
          </a:prstGeom>
          <a:noFill/>
        </p:spPr>
        <p:txBody>
          <a:bodyPr wrap="square" lIns="0" rIns="0" tIns="0" bIns="0" anchor="t">
            <a:spAutoFit/>
          </a:bodyPr>
          <a:lstStyle/>
          <a:p>
            <a:pPr algn="ctr">
              <a:lnSpc>
                <a:spcPct val="100000"/>
              </a:lnSpc>
            </a:pPr>
            <a:r>
              <a:rPr sz="5600" b="1" i="0">
                <a:solidFill>
                  <a:srgbClr val="FFFFFF"/>
                </a:solidFill>
                <a:latin typeface="Helvetica Neue"/>
              </a:rPr>
              <a:t>Week 5 — Control Box I</a:t>
            </a:r>
          </a:p>
        </p:txBody>
      </p:sp>
      <p:sp>
        <p:nvSpPr>
          <p:cNvPr id="7" name="TextBox 6"/>
          <p:cNvSpPr txBox="1"/>
          <p:nvPr/>
        </p:nvSpPr>
        <p:spPr>
          <a:xfrm>
            <a:off x="0" y="3703320"/>
            <a:ext cx="12191695" cy="457200"/>
          </a:xfrm>
          <a:prstGeom prst="rect">
            <a:avLst/>
          </a:prstGeom>
          <a:noFill/>
        </p:spPr>
        <p:txBody>
          <a:bodyPr wrap="square" lIns="0" rIns="0" tIns="0" bIns="0" anchor="t">
            <a:spAutoFit/>
          </a:bodyPr>
          <a:lstStyle/>
          <a:p>
            <a:pPr algn="ctr"/>
            <a:r>
              <a:rPr sz="2300" b="0" i="0">
                <a:solidFill>
                  <a:srgbClr val="C9E3EA"/>
                </a:solidFill>
                <a:latin typeface="Helvetica Neue"/>
              </a:rPr>
              <a:t>PufferFish first. Then we touch the real board.</a:t>
            </a:r>
          </a:p>
        </p:txBody>
      </p:sp>
      <p:cxnSp>
        <p:nvCxnSpPr>
          <p:cNvPr id="8" name="Connector 7"/>
          <p:cNvCxnSpPr/>
          <p:nvPr/>
        </p:nvCxnSpPr>
        <p:spPr>
          <a:xfrm>
            <a:off x="5410504" y="4480560"/>
            <a:ext cx="1371600" cy="0"/>
          </a:xfrm>
          <a:prstGeom prst="line">
            <a:avLst/>
          </a:prstGeom>
          <a:ln w="12700">
            <a:solidFill>
              <a:srgbClr val="6BA0A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0" y="4617720"/>
            <a:ext cx="12191695" cy="274320"/>
          </a:xfrm>
          <a:prstGeom prst="rect">
            <a:avLst/>
          </a:prstGeom>
          <a:noFill/>
        </p:spPr>
        <p:txBody>
          <a:bodyPr wrap="square" lIns="0" rIns="0" tIns="0" bIns="0" anchor="t">
            <a:spAutoFit/>
          </a:bodyPr>
          <a:lstStyle/>
          <a:p>
            <a:pPr algn="ctr"/>
            <a:r>
              <a:rPr sz="1200" b="0" i="0">
                <a:solidFill>
                  <a:srgbClr val="9FCEDA"/>
                </a:solidFill>
                <a:latin typeface="Helvetica Neue"/>
              </a:rPr>
              <a:t>Say Watt Robotics  ·  ROV Team  |  2026–2027 MATE ROV Season</a:t>
            </a:r>
          </a:p>
        </p:txBody>
      </p:sp>
      <p:sp>
        <p:nvSpPr>
          <p:cNvPr id="10" name="TextBox 9"/>
          <p:cNvSpPr txBox="1"/>
          <p:nvPr/>
        </p:nvSpPr>
        <p:spPr>
          <a:xfrm>
            <a:off x="0" y="6355080"/>
            <a:ext cx="12191695" cy="274320"/>
          </a:xfrm>
          <a:prstGeom prst="rect">
            <a:avLst/>
          </a:prstGeom>
          <a:noFill/>
        </p:spPr>
        <p:txBody>
          <a:bodyPr wrap="square" lIns="0" rIns="0" tIns="0" bIns="0" anchor="t">
            <a:spAutoFit/>
          </a:bodyPr>
          <a:lstStyle/>
          <a:p>
            <a:pPr algn="ctr"/>
            <a:r>
              <a:rPr sz="900" b="1" i="0" cap="all" spc="180">
                <a:solidFill>
                  <a:srgbClr val="9FCEDA"/>
                </a:solidFill>
                <a:latin typeface="Helvetica Neue"/>
              </a:rPr>
              <a:t>MEETING 5   ·   THREE HOURS   ·   MADISON, ALABAMA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AGENDA</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Three hours. Practice board, then the real board.</a:t>
            </a:r>
          </a:p>
        </p:txBody>
      </p:sp>
      <p:sp>
        <p:nvSpPr>
          <p:cNvPr id="6" name="TextBox 5"/>
          <p:cNvSpPr txBox="1"/>
          <p:nvPr/>
        </p:nvSpPr>
        <p:spPr>
          <a:xfrm>
            <a:off x="822960" y="1965960"/>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0:00</a:t>
            </a:r>
          </a:p>
        </p:txBody>
      </p:sp>
      <p:sp>
        <p:nvSpPr>
          <p:cNvPr id="7" name="TextBox 6"/>
          <p:cNvSpPr txBox="1"/>
          <p:nvPr/>
        </p:nvSpPr>
        <p:spPr>
          <a:xfrm>
            <a:off x="2468880" y="1965960"/>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Welcome &amp; Safety Brief</a:t>
            </a:r>
          </a:p>
        </p:txBody>
      </p:sp>
      <p:sp>
        <p:nvSpPr>
          <p:cNvPr id="8" name="TextBox 7"/>
          <p:cNvSpPr txBox="1"/>
          <p:nvPr/>
        </p:nvSpPr>
        <p:spPr>
          <a:xfrm>
            <a:off x="9144000" y="1965960"/>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9" name="TextBox 8"/>
          <p:cNvSpPr txBox="1"/>
          <p:nvPr/>
        </p:nvSpPr>
        <p:spPr>
          <a:xfrm>
            <a:off x="822960" y="2350008"/>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0:15</a:t>
            </a:r>
          </a:p>
        </p:txBody>
      </p:sp>
      <p:sp>
        <p:nvSpPr>
          <p:cNvPr id="10" name="TextBox 9"/>
          <p:cNvSpPr txBox="1"/>
          <p:nvPr/>
        </p:nvSpPr>
        <p:spPr>
          <a:xfrm>
            <a:off x="2468880" y="2350008"/>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The PufferFish — Practice Board Brief</a:t>
            </a:r>
          </a:p>
        </p:txBody>
      </p:sp>
      <p:sp>
        <p:nvSpPr>
          <p:cNvPr id="11" name="TextBox 10"/>
          <p:cNvSpPr txBox="1"/>
          <p:nvPr/>
        </p:nvSpPr>
        <p:spPr>
          <a:xfrm>
            <a:off x="9144000" y="2350008"/>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12" name="TextBox 11"/>
          <p:cNvSpPr txBox="1"/>
          <p:nvPr/>
        </p:nvSpPr>
        <p:spPr>
          <a:xfrm>
            <a:off x="822960" y="2734056"/>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0:30</a:t>
            </a:r>
          </a:p>
        </p:txBody>
      </p:sp>
      <p:sp>
        <p:nvSpPr>
          <p:cNvPr id="13" name="TextBox 12"/>
          <p:cNvSpPr txBox="1"/>
          <p:nvPr/>
        </p:nvSpPr>
        <p:spPr>
          <a:xfrm>
            <a:off x="2468880" y="2734056"/>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PufferFish — Hands On</a:t>
            </a:r>
          </a:p>
        </p:txBody>
      </p:sp>
      <p:sp>
        <p:nvSpPr>
          <p:cNvPr id="14" name="TextBox 13"/>
          <p:cNvSpPr txBox="1"/>
          <p:nvPr/>
        </p:nvSpPr>
        <p:spPr>
          <a:xfrm>
            <a:off x="9144000" y="2734056"/>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45 min</a:t>
            </a:r>
          </a:p>
        </p:txBody>
      </p:sp>
      <p:sp>
        <p:nvSpPr>
          <p:cNvPr id="15" name="TextBox 14"/>
          <p:cNvSpPr txBox="1"/>
          <p:nvPr/>
        </p:nvSpPr>
        <p:spPr>
          <a:xfrm>
            <a:off x="822960" y="3118104"/>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1:15</a:t>
            </a:r>
          </a:p>
        </p:txBody>
      </p:sp>
      <p:sp>
        <p:nvSpPr>
          <p:cNvPr id="16" name="TextBox 15"/>
          <p:cNvSpPr txBox="1"/>
          <p:nvPr/>
        </p:nvSpPr>
        <p:spPr>
          <a:xfrm>
            <a:off x="2468880" y="3118104"/>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The TriggerFish REV 4 — Where We Pick Up</a:t>
            </a:r>
          </a:p>
        </p:txBody>
      </p:sp>
      <p:sp>
        <p:nvSpPr>
          <p:cNvPr id="17" name="TextBox 16"/>
          <p:cNvSpPr txBox="1"/>
          <p:nvPr/>
        </p:nvSpPr>
        <p:spPr>
          <a:xfrm>
            <a:off x="9144000" y="3118104"/>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18" name="TextBox 17"/>
          <p:cNvSpPr txBox="1"/>
          <p:nvPr/>
        </p:nvSpPr>
        <p:spPr>
          <a:xfrm>
            <a:off x="822960" y="3502152"/>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1:30</a:t>
            </a:r>
          </a:p>
        </p:txBody>
      </p:sp>
      <p:sp>
        <p:nvSpPr>
          <p:cNvPr id="19" name="TextBox 18"/>
          <p:cNvSpPr txBox="1"/>
          <p:nvPr/>
        </p:nvSpPr>
        <p:spPr>
          <a:xfrm>
            <a:off x="2468880" y="3502152"/>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Break</a:t>
            </a:r>
          </a:p>
        </p:txBody>
      </p:sp>
      <p:sp>
        <p:nvSpPr>
          <p:cNvPr id="20" name="TextBox 19"/>
          <p:cNvSpPr txBox="1"/>
          <p:nvPr/>
        </p:nvSpPr>
        <p:spPr>
          <a:xfrm>
            <a:off x="9144000" y="3502152"/>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10 min</a:t>
            </a:r>
          </a:p>
        </p:txBody>
      </p:sp>
      <p:sp>
        <p:nvSpPr>
          <p:cNvPr id="21" name="TextBox 20"/>
          <p:cNvSpPr txBox="1"/>
          <p:nvPr/>
        </p:nvSpPr>
        <p:spPr>
          <a:xfrm>
            <a:off x="822960" y="3886200"/>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1:40</a:t>
            </a:r>
          </a:p>
        </p:txBody>
      </p:sp>
      <p:sp>
        <p:nvSpPr>
          <p:cNvPr id="22" name="TextBox 21"/>
          <p:cNvSpPr txBox="1"/>
          <p:nvPr/>
        </p:nvSpPr>
        <p:spPr>
          <a:xfrm>
            <a:off x="2468880" y="3886200"/>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TriggerFish — Next Block of Components</a:t>
            </a:r>
          </a:p>
        </p:txBody>
      </p:sp>
      <p:sp>
        <p:nvSpPr>
          <p:cNvPr id="23" name="TextBox 22"/>
          <p:cNvSpPr txBox="1"/>
          <p:nvPr/>
        </p:nvSpPr>
        <p:spPr>
          <a:xfrm>
            <a:off x="9144000" y="3886200"/>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50 min</a:t>
            </a:r>
          </a:p>
        </p:txBody>
      </p:sp>
      <p:sp>
        <p:nvSpPr>
          <p:cNvPr id="24" name="TextBox 23"/>
          <p:cNvSpPr txBox="1"/>
          <p:nvPr/>
        </p:nvSpPr>
        <p:spPr>
          <a:xfrm>
            <a:off x="822960" y="4270248"/>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2:30</a:t>
            </a:r>
          </a:p>
        </p:txBody>
      </p:sp>
      <p:sp>
        <p:nvSpPr>
          <p:cNvPr id="25" name="TextBox 24"/>
          <p:cNvSpPr txBox="1"/>
          <p:nvPr/>
        </p:nvSpPr>
        <p:spPr>
          <a:xfrm>
            <a:off x="2468880" y="4270248"/>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Meter-Check Discipline</a:t>
            </a:r>
          </a:p>
        </p:txBody>
      </p:sp>
      <p:sp>
        <p:nvSpPr>
          <p:cNvPr id="26" name="TextBox 25"/>
          <p:cNvSpPr txBox="1"/>
          <p:nvPr/>
        </p:nvSpPr>
        <p:spPr>
          <a:xfrm>
            <a:off x="9144000" y="4270248"/>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27" name="TextBox 26"/>
          <p:cNvSpPr txBox="1"/>
          <p:nvPr/>
        </p:nvSpPr>
        <p:spPr>
          <a:xfrm>
            <a:off x="822960" y="4654296"/>
            <a:ext cx="1463040" cy="384048"/>
          </a:xfrm>
          <a:prstGeom prst="rect">
            <a:avLst/>
          </a:prstGeom>
          <a:noFill/>
        </p:spPr>
        <p:txBody>
          <a:bodyPr wrap="square" lIns="0" rIns="0" tIns="0" bIns="0" anchor="t">
            <a:spAutoFit/>
          </a:bodyPr>
          <a:lstStyle/>
          <a:p>
            <a:pPr algn="l"/>
            <a:r>
              <a:rPr sz="1400" b="1" i="0">
                <a:solidFill>
                  <a:srgbClr val="0D7490"/>
                </a:solidFill>
                <a:latin typeface="Helvetica Neue"/>
              </a:rPr>
              <a:t>2:45</a:t>
            </a:r>
          </a:p>
        </p:txBody>
      </p:sp>
      <p:sp>
        <p:nvSpPr>
          <p:cNvPr id="28" name="TextBox 27"/>
          <p:cNvSpPr txBox="1"/>
          <p:nvPr/>
        </p:nvSpPr>
        <p:spPr>
          <a:xfrm>
            <a:off x="2468880" y="4654296"/>
            <a:ext cx="6858000" cy="384048"/>
          </a:xfrm>
          <a:prstGeom prst="rect">
            <a:avLst/>
          </a:prstGeom>
          <a:noFill/>
        </p:spPr>
        <p:txBody>
          <a:bodyPr wrap="square" lIns="0" rIns="0" tIns="0" bIns="0" anchor="t">
            <a:spAutoFit/>
          </a:bodyPr>
          <a:lstStyle/>
          <a:p>
            <a:pPr algn="l"/>
            <a:r>
              <a:rPr sz="1400" b="0" i="0">
                <a:solidFill>
                  <a:srgbClr val="1D1D1F"/>
                </a:solidFill>
                <a:latin typeface="Helvetica Neue"/>
              </a:rPr>
              <a:t>Wrap-Up &amp; Homework</a:t>
            </a:r>
          </a:p>
        </p:txBody>
      </p:sp>
      <p:sp>
        <p:nvSpPr>
          <p:cNvPr id="29" name="TextBox 28"/>
          <p:cNvSpPr txBox="1"/>
          <p:nvPr/>
        </p:nvSpPr>
        <p:spPr>
          <a:xfrm>
            <a:off x="9144000" y="4654296"/>
            <a:ext cx="2194560" cy="384048"/>
          </a:xfrm>
          <a:prstGeom prst="rect">
            <a:avLst/>
          </a:prstGeom>
          <a:noFill/>
        </p:spPr>
        <p:txBody>
          <a:bodyPr wrap="square" lIns="0" rIns="0" tIns="0" bIns="0" anchor="t">
            <a:spAutoFit/>
          </a:bodyPr>
          <a:lstStyle/>
          <a:p>
            <a:pPr algn="r"/>
            <a:r>
              <a:rPr sz="1300" b="0" i="0">
                <a:solidFill>
                  <a:srgbClr val="86868B"/>
                </a:solidFill>
                <a:latin typeface="Helvetica Neue"/>
              </a:rPr>
              <a:t>15 min</a:t>
            </a:r>
          </a:p>
        </p:txBody>
      </p:sp>
      <p:sp>
        <p:nvSpPr>
          <p:cNvPr id="30" name="TextBox 29"/>
          <p:cNvSpPr txBox="1"/>
          <p:nvPr/>
        </p:nvSpPr>
        <p:spPr>
          <a:xfrm>
            <a:off x="822960" y="5266944"/>
            <a:ext cx="10515600" cy="502920"/>
          </a:xfrm>
          <a:prstGeom prst="rect">
            <a:avLst/>
          </a:prstGeom>
          <a:noFill/>
        </p:spPr>
        <p:txBody>
          <a:bodyPr wrap="square" lIns="0" rIns="0" tIns="0" bIns="0" anchor="t">
            <a:spAutoFit/>
          </a:bodyPr>
          <a:lstStyle/>
          <a:p>
            <a:pPr algn="l"/>
            <a:r>
              <a:rPr sz="1250" b="0" i="1">
                <a:solidFill>
                  <a:srgbClr val="6E6E73"/>
                </a:solidFill>
                <a:latin typeface="Helvetica Neue"/>
              </a:rPr>
              <a:t>We run on time. Every block has a clock, and we hold to it — that habit is part of the engineering.</a:t>
            </a:r>
          </a:p>
        </p:txBody>
      </p:sp>
      <p:cxnSp>
        <p:nvCxnSpPr>
          <p:cNvPr id="31" name="Connector 3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33" name="TextBox 3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TODAY'S ROLES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Four jobs. Four students. Different every week.</a:t>
            </a:r>
          </a:p>
        </p:txBody>
      </p:sp>
      <p:sp>
        <p:nvSpPr>
          <p:cNvPr id="6" name="TextBox 5"/>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Every meeting we assign these four — by season's end, every student has done every job.</a:t>
            </a:r>
          </a:p>
        </p:txBody>
      </p:sp>
      <p:sp>
        <p:nvSpPr>
          <p:cNvPr id="7" name="Rectangle 6"/>
          <p:cNvSpPr/>
          <p:nvPr/>
        </p:nvSpPr>
        <p:spPr>
          <a:xfrm>
            <a:off x="82296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NOTETAKER / SCRIBE</a:t>
            </a:r>
          </a:p>
        </p:txBody>
      </p:sp>
      <p:sp>
        <p:nvSpPr>
          <p:cNvPr id="9" name="TextBox 8"/>
          <p:cNvSpPr txBox="1"/>
          <p:nvPr/>
        </p:nvSpPr>
        <p:spPr>
          <a:xfrm>
            <a:off x="114300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0" name="TextBox 9"/>
          <p:cNvSpPr txBox="1"/>
          <p:nvPr/>
        </p:nvSpPr>
        <p:spPr>
          <a:xfrm>
            <a:off x="114300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every decision, action item, and blocker. Files notes with the CFO for the engineering notebook.</a:t>
            </a:r>
          </a:p>
        </p:txBody>
      </p:sp>
      <p:sp>
        <p:nvSpPr>
          <p:cNvPr id="11" name="Rectangle 10"/>
          <p:cNvSpPr/>
          <p:nvPr/>
        </p:nvSpPr>
        <p:spPr>
          <a:xfrm>
            <a:off x="6126480" y="2331720"/>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606039"/>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SAFETY BRIEFER</a:t>
            </a:r>
          </a:p>
        </p:txBody>
      </p:sp>
      <p:sp>
        <p:nvSpPr>
          <p:cNvPr id="13" name="TextBox 12"/>
          <p:cNvSpPr txBox="1"/>
          <p:nvPr/>
        </p:nvSpPr>
        <p:spPr>
          <a:xfrm>
            <a:off x="6446520" y="3008376"/>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4" name="TextBox 13"/>
          <p:cNvSpPr txBox="1"/>
          <p:nvPr/>
        </p:nvSpPr>
        <p:spPr>
          <a:xfrm>
            <a:off x="6446520" y="3410711"/>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Delivers the standing four-question safety brief at the start of the meeting.</a:t>
            </a:r>
          </a:p>
        </p:txBody>
      </p:sp>
      <p:sp>
        <p:nvSpPr>
          <p:cNvPr id="15" name="Rectangle 14"/>
          <p:cNvSpPr/>
          <p:nvPr/>
        </p:nvSpPr>
        <p:spPr>
          <a:xfrm>
            <a:off x="82296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PHOTOGRAPHER</a:t>
            </a:r>
          </a:p>
        </p:txBody>
      </p:sp>
      <p:sp>
        <p:nvSpPr>
          <p:cNvPr id="17" name="TextBox 16"/>
          <p:cNvSpPr txBox="1"/>
          <p:nvPr/>
        </p:nvSpPr>
        <p:spPr>
          <a:xfrm>
            <a:off x="114300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18" name="TextBox 17"/>
          <p:cNvSpPr txBox="1"/>
          <p:nvPr/>
        </p:nvSpPr>
        <p:spPr>
          <a:xfrm>
            <a:off x="114300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Captures photos and short videos throughout — feeds the engineering notebook and the marketing display.</a:t>
            </a:r>
          </a:p>
        </p:txBody>
      </p:sp>
      <p:sp>
        <p:nvSpPr>
          <p:cNvPr id="19" name="Rectangle 18"/>
          <p:cNvSpPr/>
          <p:nvPr/>
        </p:nvSpPr>
        <p:spPr>
          <a:xfrm>
            <a:off x="6126480" y="4315968"/>
            <a:ext cx="5074920" cy="178308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590288"/>
            <a:ext cx="4434840" cy="329184"/>
          </a:xfrm>
          <a:prstGeom prst="rect">
            <a:avLst/>
          </a:prstGeom>
          <a:noFill/>
        </p:spPr>
        <p:txBody>
          <a:bodyPr wrap="square" lIns="0" rIns="0" tIns="0" bIns="0" anchor="t">
            <a:spAutoFit/>
          </a:bodyPr>
          <a:lstStyle/>
          <a:p>
            <a:pPr algn="l"/>
            <a:r>
              <a:rPr sz="1000" b="1" i="0" cap="all" spc="180">
                <a:solidFill>
                  <a:srgbClr val="0D7490"/>
                </a:solidFill>
                <a:latin typeface="Helvetica Neue"/>
              </a:rPr>
              <a:t>TIMEKEEPER</a:t>
            </a:r>
          </a:p>
        </p:txBody>
      </p:sp>
      <p:sp>
        <p:nvSpPr>
          <p:cNvPr id="21" name="TextBox 20"/>
          <p:cNvSpPr txBox="1"/>
          <p:nvPr/>
        </p:nvSpPr>
        <p:spPr>
          <a:xfrm>
            <a:off x="6446520" y="4992624"/>
            <a:ext cx="4434840" cy="329184"/>
          </a:xfrm>
          <a:prstGeom prst="rect">
            <a:avLst/>
          </a:prstGeom>
          <a:noFill/>
        </p:spPr>
        <p:txBody>
          <a:bodyPr wrap="square" lIns="0" rIns="0" tIns="0" bIns="0" anchor="t">
            <a:spAutoFit/>
          </a:bodyPr>
          <a:lstStyle/>
          <a:p>
            <a:pPr algn="l"/>
            <a:r>
              <a:rPr sz="1100" b="0" i="0" spc="40">
                <a:solidFill>
                  <a:srgbClr val="86868B"/>
                </a:solidFill>
                <a:latin typeface="Helvetica Neue"/>
              </a:rPr>
              <a:t>TODAY:  __________________________________</a:t>
            </a:r>
          </a:p>
        </p:txBody>
      </p:sp>
      <p:sp>
        <p:nvSpPr>
          <p:cNvPr id="22" name="TextBox 21"/>
          <p:cNvSpPr txBox="1"/>
          <p:nvPr/>
        </p:nvSpPr>
        <p:spPr>
          <a:xfrm>
            <a:off x="6446520" y="5394959"/>
            <a:ext cx="4434840" cy="594359"/>
          </a:xfrm>
          <a:prstGeom prst="rect">
            <a:avLst/>
          </a:prstGeom>
          <a:noFill/>
        </p:spPr>
        <p:txBody>
          <a:bodyPr wrap="square" lIns="0" rIns="0" tIns="0" bIns="0" anchor="t">
            <a:spAutoFit/>
          </a:bodyPr>
          <a:lstStyle/>
          <a:p>
            <a:pPr algn="l"/>
            <a:r>
              <a:rPr sz="1150" b="0" i="0">
                <a:solidFill>
                  <a:srgbClr val="6E6E73"/>
                </a:solidFill>
                <a:latin typeface="Helvetica Neue"/>
              </a:rPr>
              <a:t>Holds the meeting to the agenda's clock. Calls the time at each block change.</a:t>
            </a:r>
          </a:p>
        </p:txBody>
      </p:sp>
      <p:cxnSp>
        <p:nvCxnSpPr>
          <p:cNvPr id="23" name="Connector 2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5" name="TextBox 2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01</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Welcome &amp;</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Safety Brief</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0:00 – 0:15   ·   15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Same ritual every meeting. We get sharper at it; the kids start running it.</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01</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THE STANDING RITUAL</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Every meeting opens with a safety brief.</a:t>
            </a:r>
          </a:p>
        </p:txBody>
      </p:sp>
      <p:sp>
        <p:nvSpPr>
          <p:cNvPr id="6" name="TextBox 5"/>
          <p:cNvSpPr txBox="1"/>
          <p:nvPr/>
        </p:nvSpPr>
        <p:spPr>
          <a:xfrm>
            <a:off x="822960" y="1783080"/>
            <a:ext cx="4754880" cy="329184"/>
          </a:xfrm>
          <a:prstGeom prst="rect">
            <a:avLst/>
          </a:prstGeom>
          <a:noFill/>
        </p:spPr>
        <p:txBody>
          <a:bodyPr wrap="square" lIns="0" rIns="0" tIns="0" bIns="0" anchor="t">
            <a:spAutoFit/>
          </a:bodyPr>
          <a:lstStyle/>
          <a:p>
            <a:pPr algn="l"/>
            <a:r>
              <a:rPr sz="1400" b="1" i="0">
                <a:solidFill>
                  <a:srgbClr val="1D1D1F"/>
                </a:solidFill>
                <a:latin typeface="Helvetica Neue"/>
              </a:rPr>
              <a:t>Why we do this</a:t>
            </a:r>
          </a:p>
        </p:txBody>
      </p:sp>
      <p:sp>
        <p:nvSpPr>
          <p:cNvPr id="7" name="TextBox 6"/>
          <p:cNvSpPr txBox="1"/>
          <p:nvPr/>
        </p:nvSpPr>
        <p:spPr>
          <a:xfrm>
            <a:off x="822960" y="2157984"/>
            <a:ext cx="4800600" cy="2011680"/>
          </a:xfrm>
          <a:prstGeom prst="rect">
            <a:avLst/>
          </a:prstGeom>
          <a:noFill/>
        </p:spPr>
        <p:txBody>
          <a:bodyPr wrap="square" lIns="0" rIns="0" tIns="0" bIns="0" anchor="t">
            <a:spAutoFit/>
          </a:bodyPr>
          <a:lstStyle/>
          <a:p>
            <a:pPr algn="l">
              <a:lnSpc>
                <a:spcPct val="125000"/>
              </a:lnSpc>
            </a:pPr>
            <a:r>
              <a:rPr sz="1150" b="0" i="0">
                <a:solidFill>
                  <a:srgbClr val="6E6E73"/>
                </a:solidFill>
                <a:latin typeface="Helvetica Neue"/>
              </a:rPr>
              <a:t>Real engineering and dive teams brief safety before every job — not because they expect to fail, but because the discipline of asking the same four questions every time is what makes a team safe in the long run. We start the habit now, when the stakes are small, so it's automatic when they aren't.</a:t>
            </a:r>
          </a:p>
        </p:txBody>
      </p:sp>
      <p:sp>
        <p:nvSpPr>
          <p:cNvPr id="8" name="Oval 7"/>
          <p:cNvSpPr/>
          <p:nvPr/>
        </p:nvSpPr>
        <p:spPr>
          <a:xfrm>
            <a:off x="822960" y="4334256"/>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334256"/>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1</a:t>
            </a:r>
          </a:p>
        </p:txBody>
      </p:sp>
      <p:sp>
        <p:nvSpPr>
          <p:cNvPr id="10" name="TextBox 9"/>
          <p:cNvSpPr txBox="1"/>
          <p:nvPr/>
        </p:nvSpPr>
        <p:spPr>
          <a:xfrm>
            <a:off x="1280160" y="4297680"/>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What are we doing today?</a:t>
            </a:r>
          </a:p>
        </p:txBody>
      </p:sp>
      <p:sp>
        <p:nvSpPr>
          <p:cNvPr id="11" name="Oval 10"/>
          <p:cNvSpPr/>
          <p:nvPr/>
        </p:nvSpPr>
        <p:spPr>
          <a:xfrm>
            <a:off x="822960" y="475488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75488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2</a:t>
            </a:r>
          </a:p>
        </p:txBody>
      </p:sp>
      <p:sp>
        <p:nvSpPr>
          <p:cNvPr id="13" name="TextBox 12"/>
          <p:cNvSpPr txBox="1"/>
          <p:nvPr/>
        </p:nvSpPr>
        <p:spPr>
          <a:xfrm>
            <a:off x="1280160" y="4718304"/>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What could hurt someone?</a:t>
            </a:r>
          </a:p>
        </p:txBody>
      </p:sp>
      <p:sp>
        <p:nvSpPr>
          <p:cNvPr id="14" name="Oval 13"/>
          <p:cNvSpPr/>
          <p:nvPr/>
        </p:nvSpPr>
        <p:spPr>
          <a:xfrm>
            <a:off x="822960" y="5175504"/>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175504"/>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3</a:t>
            </a:r>
          </a:p>
        </p:txBody>
      </p:sp>
      <p:sp>
        <p:nvSpPr>
          <p:cNvPr id="16" name="TextBox 15"/>
          <p:cNvSpPr txBox="1"/>
          <p:nvPr/>
        </p:nvSpPr>
        <p:spPr>
          <a:xfrm>
            <a:off x="1280160" y="5138928"/>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How do we prevent it?</a:t>
            </a:r>
          </a:p>
        </p:txBody>
      </p:sp>
      <p:sp>
        <p:nvSpPr>
          <p:cNvPr id="17" name="Oval 16"/>
          <p:cNvSpPr/>
          <p:nvPr/>
        </p:nvSpPr>
        <p:spPr>
          <a:xfrm>
            <a:off x="822960" y="5596128"/>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596128"/>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4</a:t>
            </a:r>
          </a:p>
        </p:txBody>
      </p:sp>
      <p:sp>
        <p:nvSpPr>
          <p:cNvPr id="19" name="TextBox 18"/>
          <p:cNvSpPr txBox="1"/>
          <p:nvPr/>
        </p:nvSpPr>
        <p:spPr>
          <a:xfrm>
            <a:off x="1280160" y="5559552"/>
            <a:ext cx="4389120" cy="384048"/>
          </a:xfrm>
          <a:prstGeom prst="rect">
            <a:avLst/>
          </a:prstGeom>
          <a:noFill/>
        </p:spPr>
        <p:txBody>
          <a:bodyPr wrap="square" lIns="0" rIns="0" tIns="0" bIns="0" anchor="t">
            <a:spAutoFit/>
          </a:bodyPr>
          <a:lstStyle/>
          <a:p>
            <a:pPr algn="l"/>
            <a:r>
              <a:rPr sz="1300" b="1" i="0">
                <a:solidFill>
                  <a:srgbClr val="1D1D1F"/>
                </a:solidFill>
                <a:latin typeface="Helvetica Neue"/>
              </a:rPr>
              <a:t>Who do we tell if something happens?</a:t>
            </a:r>
          </a:p>
        </p:txBody>
      </p:sp>
      <p:sp>
        <p:nvSpPr>
          <p:cNvPr id="20" name="Rectangle 19"/>
          <p:cNvSpPr/>
          <p:nvPr/>
        </p:nvSpPr>
        <p:spPr>
          <a:xfrm>
            <a:off x="5989320" y="1783080"/>
            <a:ext cx="5376672" cy="4370832"/>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89320" y="1783080"/>
            <a:ext cx="5376672" cy="566928"/>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9320" y="1783080"/>
            <a:ext cx="5376672" cy="566928"/>
          </a:xfrm>
          <a:prstGeom prst="rect">
            <a:avLst/>
          </a:prstGeom>
          <a:noFill/>
        </p:spPr>
        <p:txBody>
          <a:bodyPr wrap="square" lIns="0" rIns="0" tIns="0" bIns="0" anchor="ctr">
            <a:spAutoFit/>
          </a:bodyPr>
          <a:lstStyle/>
          <a:p>
            <a:pPr algn="ctr"/>
            <a:r>
              <a:rPr sz="1100" b="1" i="0" cap="all" spc="180">
                <a:solidFill>
                  <a:srgbClr val="FFFFFF"/>
                </a:solidFill>
                <a:latin typeface="Helvetica Neue"/>
              </a:rPr>
              <a:t>TODAY'S BRIEF  ·  MEETING 5</a:t>
            </a:r>
          </a:p>
        </p:txBody>
      </p:sp>
      <p:sp>
        <p:nvSpPr>
          <p:cNvPr id="23" name="TextBox 22"/>
          <p:cNvSpPr txBox="1"/>
          <p:nvPr/>
        </p:nvSpPr>
        <p:spPr>
          <a:xfrm>
            <a:off x="6355080" y="2496312"/>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THE WORK</a:t>
            </a:r>
          </a:p>
        </p:txBody>
      </p:sp>
      <p:sp>
        <p:nvSpPr>
          <p:cNvPr id="24" name="TextBox 23"/>
          <p:cNvSpPr txBox="1"/>
          <p:nvPr/>
        </p:nvSpPr>
        <p:spPr>
          <a:xfrm>
            <a:off x="6355080" y="2715768"/>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Soldering through-hole components onto two boards: the SeaMATE PufferFish practice board and the TriggerFish REV 4 control box.</a:t>
            </a:r>
          </a:p>
        </p:txBody>
      </p:sp>
      <p:sp>
        <p:nvSpPr>
          <p:cNvPr id="25" name="TextBox 24"/>
          <p:cNvSpPr txBox="1"/>
          <p:nvPr/>
        </p:nvSpPr>
        <p:spPr>
          <a:xfrm>
            <a:off x="6355080" y="3218688"/>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THE HAZARDS</a:t>
            </a:r>
          </a:p>
        </p:txBody>
      </p:sp>
      <p:sp>
        <p:nvSpPr>
          <p:cNvPr id="26" name="TextBox 25"/>
          <p:cNvSpPr txBox="1"/>
          <p:nvPr/>
        </p:nvSpPr>
        <p:spPr>
          <a:xfrm>
            <a:off x="6355080" y="3438144"/>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Iron tip at 650°F. Back of the board and component leads are hot too. Metal clippings fly when cutting leads. Lead-based solder.</a:t>
            </a:r>
          </a:p>
        </p:txBody>
      </p:sp>
      <p:sp>
        <p:nvSpPr>
          <p:cNvPr id="27" name="TextBox 26"/>
          <p:cNvSpPr txBox="1"/>
          <p:nvPr/>
        </p:nvSpPr>
        <p:spPr>
          <a:xfrm>
            <a:off x="6355080" y="3941064"/>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PREVENTION</a:t>
            </a:r>
          </a:p>
        </p:txBody>
      </p:sp>
      <p:sp>
        <p:nvSpPr>
          <p:cNvPr id="28" name="TextBox 27"/>
          <p:cNvSpPr txBox="1"/>
          <p:nvPr/>
        </p:nvSpPr>
        <p:spPr>
          <a:xfrm>
            <a:off x="6355080" y="4160520"/>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Iron in holder when not in use. Fume extractor on, fan blowing away from the student. Safety glasses for snipping. Wash hands when done.</a:t>
            </a:r>
          </a:p>
        </p:txBody>
      </p:sp>
      <p:sp>
        <p:nvSpPr>
          <p:cNvPr id="29" name="TextBox 28"/>
          <p:cNvSpPr txBox="1"/>
          <p:nvPr/>
        </p:nvSpPr>
        <p:spPr>
          <a:xfrm>
            <a:off x="6355080" y="4663440"/>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IF SOMETHING HAPPENS</a:t>
            </a:r>
          </a:p>
        </p:txBody>
      </p:sp>
      <p:sp>
        <p:nvSpPr>
          <p:cNvPr id="30" name="TextBox 29"/>
          <p:cNvSpPr txBox="1"/>
          <p:nvPr/>
        </p:nvSpPr>
        <p:spPr>
          <a:xfrm>
            <a:off x="6355080" y="4882896"/>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Stop. Speak up. Tell the advisor immediately. Burns get cool water for 15 minutes. Loose iron on the bench? Call it out.</a:t>
            </a:r>
          </a:p>
        </p:txBody>
      </p:sp>
      <p:sp>
        <p:nvSpPr>
          <p:cNvPr id="31" name="TextBox 30"/>
          <p:cNvSpPr txBox="1"/>
          <p:nvPr/>
        </p:nvSpPr>
        <p:spPr>
          <a:xfrm>
            <a:off x="6355080" y="5385816"/>
            <a:ext cx="4645152" cy="219456"/>
          </a:xfrm>
          <a:prstGeom prst="rect">
            <a:avLst/>
          </a:prstGeom>
          <a:noFill/>
        </p:spPr>
        <p:txBody>
          <a:bodyPr wrap="square" lIns="0" rIns="0" tIns="0" bIns="0" anchor="t">
            <a:spAutoFit/>
          </a:bodyPr>
          <a:lstStyle/>
          <a:p>
            <a:pPr algn="l"/>
            <a:r>
              <a:rPr sz="950" b="1" i="0" cap="all" spc="180">
                <a:solidFill>
                  <a:srgbClr val="0D7490"/>
                </a:solidFill>
                <a:latin typeface="Helvetica Neue"/>
              </a:rPr>
              <a:t>LOOKING AHEAD</a:t>
            </a:r>
          </a:p>
        </p:txBody>
      </p:sp>
      <p:sp>
        <p:nvSpPr>
          <p:cNvPr id="32" name="TextBox 31"/>
          <p:cNvSpPr txBox="1"/>
          <p:nvPr/>
        </p:nvSpPr>
        <p:spPr>
          <a:xfrm>
            <a:off x="6355080" y="5605272"/>
            <a:ext cx="4645152" cy="502920"/>
          </a:xfrm>
          <a:prstGeom prst="rect">
            <a:avLst/>
          </a:prstGeom>
          <a:noFill/>
        </p:spPr>
        <p:txBody>
          <a:bodyPr wrap="square" lIns="0" rIns="0" tIns="0" bIns="0" anchor="t">
            <a:spAutoFit/>
          </a:bodyPr>
          <a:lstStyle/>
          <a:p>
            <a:pPr algn="l">
              <a:lnSpc>
                <a:spcPct val="115000"/>
              </a:lnSpc>
            </a:pPr>
            <a:r>
              <a:rPr sz="1050" b="0" i="0">
                <a:solidFill>
                  <a:srgbClr val="6E6E73"/>
                </a:solidFill>
                <a:latin typeface="Helvetica Neue"/>
              </a:rPr>
              <a:t>1.6 is wiring and power — fewer joints, bigger consequences if a polarity check gets skipped. Habits we set today carry forward.</a:t>
            </a:r>
          </a:p>
        </p:txBody>
      </p:sp>
      <p:cxnSp>
        <p:nvCxnSpPr>
          <p:cNvPr id="33" name="Connector 3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35" name="TextBox 3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02</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Practice</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First</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0:15 – 1:15   ·   60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The PufferFish board is a low-stakes circuit. We earn the technique here before we touch the real one.</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02</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PUFFERFISH</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Earn a clean joint first.</a:t>
            </a: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The SeaMATE PufferFish board has nothing to do with the ROV. That's why we use it.</a:t>
            </a:r>
          </a:p>
        </p:txBody>
      </p:sp>
      <p:sp>
        <p:nvSpPr>
          <p:cNvPr id="7" name="TextBox 6"/>
          <p:cNvSpPr txBox="1"/>
          <p:nvPr/>
        </p:nvSpPr>
        <p:spPr>
          <a:xfrm>
            <a:off x="822960" y="2286000"/>
            <a:ext cx="10515600" cy="768096"/>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The PufferFish is a small practice circuit MATE built for one purpose: give every kid a low-stakes board to develop the technique on before they sit down at the TriggerFish.</a:t>
            </a:r>
          </a:p>
        </p:txBody>
      </p:sp>
      <p:sp>
        <p:nvSpPr>
          <p:cNvPr id="8" name="TextBox 7"/>
          <p:cNvSpPr txBox="1"/>
          <p:nvPr/>
        </p:nvSpPr>
        <p:spPr>
          <a:xfrm>
            <a:off x="822960" y="3008376"/>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If you mess up a PufferFish joint, you re-flow it, re-do it, or pull the component and try again. If you mess up a TriggerFish joint — a $290 component on a board you only get one of — it's a different conversation.</a:t>
            </a:r>
          </a:p>
        </p:txBody>
      </p:sp>
      <p:sp>
        <p:nvSpPr>
          <p:cNvPr id="9" name="TextBox 8"/>
          <p:cNvSpPr txBox="1"/>
          <p:nvPr/>
        </p:nvSpPr>
        <p:spPr>
          <a:xfrm>
            <a:off x="822960" y="3931920"/>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The frame for the night: working vs. crafted. A working joint passes a multimeter check. A crafted joint also survives heat, vibration, and the trip to the pool. The PufferFish is where we calibrate what crafted feels like.</a:t>
            </a:r>
          </a:p>
        </p:txBody>
      </p:sp>
      <p:cxnSp>
        <p:nvCxnSpPr>
          <p:cNvPr id="10" name="Connector 9"/>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2" name="TextBox 11"/>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PUFFERFISH — THE FIVE MOVES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Every joint is the same five moves.</a:t>
            </a:r>
          </a:p>
        </p:txBody>
      </p:sp>
      <p:sp>
        <p:nvSpPr>
          <p:cNvPr id="6" name="Oval 5"/>
          <p:cNvSpPr/>
          <p:nvPr/>
        </p:nvSpPr>
        <p:spPr>
          <a:xfrm>
            <a:off x="822960" y="201168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8" name="TextBox 7"/>
          <p:cNvSpPr txBox="1"/>
          <p:nvPr/>
        </p:nvSpPr>
        <p:spPr>
          <a:xfrm>
            <a:off x="1417320" y="199339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Seat the component flush</a:t>
            </a:r>
          </a:p>
        </p:txBody>
      </p:sp>
      <p:sp>
        <p:nvSpPr>
          <p:cNvPr id="9" name="TextBox 8"/>
          <p:cNvSpPr txBox="1"/>
          <p:nvPr/>
        </p:nvSpPr>
        <p:spPr>
          <a:xfrm>
            <a:off x="1417320" y="228600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Bend leads, push through, flip the board, make sure the body is flat against the PCB. A component sitting half a millimeter off is a future failure.</a:t>
            </a:r>
          </a:p>
        </p:txBody>
      </p:sp>
      <p:sp>
        <p:nvSpPr>
          <p:cNvPr id="10" name="Oval 9"/>
          <p:cNvSpPr/>
          <p:nvPr/>
        </p:nvSpPr>
        <p:spPr>
          <a:xfrm>
            <a:off x="822960" y="27889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889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2" name="TextBox 11"/>
          <p:cNvSpPr txBox="1"/>
          <p:nvPr/>
        </p:nvSpPr>
        <p:spPr>
          <a:xfrm>
            <a:off x="1417320" y="27706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Heat the joint, not the solder</a:t>
            </a:r>
          </a:p>
        </p:txBody>
      </p:sp>
      <p:sp>
        <p:nvSpPr>
          <p:cNvPr id="13" name="TextBox 12"/>
          <p:cNvSpPr txBox="1"/>
          <p:nvPr/>
        </p:nvSpPr>
        <p:spPr>
          <a:xfrm>
            <a:off x="1417320" y="306324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Iron tip on the pad AND the lead at the same time, for one full second. The pad has to be hot enough to flow solder on its own.</a:t>
            </a:r>
          </a:p>
        </p:txBody>
      </p:sp>
      <p:sp>
        <p:nvSpPr>
          <p:cNvPr id="14" name="Oval 13"/>
          <p:cNvSpPr/>
          <p:nvPr/>
        </p:nvSpPr>
        <p:spPr>
          <a:xfrm>
            <a:off x="822960" y="35661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661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6" name="TextBox 15"/>
          <p:cNvSpPr txBox="1"/>
          <p:nvPr/>
        </p:nvSpPr>
        <p:spPr>
          <a:xfrm>
            <a:off x="1417320" y="35478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Feed solder into the joint</a:t>
            </a:r>
          </a:p>
        </p:txBody>
      </p:sp>
      <p:sp>
        <p:nvSpPr>
          <p:cNvPr id="17" name="TextBox 16"/>
          <p:cNvSpPr txBox="1"/>
          <p:nvPr/>
        </p:nvSpPr>
        <p:spPr>
          <a:xfrm>
            <a:off x="1417320" y="384048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Touch the solder to the joint — not the iron tip. If it doesn't flow, the joint isn't hot enough yet.</a:t>
            </a:r>
          </a:p>
        </p:txBody>
      </p:sp>
      <p:sp>
        <p:nvSpPr>
          <p:cNvPr id="18" name="Oval 17"/>
          <p:cNvSpPr/>
          <p:nvPr/>
        </p:nvSpPr>
        <p:spPr>
          <a:xfrm>
            <a:off x="822960" y="43434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434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4</a:t>
            </a:r>
          </a:p>
        </p:txBody>
      </p:sp>
      <p:sp>
        <p:nvSpPr>
          <p:cNvPr id="20" name="TextBox 19"/>
          <p:cNvSpPr txBox="1"/>
          <p:nvPr/>
        </p:nvSpPr>
        <p:spPr>
          <a:xfrm>
            <a:off x="1417320" y="43251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Pull the solder, then the iron</a:t>
            </a:r>
          </a:p>
        </p:txBody>
      </p:sp>
      <p:sp>
        <p:nvSpPr>
          <p:cNvPr id="21" name="TextBox 20"/>
          <p:cNvSpPr txBox="1"/>
          <p:nvPr/>
        </p:nvSpPr>
        <p:spPr>
          <a:xfrm>
            <a:off x="1417320" y="46177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Solder first, iron second. The order matters — pulling the iron first leaves a peak; pulling solder first leaves a clean dome.</a:t>
            </a:r>
          </a:p>
        </p:txBody>
      </p:sp>
      <p:sp>
        <p:nvSpPr>
          <p:cNvPr id="22" name="Oval 21"/>
          <p:cNvSpPr/>
          <p:nvPr/>
        </p:nvSpPr>
        <p:spPr>
          <a:xfrm>
            <a:off x="822960" y="512064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5</a:t>
            </a:r>
          </a:p>
        </p:txBody>
      </p:sp>
      <p:sp>
        <p:nvSpPr>
          <p:cNvPr id="24" name="TextBox 23"/>
          <p:cNvSpPr txBox="1"/>
          <p:nvPr/>
        </p:nvSpPr>
        <p:spPr>
          <a:xfrm>
            <a:off x="1417320" y="510235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Inspect</a:t>
            </a:r>
          </a:p>
        </p:txBody>
      </p:sp>
      <p:sp>
        <p:nvSpPr>
          <p:cNvPr id="25" name="TextBox 24"/>
          <p:cNvSpPr txBox="1"/>
          <p:nvPr/>
        </p:nvSpPr>
        <p:spPr>
          <a:xfrm>
            <a:off x="1417320" y="539495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Shiny, smooth, concave. Dull or grainy means a cold joint. Re-flow it now, not later.</a:t>
            </a:r>
          </a:p>
        </p:txBody>
      </p:sp>
      <p:cxnSp>
        <p:nvCxnSpPr>
          <p:cNvPr id="26" name="Connector 25"/>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8" name="TextBox 27"/>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03</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TriggerFish</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Where We Pick Up</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1:15 – 1:30   ·   15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1.3 left us with the fuse holder, the two 1000µF caps, and the 3 A fuse mounted. Here's the next block.</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03</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TRIGGERFISH REV 4</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Where we left off — and what comes next.</a:t>
            </a:r>
          </a:p>
        </p:txBody>
      </p:sp>
      <p:sp>
        <p:nvSpPr>
          <p:cNvPr id="6" name="TextBox 5"/>
          <p:cNvSpPr txBox="1"/>
          <p:nvPr/>
        </p:nvSpPr>
        <p:spPr>
          <a:xfrm>
            <a:off x="822960" y="1783080"/>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From 1.3 the board already carries: the fuse holder, two 1000µF / 16V electrolytic capacitors (with polarity verified before commit), the 3 A fuse seated in the holder, and the power leads run through heatshrink.</a:t>
            </a:r>
          </a:p>
        </p:txBody>
      </p:sp>
      <p:sp>
        <p:nvSpPr>
          <p:cNvPr id="7" name="TextBox 6"/>
          <p:cNvSpPr txBox="1"/>
          <p:nvPr/>
        </p:nvSpPr>
        <p:spPr>
          <a:xfrm>
            <a:off x="822960" y="2706624"/>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Tonight we open the SeaMATE TriggerFish ROV Guide on the iPad and pick up at the next block of components per the slide sequence. The Guide is the team's reference of record — every step gets verified against the slide before any iron touches the board.</a:t>
            </a:r>
          </a:p>
        </p:txBody>
      </p:sp>
      <p:sp>
        <p:nvSpPr>
          <p:cNvPr id="8" name="TextBox 7"/>
          <p:cNvSpPr txBox="1"/>
          <p:nvPr/>
        </p:nvSpPr>
        <p:spPr>
          <a:xfrm>
            <a:off x="822960" y="3630168"/>
            <a:ext cx="10515600" cy="969264"/>
          </a:xfrm>
          <a:prstGeom prst="rect">
            <a:avLst/>
          </a:prstGeom>
          <a:noFill/>
        </p:spPr>
        <p:txBody>
          <a:bodyPr wrap="square" lIns="0" rIns="0" tIns="0" bIns="0" anchor="t">
            <a:spAutoFit/>
          </a:bodyPr>
          <a:lstStyle/>
          <a:p>
            <a:pPr algn="l">
              <a:lnSpc>
                <a:spcPct val="135000"/>
              </a:lnSpc>
            </a:pPr>
            <a:r>
              <a:rPr sz="1200" b="0" i="0">
                <a:solidFill>
                  <a:srgbClr val="6E6E73"/>
                </a:solidFill>
                <a:latin typeface="Helvetica Neue"/>
              </a:rPr>
              <a:t>Polarity rule still applies: every electrolytic cap, every diode, every transistor — verify the orientation against the board silkscreen AND the Guide image before you commit the joint. A reversed electrolytic cap fails open, fails loud, and ends the night.</a:t>
            </a:r>
          </a:p>
        </p:txBody>
      </p:sp>
      <p:cxnSp>
        <p:nvCxnSpPr>
          <p:cNvPr id="9" name="Connector 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1" name="TextBox 1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READING THE GUIDE</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Two things on every slide.</a:t>
            </a:r>
          </a:p>
        </p:txBody>
      </p:sp>
      <p:sp>
        <p:nvSpPr>
          <p:cNvPr id="6" name="Rectangle 5"/>
          <p:cNvSpPr/>
          <p:nvPr/>
        </p:nvSpPr>
        <p:spPr>
          <a:xfrm>
            <a:off x="822960" y="2011680"/>
            <a:ext cx="5134355" cy="329184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331720"/>
            <a:ext cx="4549140" cy="365760"/>
          </a:xfrm>
          <a:prstGeom prst="rect">
            <a:avLst/>
          </a:prstGeom>
          <a:noFill/>
        </p:spPr>
        <p:txBody>
          <a:bodyPr wrap="square" lIns="0" rIns="0" tIns="0" bIns="0" anchor="t">
            <a:spAutoFit/>
          </a:bodyPr>
          <a:lstStyle/>
          <a:p>
            <a:pPr algn="l"/>
            <a:r>
              <a:rPr sz="1400" b="1" i="0">
                <a:solidFill>
                  <a:srgbClr val="1D1D1F"/>
                </a:solidFill>
                <a:latin typeface="Helvetica Neue"/>
              </a:rPr>
              <a:t>THE INSTRUCTION</a:t>
            </a:r>
          </a:p>
        </p:txBody>
      </p:sp>
      <p:sp>
        <p:nvSpPr>
          <p:cNvPr id="8" name="TextBox 7"/>
          <p:cNvSpPr txBox="1"/>
          <p:nvPr/>
        </p:nvSpPr>
        <p:spPr>
          <a:xfrm>
            <a:off x="1115568" y="2788920"/>
            <a:ext cx="4549140" cy="2377440"/>
          </a:xfrm>
          <a:prstGeom prst="rect">
            <a:avLst/>
          </a:prstGeom>
          <a:noFill/>
        </p:spPr>
        <p:txBody>
          <a:bodyPr wrap="square" lIns="0" rIns="0" tIns="0" bIns="0" anchor="t">
            <a:spAutoFit/>
          </a:bodyPr>
          <a:lstStyle/>
          <a:p>
            <a:pPr algn="l">
              <a:lnSpc>
                <a:spcPct val="130000"/>
              </a:lnSpc>
            </a:pPr>
            <a:r>
              <a:rPr sz="1150" b="0" i="0">
                <a:solidFill>
                  <a:srgbClr val="6E6E73"/>
                </a:solidFill>
                <a:latin typeface="Helvetica Neue"/>
              </a:rPr>
              <a:t>What the slide says to do. Read it out loud as a team before anyone picks up an iron. If the verb is 'solder,' name what gets soldered and in what order.</a:t>
            </a:r>
          </a:p>
        </p:txBody>
      </p:sp>
      <p:sp>
        <p:nvSpPr>
          <p:cNvPr id="9" name="Rectangle 8"/>
          <p:cNvSpPr/>
          <p:nvPr/>
        </p:nvSpPr>
        <p:spPr>
          <a:xfrm>
            <a:off x="6231636" y="2011680"/>
            <a:ext cx="5134355" cy="329184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4244" y="2331720"/>
            <a:ext cx="4549140" cy="365760"/>
          </a:xfrm>
          <a:prstGeom prst="rect">
            <a:avLst/>
          </a:prstGeom>
          <a:noFill/>
        </p:spPr>
        <p:txBody>
          <a:bodyPr wrap="square" lIns="0" rIns="0" tIns="0" bIns="0" anchor="t">
            <a:spAutoFit/>
          </a:bodyPr>
          <a:lstStyle/>
          <a:p>
            <a:pPr algn="l"/>
            <a:r>
              <a:rPr sz="1400" b="1" i="0">
                <a:solidFill>
                  <a:srgbClr val="1D1D1F"/>
                </a:solidFill>
                <a:latin typeface="Helvetica Neue"/>
              </a:rPr>
              <a:t>THE WARNING</a:t>
            </a:r>
          </a:p>
        </p:txBody>
      </p:sp>
      <p:sp>
        <p:nvSpPr>
          <p:cNvPr id="11" name="TextBox 10"/>
          <p:cNvSpPr txBox="1"/>
          <p:nvPr/>
        </p:nvSpPr>
        <p:spPr>
          <a:xfrm>
            <a:off x="6524244" y="2788920"/>
            <a:ext cx="4549140" cy="2377440"/>
          </a:xfrm>
          <a:prstGeom prst="rect">
            <a:avLst/>
          </a:prstGeom>
          <a:noFill/>
        </p:spPr>
        <p:txBody>
          <a:bodyPr wrap="square" lIns="0" rIns="0" tIns="0" bIns="0" anchor="t">
            <a:spAutoFit/>
          </a:bodyPr>
          <a:lstStyle/>
          <a:p>
            <a:pPr algn="l">
              <a:lnSpc>
                <a:spcPct val="130000"/>
              </a:lnSpc>
            </a:pPr>
            <a:r>
              <a:rPr sz="1150" b="0" i="0">
                <a:solidFill>
                  <a:srgbClr val="6E6E73"/>
                </a:solidFill>
                <a:latin typeface="Helvetica Neue"/>
              </a:rPr>
              <a:t>What the slide flags. Polarity. Orientation. Sequence. Any line that says 'double check' or 'verify' gets a second pair of eyes before any commit.</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095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77440"/>
            <a:ext cx="12191695" cy="457200"/>
          </a:xfrm>
          <a:prstGeom prst="rect">
            <a:avLst/>
          </a:prstGeom>
          <a:noFill/>
        </p:spPr>
        <p:txBody>
          <a:bodyPr wrap="square" lIns="0" rIns="0" tIns="0" bIns="0" anchor="t">
            <a:spAutoFit/>
          </a:bodyPr>
          <a:lstStyle/>
          <a:p>
            <a:pPr algn="ctr"/>
            <a:r>
              <a:rPr sz="1400" b="1" i="0" cap="all" spc="240">
                <a:solidFill>
                  <a:srgbClr val="9FCEDA"/>
                </a:solidFill>
                <a:latin typeface="Helvetica Neue"/>
              </a:rPr>
              <a:t>BREAK</a:t>
            </a:r>
          </a:p>
        </p:txBody>
      </p:sp>
      <p:sp>
        <p:nvSpPr>
          <p:cNvPr id="6" name="TextBox 5"/>
          <p:cNvSpPr txBox="1"/>
          <p:nvPr/>
        </p:nvSpPr>
        <p:spPr>
          <a:xfrm>
            <a:off x="0" y="2788920"/>
            <a:ext cx="12191695" cy="822960"/>
          </a:xfrm>
          <a:prstGeom prst="rect">
            <a:avLst/>
          </a:prstGeom>
          <a:noFill/>
        </p:spPr>
        <p:txBody>
          <a:bodyPr wrap="square" lIns="0" rIns="0" tIns="0" bIns="0" anchor="t">
            <a:spAutoFit/>
          </a:bodyPr>
          <a:lstStyle/>
          <a:p>
            <a:pPr algn="ctr"/>
            <a:r>
              <a:rPr sz="5600" b="1" i="0">
                <a:solidFill>
                  <a:srgbClr val="FFFFFF"/>
                </a:solidFill>
                <a:latin typeface="Helvetica Neue"/>
              </a:rPr>
              <a:t>Ten minutes.</a:t>
            </a:r>
          </a:p>
        </p:txBody>
      </p:sp>
      <p:sp>
        <p:nvSpPr>
          <p:cNvPr id="7" name="TextBox 6"/>
          <p:cNvSpPr txBox="1"/>
          <p:nvPr/>
        </p:nvSpPr>
        <p:spPr>
          <a:xfrm>
            <a:off x="0" y="3931920"/>
            <a:ext cx="12191695" cy="365760"/>
          </a:xfrm>
          <a:prstGeom prst="rect">
            <a:avLst/>
          </a:prstGeom>
          <a:noFill/>
        </p:spPr>
        <p:txBody>
          <a:bodyPr wrap="square" lIns="0" rIns="0" tIns="0" bIns="0" anchor="t">
            <a:spAutoFit/>
          </a:bodyPr>
          <a:lstStyle/>
          <a:p>
            <a:pPr algn="ctr"/>
            <a:r>
              <a:rPr sz="1600" b="0" i="1">
                <a:solidFill>
                  <a:srgbClr val="C9E3EA"/>
                </a:solidFill>
                <a:latin typeface="Helvetica Neue"/>
              </a:rPr>
              <a:t>We resume in ten — and, like always, we start on time.</a:t>
            </a:r>
          </a:p>
        </p:txBody>
      </p:sp>
      <p:sp>
        <p:nvSpPr>
          <p:cNvPr id="8" name="TextBox 7"/>
          <p:cNvSpPr txBox="1"/>
          <p:nvPr/>
        </p:nvSpPr>
        <p:spPr>
          <a:xfrm>
            <a:off x="0" y="6355080"/>
            <a:ext cx="12191695" cy="274320"/>
          </a:xfrm>
          <a:prstGeom prst="rect">
            <a:avLst/>
          </a:prstGeom>
          <a:noFill/>
        </p:spPr>
        <p:txBody>
          <a:bodyPr wrap="square" lIns="0" rIns="0" tIns="0" bIns="0" anchor="t">
            <a:spAutoFit/>
          </a:bodyPr>
          <a:lstStyle/>
          <a:p>
            <a:pPr algn="ctr"/>
            <a:r>
              <a:rPr sz="900" b="1" i="0" cap="all" spc="180">
                <a:solidFill>
                  <a:srgbClr val="9FCEDA"/>
                </a:solidFill>
                <a:latin typeface="Helvetica Neue"/>
              </a:rPr>
              <a:t>SAY WATT ROBOTICS  ·  ROV TEAM      |      WEEK 5 — CONTROL BOX 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04</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The Next</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Block</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1:40 – 2:30   ·   50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Fifty minutes, hands on. Coach John runs the brief; the kids run the build.</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04</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THE BUILD LOOP</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How we work through the Guide.</a:t>
            </a:r>
          </a:p>
        </p:txBody>
      </p:sp>
      <p:sp>
        <p:nvSpPr>
          <p:cNvPr id="6" name="Oval 5"/>
          <p:cNvSpPr/>
          <p:nvPr/>
        </p:nvSpPr>
        <p:spPr>
          <a:xfrm>
            <a:off x="822960" y="201168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8" name="TextBox 7"/>
          <p:cNvSpPr txBox="1"/>
          <p:nvPr/>
        </p:nvSpPr>
        <p:spPr>
          <a:xfrm>
            <a:off x="1417320" y="199339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Read the slide as a team</a:t>
            </a:r>
          </a:p>
        </p:txBody>
      </p:sp>
      <p:sp>
        <p:nvSpPr>
          <p:cNvPr id="9" name="TextBox 8"/>
          <p:cNvSpPr txBox="1"/>
          <p:nvPr/>
        </p:nvSpPr>
        <p:spPr>
          <a:xfrm>
            <a:off x="1417320" y="228600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One person reads it out; the others listen. No iron picked up until the team agrees on what the slide is asking for.</a:t>
            </a:r>
          </a:p>
        </p:txBody>
      </p:sp>
      <p:sp>
        <p:nvSpPr>
          <p:cNvPr id="10" name="Oval 9"/>
          <p:cNvSpPr/>
          <p:nvPr/>
        </p:nvSpPr>
        <p:spPr>
          <a:xfrm>
            <a:off x="822960" y="27889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889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2" name="TextBox 11"/>
          <p:cNvSpPr txBox="1"/>
          <p:nvPr/>
        </p:nvSpPr>
        <p:spPr>
          <a:xfrm>
            <a:off x="1417320" y="27706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Stage the components</a:t>
            </a:r>
          </a:p>
        </p:txBody>
      </p:sp>
      <p:sp>
        <p:nvSpPr>
          <p:cNvPr id="13" name="TextBox 12"/>
          <p:cNvSpPr txBox="1"/>
          <p:nvPr/>
        </p:nvSpPr>
        <p:spPr>
          <a:xfrm>
            <a:off x="1417320" y="306324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Lay them out next to the board, oriented the way they'll go in. Polarity-sensitive parts marked clearly.</a:t>
            </a:r>
          </a:p>
        </p:txBody>
      </p:sp>
      <p:sp>
        <p:nvSpPr>
          <p:cNvPr id="14" name="Oval 13"/>
          <p:cNvSpPr/>
          <p:nvPr/>
        </p:nvSpPr>
        <p:spPr>
          <a:xfrm>
            <a:off x="822960" y="35661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5661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6" name="TextBox 15"/>
          <p:cNvSpPr txBox="1"/>
          <p:nvPr/>
        </p:nvSpPr>
        <p:spPr>
          <a:xfrm>
            <a:off x="1417320" y="35478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Solder, one student at a time</a:t>
            </a:r>
          </a:p>
        </p:txBody>
      </p:sp>
      <p:sp>
        <p:nvSpPr>
          <p:cNvPr id="17" name="TextBox 16"/>
          <p:cNvSpPr txBox="1"/>
          <p:nvPr/>
        </p:nvSpPr>
        <p:spPr>
          <a:xfrm>
            <a:off x="1417320" y="384048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Whoever has the iron, owns that joint. Others coach, photograph, or cue up the next component.</a:t>
            </a:r>
          </a:p>
        </p:txBody>
      </p:sp>
      <p:sp>
        <p:nvSpPr>
          <p:cNvPr id="18" name="Oval 17"/>
          <p:cNvSpPr/>
          <p:nvPr/>
        </p:nvSpPr>
        <p:spPr>
          <a:xfrm>
            <a:off x="822960" y="43434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434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4</a:t>
            </a:r>
          </a:p>
        </p:txBody>
      </p:sp>
      <p:sp>
        <p:nvSpPr>
          <p:cNvPr id="20" name="TextBox 19"/>
          <p:cNvSpPr txBox="1"/>
          <p:nvPr/>
        </p:nvSpPr>
        <p:spPr>
          <a:xfrm>
            <a:off x="1417320" y="43251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Inspect and meter-check</a:t>
            </a:r>
          </a:p>
        </p:txBody>
      </p:sp>
      <p:sp>
        <p:nvSpPr>
          <p:cNvPr id="21" name="TextBox 20"/>
          <p:cNvSpPr txBox="1"/>
          <p:nvPr/>
        </p:nvSpPr>
        <p:spPr>
          <a:xfrm>
            <a:off x="1417320" y="46177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Shiny, smooth, concave joint. Continuity to the next pad in the circuit; no shorts to ground or neighboring pads. If the meter doesn't agree, re-flow.</a:t>
            </a:r>
          </a:p>
        </p:txBody>
      </p:sp>
      <p:sp>
        <p:nvSpPr>
          <p:cNvPr id="22" name="Oval 21"/>
          <p:cNvSpPr/>
          <p:nvPr/>
        </p:nvSpPr>
        <p:spPr>
          <a:xfrm>
            <a:off x="822960" y="512064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2064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5</a:t>
            </a:r>
          </a:p>
        </p:txBody>
      </p:sp>
      <p:sp>
        <p:nvSpPr>
          <p:cNvPr id="24" name="TextBox 23"/>
          <p:cNvSpPr txBox="1"/>
          <p:nvPr/>
        </p:nvSpPr>
        <p:spPr>
          <a:xfrm>
            <a:off x="1417320" y="510235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Move to the next slide</a:t>
            </a:r>
          </a:p>
        </p:txBody>
      </p:sp>
      <p:sp>
        <p:nvSpPr>
          <p:cNvPr id="25" name="TextBox 24"/>
          <p:cNvSpPr txBox="1"/>
          <p:nvPr/>
        </p:nvSpPr>
        <p:spPr>
          <a:xfrm>
            <a:off x="1417320" y="539495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Only when the current step passes inspection AND meter-check. We don't get ahead of the Guide.</a:t>
            </a:r>
          </a:p>
        </p:txBody>
      </p:sp>
      <p:cxnSp>
        <p:nvCxnSpPr>
          <p:cNvPr id="26" name="Connector 25"/>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8" name="TextBox 27"/>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05</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Meter-Check</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Discipline</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2:30 – 2:45   ·   15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Three reads, every stage. Continuity good, no shorts, polarity confirmed.</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05</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THREE READS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Every completed stage gets metered before we move on.</a:t>
            </a:r>
          </a:p>
        </p:txBody>
      </p:sp>
      <p:sp>
        <p:nvSpPr>
          <p:cNvPr id="6" name="TextBox 5"/>
          <p:cNvSpPr txBox="1"/>
          <p:nvPr/>
        </p:nvSpPr>
        <p:spPr>
          <a:xfrm>
            <a:off x="822960" y="1783080"/>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The watt meter from 1.3 stays on the bench. The multimeter is the workhorse for these reads.</a:t>
            </a:r>
          </a:p>
        </p:txBody>
      </p:sp>
      <p:sp>
        <p:nvSpPr>
          <p:cNvPr id="7" name="Oval 6"/>
          <p:cNvSpPr/>
          <p:nvPr/>
        </p:nvSpPr>
        <p:spPr>
          <a:xfrm>
            <a:off x="822960" y="233172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1</a:t>
            </a:r>
          </a:p>
        </p:txBody>
      </p:sp>
      <p:sp>
        <p:nvSpPr>
          <p:cNvPr id="9" name="TextBox 8"/>
          <p:cNvSpPr txBox="1"/>
          <p:nvPr/>
        </p:nvSpPr>
        <p:spPr>
          <a:xfrm>
            <a:off x="1417320" y="231343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Continuity from each new joint to its intended next pad</a:t>
            </a:r>
          </a:p>
        </p:txBody>
      </p:sp>
      <p:sp>
        <p:nvSpPr>
          <p:cNvPr id="10" name="TextBox 9"/>
          <p:cNvSpPr txBox="1"/>
          <p:nvPr/>
        </p:nvSpPr>
        <p:spPr>
          <a:xfrm>
            <a:off x="1417320" y="260603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Beep means the joint connects where the schematic says it does. Silence means re-flow or re-route.</a:t>
            </a:r>
          </a:p>
        </p:txBody>
      </p:sp>
      <p:sp>
        <p:nvSpPr>
          <p:cNvPr id="11" name="Oval 10"/>
          <p:cNvSpPr/>
          <p:nvPr/>
        </p:nvSpPr>
        <p:spPr>
          <a:xfrm>
            <a:off x="822960" y="310896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10896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2</a:t>
            </a:r>
          </a:p>
        </p:txBody>
      </p:sp>
      <p:sp>
        <p:nvSpPr>
          <p:cNvPr id="13" name="TextBox 12"/>
          <p:cNvSpPr txBox="1"/>
          <p:nvPr/>
        </p:nvSpPr>
        <p:spPr>
          <a:xfrm>
            <a:off x="1417320" y="309067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No shorts to ground or to neighboring pads</a:t>
            </a:r>
          </a:p>
        </p:txBody>
      </p:sp>
      <p:sp>
        <p:nvSpPr>
          <p:cNvPr id="14" name="TextBox 13"/>
          <p:cNvSpPr txBox="1"/>
          <p:nvPr/>
        </p:nvSpPr>
        <p:spPr>
          <a:xfrm>
            <a:off x="1417320" y="3383279"/>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Probe each new pad against ground and against the pads immediately adjacent. Beep here means a solder bridge — fix it before power.</a:t>
            </a:r>
          </a:p>
        </p:txBody>
      </p:sp>
      <p:sp>
        <p:nvSpPr>
          <p:cNvPr id="15" name="Oval 14"/>
          <p:cNvSpPr/>
          <p:nvPr/>
        </p:nvSpPr>
        <p:spPr>
          <a:xfrm>
            <a:off x="822960" y="3886200"/>
            <a:ext cx="384048" cy="384048"/>
          </a:xfrm>
          <a:prstGeom prst="ellipse">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886200"/>
            <a:ext cx="384048" cy="384048"/>
          </a:xfrm>
          <a:prstGeom prst="rect">
            <a:avLst/>
          </a:prstGeom>
          <a:noFill/>
        </p:spPr>
        <p:txBody>
          <a:bodyPr wrap="square" lIns="0" rIns="0" tIns="0" bIns="0" anchor="ctr">
            <a:spAutoFit/>
          </a:bodyPr>
          <a:lstStyle/>
          <a:p>
            <a:pPr algn="ctr"/>
            <a:r>
              <a:rPr sz="1300" b="1" i="0">
                <a:solidFill>
                  <a:srgbClr val="FFFFFF"/>
                </a:solidFill>
                <a:latin typeface="Helvetica Neue"/>
              </a:rPr>
              <a:t>3</a:t>
            </a:r>
          </a:p>
        </p:txBody>
      </p:sp>
      <p:sp>
        <p:nvSpPr>
          <p:cNvPr id="17" name="TextBox 16"/>
          <p:cNvSpPr txBox="1"/>
          <p:nvPr/>
        </p:nvSpPr>
        <p:spPr>
          <a:xfrm>
            <a:off x="1417320" y="3867912"/>
            <a:ext cx="9875520" cy="274320"/>
          </a:xfrm>
          <a:prstGeom prst="rect">
            <a:avLst/>
          </a:prstGeom>
          <a:noFill/>
        </p:spPr>
        <p:txBody>
          <a:bodyPr wrap="square" lIns="0" rIns="0" tIns="0" bIns="0" anchor="t">
            <a:spAutoFit/>
          </a:bodyPr>
          <a:lstStyle/>
          <a:p>
            <a:pPr algn="l"/>
            <a:r>
              <a:rPr sz="1350" b="1" i="0">
                <a:solidFill>
                  <a:srgbClr val="1D1D1F"/>
                </a:solidFill>
                <a:latin typeface="Helvetica Neue"/>
              </a:rPr>
              <a:t>Polarity confirmed against the Guide image</a:t>
            </a:r>
          </a:p>
        </p:txBody>
      </p:sp>
      <p:sp>
        <p:nvSpPr>
          <p:cNvPr id="18" name="TextBox 17"/>
          <p:cNvSpPr txBox="1"/>
          <p:nvPr/>
        </p:nvSpPr>
        <p:spPr>
          <a:xfrm>
            <a:off x="1417320" y="4160520"/>
            <a:ext cx="9875520" cy="411480"/>
          </a:xfrm>
          <a:prstGeom prst="rect">
            <a:avLst/>
          </a:prstGeom>
          <a:noFill/>
        </p:spPr>
        <p:txBody>
          <a:bodyPr wrap="square" lIns="0" rIns="0" tIns="0" bIns="0" anchor="t">
            <a:spAutoFit/>
          </a:bodyPr>
          <a:lstStyle/>
          <a:p>
            <a:pPr algn="l">
              <a:lnSpc>
                <a:spcPct val="125000"/>
              </a:lnSpc>
            </a:pPr>
            <a:r>
              <a:rPr sz="1100" b="0" i="0">
                <a:solidFill>
                  <a:srgbClr val="6E6E73"/>
                </a:solidFill>
                <a:latin typeface="Helvetica Neue"/>
              </a:rPr>
              <a:t>Eyes on the silkscreen, eyes on the Guide, eyes on the component. Three references; one orientation. If two agree and one doesn't, stop and figure out which is wrong.</a:t>
            </a:r>
          </a:p>
        </p:txBody>
      </p:sp>
      <p:cxnSp>
        <p:nvCxnSpPr>
          <p:cNvPr id="19" name="Connector 18"/>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1" name="TextBox 20"/>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822960" y="960120"/>
            <a:ext cx="365760" cy="36576"/>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78992"/>
            <a:ext cx="5486400" cy="292608"/>
          </a:xfrm>
          <a:prstGeom prst="rect">
            <a:avLst/>
          </a:prstGeom>
          <a:noFill/>
        </p:spPr>
        <p:txBody>
          <a:bodyPr wrap="square" lIns="0" rIns="0" tIns="0" bIns="0" anchor="t">
            <a:spAutoFit/>
          </a:bodyPr>
          <a:lstStyle/>
          <a:p>
            <a:pPr algn="l"/>
            <a:r>
              <a:rPr sz="1200" b="1" i="0" cap="all" spc="200">
                <a:solidFill>
                  <a:srgbClr val="0D7490"/>
                </a:solidFill>
                <a:latin typeface="Helvetica Neue"/>
              </a:rPr>
              <a:t>SECTION 06</a:t>
            </a:r>
          </a:p>
        </p:txBody>
      </p:sp>
      <p:sp>
        <p:nvSpPr>
          <p:cNvPr id="6" name="TextBox 5"/>
          <p:cNvSpPr txBox="1"/>
          <p:nvPr/>
        </p:nvSpPr>
        <p:spPr>
          <a:xfrm>
            <a:off x="804672" y="14173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Wrap-Up &amp;</a:t>
            </a:r>
          </a:p>
        </p:txBody>
      </p:sp>
      <p:sp>
        <p:nvSpPr>
          <p:cNvPr id="7" name="TextBox 6"/>
          <p:cNvSpPr txBox="1"/>
          <p:nvPr/>
        </p:nvSpPr>
        <p:spPr>
          <a:xfrm>
            <a:off x="804672" y="2103120"/>
            <a:ext cx="6858000" cy="594360"/>
          </a:xfrm>
          <a:prstGeom prst="rect">
            <a:avLst/>
          </a:prstGeom>
          <a:noFill/>
        </p:spPr>
        <p:txBody>
          <a:bodyPr wrap="square" lIns="0" rIns="0" tIns="0" bIns="0" anchor="t">
            <a:spAutoFit/>
          </a:bodyPr>
          <a:lstStyle/>
          <a:p>
            <a:pPr algn="l">
              <a:lnSpc>
                <a:spcPct val="105000"/>
              </a:lnSpc>
            </a:pPr>
            <a:r>
              <a:rPr sz="4000" b="1" i="0">
                <a:solidFill>
                  <a:srgbClr val="1D1D1F"/>
                </a:solidFill>
                <a:latin typeface="Helvetica Neue"/>
              </a:rPr>
              <a:t>Homework</a:t>
            </a:r>
          </a:p>
        </p:txBody>
      </p:sp>
      <p:sp>
        <p:nvSpPr>
          <p:cNvPr id="8" name="Rounded Rectangle 7"/>
          <p:cNvSpPr/>
          <p:nvPr/>
        </p:nvSpPr>
        <p:spPr>
          <a:xfrm>
            <a:off x="822960" y="2880360"/>
            <a:ext cx="2743200" cy="365760"/>
          </a:xfrm>
          <a:prstGeom prst="round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80360"/>
            <a:ext cx="2743200" cy="365760"/>
          </a:xfrm>
          <a:prstGeom prst="rect">
            <a:avLst/>
          </a:prstGeom>
          <a:noFill/>
        </p:spPr>
        <p:txBody>
          <a:bodyPr wrap="square" lIns="0" rIns="0" tIns="0" bIns="0" anchor="ctr">
            <a:spAutoFit/>
          </a:bodyPr>
          <a:lstStyle/>
          <a:p>
            <a:pPr algn="ctr"/>
            <a:r>
              <a:rPr sz="1200" b="1" i="0" cap="all" spc="150">
                <a:solidFill>
                  <a:srgbClr val="FFFFFF"/>
                </a:solidFill>
                <a:latin typeface="Helvetica Neue"/>
              </a:rPr>
              <a:t>2:45 – 3:00   ·   15 MIN</a:t>
            </a:r>
          </a:p>
        </p:txBody>
      </p:sp>
      <p:sp>
        <p:nvSpPr>
          <p:cNvPr id="10" name="TextBox 9"/>
          <p:cNvSpPr txBox="1"/>
          <p:nvPr/>
        </p:nvSpPr>
        <p:spPr>
          <a:xfrm>
            <a:off x="822960" y="3520439"/>
            <a:ext cx="7315200" cy="731520"/>
          </a:xfrm>
          <a:prstGeom prst="rect">
            <a:avLst/>
          </a:prstGeom>
          <a:noFill/>
        </p:spPr>
        <p:txBody>
          <a:bodyPr wrap="square" lIns="0" rIns="0" tIns="0" bIns="0" anchor="t">
            <a:spAutoFit/>
          </a:bodyPr>
          <a:lstStyle/>
          <a:p>
            <a:pPr algn="l"/>
            <a:r>
              <a:rPr sz="1600" b="0" i="1">
                <a:solidFill>
                  <a:srgbClr val="6E6E73"/>
                </a:solidFill>
                <a:latin typeface="Helvetica Neue"/>
              </a:rPr>
              <a:t>Capture what we decided. Close the loop. Hand off the next move.</a:t>
            </a:r>
          </a:p>
        </p:txBody>
      </p:sp>
      <p:sp>
        <p:nvSpPr>
          <p:cNvPr id="11" name="TextBox 10"/>
          <p:cNvSpPr txBox="1"/>
          <p:nvPr/>
        </p:nvSpPr>
        <p:spPr>
          <a:xfrm>
            <a:off x="6858000" y="914400"/>
            <a:ext cx="5330952" cy="5029200"/>
          </a:xfrm>
          <a:prstGeom prst="rect">
            <a:avLst/>
          </a:prstGeom>
          <a:noFill/>
        </p:spPr>
        <p:txBody>
          <a:bodyPr wrap="square" lIns="0" rIns="0" tIns="0" bIns="0" anchor="t">
            <a:spAutoFit/>
          </a:bodyPr>
          <a:lstStyle/>
          <a:p>
            <a:pPr algn="r"/>
            <a:r>
              <a:rPr sz="36000" b="1" i="0">
                <a:solidFill>
                  <a:srgbClr val="EEF0F1"/>
                </a:solidFill>
                <a:latin typeface="Helvetica Neue"/>
              </a:rPr>
              <a:t>06</a:t>
            </a:r>
          </a:p>
        </p:txBody>
      </p:sp>
      <p:cxnSp>
        <p:nvCxnSpPr>
          <p:cNvPr id="12" name="Connector 11"/>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14" name="TextBox 13"/>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WRAP-UP &amp; HOMEWORK</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Before we meet again.</a:t>
            </a:r>
          </a:p>
        </p:txBody>
      </p:sp>
      <p:sp>
        <p:nvSpPr>
          <p:cNvPr id="6" name="TextBox 5"/>
          <p:cNvSpPr txBox="1"/>
          <p:nvPr/>
        </p:nvSpPr>
        <p:spPr>
          <a:xfrm>
            <a:off x="822960" y="1828800"/>
            <a:ext cx="5029200" cy="320040"/>
          </a:xfrm>
          <a:prstGeom prst="rect">
            <a:avLst/>
          </a:prstGeom>
          <a:noFill/>
        </p:spPr>
        <p:txBody>
          <a:bodyPr wrap="square" lIns="0" rIns="0" tIns="0" bIns="0" anchor="t">
            <a:spAutoFit/>
          </a:bodyPr>
          <a:lstStyle/>
          <a:p>
            <a:pPr algn="l"/>
            <a:r>
              <a:rPr sz="1000" b="1" i="0" cap="all" spc="180">
                <a:solidFill>
                  <a:srgbClr val="0D7490"/>
                </a:solidFill>
                <a:latin typeface="Helvetica Neue"/>
              </a:rPr>
              <a:t>EVERY STUDENT</a:t>
            </a:r>
          </a:p>
        </p:txBody>
      </p:sp>
      <p:sp>
        <p:nvSpPr>
          <p:cNvPr id="7" name="Oval 6"/>
          <p:cNvSpPr/>
          <p:nvPr/>
        </p:nvSpPr>
        <p:spPr>
          <a:xfrm>
            <a:off x="822960" y="224028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1</a:t>
            </a:r>
          </a:p>
        </p:txBody>
      </p:sp>
      <p:sp>
        <p:nvSpPr>
          <p:cNvPr id="9" name="TextBox 8"/>
          <p:cNvSpPr txBox="1"/>
          <p:nvPr/>
        </p:nvSpPr>
        <p:spPr>
          <a:xfrm>
            <a:off x="1280160" y="2221992"/>
            <a:ext cx="4389120" cy="777240"/>
          </a:xfrm>
          <a:prstGeom prst="rect">
            <a:avLst/>
          </a:prstGeom>
          <a:noFill/>
        </p:spPr>
        <p:txBody>
          <a:bodyPr wrap="square" lIns="0" rIns="0" tIns="0" bIns="0" anchor="t">
            <a:spAutoFit/>
          </a:bodyPr>
          <a:lstStyle/>
          <a:p>
            <a:pPr algn="l">
              <a:lnSpc>
                <a:spcPct val="125000"/>
              </a:lnSpc>
            </a:pPr>
            <a:r>
              <a:rPr sz="1150" b="0" i="0">
                <a:solidFill>
                  <a:srgbClr val="1D1D1F"/>
                </a:solidFill>
                <a:latin typeface="Helvetica Neue"/>
              </a:rPr>
              <a:t>Re-read the SeaMATE TriggerFish ROV Guide slides we covered tonight. If you led a joint, be able to explain why the polarity went the way it did.</a:t>
            </a:r>
          </a:p>
        </p:txBody>
      </p:sp>
      <p:sp>
        <p:nvSpPr>
          <p:cNvPr id="10" name="Oval 9"/>
          <p:cNvSpPr/>
          <p:nvPr/>
        </p:nvSpPr>
        <p:spPr>
          <a:xfrm>
            <a:off x="822960" y="310896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10896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2</a:t>
            </a:r>
          </a:p>
        </p:txBody>
      </p:sp>
      <p:sp>
        <p:nvSpPr>
          <p:cNvPr id="12" name="TextBox 11"/>
          <p:cNvSpPr txBox="1"/>
          <p:nvPr/>
        </p:nvSpPr>
        <p:spPr>
          <a:xfrm>
            <a:off x="1280160" y="3090672"/>
            <a:ext cx="4389120" cy="777240"/>
          </a:xfrm>
          <a:prstGeom prst="rect">
            <a:avLst/>
          </a:prstGeom>
          <a:noFill/>
        </p:spPr>
        <p:txBody>
          <a:bodyPr wrap="square" lIns="0" rIns="0" tIns="0" bIns="0" anchor="t">
            <a:spAutoFit/>
          </a:bodyPr>
          <a:lstStyle/>
          <a:p>
            <a:pPr algn="l">
              <a:lnSpc>
                <a:spcPct val="125000"/>
              </a:lnSpc>
            </a:pPr>
            <a:r>
              <a:rPr sz="1150" b="0" i="0">
                <a:solidFill>
                  <a:srgbClr val="1D1D1F"/>
                </a:solidFill>
                <a:latin typeface="Helvetica Neue"/>
              </a:rPr>
              <a:t>Bring closed-toe shoes again next week — we power the board up for the first time in 1.6.</a:t>
            </a:r>
          </a:p>
        </p:txBody>
      </p:sp>
      <p:sp>
        <p:nvSpPr>
          <p:cNvPr id="13" name="Oval 12"/>
          <p:cNvSpPr/>
          <p:nvPr/>
        </p:nvSpPr>
        <p:spPr>
          <a:xfrm>
            <a:off x="822960" y="3977640"/>
            <a:ext cx="310896" cy="310896"/>
          </a:xfrm>
          <a:prstGeom prst="ellipse">
            <a:avLst/>
          </a:prstGeom>
          <a:solidFill>
            <a:srgbClr val="EAF2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977640"/>
            <a:ext cx="310896" cy="310896"/>
          </a:xfrm>
          <a:prstGeom prst="rect">
            <a:avLst/>
          </a:prstGeom>
          <a:noFill/>
        </p:spPr>
        <p:txBody>
          <a:bodyPr wrap="square" lIns="0" rIns="0" tIns="0" bIns="0" anchor="ctr">
            <a:spAutoFit/>
          </a:bodyPr>
          <a:lstStyle/>
          <a:p>
            <a:pPr algn="ctr"/>
            <a:r>
              <a:rPr sz="1200" b="1" i="0">
                <a:solidFill>
                  <a:srgbClr val="0D7490"/>
                </a:solidFill>
                <a:latin typeface="Helvetica Neue"/>
              </a:rPr>
              <a:t>3</a:t>
            </a:r>
          </a:p>
        </p:txBody>
      </p:sp>
      <p:sp>
        <p:nvSpPr>
          <p:cNvPr id="15" name="TextBox 14"/>
          <p:cNvSpPr txBox="1"/>
          <p:nvPr/>
        </p:nvSpPr>
        <p:spPr>
          <a:xfrm>
            <a:off x="1280160" y="3959352"/>
            <a:ext cx="4389120" cy="777240"/>
          </a:xfrm>
          <a:prstGeom prst="rect">
            <a:avLst/>
          </a:prstGeom>
          <a:noFill/>
        </p:spPr>
        <p:txBody>
          <a:bodyPr wrap="square" lIns="0" rIns="0" tIns="0" bIns="0" anchor="t">
            <a:spAutoFit/>
          </a:bodyPr>
          <a:lstStyle/>
          <a:p>
            <a:pPr algn="l">
              <a:lnSpc>
                <a:spcPct val="125000"/>
              </a:lnSpc>
            </a:pPr>
            <a:r>
              <a:rPr sz="1150" b="0" i="0">
                <a:solidFill>
                  <a:srgbClr val="1D1D1F"/>
                </a:solidFill>
                <a:latin typeface="Helvetica Neue"/>
              </a:rPr>
              <a:t>If you didn't get a turn at the iron tonight, message the CEO so you're at the top of the rotation in 1.6.</a:t>
            </a:r>
          </a:p>
        </p:txBody>
      </p:sp>
      <p:sp>
        <p:nvSpPr>
          <p:cNvPr id="16" name="Rectangle 15"/>
          <p:cNvSpPr/>
          <p:nvPr/>
        </p:nvSpPr>
        <p:spPr>
          <a:xfrm>
            <a:off x="5989320" y="1828800"/>
            <a:ext cx="5376672" cy="150876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1920240"/>
            <a:ext cx="4846320" cy="320040"/>
          </a:xfrm>
          <a:prstGeom prst="rect">
            <a:avLst/>
          </a:prstGeom>
          <a:noFill/>
        </p:spPr>
        <p:txBody>
          <a:bodyPr wrap="square" lIns="0" rIns="0" tIns="0" bIns="0" anchor="t">
            <a:spAutoFit/>
          </a:bodyPr>
          <a:lstStyle/>
          <a:p>
            <a:pPr algn="l"/>
            <a:r>
              <a:rPr sz="1000" b="1" i="0" cap="all" spc="180">
                <a:solidFill>
                  <a:srgbClr val="0D7490"/>
                </a:solidFill>
                <a:latin typeface="Helvetica Neue"/>
              </a:rPr>
              <a:t>THE PARALLEL TRACK  ·  LEADS &amp; ADVISORS</a:t>
            </a:r>
          </a:p>
        </p:txBody>
      </p:sp>
      <p:sp>
        <p:nvSpPr>
          <p:cNvPr id="18" name="TextBox 17"/>
          <p:cNvSpPr txBox="1"/>
          <p:nvPr/>
        </p:nvSpPr>
        <p:spPr>
          <a:xfrm>
            <a:off x="6263640" y="2240280"/>
            <a:ext cx="4846320" cy="1051560"/>
          </a:xfrm>
          <a:prstGeom prst="rect">
            <a:avLst/>
          </a:prstGeom>
          <a:noFill/>
        </p:spPr>
        <p:txBody>
          <a:bodyPr wrap="square" lIns="0" rIns="0" tIns="0" bIns="0" anchor="t">
            <a:spAutoFit/>
          </a:bodyPr>
          <a:lstStyle/>
          <a:p>
            <a:pPr algn="l">
              <a:lnSpc>
                <a:spcPct val="130000"/>
              </a:lnSpc>
            </a:pPr>
            <a:r>
              <a:rPr sz="1150" b="0" i="0">
                <a:solidFill>
                  <a:srgbClr val="6E6E73"/>
                </a:solidFill>
                <a:latin typeface="Helvetica Neue"/>
              </a:rPr>
              <a:t>Advisors: confirm the 12V SLA battery, charger, and power leads are in hand by Wednesday — they're the gating items for 1.6's smoke test. Confirm the pre-terminated tether arrived; if not, escalate the order.</a:t>
            </a:r>
          </a:p>
        </p:txBody>
      </p:sp>
      <p:sp>
        <p:nvSpPr>
          <p:cNvPr id="19" name="Rectangle 18"/>
          <p:cNvSpPr/>
          <p:nvPr/>
        </p:nvSpPr>
        <p:spPr>
          <a:xfrm>
            <a:off x="5989320" y="3474720"/>
            <a:ext cx="5376672" cy="2286000"/>
          </a:xfrm>
          <a:prstGeom prst="rect">
            <a:avLst/>
          </a:prstGeom>
          <a:solidFill>
            <a:srgbClr val="FBFBFD"/>
          </a:solidFill>
          <a:ln w="9525">
            <a:solidFill>
              <a:srgbClr val="E3E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566160"/>
            <a:ext cx="4846320" cy="320040"/>
          </a:xfrm>
          <a:prstGeom prst="rect">
            <a:avLst/>
          </a:prstGeom>
          <a:noFill/>
        </p:spPr>
        <p:txBody>
          <a:bodyPr wrap="square" lIns="0" rIns="0" tIns="0" bIns="0" anchor="t">
            <a:spAutoFit/>
          </a:bodyPr>
          <a:lstStyle/>
          <a:p>
            <a:pPr algn="l"/>
            <a:r>
              <a:rPr sz="1000" b="1" i="0" cap="all" spc="180">
                <a:solidFill>
                  <a:srgbClr val="0D7490"/>
                </a:solidFill>
                <a:latin typeface="Helvetica Neue"/>
              </a:rPr>
              <a:t>NEXT MEETING  ·  WEEK 6</a:t>
            </a:r>
          </a:p>
        </p:txBody>
      </p:sp>
      <p:sp>
        <p:nvSpPr>
          <p:cNvPr id="21" name="TextBox 20"/>
          <p:cNvSpPr txBox="1"/>
          <p:nvPr/>
        </p:nvSpPr>
        <p:spPr>
          <a:xfrm>
            <a:off x="6263640" y="3886200"/>
            <a:ext cx="4846320" cy="502920"/>
          </a:xfrm>
          <a:prstGeom prst="rect">
            <a:avLst/>
          </a:prstGeom>
          <a:noFill/>
        </p:spPr>
        <p:txBody>
          <a:bodyPr wrap="square" lIns="0" rIns="0" tIns="0" bIns="0" anchor="t">
            <a:spAutoFit/>
          </a:bodyPr>
          <a:lstStyle/>
          <a:p>
            <a:pPr algn="l">
              <a:lnSpc>
                <a:spcPct val="105000"/>
              </a:lnSpc>
            </a:pPr>
            <a:r>
              <a:rPr sz="2000" b="1" i="0">
                <a:solidFill>
                  <a:srgbClr val="1D1D1F"/>
                </a:solidFill>
                <a:latin typeface="Helvetica Neue"/>
              </a:rPr>
              <a:t>Control Box II</a:t>
            </a:r>
          </a:p>
        </p:txBody>
      </p:sp>
      <p:sp>
        <p:nvSpPr>
          <p:cNvPr id="22" name="TextBox 21"/>
          <p:cNvSpPr txBox="1"/>
          <p:nvPr/>
        </p:nvSpPr>
        <p:spPr>
          <a:xfrm>
            <a:off x="6263640" y="4663440"/>
            <a:ext cx="4846320" cy="1097280"/>
          </a:xfrm>
          <a:prstGeom prst="rect">
            <a:avLst/>
          </a:prstGeom>
          <a:noFill/>
        </p:spPr>
        <p:txBody>
          <a:bodyPr wrap="square" lIns="0" rIns="0" tIns="0" bIns="0" anchor="t">
            <a:spAutoFit/>
          </a:bodyPr>
          <a:lstStyle/>
          <a:p>
            <a:pPr algn="l">
              <a:lnSpc>
                <a:spcPct val="130000"/>
              </a:lnSpc>
            </a:pPr>
            <a:r>
              <a:rPr sz="1150" b="0" i="1">
                <a:solidFill>
                  <a:srgbClr val="6E6E73"/>
                </a:solidFill>
                <a:latin typeface="Helvetica Neue"/>
              </a:rPr>
              <a:t>Finish the wiring. Build the ROV's power wire. Connect the tether. Fuse the circuit to measured full-load amps. Meter-check every stage before first power-up.</a:t>
            </a:r>
          </a:p>
        </p:txBody>
      </p:sp>
      <p:cxnSp>
        <p:nvCxnSpPr>
          <p:cNvPr id="23" name="Connector 22"/>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5" name="TextBox 24"/>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ACTION ITEMS</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What we decided. Who owns it. When it's due.</a:t>
            </a:r>
          </a:p>
        </p:txBody>
      </p:sp>
      <p:sp>
        <p:nvSpPr>
          <p:cNvPr id="6" name="TextBox 5"/>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The Notetaker fills these in during the meeting and reads them back before we leave.</a:t>
            </a:r>
          </a:p>
        </p:txBody>
      </p:sp>
      <p:sp>
        <p:nvSpPr>
          <p:cNvPr id="7" name="Rectangle 6"/>
          <p:cNvSpPr/>
          <p:nvPr/>
        </p:nvSpPr>
        <p:spPr>
          <a:xfrm>
            <a:off x="822960" y="2423160"/>
            <a:ext cx="10543032" cy="384048"/>
          </a:xfrm>
          <a:prstGeom prst="rect">
            <a:avLst/>
          </a:prstGeom>
          <a:solidFill>
            <a:srgbClr val="0D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459736"/>
            <a:ext cx="548640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ITEM</a:t>
            </a:r>
          </a:p>
        </p:txBody>
      </p:sp>
      <p:sp>
        <p:nvSpPr>
          <p:cNvPr id="9" name="TextBox 8"/>
          <p:cNvSpPr txBox="1"/>
          <p:nvPr/>
        </p:nvSpPr>
        <p:spPr>
          <a:xfrm>
            <a:off x="6784848" y="2459736"/>
            <a:ext cx="2011680"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OWNER</a:t>
            </a:r>
          </a:p>
        </p:txBody>
      </p:sp>
      <p:sp>
        <p:nvSpPr>
          <p:cNvPr id="10" name="TextBox 9"/>
          <p:cNvSpPr txBox="1"/>
          <p:nvPr/>
        </p:nvSpPr>
        <p:spPr>
          <a:xfrm>
            <a:off x="9070848" y="2459736"/>
            <a:ext cx="2221992" cy="310896"/>
          </a:xfrm>
          <a:prstGeom prst="rect">
            <a:avLst/>
          </a:prstGeom>
          <a:noFill/>
        </p:spPr>
        <p:txBody>
          <a:bodyPr wrap="square" lIns="0" rIns="0" tIns="0" bIns="0" anchor="t">
            <a:spAutoFit/>
          </a:bodyPr>
          <a:lstStyle/>
          <a:p>
            <a:pPr algn="l"/>
            <a:r>
              <a:rPr sz="1000" b="1" i="0" cap="all" spc="180">
                <a:solidFill>
                  <a:srgbClr val="FFFFFF"/>
                </a:solidFill>
                <a:latin typeface="Helvetica Neue"/>
              </a:rPr>
              <a:t>DUE</a:t>
            </a:r>
          </a:p>
        </p:txBody>
      </p:sp>
      <p:cxnSp>
        <p:nvCxnSpPr>
          <p:cNvPr id="11" name="Connector 10"/>
          <p:cNvCxnSpPr/>
          <p:nvPr/>
        </p:nvCxnSpPr>
        <p:spPr>
          <a:xfrm>
            <a:off x="822960" y="3374136"/>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583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869680" y="2807208"/>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4128" y="3209544"/>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84848" y="3209544"/>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70848" y="3209544"/>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22960" y="3941063"/>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83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69680" y="3374136"/>
            <a:ext cx="0" cy="566927"/>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24128" y="3776472"/>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84848" y="3776472"/>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070848" y="3776472"/>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22960" y="4507992"/>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83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869680" y="3941063"/>
            <a:ext cx="0" cy="566929"/>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24128" y="4343400"/>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784848" y="4343400"/>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070848" y="4343400"/>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22960" y="5074920"/>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583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69680" y="4507992"/>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24128" y="4910328"/>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784848" y="4910328"/>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070848" y="4910328"/>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22960" y="5641848"/>
            <a:ext cx="10543032" cy="0"/>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83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869680" y="5074920"/>
            <a:ext cx="0" cy="566928"/>
          </a:xfrm>
          <a:prstGeom prst="line">
            <a:avLst/>
          </a:prstGeom>
          <a:ln w="6350">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24128" y="5477256"/>
            <a:ext cx="535838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784848" y="5477256"/>
            <a:ext cx="1883664"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070848" y="5477256"/>
            <a:ext cx="2093976" cy="0"/>
          </a:xfrm>
          <a:prstGeom prst="line">
            <a:avLst/>
          </a:prstGeom>
          <a:ln w="4445">
            <a:solidFill>
              <a:srgbClr val="E3E3E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43" name="TextBox 4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822960" y="530352"/>
            <a:ext cx="10515600" cy="292608"/>
          </a:xfrm>
          <a:prstGeom prst="rect">
            <a:avLst/>
          </a:prstGeom>
          <a:noFill/>
        </p:spPr>
        <p:txBody>
          <a:bodyPr wrap="square" lIns="0" rIns="0" tIns="0" bIns="0" anchor="t">
            <a:spAutoFit/>
          </a:bodyPr>
          <a:lstStyle/>
          <a:p>
            <a:pPr algn="l"/>
            <a:r>
              <a:rPr sz="1200" b="1" i="0" cap="all" spc="180">
                <a:solidFill>
                  <a:srgbClr val="0D7490"/>
                </a:solidFill>
                <a:latin typeface="Helvetica Neue"/>
              </a:rPr>
              <a:t>BEFORE WE LEAVE</a:t>
            </a:r>
          </a:p>
        </p:txBody>
      </p:sp>
      <p:sp>
        <p:nvSpPr>
          <p:cNvPr id="5" name="TextBox 4"/>
          <p:cNvSpPr txBox="1"/>
          <p:nvPr/>
        </p:nvSpPr>
        <p:spPr>
          <a:xfrm>
            <a:off x="804672" y="822960"/>
            <a:ext cx="10515600" cy="868680"/>
          </a:xfrm>
          <a:prstGeom prst="rect">
            <a:avLst/>
          </a:prstGeom>
          <a:noFill/>
        </p:spPr>
        <p:txBody>
          <a:bodyPr wrap="square" lIns="0" rIns="0" tIns="0" bIns="0" anchor="t">
            <a:spAutoFit/>
          </a:bodyPr>
          <a:lstStyle/>
          <a:p>
            <a:pPr algn="l">
              <a:lnSpc>
                <a:spcPct val="105000"/>
              </a:lnSpc>
            </a:pPr>
            <a:r>
              <a:rPr sz="3000" b="1" i="0">
                <a:solidFill>
                  <a:srgbClr val="1D1D1F"/>
                </a:solidFill>
                <a:latin typeface="Helvetica Neue"/>
              </a:rPr>
              <a:t>Tools accounted for. Shop reset.</a:t>
            </a:r>
          </a:p>
        </p:txBody>
      </p:sp>
      <p:sp>
        <p:nvSpPr>
          <p:cNvPr id="6" name="TextBox 5"/>
          <p:cNvSpPr txBox="1"/>
          <p:nvPr/>
        </p:nvSpPr>
        <p:spPr>
          <a:xfrm>
            <a:off x="822960" y="1700784"/>
            <a:ext cx="10515600" cy="457200"/>
          </a:xfrm>
          <a:prstGeom prst="rect">
            <a:avLst/>
          </a:prstGeom>
          <a:noFill/>
        </p:spPr>
        <p:txBody>
          <a:bodyPr wrap="square" lIns="0" rIns="0" tIns="0" bIns="0" anchor="t">
            <a:spAutoFit/>
          </a:bodyPr>
          <a:lstStyle/>
          <a:p>
            <a:pPr algn="l"/>
            <a:r>
              <a:rPr sz="1400" b="0" i="1">
                <a:solidFill>
                  <a:srgbClr val="6E6E73"/>
                </a:solidFill>
                <a:latin typeface="Helvetica Neue"/>
              </a:rPr>
              <a:t>We do this together, every meeting. No exceptions — the Tool Steward leads.</a:t>
            </a:r>
          </a:p>
        </p:txBody>
      </p:sp>
      <p:sp>
        <p:nvSpPr>
          <p:cNvPr id="7" name="Rectangle 6"/>
          <p:cNvSpPr/>
          <p:nvPr/>
        </p:nvSpPr>
        <p:spPr>
          <a:xfrm>
            <a:off x="822960" y="242316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08176" y="240487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Soldering irons unplugged, cool, and put away.</a:t>
            </a:r>
          </a:p>
        </p:txBody>
      </p:sp>
      <p:sp>
        <p:nvSpPr>
          <p:cNvPr id="9" name="Rectangle 8"/>
          <p:cNvSpPr/>
          <p:nvPr/>
        </p:nvSpPr>
        <p:spPr>
          <a:xfrm>
            <a:off x="822960" y="2990088"/>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8176" y="2971800"/>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PufferFish boards collected; loose components back in the kit.</a:t>
            </a:r>
          </a:p>
        </p:txBody>
      </p:sp>
      <p:sp>
        <p:nvSpPr>
          <p:cNvPr id="11" name="Rectangle 10"/>
          <p:cNvSpPr/>
          <p:nvPr/>
        </p:nvSpPr>
        <p:spPr>
          <a:xfrm>
            <a:off x="822960" y="3557015"/>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8176" y="3538727"/>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TriggerFish board secured in its tray; iPad with the Guide returned.</a:t>
            </a:r>
          </a:p>
        </p:txBody>
      </p:sp>
      <p:sp>
        <p:nvSpPr>
          <p:cNvPr id="13" name="Rectangle 12"/>
          <p:cNvSpPr/>
          <p:nvPr/>
        </p:nvSpPr>
        <p:spPr>
          <a:xfrm>
            <a:off x="822960" y="4123944"/>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08176" y="4105656"/>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Multimeter and watt meter back in their cases.</a:t>
            </a:r>
          </a:p>
        </p:txBody>
      </p:sp>
      <p:sp>
        <p:nvSpPr>
          <p:cNvPr id="15" name="Rectangle 14"/>
          <p:cNvSpPr/>
          <p:nvPr/>
        </p:nvSpPr>
        <p:spPr>
          <a:xfrm>
            <a:off x="822960" y="4690872"/>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08176" y="4672584"/>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Workshop swept; benches wiped.</a:t>
            </a:r>
          </a:p>
        </p:txBody>
      </p:sp>
      <p:sp>
        <p:nvSpPr>
          <p:cNvPr id="17" name="Rectangle 16"/>
          <p:cNvSpPr/>
          <p:nvPr/>
        </p:nvSpPr>
        <p:spPr>
          <a:xfrm>
            <a:off x="822960" y="5257800"/>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08176" y="5239512"/>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Today's photos uploaded to the team folder.</a:t>
            </a:r>
          </a:p>
        </p:txBody>
      </p:sp>
      <p:sp>
        <p:nvSpPr>
          <p:cNvPr id="19" name="Rectangle 18"/>
          <p:cNvSpPr/>
          <p:nvPr/>
        </p:nvSpPr>
        <p:spPr>
          <a:xfrm>
            <a:off x="822960" y="5824727"/>
            <a:ext cx="310896" cy="310896"/>
          </a:xfrm>
          <a:prstGeom prst="rect">
            <a:avLst/>
          </a:prstGeom>
          <a:solidFill>
            <a:srgbClr val="FFFFFF"/>
          </a:solidFill>
          <a:ln w="12700">
            <a:solidFill>
              <a:srgbClr val="868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08176" y="5806440"/>
            <a:ext cx="9957815" cy="402336"/>
          </a:xfrm>
          <a:prstGeom prst="rect">
            <a:avLst/>
          </a:prstGeom>
          <a:noFill/>
        </p:spPr>
        <p:txBody>
          <a:bodyPr wrap="square" lIns="0" rIns="0" tIns="0" bIns="0" anchor="ctr">
            <a:spAutoFit/>
          </a:bodyPr>
          <a:lstStyle/>
          <a:p>
            <a:pPr algn="l"/>
            <a:r>
              <a:rPr sz="1400" b="0" i="0">
                <a:solidFill>
                  <a:srgbClr val="1D1D1F"/>
                </a:solidFill>
                <a:latin typeface="Helvetica Neue"/>
              </a:rPr>
              <a:t>Notetaker's meeting notes filed with the CFO for the engineering notebook.</a:t>
            </a:r>
          </a:p>
        </p:txBody>
      </p:sp>
      <p:cxnSp>
        <p:nvCxnSpPr>
          <p:cNvPr id="21" name="Connector 20"/>
          <p:cNvCxnSpPr/>
          <p:nvPr/>
        </p:nvCxnSpPr>
        <p:spPr>
          <a:xfrm>
            <a:off x="822960" y="6437376"/>
            <a:ext cx="10543032" cy="0"/>
          </a:xfrm>
          <a:prstGeom prst="line">
            <a:avLst/>
          </a:prstGeom>
          <a:ln w="9525">
            <a:solidFill>
              <a:srgbClr val="E3E3E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6473952"/>
            <a:ext cx="5486400" cy="274320"/>
          </a:xfrm>
          <a:prstGeom prst="rect">
            <a:avLst/>
          </a:prstGeom>
          <a:noFill/>
        </p:spPr>
        <p:txBody>
          <a:bodyPr wrap="square" lIns="0" rIns="0" tIns="0" bIns="0" anchor="t">
            <a:spAutoFit/>
          </a:bodyPr>
          <a:lstStyle/>
          <a:p>
            <a:pPr algn="l"/>
            <a:r>
              <a:rPr sz="750" b="1" i="0" cap="all" spc="180">
                <a:solidFill>
                  <a:srgbClr val="86868B"/>
                </a:solidFill>
                <a:latin typeface="Helvetica Neue"/>
              </a:rPr>
              <a:t>SAY WATT ROBOTICS  ·  ROV TEAM</a:t>
            </a:r>
          </a:p>
        </p:txBody>
      </p:sp>
      <p:sp>
        <p:nvSpPr>
          <p:cNvPr id="23" name="TextBox 22"/>
          <p:cNvSpPr txBox="1"/>
          <p:nvPr/>
        </p:nvSpPr>
        <p:spPr>
          <a:xfrm>
            <a:off x="5879592" y="6473952"/>
            <a:ext cx="5486400" cy="274320"/>
          </a:xfrm>
          <a:prstGeom prst="rect">
            <a:avLst/>
          </a:prstGeom>
          <a:noFill/>
        </p:spPr>
        <p:txBody>
          <a:bodyPr wrap="square" lIns="0" rIns="0" tIns="0" bIns="0" anchor="t">
            <a:spAutoFit/>
          </a:bodyPr>
          <a:lstStyle/>
          <a:p>
            <a:pPr algn="r"/>
            <a:r>
              <a:rPr sz="750" b="1" i="0" cap="all" spc="180">
                <a:solidFill>
                  <a:srgbClr val="86868B"/>
                </a:solidFill>
                <a:latin typeface="Helvetica Neue"/>
              </a:rPr>
              <a:t>WEEK 5 — CONTROL BOX I   ·   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695" cy="6858000"/>
          </a:xfrm>
          <a:prstGeom prst="rect">
            <a:avLst/>
          </a:prstGeom>
          <a:solidFill>
            <a:srgbClr val="095D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457200"/>
          </a:xfrm>
          <a:prstGeom prst="rect">
            <a:avLst/>
          </a:prstGeom>
          <a:noFill/>
        </p:spPr>
        <p:txBody>
          <a:bodyPr wrap="square" lIns="0" rIns="0" tIns="0" bIns="0" anchor="t">
            <a:spAutoFit/>
          </a:bodyPr>
          <a:lstStyle/>
          <a:p>
            <a:pPr algn="ctr"/>
            <a:r>
              <a:rPr sz="1400" b="1" i="0" cap="all" spc="240">
                <a:solidFill>
                  <a:srgbClr val="9FCEDA"/>
                </a:solidFill>
                <a:latin typeface="Helvetica Neue"/>
              </a:rPr>
              <a:t>PRACTICE EARNED. REAL WORK STARTED.</a:t>
            </a:r>
          </a:p>
        </p:txBody>
      </p:sp>
      <p:sp>
        <p:nvSpPr>
          <p:cNvPr id="6" name="TextBox 5"/>
          <p:cNvSpPr txBox="1"/>
          <p:nvPr/>
        </p:nvSpPr>
        <p:spPr>
          <a:xfrm>
            <a:off x="0" y="2651760"/>
            <a:ext cx="12191695" cy="822960"/>
          </a:xfrm>
          <a:prstGeom prst="rect">
            <a:avLst/>
          </a:prstGeom>
          <a:noFill/>
        </p:spPr>
        <p:txBody>
          <a:bodyPr wrap="square" lIns="0" rIns="0" tIns="0" bIns="0" anchor="t">
            <a:spAutoFit/>
          </a:bodyPr>
          <a:lstStyle/>
          <a:p>
            <a:pPr algn="ctr">
              <a:lnSpc>
                <a:spcPct val="100000"/>
              </a:lnSpc>
            </a:pPr>
            <a:r>
              <a:rPr sz="5600" b="1" i="0">
                <a:solidFill>
                  <a:srgbClr val="FFFFFF"/>
                </a:solidFill>
                <a:latin typeface="Helvetica Neue"/>
              </a:rPr>
              <a:t>Next week, we power it up.</a:t>
            </a:r>
          </a:p>
        </p:txBody>
      </p:sp>
      <p:sp>
        <p:nvSpPr>
          <p:cNvPr id="7" name="TextBox 6"/>
          <p:cNvSpPr txBox="1"/>
          <p:nvPr/>
        </p:nvSpPr>
        <p:spPr>
          <a:xfrm>
            <a:off x="914400" y="3931920"/>
            <a:ext cx="10362895" cy="914400"/>
          </a:xfrm>
          <a:prstGeom prst="rect">
            <a:avLst/>
          </a:prstGeom>
          <a:noFill/>
        </p:spPr>
        <p:txBody>
          <a:bodyPr wrap="square" lIns="0" rIns="0" tIns="0" bIns="0" anchor="t">
            <a:spAutoFit/>
          </a:bodyPr>
          <a:lstStyle/>
          <a:p>
            <a:pPr algn="ctr">
              <a:lnSpc>
                <a:spcPct val="135000"/>
              </a:lnSpc>
            </a:pPr>
            <a:r>
              <a:rPr sz="1600" b="0" i="1">
                <a:solidFill>
                  <a:srgbClr val="C9E3EA"/>
                </a:solidFill>
                <a:latin typeface="Helvetica Neue"/>
              </a:rPr>
              <a:t>The PufferFish taught us the technique. The TriggerFish is where we use it. 1.6 closes the loop with the first smoke test.</a:t>
            </a:r>
          </a:p>
        </p:txBody>
      </p:sp>
      <p:sp>
        <p:nvSpPr>
          <p:cNvPr id="8" name="TextBox 7"/>
          <p:cNvSpPr txBox="1"/>
          <p:nvPr/>
        </p:nvSpPr>
        <p:spPr>
          <a:xfrm>
            <a:off x="0" y="6355080"/>
            <a:ext cx="12191695" cy="274320"/>
          </a:xfrm>
          <a:prstGeom prst="rect">
            <a:avLst/>
          </a:prstGeom>
          <a:noFill/>
        </p:spPr>
        <p:txBody>
          <a:bodyPr wrap="square" lIns="0" rIns="0" tIns="0" bIns="0" anchor="t">
            <a:spAutoFit/>
          </a:bodyPr>
          <a:lstStyle/>
          <a:p>
            <a:pPr algn="ctr"/>
            <a:r>
              <a:rPr sz="900" b="1" i="0" cap="all" spc="180">
                <a:solidFill>
                  <a:srgbClr val="9FCEDA"/>
                </a:solidFill>
                <a:latin typeface="Helvetica Neue"/>
              </a:rPr>
              <a:t>SAY WATT ROBOTICS  ·  ROV TEAM      |      NEXT MEETING — WEEK 6, CONTROL BOX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