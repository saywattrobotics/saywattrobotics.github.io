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22"/>
    <p:sldId id="258" r:id="rId4"/>
    <p:sldId id="259" r:id="rId5"/>
    <p:sldId id="260" r:id="rId17"/>
    <p:sldId id="261" r:id="rId24"/>
    <p:sldId id="262" r:id="rId6"/>
    <p:sldId id="263" r:id="rId35"/>
    <p:sldId id="264" r:id="rId21"/>
    <p:sldId id="265" r:id="rId8"/>
    <p:sldId id="266" r:id="rId23"/>
    <p:sldId id="267" r:id="rId34"/>
    <p:sldId id="268" r:id="rId25"/>
    <p:sldId id="269" r:id="rId26"/>
    <p:sldId id="272" r:id="rId20"/>
    <p:sldId id="273" r:id="rId19"/>
    <p:sldId id="270"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7.xml"/><Relationship Id="rId8" Type="http://schemas.openxmlformats.org/officeDocument/2006/relationships/slide" Target="slides/slide10.xml"/><Relationship Id="rId17" Type="http://schemas.openxmlformats.org/officeDocument/2006/relationships/slide" Target="slides/slide5.xml"/><Relationship Id="rId19" Type="http://schemas.openxmlformats.org/officeDocument/2006/relationships/slide" Target="slides/slide18.xml"/><Relationship Id="rId20" Type="http://schemas.openxmlformats.org/officeDocument/2006/relationships/slide" Target="slides/slide17.xml"/><Relationship Id="rId21" Type="http://schemas.openxmlformats.org/officeDocument/2006/relationships/slide" Target="slides/slide9.xml"/><Relationship Id="rId22" Type="http://schemas.openxmlformats.org/officeDocument/2006/relationships/slide" Target="slides/slide16.xml"/><Relationship Id="rId23" Type="http://schemas.openxmlformats.org/officeDocument/2006/relationships/slide" Target="slides/slide11.xml"/><Relationship Id="rId24" Type="http://schemas.openxmlformats.org/officeDocument/2006/relationships/slide" Target="slides/slide6.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4" Type="http://schemas.openxmlformats.org/officeDocument/2006/relationships/slide" Target="slides/slide12.xml"/><Relationship Id="rId3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 this is the week the team has waited for: today everyone solders. 30 seconds here. Set the tone — it is our longest meeting, by design, and the work is worth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eight blocks quickly, then land one point: this is our longest day, about three and a half hours. If a block runs long, we protect the hands-on practice and trim elsewhere — we never cut the time on the iron. Note the break at 1:55.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opening as always. Let the CEO run the safety brief if roles are set — 60 to 90 seconds. The ritual matters more today than ever: there are hot irons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safety brief of the season so far. Slow down on hazards and prevention. Irons live in their stands, never on the bench. Confirm the fume fan is on and everyone has glasses before any iron is powered. Read ‘every burn gets reported’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15 minutes. Set up the why before the how: nobody picks up an iron until they understand what a good joint is and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fast across the five — open each record today, do not perfect it. Land the notebook point: written as we go is honest; written from memory is fiction. Assign owners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gears — the kit comes out now, 55 minutes for unboxing and the first real electronics. The Mechanical Lead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divider, 15 minutes for the records. They feel like overhead now but they win points in April. The Software Lead drives the GitHub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Frame the capsule as a five-dollar rehearsal for the Phase 2 float. 10 minutes — this is design on paper today, not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 manual to the Mechanical Lead and let them run inventory — do not do it for them. The one rule: count everything before building. Flag the side card out loud — the kit has no battery, and ours must arrive before Week 3. This is a live open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divider — 10 minutes to close the loop. Make sure every kid leaves knowing their homework and the team knows the parallel-track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for students, no more — keep it light. Read the parallel-track card to the parents: battery before Week 3, pool prerequisites, and the DISL call. These gate the water. Preview Week 3 — electronics finished and the first splash.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pride — everyone soldered today, the kit is open, the first joints are on the robot. Land the final line: next week, it gets wet. Send them out energized for the first splash.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playful: keep a paper towel dry, underwater. Each kid sketches one body, one cable, and a seal plan. Do not over-engineer it for them — let them propose. Sketches are due before they leave; the first dunk test is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manual’s build order together before touching parts. Then start stage one with irons already hot — the practice joints become real connections now. Stop at a clean point when the clock runs out; never rush a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5.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5D75"/>
        </a:solidFill>
      </p:bgPr>
    </p:bg>
    <p:spTree>
      <p:nvGrpSpPr>
        <p:cNvPr id="1" name=""/>
        <p:cNvGrpSpPr/>
        <p:nvPr/>
      </p:nvGrpSpPr>
      <p:grpSpPr>
        <a:xfrm>
          <a:off x="0" y="0"/>
          <a:ext cx="0" cy="0"/>
          <a:chOff x="0" y="0"/>
          <a:chExt cx="0" cy="0"/>
        </a:xfrm>
      </p:grpSpPr>
      <p:pic>
        <p:nvPicPr>
          <p:cNvPr id="2" name="Image 0" descr="/sessions/focused-friendly-goodall/mnt/SayWatt Website/assets/logo-emblem2.png"/>
          <p:cNvPicPr>
            <a:picLocks noChangeAspect="1"/>
          </p:cNvPicPr>
          <p:nvPr/>
        </p:nvPicPr>
        <p:blipFill>
          <a:blip r:embed="rId1"/>
          <a:stretch>
            <a:fillRect/>
          </a:stretch>
        </p:blipFill>
        <p:spPr>
          <a:xfrm>
            <a:off x="5387188" y="749808"/>
            <a:ext cx="1417320" cy="1417320"/>
          </a:xfrm>
          <a:prstGeom prst="rect">
            <a:avLst/>
          </a:prstGeom>
        </p:spPr>
      </p:pic>
      <p:sp>
        <p:nvSpPr>
          <p:cNvPr id="3" name="Text 0"/>
          <p:cNvSpPr/>
          <p:nvPr/>
        </p:nvSpPr>
        <p:spPr>
          <a:xfrm>
            <a:off x="0" y="2505456"/>
            <a:ext cx="12191695" cy="329184"/>
          </a:xfrm>
          <a:prstGeom prst="rect">
            <a:avLst/>
          </a:prstGeom>
          <a:noFill/>
          <a:ln/>
        </p:spPr>
        <p:txBody>
          <a:bodyPr wrap="square" lIns="0" tIns="0" rIns="0" bIns="0" rtlCol="0" anchor="ctr"/>
          <a:lstStyle/>
          <a:p>
            <a:pPr algn="ctr" indent="0" marL="0">
              <a:buNone/>
            </a:pPr>
            <a:r>
              <a:rPr lang="en-US" sz="1300" b="1" spc="350" kern="0" dirty="0">
                <a:solidFill>
                  <a:srgbClr val="9FCEDA"/>
                </a:solidFill>
                <a:latin typeface="Helvetica Neue" pitchFamily="34" charset="0"/>
                <a:ea typeface="Helvetica Neue" pitchFamily="34" charset="-122"/>
                <a:cs typeface="Helvetica Neue" pitchFamily="34" charset="-120"/>
              </a:rPr>
              <a:t>PHASE 1 — FOUNDATION</a:t>
            </a:r>
            <a:endParaRPr lang="en-US" sz="1300" dirty="0"/>
          </a:p>
        </p:txBody>
      </p:sp>
      <p:sp>
        <p:nvSpPr>
          <p:cNvPr id="4" name="Text 1"/>
          <p:cNvSpPr/>
          <p:nvPr/>
        </p:nvSpPr>
        <p:spPr>
          <a:xfrm>
            <a:off x="0" y="2852928"/>
            <a:ext cx="12191695" cy="1005840"/>
          </a:xfrm>
          <a:prstGeom prst="rect">
            <a:avLst/>
          </a:prstGeom>
          <a:noFill/>
          <a:ln/>
        </p:spPr>
        <p:txBody>
          <a:bodyPr wrap="square" lIns="0" tIns="0" rIns="0" bIns="0" rtlCol="0" anchor="ctr"/>
          <a:lstStyle/>
          <a:p>
            <a:pPr algn="ctr" indent="0" marL="0">
              <a:buNone/>
            </a:pPr>
            <a:r>
              <a:rPr lang="en-US" sz="4200" b="1" dirty="0">
                <a:solidFill>
                  <a:srgbClr val="FFFFFF"/>
                </a:solidFill>
                <a:latin typeface="Helvetica Neue" pitchFamily="34" charset="0"/>
                <a:ea typeface="Helvetica Neue" pitchFamily="34" charset="-122"/>
                <a:cs typeface="Helvetica Neue" pitchFamily="34" charset="-120"/>
              </a:rPr>
              <a:t>The Kit Comes Out</a:t>
            </a:r>
            <a:endParaRPr lang="en-US" sz="5600" dirty="0"/>
          </a:p>
        </p:txBody>
      </p:sp>
      <p:sp>
        <p:nvSpPr>
          <p:cNvPr id="5" name="Text 2"/>
          <p:cNvSpPr/>
          <p:nvPr/>
        </p:nvSpPr>
        <p:spPr>
          <a:xfrm>
            <a:off x="0" y="3877056"/>
            <a:ext cx="12191695" cy="548640"/>
          </a:xfrm>
          <a:prstGeom prst="rect">
            <a:avLst/>
          </a:prstGeom>
          <a:noFill/>
          <a:ln/>
        </p:spPr>
        <p:txBody>
          <a:bodyPr wrap="square" lIns="0" tIns="0" rIns="0" bIns="0" rtlCol="0" anchor="ctr"/>
          <a:lstStyle/>
          <a:p>
            <a:pPr algn="ctr" indent="0" marL="0">
              <a:buNone/>
            </a:pPr>
            <a:r>
              <a:rPr lang="en-US" sz="2300" dirty="0">
                <a:solidFill>
                  <a:srgbClr val="C9E3EA"/>
                </a:solidFill>
                <a:latin typeface="Helvetica Neue" pitchFamily="34" charset="0"/>
                <a:ea typeface="Helvetica Neue" pitchFamily="34" charset="-122"/>
                <a:cs typeface="Helvetica Neue" pitchFamily="34" charset="-120"/>
              </a:rPr>
              <a:t>Inventory the Triggerfish, then make its first connections.</a:t>
            </a:r>
            <a:endParaRPr lang="en-US" sz="2300" dirty="0"/>
          </a:p>
        </p:txBody>
      </p:sp>
      <p:sp>
        <p:nvSpPr>
          <p:cNvPr id="6" name="Shape 3"/>
          <p:cNvSpPr/>
          <p:nvPr/>
        </p:nvSpPr>
        <p:spPr>
          <a:xfrm>
            <a:off x="5455768" y="4681728"/>
            <a:ext cx="1280160" cy="0"/>
          </a:xfrm>
          <a:prstGeom prst="line">
            <a:avLst/>
          </a:prstGeom>
          <a:noFill/>
          <a:ln w="12700">
            <a:solidFill>
              <a:srgbClr val="3E7E91"/>
            </a:solidFill>
            <a:prstDash val="solid"/>
          </a:ln>
        </p:spPr>
        <p:txBody>
          <a:bodyPr/>
          <a:p/>
        </p:txBody>
      </p:sp>
      <p:sp>
        <p:nvSpPr>
          <p:cNvPr id="7" name="Text 4"/>
          <p:cNvSpPr/>
          <p:nvPr/>
        </p:nvSpPr>
        <p:spPr>
          <a:xfrm>
            <a:off x="0" y="4901184"/>
            <a:ext cx="12191695" cy="329184"/>
          </a:xfrm>
          <a:prstGeom prst="rect">
            <a:avLst/>
          </a:prstGeom>
          <a:noFill/>
          <a:ln/>
        </p:spPr>
        <p:txBody>
          <a:bodyPr wrap="square" lIns="0" tIns="0" rIns="0" bIns="0" rtlCol="0" anchor="ctr"/>
          <a:lstStyle/>
          <a:p>
            <a:pPr algn="ctr" indent="0" marL="0">
              <a:buNone/>
            </a:pPr>
            <a:r>
              <a:rPr lang="en-US" sz="1300" spc="50" kern="0" dirty="0">
                <a:solidFill>
                  <a:srgbClr val="9FCEDA"/>
                </a:solidFill>
                <a:latin typeface="Helvetica Neue" pitchFamily="34" charset="0"/>
                <a:ea typeface="Helvetica Neue" pitchFamily="34" charset="-122"/>
                <a:cs typeface="Helvetica Neue" pitchFamily="34" charset="-120"/>
              </a:rPr>
              <a:t>Say Watt Robotics  ·  ROV Team      |      2026–2027 MATE ROV Season</a:t>
            </a:r>
            <a:endParaRPr lang="en-US" sz="1300" dirty="0"/>
          </a:p>
        </p:txBody>
      </p:sp>
      <p:sp>
        <p:nvSpPr>
          <p:cNvPr id="8" name="Text 5"/>
          <p:cNvSpPr/>
          <p:nvPr/>
        </p:nvSpPr>
        <p:spPr>
          <a:xfrm>
            <a:off x="0" y="5943600"/>
            <a:ext cx="12191695" cy="310896"/>
          </a:xfrm>
          <a:prstGeom prst="rect">
            <a:avLst/>
          </a:prstGeom>
          <a:noFill/>
          <a:ln/>
        </p:spPr>
        <p:txBody>
          <a:bodyPr wrap="square" lIns="0" tIns="0" rIns="0" bIns="0" rtlCol="0" anchor="ctr"/>
          <a:lstStyle/>
          <a:p>
            <a:pPr algn="ctr" indent="0" marL="0">
              <a:buNone/>
            </a:pPr>
            <a:r>
              <a:rPr lang="en-US" sz="950" spc="250" kern="0" dirty="0">
                <a:solidFill>
                  <a:srgbClr val="6BA0AF"/>
                </a:solidFill>
                <a:latin typeface="Helvetica Neue" pitchFamily="34" charset="0"/>
                <a:ea typeface="Helvetica Neue" pitchFamily="34" charset="-122"/>
                <a:cs typeface="Helvetica Neue" pitchFamily="34" charset="-120"/>
              </a:rPr>
              <a:t>CLASS 1.3   ·   ONE SESSION   ·   MADISON, ALABAMA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MEETING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Three hours, the kit comes alive.</a:t>
            </a:r>
            <a:endParaRPr lang="en-US" sz="3000" dirty="0"/>
          </a:p>
        </p:txBody>
      </p:sp>
      <p:sp>
        <p:nvSpPr>
          <p:cNvPr id="4" name="Text 2"/>
          <p:cNvSpPr/>
          <p:nvPr/>
        </p:nvSpPr>
        <p:spPr>
          <a:xfrm>
            <a:off x="822960" y="1847088"/>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0:00</a:t>
            </a:r>
            <a:endParaRPr lang="en-US" sz="1700" dirty="0"/>
          </a:p>
        </p:txBody>
      </p:sp>
      <p:sp>
        <p:nvSpPr>
          <p:cNvPr id="5" name="Text 3"/>
          <p:cNvSpPr/>
          <p:nvPr/>
        </p:nvSpPr>
        <p:spPr>
          <a:xfrm>
            <a:off x="2148840" y="1847088"/>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Welcome &amp; Safety Brief</a:t>
            </a:r>
            <a:endParaRPr lang="en-US" sz="1600" dirty="0"/>
          </a:p>
        </p:txBody>
      </p:sp>
      <p:sp>
        <p:nvSpPr>
          <p:cNvPr id="6" name="Text 4"/>
          <p:cNvSpPr/>
          <p:nvPr/>
        </p:nvSpPr>
        <p:spPr>
          <a:xfrm>
            <a:off x="9601200" y="1847088"/>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15 min</a:t>
            </a:r>
            <a:endParaRPr lang="en-US" sz="1150" dirty="0"/>
          </a:p>
        </p:txBody>
      </p:sp>
      <p:sp>
        <p:nvSpPr>
          <p:cNvPr id="7" name="Shape 5"/>
          <p:cNvSpPr/>
          <p:nvPr/>
        </p:nvSpPr>
        <p:spPr>
          <a:xfrm>
            <a:off x="822960" y="2400300"/>
            <a:ext cx="10545775" cy="0"/>
          </a:xfrm>
          <a:prstGeom prst="line">
            <a:avLst/>
          </a:prstGeom>
          <a:noFill/>
          <a:ln w="9525">
            <a:solidFill>
              <a:srgbClr val="E3E3E6"/>
            </a:solidFill>
            <a:prstDash val="solid"/>
          </a:ln>
        </p:spPr>
        <p:txBody>
          <a:bodyPr/>
          <a:p/>
        </p:txBody>
      </p:sp>
      <p:sp>
        <p:nvSpPr>
          <p:cNvPr id="8" name="Text 6"/>
          <p:cNvSpPr/>
          <p:nvPr/>
        </p:nvSpPr>
        <p:spPr>
          <a:xfrm>
            <a:off x="822960" y="2400300"/>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0:15</a:t>
            </a:r>
            <a:endParaRPr lang="en-US" sz="1700" dirty="0"/>
          </a:p>
        </p:txBody>
      </p:sp>
      <p:sp>
        <p:nvSpPr>
          <p:cNvPr id="9" name="Text 7"/>
          <p:cNvSpPr/>
          <p:nvPr/>
        </p:nvSpPr>
        <p:spPr>
          <a:xfrm>
            <a:off x="2148840" y="2400300"/>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Unbox &amp; Inventory the Kit</a:t>
            </a:r>
            <a:endParaRPr lang="en-US" sz="1600" dirty="0"/>
          </a:p>
        </p:txBody>
      </p:sp>
      <p:sp>
        <p:nvSpPr>
          <p:cNvPr id="10" name="Text 8"/>
          <p:cNvSpPr/>
          <p:nvPr/>
        </p:nvSpPr>
        <p:spPr>
          <a:xfrm>
            <a:off x="9601200" y="2400300"/>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35 min</a:t>
            </a:r>
            <a:endParaRPr lang="en-US" sz="1150" dirty="0"/>
          </a:p>
        </p:txBody>
      </p:sp>
      <p:sp>
        <p:nvSpPr>
          <p:cNvPr id="11" name="Shape 9"/>
          <p:cNvSpPr/>
          <p:nvPr/>
        </p:nvSpPr>
        <p:spPr>
          <a:xfrm>
            <a:off x="822960" y="2953512"/>
            <a:ext cx="10545775" cy="0"/>
          </a:xfrm>
          <a:prstGeom prst="line">
            <a:avLst/>
          </a:prstGeom>
          <a:noFill/>
          <a:ln w="9525">
            <a:solidFill>
              <a:srgbClr val="E3E3E6"/>
            </a:solidFill>
            <a:prstDash val="solid"/>
          </a:ln>
        </p:spPr>
        <p:txBody>
          <a:bodyPr/>
          <a:p/>
        </p:txBody>
      </p:sp>
      <p:sp>
        <p:nvSpPr>
          <p:cNvPr id="12" name="Text 10"/>
          <p:cNvSpPr/>
          <p:nvPr/>
        </p:nvSpPr>
        <p:spPr>
          <a:xfrm>
            <a:off x="822960" y="2953512"/>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0:50</a:t>
            </a:r>
            <a:endParaRPr lang="en-US" sz="1700" dirty="0"/>
          </a:p>
        </p:txBody>
      </p:sp>
      <p:sp>
        <p:nvSpPr>
          <p:cNvPr id="13" name="Text 11"/>
          <p:cNvSpPr/>
          <p:nvPr/>
        </p:nvSpPr>
        <p:spPr>
          <a:xfrm>
            <a:off x="2148840" y="2953512"/>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Read the Build Sequence</a:t>
            </a:r>
            <a:endParaRPr lang="en-US" sz="1600" dirty="0"/>
          </a:p>
        </p:txBody>
      </p:sp>
      <p:sp>
        <p:nvSpPr>
          <p:cNvPr id="14" name="Text 12"/>
          <p:cNvSpPr/>
          <p:nvPr/>
        </p:nvSpPr>
        <p:spPr>
          <a:xfrm>
            <a:off x="9601200" y="2953512"/>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20 min</a:t>
            </a:r>
            <a:endParaRPr lang="en-US" sz="1150" dirty="0"/>
          </a:p>
        </p:txBody>
      </p:sp>
      <p:sp>
        <p:nvSpPr>
          <p:cNvPr id="15" name="Shape 13"/>
          <p:cNvSpPr/>
          <p:nvPr/>
        </p:nvSpPr>
        <p:spPr>
          <a:xfrm>
            <a:off x="822960" y="3506724"/>
            <a:ext cx="10545775" cy="0"/>
          </a:xfrm>
          <a:prstGeom prst="line">
            <a:avLst/>
          </a:prstGeom>
          <a:noFill/>
          <a:ln w="9525">
            <a:solidFill>
              <a:srgbClr val="E3E3E6"/>
            </a:solidFill>
            <a:prstDash val="solid"/>
          </a:ln>
        </p:spPr>
        <p:txBody>
          <a:bodyPr/>
          <a:p/>
        </p:txBody>
      </p:sp>
      <p:sp>
        <p:nvSpPr>
          <p:cNvPr id="16" name="Text 14"/>
          <p:cNvSpPr/>
          <p:nvPr/>
        </p:nvSpPr>
        <p:spPr>
          <a:xfrm>
            <a:off x="822960" y="3506724"/>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1:10</a:t>
            </a:r>
            <a:endParaRPr lang="en-US" sz="1700" dirty="0"/>
          </a:p>
        </p:txBody>
      </p:sp>
      <p:sp>
        <p:nvSpPr>
          <p:cNvPr id="17" name="Text 15"/>
          <p:cNvSpPr/>
          <p:nvPr/>
        </p:nvSpPr>
        <p:spPr>
          <a:xfrm>
            <a:off x="2148840" y="3506724"/>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First Real Connections</a:t>
            </a:r>
            <a:endParaRPr lang="en-US" sz="1600" dirty="0"/>
          </a:p>
        </p:txBody>
      </p:sp>
      <p:sp>
        <p:nvSpPr>
          <p:cNvPr id="18" name="Text 16"/>
          <p:cNvSpPr/>
          <p:nvPr/>
        </p:nvSpPr>
        <p:spPr>
          <a:xfrm>
            <a:off x="9601200" y="3506724"/>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50 min</a:t>
            </a:r>
            <a:endParaRPr lang="en-US" sz="1150" dirty="0"/>
          </a:p>
        </p:txBody>
      </p:sp>
      <p:sp>
        <p:nvSpPr>
          <p:cNvPr id="19" name="Shape 17"/>
          <p:cNvSpPr/>
          <p:nvPr/>
        </p:nvSpPr>
        <p:spPr>
          <a:xfrm>
            <a:off x="822960" y="4059936"/>
            <a:ext cx="10545775" cy="0"/>
          </a:xfrm>
          <a:prstGeom prst="line">
            <a:avLst/>
          </a:prstGeom>
          <a:noFill/>
          <a:ln w="9525">
            <a:solidFill>
              <a:srgbClr val="E3E3E6"/>
            </a:solidFill>
            <a:prstDash val="solid"/>
          </a:ln>
        </p:spPr>
        <p:txBody>
          <a:bodyPr/>
          <a:p/>
        </p:txBody>
      </p:sp>
      <p:sp>
        <p:nvSpPr>
          <p:cNvPr id="20" name="Text 18"/>
          <p:cNvSpPr/>
          <p:nvPr/>
        </p:nvSpPr>
        <p:spPr>
          <a:xfrm>
            <a:off x="822960" y="4059936"/>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2:00</a:t>
            </a:r>
            <a:endParaRPr lang="en-US" sz="1700" dirty="0"/>
          </a:p>
        </p:txBody>
      </p:sp>
      <p:sp>
        <p:nvSpPr>
          <p:cNvPr id="21" name="Text 19"/>
          <p:cNvSpPr/>
          <p:nvPr/>
        </p:nvSpPr>
        <p:spPr>
          <a:xfrm>
            <a:off x="2148840" y="4059936"/>
            <a:ext cx="7360920" cy="553212"/>
          </a:xfrm>
          <a:prstGeom prst="rect">
            <a:avLst/>
          </a:prstGeom>
          <a:noFill/>
          <a:ln/>
        </p:spPr>
        <p:txBody>
          <a:bodyPr wrap="square" lIns="0" tIns="0" rIns="0" bIns="0" rtlCol="0" anchor="ctr"/>
          <a:lstStyle/>
          <a:p>
            <a:pPr indent="0" marL="0">
              <a:buNone/>
            </a:pPr>
            <a:r>
              <a:rPr lang="en-US" sz="1600" i="1" dirty="0">
                <a:solidFill>
                  <a:srgbClr val="86868B"/>
                </a:solidFill>
                <a:latin typeface="Helvetica Neue" pitchFamily="34" charset="0"/>
                <a:ea typeface="Helvetica Neue" pitchFamily="34" charset="-122"/>
                <a:cs typeface="Helvetica Neue" pitchFamily="34" charset="-120"/>
              </a:rPr>
              <a:t>Break</a:t>
            </a:r>
            <a:endParaRPr lang="en-US" sz="1600" dirty="0"/>
          </a:p>
        </p:txBody>
      </p:sp>
      <p:sp>
        <p:nvSpPr>
          <p:cNvPr id="22" name="Text 20"/>
          <p:cNvSpPr/>
          <p:nvPr/>
        </p:nvSpPr>
        <p:spPr>
          <a:xfrm>
            <a:off x="9601200" y="4059936"/>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10 min</a:t>
            </a:r>
            <a:endParaRPr lang="en-US" sz="1150" dirty="0"/>
          </a:p>
        </p:txBody>
      </p:sp>
      <p:sp>
        <p:nvSpPr>
          <p:cNvPr id="23" name="Shape 21"/>
          <p:cNvSpPr/>
          <p:nvPr/>
        </p:nvSpPr>
        <p:spPr>
          <a:xfrm>
            <a:off x="822960" y="4613148"/>
            <a:ext cx="10545775" cy="0"/>
          </a:xfrm>
          <a:prstGeom prst="line">
            <a:avLst/>
          </a:prstGeom>
          <a:noFill/>
          <a:ln w="9525">
            <a:solidFill>
              <a:srgbClr val="E3E3E6"/>
            </a:solidFill>
            <a:prstDash val="solid"/>
          </a:ln>
        </p:spPr>
        <p:txBody>
          <a:bodyPr/>
          <a:p/>
        </p:txBody>
      </p:sp>
      <p:sp>
        <p:nvSpPr>
          <p:cNvPr id="24" name="Text 22"/>
          <p:cNvSpPr/>
          <p:nvPr/>
        </p:nvSpPr>
        <p:spPr>
          <a:xfrm>
            <a:off x="822960" y="4613148"/>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2:10</a:t>
            </a:r>
            <a:endParaRPr lang="en-US" sz="1700" dirty="0"/>
          </a:p>
        </p:txBody>
      </p:sp>
      <p:sp>
        <p:nvSpPr>
          <p:cNvPr id="25" name="Text 23"/>
          <p:cNvSpPr/>
          <p:nvPr/>
        </p:nvSpPr>
        <p:spPr>
          <a:xfrm>
            <a:off x="2148840" y="4613148"/>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Open the Three Records</a:t>
            </a:r>
            <a:endParaRPr lang="en-US" sz="1600" dirty="0"/>
          </a:p>
        </p:txBody>
      </p:sp>
      <p:sp>
        <p:nvSpPr>
          <p:cNvPr id="26" name="Text 24"/>
          <p:cNvSpPr/>
          <p:nvPr/>
        </p:nvSpPr>
        <p:spPr>
          <a:xfrm>
            <a:off x="9601200" y="4613148"/>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25 min</a:t>
            </a:r>
            <a:endParaRPr lang="en-US" sz="1150" dirty="0"/>
          </a:p>
        </p:txBody>
      </p:sp>
      <p:sp>
        <p:nvSpPr>
          <p:cNvPr id="27" name="Shape 25"/>
          <p:cNvSpPr/>
          <p:nvPr/>
        </p:nvSpPr>
        <p:spPr>
          <a:xfrm>
            <a:off x="822960" y="5166360"/>
            <a:ext cx="10545775" cy="0"/>
          </a:xfrm>
          <a:prstGeom prst="line">
            <a:avLst/>
          </a:prstGeom>
          <a:noFill/>
          <a:ln w="9525">
            <a:solidFill>
              <a:srgbClr val="E3E3E6"/>
            </a:solidFill>
            <a:prstDash val="solid"/>
          </a:ln>
        </p:spPr>
        <p:txBody>
          <a:bodyPr/>
          <a:p/>
        </p:txBody>
      </p:sp>
      <p:sp>
        <p:nvSpPr>
          <p:cNvPr id="28" name="Text 26"/>
          <p:cNvSpPr/>
          <p:nvPr/>
        </p:nvSpPr>
        <p:spPr>
          <a:xfrm>
            <a:off x="822960" y="5166360"/>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2:35</a:t>
            </a:r>
            <a:endParaRPr lang="en-US" sz="1700" dirty="0"/>
          </a:p>
        </p:txBody>
      </p:sp>
      <p:sp>
        <p:nvSpPr>
          <p:cNvPr id="29" name="Text 27"/>
          <p:cNvSpPr/>
          <p:nvPr/>
        </p:nvSpPr>
        <p:spPr>
          <a:xfrm>
            <a:off x="2148840" y="5166360"/>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Design the Capsule</a:t>
            </a:r>
            <a:endParaRPr lang="en-US" sz="1600" dirty="0"/>
          </a:p>
        </p:txBody>
      </p:sp>
      <p:sp>
        <p:nvSpPr>
          <p:cNvPr id="30" name="Text 28"/>
          <p:cNvSpPr/>
          <p:nvPr/>
        </p:nvSpPr>
        <p:spPr>
          <a:xfrm>
            <a:off x="9601200" y="5166360"/>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15 min</a:t>
            </a:r>
            <a:endParaRPr lang="en-US" sz="1150" dirty="0"/>
          </a:p>
        </p:txBody>
      </p:sp>
      <p:sp>
        <p:nvSpPr>
          <p:cNvPr id="31" name="Shape 29"/>
          <p:cNvSpPr/>
          <p:nvPr/>
        </p:nvSpPr>
        <p:spPr>
          <a:xfrm>
            <a:off x="822960" y="5719572"/>
            <a:ext cx="10545775" cy="0"/>
          </a:xfrm>
          <a:prstGeom prst="line">
            <a:avLst/>
          </a:prstGeom>
          <a:noFill/>
          <a:ln w="9525">
            <a:solidFill>
              <a:srgbClr val="E3E3E6"/>
            </a:solidFill>
            <a:prstDash val="solid"/>
          </a:ln>
        </p:spPr>
        <p:txBody>
          <a:bodyPr/>
          <a:p/>
        </p:txBody>
      </p:sp>
      <p:sp>
        <p:nvSpPr>
          <p:cNvPr id="32" name="Text 30"/>
          <p:cNvSpPr/>
          <p:nvPr/>
        </p:nvSpPr>
        <p:spPr>
          <a:xfrm>
            <a:off x="822960" y="5719572"/>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2:50</a:t>
            </a:r>
            <a:endParaRPr lang="en-US" sz="1700" dirty="0"/>
          </a:p>
        </p:txBody>
      </p:sp>
      <p:sp>
        <p:nvSpPr>
          <p:cNvPr id="33" name="Text 31"/>
          <p:cNvSpPr/>
          <p:nvPr/>
        </p:nvSpPr>
        <p:spPr>
          <a:xfrm>
            <a:off x="2148840" y="5719572"/>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Wrap-up &amp; homework</a:t>
            </a:r>
            <a:endParaRPr lang="en-US" sz="1600" dirty="0"/>
          </a:p>
        </p:txBody>
      </p:sp>
      <p:sp>
        <p:nvSpPr>
          <p:cNvPr id="34" name="Text 32"/>
          <p:cNvSpPr/>
          <p:nvPr/>
        </p:nvSpPr>
        <p:spPr>
          <a:xfrm>
            <a:off x="9601200" y="5719572"/>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10 min</a:t>
            </a:r>
            <a:endParaRPr lang="en-US" sz="1150" dirty="0"/>
          </a:p>
        </p:txBody>
      </p:sp>
      <p:sp>
        <p:nvSpPr>
          <p:cNvPr id="35" name="Text 33"/>
          <p:cNvSpPr/>
          <p:nvPr/>
        </p:nvSpPr>
        <p:spPr>
          <a:xfrm>
            <a:off x="822960" y="6327648"/>
            <a:ext cx="10545775" cy="0"/>
          </a:xfrm>
          <a:prstGeom prst="rect">
            <a:avLst/>
          </a:prstGeom>
          <a:noFill/>
          <a:ln/>
        </p:spPr>
        <p:txBody>
          <a:bodyPr wrap="square" lIns="0" tIns="0" rIns="0" bIns="0" rtlCol="0" anchor="ctr"/>
          <a:lstStyle/>
          <a:p>
            <a:pPr indent="0" marL="0">
              <a:buNone/>
            </a:pPr>
            <a:r>
              <a:rPr lang="en-US" sz="10" dirty="0">
                <a:solidFill>
                  <a:srgbClr val="FFFFFF"/>
                </a:solidFill>
                <a:latin typeface="Helvetica Neue" pitchFamily="34" charset="0"/>
                <a:ea typeface="Helvetica Neue" pitchFamily="34" charset="-122"/>
                <a:cs typeface="Helvetica Neue" pitchFamily="34" charset="-120"/>
              </a:rPr>
              <a:t>We run on time. Every block has a clock, and we hold to it — that habit is part of the engineering.</a:t>
            </a:r>
            <a:endParaRPr lang="en-US" sz="10" dirty="0"/>
          </a:p>
        </p:txBody>
      </p:sp>
      <p:sp>
        <p:nvSpPr>
          <p:cNvPr id="36" name="Shape 34"/>
          <p:cNvSpPr/>
          <p:nvPr/>
        </p:nvSpPr>
        <p:spPr>
          <a:xfrm>
            <a:off x="822960" y="6437376"/>
            <a:ext cx="10545775" cy="0"/>
          </a:xfrm>
          <a:prstGeom prst="line">
            <a:avLst/>
          </a:prstGeom>
          <a:noFill/>
          <a:ln w="9525">
            <a:solidFill>
              <a:srgbClr val="E3E3E6"/>
            </a:solidFill>
            <a:prstDash val="solid"/>
          </a:ln>
        </p:spPr>
        <p:txBody>
          <a:bodyPr/>
          <a:p/>
        </p:txBody>
      </p:sp>
      <p:sp>
        <p:nvSpPr>
          <p:cNvPr id="37" name="Text 3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8" name="Text 3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2 / 18</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01</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01</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Welcome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Safety Brief</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0:00 – 0:15   ·   15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Every meeting we ever hold will begin in exactly this place.</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4 / 18</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STANDING RITUAL</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Every meeting opens with a safety brief.</a:t>
            </a:r>
            <a:endParaRPr lang="en-US" sz="3000" dirty="0"/>
          </a:p>
        </p:txBody>
      </p:sp>
      <p:sp>
        <p:nvSpPr>
          <p:cNvPr id="4" name="Text 2"/>
          <p:cNvSpPr/>
          <p:nvPr/>
        </p:nvSpPr>
        <p:spPr>
          <a:xfrm>
            <a:off x="822960" y="1783080"/>
            <a:ext cx="4754880" cy="329184"/>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Why we do this</a:t>
            </a:r>
            <a:endParaRPr lang="en-US" sz="1500" dirty="0"/>
          </a:p>
        </p:txBody>
      </p:sp>
      <p:sp>
        <p:nvSpPr>
          <p:cNvPr id="5" name="Text 3"/>
          <p:cNvSpPr/>
          <p:nvPr/>
        </p:nvSpPr>
        <p:spPr>
          <a:xfrm>
            <a:off x="822960" y="2157984"/>
            <a:ext cx="4800600" cy="2377440"/>
          </a:xfrm>
          <a:prstGeom prst="rect">
            <a:avLst/>
          </a:prstGeom>
          <a:noFill/>
          <a:ln/>
        </p:spPr>
        <p:txBody>
          <a:bodyPr wrap="square" lIns="0" tIns="0" rIns="0" bIns="0" rtlCol="0" anchor="ctr"/>
          <a:lstStyle/>
          <a:p>
            <a:pPr indent="0" marL="0">
              <a:lnSpc>
                <a:spcPts val="2000"/>
              </a:lnSpc>
              <a:buNone/>
            </a:pPr>
            <a:r>
              <a:rPr lang="en-US" sz="1350" dirty="0">
                <a:solidFill>
                  <a:srgbClr val="6E6E73"/>
                </a:solidFill>
                <a:latin typeface="Helvetica Neue" pitchFamily="34" charset="0"/>
                <a:ea typeface="Helvetica Neue" pitchFamily="34" charset="-122"/>
                <a:cs typeface="Helvetica Neue" pitchFamily="34" charset="-120"/>
              </a:rPr>
              <a:t>Real engineering and dive teams brief safety before every job — not because something went wrong, but so it never does. We adopt the same habit on day one. Sixty seconds, every meeting, no exceptions.</a:t>
            </a:r>
            <a:endParaRPr lang="en-US" sz="1350" dirty="0"/>
          </a:p>
          <a:p>
            <a:pPr indent="0" marL="0">
              <a:lnSpc>
                <a:spcPts val="2000"/>
              </a:lnSpc>
              <a:buNone/>
            </a:pPr>
            <a:endParaRPr lang="en-US" sz="1350" dirty="0"/>
          </a:p>
          <a:p>
            <a:pPr indent="0" marL="0">
              <a:lnSpc>
                <a:spcPts val="2000"/>
              </a:lnSpc>
              <a:buNone/>
            </a:pPr>
            <a:r>
              <a:rPr lang="en-US" sz="1350" dirty="0">
                <a:solidFill>
                  <a:srgbClr val="6E6E73"/>
                </a:solidFill>
                <a:latin typeface="Helvetica Neue" pitchFamily="34" charset="0"/>
                <a:ea typeface="Helvetica Neue" pitchFamily="34" charset="-122"/>
                <a:cs typeface="Helvetica Neue" pitchFamily="34" charset="-120"/>
              </a:rPr>
              <a:t>Each brief answers the same four questions, so the team always knows what to expect.</a:t>
            </a:r>
            <a:endParaRPr lang="en-US" sz="1350" dirty="0"/>
          </a:p>
        </p:txBody>
      </p:sp>
      <p:sp>
        <p:nvSpPr>
          <p:cNvPr id="6" name="Shape 4"/>
          <p:cNvSpPr/>
          <p:nvPr/>
        </p:nvSpPr>
        <p:spPr>
          <a:xfrm>
            <a:off x="822960" y="4334256"/>
            <a:ext cx="310896" cy="310896"/>
          </a:xfrm>
          <a:prstGeom prst="ellipse">
            <a:avLst/>
          </a:prstGeom>
          <a:solidFill>
            <a:srgbClr val="EAF2F4"/>
          </a:solidFill>
          <a:ln/>
        </p:spPr>
        <p:txBody>
          <a:bodyPr/>
          <a:p/>
        </p:txBody>
      </p:sp>
      <p:sp>
        <p:nvSpPr>
          <p:cNvPr id="7" name="Text 5"/>
          <p:cNvSpPr/>
          <p:nvPr/>
        </p:nvSpPr>
        <p:spPr>
          <a:xfrm>
            <a:off x="822960" y="4334256"/>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1</a:t>
            </a:r>
            <a:endParaRPr lang="en-US" sz="952" dirty="0"/>
          </a:p>
        </p:txBody>
      </p:sp>
      <p:sp>
        <p:nvSpPr>
          <p:cNvPr id="8" name="Text 6"/>
          <p:cNvSpPr/>
          <p:nvPr/>
        </p:nvSpPr>
        <p:spPr>
          <a:xfrm>
            <a:off x="1280160" y="4297680"/>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What are we doing today?</a:t>
            </a:r>
            <a:endParaRPr lang="en-US" sz="1250" dirty="0"/>
          </a:p>
        </p:txBody>
      </p:sp>
      <p:sp>
        <p:nvSpPr>
          <p:cNvPr id="9" name="Shape 7"/>
          <p:cNvSpPr/>
          <p:nvPr/>
        </p:nvSpPr>
        <p:spPr>
          <a:xfrm>
            <a:off x="822960" y="4754880"/>
            <a:ext cx="310896" cy="310896"/>
          </a:xfrm>
          <a:prstGeom prst="ellipse">
            <a:avLst/>
          </a:prstGeom>
          <a:solidFill>
            <a:srgbClr val="EAF2F4"/>
          </a:solidFill>
          <a:ln/>
        </p:spPr>
        <p:txBody>
          <a:bodyPr/>
          <a:p/>
        </p:txBody>
      </p:sp>
      <p:sp>
        <p:nvSpPr>
          <p:cNvPr id="10" name="Text 8"/>
          <p:cNvSpPr/>
          <p:nvPr/>
        </p:nvSpPr>
        <p:spPr>
          <a:xfrm>
            <a:off x="822960" y="4754880"/>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2</a:t>
            </a:r>
            <a:endParaRPr lang="en-US" sz="952" dirty="0"/>
          </a:p>
        </p:txBody>
      </p:sp>
      <p:sp>
        <p:nvSpPr>
          <p:cNvPr id="11" name="Text 9"/>
          <p:cNvSpPr/>
          <p:nvPr/>
        </p:nvSpPr>
        <p:spPr>
          <a:xfrm>
            <a:off x="1280160" y="4718304"/>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What could hurt someone?</a:t>
            </a:r>
            <a:endParaRPr lang="en-US" sz="1250" dirty="0"/>
          </a:p>
        </p:txBody>
      </p:sp>
      <p:sp>
        <p:nvSpPr>
          <p:cNvPr id="12" name="Shape 10"/>
          <p:cNvSpPr/>
          <p:nvPr/>
        </p:nvSpPr>
        <p:spPr>
          <a:xfrm>
            <a:off x="822960" y="5175504"/>
            <a:ext cx="310896" cy="310896"/>
          </a:xfrm>
          <a:prstGeom prst="ellipse">
            <a:avLst/>
          </a:prstGeom>
          <a:solidFill>
            <a:srgbClr val="EAF2F4"/>
          </a:solidFill>
          <a:ln/>
        </p:spPr>
        <p:txBody>
          <a:bodyPr/>
          <a:p/>
        </p:txBody>
      </p:sp>
      <p:sp>
        <p:nvSpPr>
          <p:cNvPr id="13" name="Text 11"/>
          <p:cNvSpPr/>
          <p:nvPr/>
        </p:nvSpPr>
        <p:spPr>
          <a:xfrm>
            <a:off x="822960" y="5175504"/>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3</a:t>
            </a:r>
            <a:endParaRPr lang="en-US" sz="952" dirty="0"/>
          </a:p>
        </p:txBody>
      </p:sp>
      <p:sp>
        <p:nvSpPr>
          <p:cNvPr id="14" name="Text 12"/>
          <p:cNvSpPr/>
          <p:nvPr/>
        </p:nvSpPr>
        <p:spPr>
          <a:xfrm>
            <a:off x="1280160" y="5138928"/>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How do we prevent it?</a:t>
            </a:r>
            <a:endParaRPr lang="en-US" sz="1250" dirty="0"/>
          </a:p>
        </p:txBody>
      </p:sp>
      <p:sp>
        <p:nvSpPr>
          <p:cNvPr id="15" name="Shape 13"/>
          <p:cNvSpPr/>
          <p:nvPr/>
        </p:nvSpPr>
        <p:spPr>
          <a:xfrm>
            <a:off x="822960" y="5596128"/>
            <a:ext cx="310896" cy="310896"/>
          </a:xfrm>
          <a:prstGeom prst="ellipse">
            <a:avLst/>
          </a:prstGeom>
          <a:solidFill>
            <a:srgbClr val="EAF2F4"/>
          </a:solidFill>
          <a:ln/>
        </p:spPr>
        <p:txBody>
          <a:bodyPr/>
          <a:p/>
        </p:txBody>
      </p:sp>
      <p:sp>
        <p:nvSpPr>
          <p:cNvPr id="16" name="Text 14"/>
          <p:cNvSpPr/>
          <p:nvPr/>
        </p:nvSpPr>
        <p:spPr>
          <a:xfrm>
            <a:off x="822960" y="5596128"/>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4</a:t>
            </a:r>
            <a:endParaRPr lang="en-US" sz="952" dirty="0"/>
          </a:p>
        </p:txBody>
      </p:sp>
      <p:sp>
        <p:nvSpPr>
          <p:cNvPr id="17" name="Text 15"/>
          <p:cNvSpPr/>
          <p:nvPr/>
        </p:nvSpPr>
        <p:spPr>
          <a:xfrm>
            <a:off x="1280160" y="5559552"/>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Who do we tell if something happens?</a:t>
            </a:r>
            <a:endParaRPr lang="en-US" sz="1250" dirty="0"/>
          </a:p>
        </p:txBody>
      </p:sp>
      <p:sp>
        <p:nvSpPr>
          <p:cNvPr id="18" name="Shape 16"/>
          <p:cNvSpPr/>
          <p:nvPr/>
        </p:nvSpPr>
        <p:spPr>
          <a:xfrm>
            <a:off x="5989320" y="1783080"/>
            <a:ext cx="5376672" cy="4370832"/>
          </a:xfrm>
          <a:prstGeom prst="roundRect">
            <a:avLst>
              <a:gd name="adj" fmla="val 2301"/>
            </a:avLst>
          </a:prstGeom>
          <a:solidFill>
            <a:srgbClr val="EAF2F4"/>
          </a:solidFill>
          <a:ln w="12700">
            <a:solidFill>
              <a:srgbClr val="EAF2F4"/>
            </a:solidFill>
            <a:prstDash val="solid"/>
          </a:ln>
        </p:spPr>
        <p:txBody>
          <a:bodyPr/>
          <a:p/>
        </p:txBody>
      </p:sp>
      <p:sp>
        <p:nvSpPr>
          <p:cNvPr id="19" name="Shape 17"/>
          <p:cNvSpPr/>
          <p:nvPr/>
        </p:nvSpPr>
        <p:spPr>
          <a:xfrm>
            <a:off x="5989320" y="1783080"/>
            <a:ext cx="5376672" cy="566928"/>
          </a:xfrm>
          <a:prstGeom prst="rect">
            <a:avLst/>
          </a:prstGeom>
          <a:solidFill>
            <a:srgbClr val="0D7490"/>
          </a:solidFill>
          <a:ln/>
        </p:spPr>
        <p:txBody>
          <a:bodyPr/>
          <a:p/>
        </p:txBody>
      </p:sp>
      <p:sp>
        <p:nvSpPr>
          <p:cNvPr id="20" name="Text 18"/>
          <p:cNvSpPr/>
          <p:nvPr/>
        </p:nvSpPr>
        <p:spPr>
          <a:xfrm>
            <a:off x="5989320" y="1783080"/>
            <a:ext cx="5376672" cy="56692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Helvetica Neue" pitchFamily="34" charset="0"/>
                <a:ea typeface="Helvetica Neue" pitchFamily="34" charset="-122"/>
                <a:cs typeface="Helvetica Neue" pitchFamily="34" charset="-120"/>
              </a:rPr>
              <a:t>TODAY'S BRIEF  ·  CLASS 1.3</a:t>
            </a:r>
            <a:endParaRPr lang="en-US" sz="1200" dirty="0"/>
          </a:p>
        </p:txBody>
      </p:sp>
      <p:sp>
        <p:nvSpPr>
          <p:cNvPr id="21" name="Text 19"/>
          <p:cNvSpPr/>
          <p:nvPr/>
        </p:nvSpPr>
        <p:spPr>
          <a:xfrm>
            <a:off x="6355080" y="257860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THE WORK</a:t>
            </a:r>
            <a:endParaRPr lang="en-US" sz="1000" dirty="0"/>
          </a:p>
        </p:txBody>
      </p:sp>
      <p:sp>
        <p:nvSpPr>
          <p:cNvPr id="22" name="Text 20"/>
          <p:cNvSpPr/>
          <p:nvPr/>
        </p:nvSpPr>
        <p:spPr>
          <a:xfrm>
            <a:off x="6355080" y="282549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Unboxing the kit, the first kit electronics, and opening the team's records.</a:t>
            </a:r>
            <a:endParaRPr lang="en-US" sz="1150" dirty="0"/>
          </a:p>
        </p:txBody>
      </p:sp>
      <p:sp>
        <p:nvSpPr>
          <p:cNvPr id="23" name="Text 21"/>
          <p:cNvSpPr/>
          <p:nvPr/>
        </p:nvSpPr>
        <p:spPr>
          <a:xfrm>
            <a:off x="6355080" y="328726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THE HAZARDS</a:t>
            </a:r>
            <a:endParaRPr lang="en-US" sz="1000" dirty="0"/>
          </a:p>
        </p:txBody>
      </p:sp>
      <p:sp>
        <p:nvSpPr>
          <p:cNvPr id="24" name="Text 22"/>
          <p:cNvSpPr/>
          <p:nvPr/>
        </p:nvSpPr>
        <p:spPr>
          <a:xfrm>
            <a:off x="6355080" y="353415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Hot irons again; small parts and sharp tools; lead in solder.</a:t>
            </a:r>
            <a:endParaRPr lang="en-US" sz="1150" dirty="0"/>
          </a:p>
        </p:txBody>
      </p:sp>
      <p:sp>
        <p:nvSpPr>
          <p:cNvPr id="25" name="Text 23"/>
          <p:cNvSpPr/>
          <p:nvPr/>
        </p:nvSpPr>
        <p:spPr>
          <a:xfrm>
            <a:off x="6355080" y="399592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PREVENTION</a:t>
            </a:r>
            <a:endParaRPr lang="en-US" sz="1000" dirty="0"/>
          </a:p>
        </p:txBody>
      </p:sp>
      <p:sp>
        <p:nvSpPr>
          <p:cNvPr id="26" name="Text 24"/>
          <p:cNvSpPr/>
          <p:nvPr/>
        </p:nvSpPr>
        <p:spPr>
          <a:xfrm>
            <a:off x="6355080" y="424281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Irons in stands, fume fan on, glasses down. Count and bag small parts so none walk off. Wash hands after solder.</a:t>
            </a:r>
            <a:endParaRPr lang="en-US" sz="1150" dirty="0"/>
          </a:p>
        </p:txBody>
      </p:sp>
      <p:sp>
        <p:nvSpPr>
          <p:cNvPr id="27" name="Text 25"/>
          <p:cNvSpPr/>
          <p:nvPr/>
        </p:nvSpPr>
        <p:spPr>
          <a:xfrm>
            <a:off x="6355080" y="470458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IF SOMETHING HAPPENS</a:t>
            </a:r>
            <a:endParaRPr lang="en-US" sz="1000" dirty="0"/>
          </a:p>
        </p:txBody>
      </p:sp>
      <p:sp>
        <p:nvSpPr>
          <p:cNvPr id="28" name="Text 26"/>
          <p:cNvSpPr/>
          <p:nvPr/>
        </p:nvSpPr>
        <p:spPr>
          <a:xfrm>
            <a:off x="6355080" y="495147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Cool a burn under running water, tell the advisor, and log it. A missing part gets flagged the same day.</a:t>
            </a:r>
            <a:endParaRPr lang="en-US" sz="1150" dirty="0"/>
          </a:p>
        </p:txBody>
      </p:sp>
      <p:sp>
        <p:nvSpPr>
          <p:cNvPr id="29" name="Text 27"/>
          <p:cNvSpPr/>
          <p:nvPr/>
        </p:nvSpPr>
        <p:spPr>
          <a:xfrm>
            <a:off x="6355080" y="541324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LOOKING AHEAD</a:t>
            </a:r>
            <a:endParaRPr lang="en-US" sz="1000" dirty="0"/>
          </a:p>
        </p:txBody>
      </p:sp>
      <p:sp>
        <p:nvSpPr>
          <p:cNvPr id="30" name="Text 28"/>
          <p:cNvSpPr/>
          <p:nvPr/>
        </p:nvSpPr>
        <p:spPr>
          <a:xfrm>
            <a:off x="6355080" y="566013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Class 1.4 — the multimeter and learning to read a circuit.</a:t>
            </a:r>
            <a:endParaRPr lang="en-US" sz="1150" dirty="0"/>
          </a:p>
        </p:txBody>
      </p:sp>
      <p:sp>
        <p:nvSpPr>
          <p:cNvPr id="31" name="Shape 29"/>
          <p:cNvSpPr/>
          <p:nvPr/>
        </p:nvSpPr>
        <p:spPr>
          <a:xfrm>
            <a:off x="822960" y="6437376"/>
            <a:ext cx="10545775" cy="0"/>
          </a:xfrm>
          <a:prstGeom prst="line">
            <a:avLst/>
          </a:prstGeom>
          <a:noFill/>
          <a:ln w="9525">
            <a:solidFill>
              <a:srgbClr val="E3E3E6"/>
            </a:solidFill>
            <a:prstDash val="solid"/>
          </a:ln>
        </p:spPr>
        <p:txBody>
          <a:bodyPr/>
          <a:p/>
        </p:txBody>
      </p:sp>
      <p:sp>
        <p:nvSpPr>
          <p:cNvPr id="32" name="Text 30"/>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3" name="Text 31"/>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5 / 18</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6">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02</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02</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The Kit</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Comes Out</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0:15 – 0:50   ·   35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The Triggerfish leaves the box, gets counted against the manual, and the first real electronics go in.</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6 / 18</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KIT COMES OUT</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Unbox it. Count every part.</a:t>
            </a:r>
            <a:endParaRPr lang="en-US" sz="3000" dirty="0"/>
          </a:p>
        </p:txBody>
      </p:sp>
      <p:sp>
        <p:nvSpPr>
          <p:cNvPr id="4" name="Text 2"/>
          <p:cNvSpPr/>
          <p:nvPr/>
        </p:nvSpPr>
        <p:spPr>
          <a:xfrm>
            <a:off x="822960" y="1783080"/>
            <a:ext cx="6446520" cy="1234440"/>
          </a:xfrm>
          <a:prstGeom prst="rect">
            <a:avLst/>
          </a:prstGeom>
          <a:noFill/>
          <a:ln/>
        </p:spPr>
        <p:txBody>
          <a:bodyPr wrap="square" lIns="0" tIns="0" rIns="0" bIns="0" rtlCol="0" anchor="ctr"/>
          <a:lstStyle/>
          <a:p>
            <a:pPr indent="0" marL="0">
              <a:lnSpc>
                <a:spcPts val="2100"/>
              </a:lnSpc>
              <a:buNone/>
            </a:pPr>
            <a:r>
              <a:rPr lang="en-US" sz="1400" dirty="0">
                <a:solidFill>
                  <a:srgbClr val="6E6E73"/>
                </a:solidFill>
                <a:latin typeface="Helvetica Neue" pitchFamily="34" charset="0"/>
                <a:ea typeface="Helvetica Neue" pitchFamily="34" charset="-122"/>
                <a:cs typeface="Helvetica Neue" pitchFamily="34" charset="-120"/>
              </a:rPr>
              <a:t>The SeaMATE Triggerfish is our trainer ROV — the kit every kid learns on before we build the competition vehicle. The moment it opens, the Mechanical Lead runs inventory against the manual’s parts list.</a:t>
            </a:r>
            <a:endParaRPr lang="en-US" sz="1400" dirty="0"/>
          </a:p>
        </p:txBody>
      </p:sp>
      <p:sp>
        <p:nvSpPr>
          <p:cNvPr id="5" name="Text 3"/>
          <p:cNvSpPr/>
          <p:nvPr/>
        </p:nvSpPr>
        <p:spPr>
          <a:xfrm>
            <a:off x="822960" y="3035808"/>
            <a:ext cx="6446520" cy="640080"/>
          </a:xfrm>
          <a:prstGeom prst="rect">
            <a:avLst/>
          </a:prstGeom>
          <a:noFill/>
          <a:ln/>
        </p:spPr>
        <p:txBody>
          <a:bodyPr wrap="square" lIns="0" tIns="0" rIns="0" bIns="0" rtlCol="0" anchor="ctr"/>
          <a:lstStyle/>
          <a:p>
            <a:pPr indent="0" marL="0">
              <a:lnSpc>
                <a:spcPts val="1900"/>
              </a:lnSpc>
              <a:buNone/>
            </a:pPr>
            <a:r>
              <a:rPr lang="en-US" sz="1350" b="1" dirty="0">
                <a:solidFill>
                  <a:srgbClr val="1D1D1F"/>
                </a:solidFill>
                <a:latin typeface="Helvetica Neue" pitchFamily="34" charset="0"/>
                <a:ea typeface="Helvetica Neue" pitchFamily="34" charset="-122"/>
                <a:cs typeface="Helvetica Neue" pitchFamily="34" charset="-120"/>
              </a:rPr>
              <a:t>One rule: nothing gets built until every part is counted and checked off. A missing part found today is an email; found mid-build, it is a lost week.</a:t>
            </a:r>
            <a:endParaRPr lang="en-US" sz="1350" dirty="0"/>
          </a:p>
        </p:txBody>
      </p:sp>
      <p:sp>
        <p:nvSpPr>
          <p:cNvPr id="6" name="Shape 4"/>
          <p:cNvSpPr/>
          <p:nvPr/>
        </p:nvSpPr>
        <p:spPr>
          <a:xfrm>
            <a:off x="822960" y="3840480"/>
            <a:ext cx="6446520" cy="384048"/>
          </a:xfrm>
          <a:prstGeom prst="rect">
            <a:avLst/>
          </a:prstGeom>
          <a:solidFill>
            <a:srgbClr val="0D7490"/>
          </a:solidFill>
          <a:ln/>
        </p:spPr>
        <p:txBody>
          <a:bodyPr/>
          <a:p/>
        </p:txBody>
      </p:sp>
      <p:sp>
        <p:nvSpPr>
          <p:cNvPr id="7" name="Text 5"/>
          <p:cNvSpPr/>
          <p:nvPr/>
        </p:nvSpPr>
        <p:spPr>
          <a:xfrm>
            <a:off x="950976" y="3840480"/>
            <a:ext cx="96926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QTY</a:t>
            </a:r>
            <a:endParaRPr lang="en-US" sz="900" dirty="0"/>
          </a:p>
        </p:txBody>
      </p:sp>
      <p:sp>
        <p:nvSpPr>
          <p:cNvPr id="8" name="Text 6"/>
          <p:cNvSpPr/>
          <p:nvPr/>
        </p:nvSpPr>
        <p:spPr>
          <a:xfrm>
            <a:off x="2048256" y="3840480"/>
            <a:ext cx="261518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PART</a:t>
            </a:r>
            <a:endParaRPr lang="en-US" sz="900" dirty="0"/>
          </a:p>
        </p:txBody>
      </p:sp>
      <p:sp>
        <p:nvSpPr>
          <p:cNvPr id="9" name="Text 7"/>
          <p:cNvSpPr/>
          <p:nvPr/>
        </p:nvSpPr>
        <p:spPr>
          <a:xfrm>
            <a:off x="4791456" y="3840480"/>
            <a:ext cx="133502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NOTE</a:t>
            </a:r>
            <a:endParaRPr lang="en-US" sz="900" dirty="0"/>
          </a:p>
        </p:txBody>
      </p:sp>
      <p:sp>
        <p:nvSpPr>
          <p:cNvPr id="10" name="Text 8"/>
          <p:cNvSpPr/>
          <p:nvPr/>
        </p:nvSpPr>
        <p:spPr>
          <a:xfrm>
            <a:off x="6254496" y="3840480"/>
            <a:ext cx="101498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a:t>
            </a:r>
            <a:endParaRPr lang="en-US" sz="900" dirty="0"/>
          </a:p>
        </p:txBody>
      </p:sp>
      <p:sp>
        <p:nvSpPr>
          <p:cNvPr id="11" name="Shape 9"/>
          <p:cNvSpPr/>
          <p:nvPr/>
        </p:nvSpPr>
        <p:spPr>
          <a:xfrm>
            <a:off x="822960" y="4224528"/>
            <a:ext cx="6446520" cy="457200"/>
          </a:xfrm>
          <a:prstGeom prst="rect">
            <a:avLst/>
          </a:prstGeom>
          <a:solidFill>
            <a:srgbClr val="FBFBFD"/>
          </a:solidFill>
          <a:ln w="9525">
            <a:solidFill>
              <a:srgbClr val="E3E3E6"/>
            </a:solidFill>
            <a:prstDash val="solid"/>
          </a:ln>
        </p:spPr>
        <p:txBody>
          <a:bodyPr/>
          <a:p/>
        </p:txBody>
      </p:sp>
      <p:sp>
        <p:nvSpPr>
          <p:cNvPr id="12" name="Text 10"/>
          <p:cNvSpPr/>
          <p:nvPr/>
        </p:nvSpPr>
        <p:spPr>
          <a:xfrm>
            <a:off x="950976" y="4224528"/>
            <a:ext cx="96926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3</a:t>
            </a:r>
            <a:endParaRPr lang="en-US" sz="1050" dirty="0"/>
          </a:p>
        </p:txBody>
      </p:sp>
      <p:sp>
        <p:nvSpPr>
          <p:cNvPr id="13" name="Text 11"/>
          <p:cNvSpPr/>
          <p:nvPr/>
        </p:nvSpPr>
        <p:spPr>
          <a:xfrm>
            <a:off x="2048256" y="4224528"/>
            <a:ext cx="261518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Thruster motors</a:t>
            </a:r>
            <a:endParaRPr lang="en-US" sz="1050" dirty="0"/>
          </a:p>
        </p:txBody>
      </p:sp>
      <p:sp>
        <p:nvSpPr>
          <p:cNvPr id="14" name="Text 12"/>
          <p:cNvSpPr/>
          <p:nvPr/>
        </p:nvSpPr>
        <p:spPr>
          <a:xfrm>
            <a:off x="4791456" y="4224528"/>
            <a:ext cx="133502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Handle by the body, not the leads</a:t>
            </a:r>
            <a:endParaRPr lang="en-US" sz="1050" dirty="0"/>
          </a:p>
        </p:txBody>
      </p:sp>
      <p:sp>
        <p:nvSpPr>
          <p:cNvPr id="15" name="Text 13"/>
          <p:cNvSpPr/>
          <p:nvPr/>
        </p:nvSpPr>
        <p:spPr>
          <a:xfrm>
            <a:off x="6254496" y="4224528"/>
            <a:ext cx="101498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a:t>
            </a:r>
            <a:endParaRPr lang="en-US" sz="1050" dirty="0"/>
          </a:p>
        </p:txBody>
      </p:sp>
      <p:sp>
        <p:nvSpPr>
          <p:cNvPr id="16" name="Shape 14"/>
          <p:cNvSpPr/>
          <p:nvPr/>
        </p:nvSpPr>
        <p:spPr>
          <a:xfrm>
            <a:off x="822960" y="4681728"/>
            <a:ext cx="6446520" cy="457200"/>
          </a:xfrm>
          <a:prstGeom prst="rect">
            <a:avLst/>
          </a:prstGeom>
          <a:solidFill>
            <a:srgbClr val="FFFFFF"/>
          </a:solidFill>
          <a:ln w="9525">
            <a:solidFill>
              <a:srgbClr val="E3E3E6"/>
            </a:solidFill>
            <a:prstDash val="solid"/>
          </a:ln>
        </p:spPr>
        <p:txBody>
          <a:bodyPr/>
          <a:p/>
        </p:txBody>
      </p:sp>
      <p:sp>
        <p:nvSpPr>
          <p:cNvPr id="17" name="Text 15"/>
          <p:cNvSpPr/>
          <p:nvPr/>
        </p:nvSpPr>
        <p:spPr>
          <a:xfrm>
            <a:off x="950976" y="4681728"/>
            <a:ext cx="96926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1 set</a:t>
            </a:r>
            <a:endParaRPr lang="en-US" sz="1050" dirty="0"/>
          </a:p>
        </p:txBody>
      </p:sp>
      <p:sp>
        <p:nvSpPr>
          <p:cNvPr id="18" name="Text 16"/>
          <p:cNvSpPr/>
          <p:nvPr/>
        </p:nvSpPr>
        <p:spPr>
          <a:xfrm>
            <a:off x="2048256" y="4681728"/>
            <a:ext cx="261518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Frame &amp; hardware</a:t>
            </a:r>
            <a:endParaRPr lang="en-US" sz="1050" dirty="0"/>
          </a:p>
        </p:txBody>
      </p:sp>
      <p:sp>
        <p:nvSpPr>
          <p:cNvPr id="19" name="Text 17"/>
          <p:cNvSpPr/>
          <p:nvPr/>
        </p:nvSpPr>
        <p:spPr>
          <a:xfrm>
            <a:off x="4791456" y="4681728"/>
            <a:ext cx="133502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Count every screw</a:t>
            </a:r>
            <a:endParaRPr lang="en-US" sz="1050" dirty="0"/>
          </a:p>
        </p:txBody>
      </p:sp>
      <p:sp>
        <p:nvSpPr>
          <p:cNvPr id="20" name="Text 18"/>
          <p:cNvSpPr/>
          <p:nvPr/>
        </p:nvSpPr>
        <p:spPr>
          <a:xfrm>
            <a:off x="6254496" y="4681728"/>
            <a:ext cx="101498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a:t>
            </a:r>
            <a:endParaRPr lang="en-US" sz="1050" dirty="0"/>
          </a:p>
        </p:txBody>
      </p:sp>
      <p:sp>
        <p:nvSpPr>
          <p:cNvPr id="21" name="Shape 19"/>
          <p:cNvSpPr/>
          <p:nvPr/>
        </p:nvSpPr>
        <p:spPr>
          <a:xfrm>
            <a:off x="7635240" y="1783080"/>
            <a:ext cx="3730752" cy="4069080"/>
          </a:xfrm>
          <a:prstGeom prst="roundRect">
            <a:avLst>
              <a:gd name="adj" fmla="val 2696"/>
            </a:avLst>
          </a:prstGeom>
          <a:solidFill>
            <a:srgbClr val="095D75"/>
          </a:solidFill>
          <a:ln w="12700">
            <a:solidFill>
              <a:srgbClr val="095D75"/>
            </a:solidFill>
            <a:prstDash val="solid"/>
          </a:ln>
        </p:spPr>
        <p:txBody>
          <a:bodyPr/>
          <a:p/>
        </p:txBody>
      </p:sp>
      <p:sp>
        <p:nvSpPr>
          <p:cNvPr id="22" name="Text 20"/>
          <p:cNvSpPr/>
          <p:nvPr/>
        </p:nvSpPr>
        <p:spPr>
          <a:xfrm>
            <a:off x="7955280" y="2103120"/>
            <a:ext cx="3108960" cy="274320"/>
          </a:xfrm>
          <a:prstGeom prst="rect">
            <a:avLst/>
          </a:prstGeom>
          <a:noFill/>
          <a:ln/>
        </p:spPr>
        <p:txBody>
          <a:bodyPr wrap="square" lIns="0" tIns="0" rIns="0" bIns="0" rtlCol="0" anchor="ctr"/>
          <a:lstStyle/>
          <a:p>
            <a:pPr indent="0" marL="0">
              <a:buNone/>
            </a:pPr>
            <a:r>
              <a:rPr lang="en-US" sz="1000" b="1" spc="150" kern="0" dirty="0">
                <a:solidFill>
                  <a:srgbClr val="9FCEDA"/>
                </a:solidFill>
                <a:latin typeface="Helvetica Neue" pitchFamily="34" charset="0"/>
                <a:ea typeface="Helvetica Neue" pitchFamily="34" charset="-122"/>
                <a:cs typeface="Helvetica Neue" pitchFamily="34" charset="-120"/>
              </a:rPr>
              <a:t>DON’T FORGET</a:t>
            </a:r>
            <a:endParaRPr lang="en-US" sz="1000" dirty="0"/>
          </a:p>
        </p:txBody>
      </p:sp>
      <p:sp>
        <p:nvSpPr>
          <p:cNvPr id="23" name="Text 21"/>
          <p:cNvSpPr/>
          <p:nvPr/>
        </p:nvSpPr>
        <p:spPr>
          <a:xfrm>
            <a:off x="7955280" y="2395728"/>
            <a:ext cx="3154680" cy="914400"/>
          </a:xfrm>
          <a:prstGeom prst="rect">
            <a:avLst/>
          </a:prstGeom>
          <a:noFill/>
          <a:ln/>
        </p:spPr>
        <p:txBody>
          <a:bodyPr wrap="square" lIns="0" tIns="0" rIns="0" bIns="0" rtlCol="0" anchor="ctr"/>
          <a:lstStyle/>
          <a:p>
            <a:pPr indent="0" marL="0">
              <a:lnSpc>
                <a:spcPts val="2400"/>
              </a:lnSpc>
              <a:buNone/>
            </a:pPr>
            <a:r>
              <a:rPr lang="en-US" sz="1900" b="1" dirty="0">
                <a:solidFill>
                  <a:srgbClr val="FFFFFF"/>
                </a:solidFill>
                <a:latin typeface="Helvetica Neue" pitchFamily="34" charset="0"/>
                <a:ea typeface="Helvetica Neue" pitchFamily="34" charset="-122"/>
                <a:cs typeface="Helvetica Neue" pitchFamily="34" charset="-120"/>
              </a:rPr>
              <a:t>It ships without a power source.</a:t>
            </a:r>
            <a:endParaRPr lang="en-US" sz="1900" dirty="0"/>
          </a:p>
        </p:txBody>
      </p:sp>
      <p:sp>
        <p:nvSpPr>
          <p:cNvPr id="24" name="Text 22"/>
          <p:cNvSpPr/>
          <p:nvPr/>
        </p:nvSpPr>
        <p:spPr>
          <a:xfrm>
            <a:off x="7955280" y="3346704"/>
            <a:ext cx="3154680" cy="1371600"/>
          </a:xfrm>
          <a:prstGeom prst="rect">
            <a:avLst/>
          </a:prstGeom>
          <a:noFill/>
          <a:ln/>
        </p:spPr>
        <p:txBody>
          <a:bodyPr wrap="square" lIns="0" tIns="0" rIns="0" bIns="0" rtlCol="0" anchor="ctr"/>
          <a:lstStyle/>
          <a:p>
            <a:pPr indent="0" marL="0">
              <a:lnSpc>
                <a:spcPts val="1550"/>
              </a:lnSpc>
              <a:buNone/>
            </a:pPr>
            <a:r>
              <a:rPr lang="en-US" sz="1100" dirty="0">
                <a:solidFill>
                  <a:srgbClr val="EAF2F4"/>
                </a:solidFill>
                <a:latin typeface="Helvetica Neue" pitchFamily="34" charset="0"/>
                <a:ea typeface="Helvetica Neue" pitchFamily="34" charset="-122"/>
                <a:cs typeface="Helvetica Neue" pitchFamily="34" charset="-120"/>
              </a:rPr>
              <a:t>The Triggerfish kit does not include a battery. Our 12 V SLA battery, charger, and Powerpole leads are a separate order — and they must be in hand before the wiring lesson.</a:t>
            </a:r>
            <a:endParaRPr lang="en-US" sz="1100" dirty="0"/>
          </a:p>
        </p:txBody>
      </p:sp>
      <p:sp>
        <p:nvSpPr>
          <p:cNvPr id="25" name="Shape 23"/>
          <p:cNvSpPr/>
          <p:nvPr/>
        </p:nvSpPr>
        <p:spPr>
          <a:xfrm>
            <a:off x="7955280" y="4864608"/>
            <a:ext cx="3108960" cy="0"/>
          </a:xfrm>
          <a:prstGeom prst="line">
            <a:avLst/>
          </a:prstGeom>
          <a:noFill/>
          <a:ln w="12700">
            <a:solidFill>
              <a:srgbClr val="3E7E91"/>
            </a:solidFill>
            <a:prstDash val="solid"/>
          </a:ln>
        </p:spPr>
        <p:txBody>
          <a:bodyPr/>
          <a:p/>
        </p:txBody>
      </p:sp>
      <p:sp>
        <p:nvSpPr>
          <p:cNvPr id="26" name="Text 24"/>
          <p:cNvSpPr/>
          <p:nvPr/>
        </p:nvSpPr>
        <p:spPr>
          <a:xfrm>
            <a:off x="7955280" y="4992624"/>
            <a:ext cx="3154680" cy="292608"/>
          </a:xfrm>
          <a:prstGeom prst="rect">
            <a:avLst/>
          </a:prstGeom>
          <a:noFill/>
          <a:ln/>
        </p:spPr>
        <p:txBody>
          <a:bodyPr wrap="square" lIns="0" tIns="0" rIns="0" bIns="0" rtlCol="0" anchor="ctr"/>
          <a:lstStyle/>
          <a:p>
            <a:pPr indent="0" marL="0">
              <a:buNone/>
            </a:pPr>
            <a:r>
              <a:rPr lang="en-US" sz="1100" b="1" dirty="0">
                <a:solidFill>
                  <a:srgbClr val="9FCEDA"/>
                </a:solidFill>
                <a:latin typeface="Helvetica Neue" pitchFamily="34" charset="0"/>
                <a:ea typeface="Helvetica Neue" pitchFamily="34" charset="-122"/>
                <a:cs typeface="Helvetica Neue" pitchFamily="34" charset="-120"/>
              </a:rPr>
              <a:t xml:space="preserve">OWNER   </a:t>
            </a:r>
            <a:pPr indent="0" marL="0">
              <a:buNone/>
            </a:pPr>
            <a:r>
              <a:rPr lang="en-US" sz="1100" dirty="0">
                <a:solidFill>
                  <a:srgbClr val="FFFFFF"/>
                </a:solidFill>
                <a:latin typeface="Helvetica Neue" pitchFamily="34" charset="0"/>
                <a:ea typeface="Helvetica Neue" pitchFamily="34" charset="-122"/>
                <a:cs typeface="Helvetica Neue" pitchFamily="34" charset="-120"/>
              </a:rPr>
              <a:t>Mechanical Lead</a:t>
            </a:r>
            <a:endParaRPr lang="en-US" sz="1100" dirty="0"/>
          </a:p>
        </p:txBody>
      </p:sp>
      <p:sp>
        <p:nvSpPr>
          <p:cNvPr id="27" name="Text 25"/>
          <p:cNvSpPr/>
          <p:nvPr/>
        </p:nvSpPr>
        <p:spPr>
          <a:xfrm>
            <a:off x="7955280" y="5321808"/>
            <a:ext cx="3154680" cy="457200"/>
          </a:xfrm>
          <a:prstGeom prst="rect">
            <a:avLst/>
          </a:prstGeom>
          <a:noFill/>
          <a:ln/>
        </p:spPr>
        <p:txBody>
          <a:bodyPr wrap="square" lIns="0" tIns="0" rIns="0" bIns="0" rtlCol="0" anchor="ctr"/>
          <a:lstStyle/>
          <a:p>
            <a:pPr indent="0" marL="0">
              <a:lnSpc>
                <a:spcPts val="1400"/>
              </a:lnSpc>
              <a:buNone/>
            </a:pPr>
            <a:r>
              <a:rPr lang="en-US" sz="1100" b="1" dirty="0">
                <a:solidFill>
                  <a:srgbClr val="9FCEDA"/>
                </a:solidFill>
                <a:latin typeface="Helvetica Neue" pitchFamily="34" charset="0"/>
                <a:ea typeface="Helvetica Neue" pitchFamily="34" charset="-122"/>
                <a:cs typeface="Helvetica Neue" pitchFamily="34" charset="-120"/>
              </a:rPr>
              <a:t xml:space="preserve">STATUS  </a:t>
            </a:r>
            <a:pPr indent="0" marL="0">
              <a:lnSpc>
                <a:spcPts val="1400"/>
              </a:lnSpc>
              <a:buNone/>
            </a:pPr>
            <a:r>
              <a:rPr lang="en-US" sz="1100" dirty="0">
                <a:solidFill>
                  <a:srgbClr val="FFFFFF"/>
                </a:solidFill>
                <a:latin typeface="Helvetica Neue" pitchFamily="34" charset="0"/>
                <a:ea typeface="Helvetica Neue" pitchFamily="34" charset="-122"/>
                <a:cs typeface="Helvetica Neue" pitchFamily="34" charset="-120"/>
              </a:rPr>
              <a:t>Battery on order · due before wiring</a:t>
            </a:r>
            <a:endParaRPr lang="en-US" sz="1100" dirty="0"/>
          </a:p>
        </p:txBody>
      </p:sp>
      <p:sp>
        <p:nvSpPr>
          <p:cNvPr id="28" name="Shape 26"/>
          <p:cNvSpPr/>
          <p:nvPr/>
        </p:nvSpPr>
        <p:spPr>
          <a:xfrm>
            <a:off x="822960" y="6437376"/>
            <a:ext cx="10545775" cy="0"/>
          </a:xfrm>
          <a:prstGeom prst="line">
            <a:avLst/>
          </a:prstGeom>
          <a:noFill/>
          <a:ln w="9525">
            <a:solidFill>
              <a:srgbClr val="E3E3E6"/>
            </a:solidFill>
            <a:prstDash val="solid"/>
          </a:ln>
        </p:spPr>
        <p:txBody>
          <a:bodyPr/>
          <a:p/>
        </p:txBody>
      </p:sp>
      <p:sp>
        <p:nvSpPr>
          <p:cNvPr id="29" name="Text 27"/>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0" name="Text 28"/>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7 / 18</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03</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03</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First</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Electronics</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0:50 – 1:10   ·   70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Irons hot again — the joints we practiced become real connections on the robot.</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8 / 18</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FIRST ELECTRONICS</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Read the manual. Then wire stage one.</a:t>
            </a:r>
            <a:endParaRPr lang="en-US" sz="3000" dirty="0"/>
          </a:p>
        </p:txBody>
      </p:sp>
      <p:sp>
        <p:nvSpPr>
          <p:cNvPr id="4" name="Shape 2"/>
          <p:cNvSpPr/>
          <p:nvPr/>
        </p:nvSpPr>
        <p:spPr>
          <a:xfrm>
            <a:off x="822960" y="1865376"/>
            <a:ext cx="457200" cy="457200"/>
          </a:xfrm>
          <a:prstGeom prst="ellipse">
            <a:avLst/>
          </a:prstGeom>
          <a:solidFill>
            <a:srgbClr val="0D7490"/>
          </a:solidFill>
          <a:ln/>
        </p:spPr>
        <p:txBody>
          <a:bodyPr/>
          <a:p/>
        </p:txBody>
      </p:sp>
      <p:sp>
        <p:nvSpPr>
          <p:cNvPr id="5" name="Text 3"/>
          <p:cNvSpPr/>
          <p:nvPr/>
        </p:nvSpPr>
        <p:spPr>
          <a:xfrm>
            <a:off x="822960" y="186537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1</a:t>
            </a:r>
            <a:endParaRPr lang="en-US" sz="1400" dirty="0"/>
          </a:p>
        </p:txBody>
      </p:sp>
      <p:sp>
        <p:nvSpPr>
          <p:cNvPr id="6" name="Text 4"/>
          <p:cNvSpPr/>
          <p:nvPr/>
        </p:nvSpPr>
        <p:spPr>
          <a:xfrm>
            <a:off x="1481328" y="1828800"/>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Read the build order</a:t>
            </a:r>
            <a:endParaRPr lang="en-US" sz="1600" dirty="0"/>
          </a:p>
        </p:txBody>
      </p:sp>
      <p:sp>
        <p:nvSpPr>
          <p:cNvPr id="7" name="Text 5"/>
          <p:cNvSpPr/>
          <p:nvPr/>
        </p:nvSpPr>
        <p:spPr>
          <a:xfrm>
            <a:off x="5212080" y="1810512"/>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Walk the manual’s sequence start to finish before touching a part, so everyone knows the whole path.</a:t>
            </a:r>
            <a:endParaRPr lang="en-US" sz="1250" dirty="0"/>
          </a:p>
        </p:txBody>
      </p:sp>
      <p:sp>
        <p:nvSpPr>
          <p:cNvPr id="8" name="Shape 6"/>
          <p:cNvSpPr/>
          <p:nvPr/>
        </p:nvSpPr>
        <p:spPr>
          <a:xfrm>
            <a:off x="1051560" y="2395728"/>
            <a:ext cx="0" cy="384048"/>
          </a:xfrm>
          <a:prstGeom prst="line">
            <a:avLst/>
          </a:prstGeom>
          <a:noFill/>
          <a:ln w="19050">
            <a:solidFill>
              <a:srgbClr val="D6E7EB"/>
            </a:solidFill>
            <a:prstDash val="solid"/>
          </a:ln>
        </p:spPr>
        <p:txBody>
          <a:bodyPr/>
          <a:p/>
        </p:txBody>
      </p:sp>
      <p:sp>
        <p:nvSpPr>
          <p:cNvPr id="9" name="Shape 7"/>
          <p:cNvSpPr/>
          <p:nvPr/>
        </p:nvSpPr>
        <p:spPr>
          <a:xfrm>
            <a:off x="822960" y="2816352"/>
            <a:ext cx="457200" cy="457200"/>
          </a:xfrm>
          <a:prstGeom prst="ellipse">
            <a:avLst/>
          </a:prstGeom>
          <a:solidFill>
            <a:srgbClr val="0D7490"/>
          </a:solidFill>
          <a:ln/>
        </p:spPr>
        <p:txBody>
          <a:bodyPr/>
          <a:p/>
        </p:txBody>
      </p:sp>
      <p:sp>
        <p:nvSpPr>
          <p:cNvPr id="10" name="Text 8"/>
          <p:cNvSpPr/>
          <p:nvPr/>
        </p:nvSpPr>
        <p:spPr>
          <a:xfrm>
            <a:off x="822960" y="2816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2</a:t>
            </a:r>
            <a:endParaRPr lang="en-US" sz="1400" dirty="0"/>
          </a:p>
        </p:txBody>
      </p:sp>
      <p:sp>
        <p:nvSpPr>
          <p:cNvPr id="11" name="Text 9"/>
          <p:cNvSpPr/>
          <p:nvPr/>
        </p:nvSpPr>
        <p:spPr>
          <a:xfrm>
            <a:off x="1481328" y="2779776"/>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Lay out stage one</a:t>
            </a:r>
            <a:endParaRPr lang="en-US" sz="1600" dirty="0"/>
          </a:p>
        </p:txBody>
      </p:sp>
      <p:sp>
        <p:nvSpPr>
          <p:cNvPr id="12" name="Text 10"/>
          <p:cNvSpPr/>
          <p:nvPr/>
        </p:nvSpPr>
        <p:spPr>
          <a:xfrm>
            <a:off x="5212080" y="2761488"/>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Group the parts for the first stage and match each one to the diagram. Ask questions now, not mid-solder.</a:t>
            </a:r>
            <a:endParaRPr lang="en-US" sz="1250" dirty="0"/>
          </a:p>
        </p:txBody>
      </p:sp>
      <p:sp>
        <p:nvSpPr>
          <p:cNvPr id="13" name="Shape 11"/>
          <p:cNvSpPr/>
          <p:nvPr/>
        </p:nvSpPr>
        <p:spPr>
          <a:xfrm>
            <a:off x="1051560" y="3346704"/>
            <a:ext cx="0" cy="384048"/>
          </a:xfrm>
          <a:prstGeom prst="line">
            <a:avLst/>
          </a:prstGeom>
          <a:noFill/>
          <a:ln w="19050">
            <a:solidFill>
              <a:srgbClr val="D6E7EB"/>
            </a:solidFill>
            <a:prstDash val="solid"/>
          </a:ln>
        </p:spPr>
        <p:txBody>
          <a:bodyPr/>
          <a:p/>
        </p:txBody>
      </p:sp>
      <p:sp>
        <p:nvSpPr>
          <p:cNvPr id="14" name="Shape 12"/>
          <p:cNvSpPr/>
          <p:nvPr/>
        </p:nvSpPr>
        <p:spPr>
          <a:xfrm>
            <a:off x="822960" y="3767328"/>
            <a:ext cx="457200" cy="457200"/>
          </a:xfrm>
          <a:prstGeom prst="ellipse">
            <a:avLst/>
          </a:prstGeom>
          <a:solidFill>
            <a:srgbClr val="0D7490"/>
          </a:solidFill>
          <a:ln/>
        </p:spPr>
        <p:txBody>
          <a:bodyPr/>
          <a:p/>
        </p:txBody>
      </p:sp>
      <p:sp>
        <p:nvSpPr>
          <p:cNvPr id="15" name="Text 13"/>
          <p:cNvSpPr/>
          <p:nvPr/>
        </p:nvSpPr>
        <p:spPr>
          <a:xfrm>
            <a:off x="822960" y="37673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3</a:t>
            </a:r>
            <a:endParaRPr lang="en-US" sz="1400" dirty="0"/>
          </a:p>
        </p:txBody>
      </p:sp>
      <p:sp>
        <p:nvSpPr>
          <p:cNvPr id="16" name="Text 14"/>
          <p:cNvSpPr/>
          <p:nvPr/>
        </p:nvSpPr>
        <p:spPr>
          <a:xfrm>
            <a:off x="1481328" y="3730752"/>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Make the first kit joints</a:t>
            </a:r>
            <a:endParaRPr lang="en-US" sz="1600" dirty="0"/>
          </a:p>
        </p:txBody>
      </p:sp>
      <p:sp>
        <p:nvSpPr>
          <p:cNvPr id="17" name="Text 15"/>
          <p:cNvSpPr/>
          <p:nvPr/>
        </p:nvSpPr>
        <p:spPr>
          <a:xfrm>
            <a:off x="5212080" y="3712464"/>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The irons are already hot. The joints we practiced become real connections on the robot.</a:t>
            </a:r>
            <a:endParaRPr lang="en-US" sz="1250" dirty="0"/>
          </a:p>
        </p:txBody>
      </p:sp>
      <p:sp>
        <p:nvSpPr>
          <p:cNvPr id="18" name="Shape 16"/>
          <p:cNvSpPr/>
          <p:nvPr/>
        </p:nvSpPr>
        <p:spPr>
          <a:xfrm>
            <a:off x="1051560" y="4297680"/>
            <a:ext cx="0" cy="384048"/>
          </a:xfrm>
          <a:prstGeom prst="line">
            <a:avLst/>
          </a:prstGeom>
          <a:noFill/>
          <a:ln w="19050">
            <a:solidFill>
              <a:srgbClr val="D6E7EB"/>
            </a:solidFill>
            <a:prstDash val="solid"/>
          </a:ln>
        </p:spPr>
        <p:txBody>
          <a:bodyPr/>
          <a:p/>
        </p:txBody>
      </p:sp>
      <p:sp>
        <p:nvSpPr>
          <p:cNvPr id="19" name="Shape 17"/>
          <p:cNvSpPr/>
          <p:nvPr/>
        </p:nvSpPr>
        <p:spPr>
          <a:xfrm>
            <a:off x="822960" y="4718304"/>
            <a:ext cx="457200" cy="457200"/>
          </a:xfrm>
          <a:prstGeom prst="ellipse">
            <a:avLst/>
          </a:prstGeom>
          <a:solidFill>
            <a:srgbClr val="0D7490"/>
          </a:solidFill>
          <a:ln/>
        </p:spPr>
        <p:txBody>
          <a:bodyPr/>
          <a:p/>
        </p:txBody>
      </p:sp>
      <p:sp>
        <p:nvSpPr>
          <p:cNvPr id="20" name="Text 18"/>
          <p:cNvSpPr/>
          <p:nvPr/>
        </p:nvSpPr>
        <p:spPr>
          <a:xfrm>
            <a:off x="822960" y="47183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4</a:t>
            </a:r>
            <a:endParaRPr lang="en-US" sz="1400" dirty="0"/>
          </a:p>
        </p:txBody>
      </p:sp>
      <p:sp>
        <p:nvSpPr>
          <p:cNvPr id="21" name="Text 19"/>
          <p:cNvSpPr/>
          <p:nvPr/>
        </p:nvSpPr>
        <p:spPr>
          <a:xfrm>
            <a:off x="1481328" y="4681728"/>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Photograph and log it</a:t>
            </a:r>
            <a:endParaRPr lang="en-US" sz="1600" dirty="0"/>
          </a:p>
        </p:txBody>
      </p:sp>
      <p:sp>
        <p:nvSpPr>
          <p:cNvPr id="22" name="Text 20"/>
          <p:cNvSpPr/>
          <p:nvPr/>
        </p:nvSpPr>
        <p:spPr>
          <a:xfrm>
            <a:off x="5212080" y="4663440"/>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Shoot the stage, write what we did and any decision we made. The notebook fills as the robot grows.</a:t>
            </a:r>
            <a:endParaRPr lang="en-US" sz="1250" dirty="0"/>
          </a:p>
        </p:txBody>
      </p:sp>
      <p:sp>
        <p:nvSpPr>
          <p:cNvPr id="23" name="Shape 21"/>
          <p:cNvSpPr/>
          <p:nvPr/>
        </p:nvSpPr>
        <p:spPr>
          <a:xfrm>
            <a:off x="822960" y="5650992"/>
            <a:ext cx="10545775" cy="658368"/>
          </a:xfrm>
          <a:prstGeom prst="roundRect">
            <a:avLst>
              <a:gd name="adj" fmla="val 15278"/>
            </a:avLst>
          </a:prstGeom>
          <a:solidFill>
            <a:srgbClr val="EAF2F4"/>
          </a:solidFill>
          <a:ln w="12700">
            <a:solidFill>
              <a:srgbClr val="EAF2F4"/>
            </a:solidFill>
            <a:prstDash val="solid"/>
          </a:ln>
        </p:spPr>
        <p:txBody>
          <a:bodyPr/>
          <a:p/>
        </p:txBody>
      </p:sp>
      <p:sp>
        <p:nvSpPr>
          <p:cNvPr id="24" name="Text 22"/>
          <p:cNvSpPr/>
          <p:nvPr/>
        </p:nvSpPr>
        <p:spPr>
          <a:xfrm>
            <a:off x="1143000" y="5650992"/>
            <a:ext cx="9966960" cy="658368"/>
          </a:xfrm>
          <a:prstGeom prst="rect">
            <a:avLst/>
          </a:prstGeom>
          <a:noFill/>
          <a:ln/>
        </p:spPr>
        <p:txBody>
          <a:bodyPr wrap="square" lIns="0" tIns="0" rIns="0" bIns="0" rtlCol="0" anchor="ctr"/>
          <a:lstStyle/>
          <a:p>
            <a:pPr indent="0" marL="0">
              <a:lnSpc>
                <a:spcPts val="1500"/>
              </a:lnSpc>
              <a:buNone/>
            </a:pPr>
            <a:r>
              <a:rPr lang="en-US" sz="1150" b="1" dirty="0">
                <a:solidFill>
                  <a:srgbClr val="095D75"/>
                </a:solidFill>
                <a:latin typeface="Helvetica Neue" pitchFamily="34" charset="0"/>
                <a:ea typeface="Helvetica Neue" pitchFamily="34" charset="-122"/>
                <a:cs typeface="Helvetica Neue" pitchFamily="34" charset="-120"/>
              </a:rPr>
              <a:t xml:space="preserve">Two things to remember.  </a:t>
            </a:r>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We stop wherever the clock runs out. A clean stopping point always beats a rushed connection.</a:t>
            </a:r>
            <a:endParaRPr lang="en-US" sz="1150" dirty="0"/>
          </a:p>
        </p:txBody>
      </p:sp>
      <p:sp>
        <p:nvSpPr>
          <p:cNvPr id="25" name="Shape 23"/>
          <p:cNvSpPr/>
          <p:nvPr/>
        </p:nvSpPr>
        <p:spPr>
          <a:xfrm>
            <a:off x="822960" y="6437376"/>
            <a:ext cx="10545775" cy="0"/>
          </a:xfrm>
          <a:prstGeom prst="line">
            <a:avLst/>
          </a:prstGeom>
          <a:noFill/>
          <a:ln w="9525">
            <a:solidFill>
              <a:srgbClr val="E3E3E6"/>
            </a:solidFill>
            <a:prstDash val="solid"/>
          </a:ln>
        </p:spPr>
        <p:txBody>
          <a:bodyPr/>
          <a:p/>
        </p:txBody>
      </p:sp>
      <p:sp>
        <p:nvSpPr>
          <p:cNvPr id="26" name="Text 24"/>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7" name="Text 25"/>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9 / 18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0">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04</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04</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The Records</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Begin Today</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2:10 – 2:35   ·   25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Five records that win in April start quietly today — repo, wiki, notebook, photos, outreach.</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10 / 18</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RECORDS</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Five records open today and never close.</a:t>
            </a:r>
            <a:endParaRPr lang="en-US" sz="3000" dirty="0"/>
          </a:p>
        </p:txBody>
      </p:sp>
      <p:sp>
        <p:nvSpPr>
          <p:cNvPr id="4" name="Text 2"/>
          <p:cNvSpPr/>
          <p:nvPr/>
        </p:nvSpPr>
        <p:spPr>
          <a:xfrm>
            <a:off x="822960" y="1783080"/>
            <a:ext cx="10515600" cy="868680"/>
          </a:xfrm>
          <a:prstGeom prst="rect">
            <a:avLst/>
          </a:prstGeom>
          <a:noFill/>
          <a:ln/>
        </p:spPr>
        <p:txBody>
          <a:bodyPr wrap="square" lIns="0" tIns="0" rIns="0" bIns="0" rtlCol="0" anchor="ctr"/>
          <a:lstStyle/>
          <a:p>
            <a:pPr indent="0" marL="0">
              <a:lnSpc>
                <a:spcPts val="2200"/>
              </a:lnSpc>
              <a:buNone/>
            </a:pPr>
            <a:r>
              <a:rPr lang="en-US" sz="1500" dirty="0">
                <a:solidFill>
                  <a:srgbClr val="6E6E73"/>
                </a:solidFill>
                <a:latin typeface="Helvetica Neue" pitchFamily="34" charset="0"/>
                <a:ea typeface="Helvetica Neue" pitchFamily="34" charset="-122"/>
                <a:cs typeface="Helvetica Neue" pitchFamily="34" charset="-120"/>
              </a:rPr>
              <a:t>The build is only half the season. The documentation, the code, and the outreach are scored too — and like a joint, they are honest only if made as we go. Five records start now.</a:t>
            </a:r>
            <a:endParaRPr lang="en-US" sz="1500" dirty="0"/>
          </a:p>
        </p:txBody>
      </p:sp>
      <p:sp>
        <p:nvSpPr>
          <p:cNvPr id="5" name="Shape 3"/>
          <p:cNvSpPr/>
          <p:nvPr/>
        </p:nvSpPr>
        <p:spPr>
          <a:xfrm>
            <a:off x="822960" y="2880360"/>
            <a:ext cx="1993392" cy="2971800"/>
          </a:xfrm>
          <a:prstGeom prst="roundRect">
            <a:avLst>
              <a:gd name="adj" fmla="val 5046"/>
            </a:avLst>
          </a:prstGeom>
          <a:solidFill>
            <a:srgbClr val="FBFBFD"/>
          </a:solidFill>
          <a:ln w="12700">
            <a:solidFill>
              <a:srgbClr val="E3E3E6"/>
            </a:solidFill>
            <a:prstDash val="solid"/>
          </a:ln>
        </p:spPr>
        <p:txBody>
          <a:bodyPr/>
          <a:p/>
        </p:txBody>
      </p:sp>
      <p:sp>
        <p:nvSpPr>
          <p:cNvPr id="6" name="Shape 4"/>
          <p:cNvSpPr/>
          <p:nvPr/>
        </p:nvSpPr>
        <p:spPr>
          <a:xfrm>
            <a:off x="1078992" y="3154680"/>
            <a:ext cx="420624" cy="420624"/>
          </a:xfrm>
          <a:prstGeom prst="ellipse">
            <a:avLst/>
          </a:prstGeom>
          <a:solidFill>
            <a:srgbClr val="EAF2F4"/>
          </a:solidFill>
          <a:ln/>
        </p:spPr>
        <p:txBody>
          <a:bodyPr/>
          <a:p/>
        </p:txBody>
      </p:sp>
      <p:sp>
        <p:nvSpPr>
          <p:cNvPr id="7" name="Text 5"/>
          <p:cNvSpPr/>
          <p:nvPr/>
        </p:nvSpPr>
        <p:spPr>
          <a:xfrm>
            <a:off x="1078992"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1</a:t>
            </a:r>
            <a:endParaRPr lang="en-US" sz="1288" dirty="0"/>
          </a:p>
        </p:txBody>
      </p:sp>
      <p:sp>
        <p:nvSpPr>
          <p:cNvPr id="8" name="Text 6"/>
          <p:cNvSpPr/>
          <p:nvPr/>
        </p:nvSpPr>
        <p:spPr>
          <a:xfrm>
            <a:off x="1060704"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GitHub org</a:t>
            </a:r>
            <a:endParaRPr lang="en-US" sz="1400" dirty="0"/>
          </a:p>
        </p:txBody>
      </p:sp>
      <p:sp>
        <p:nvSpPr>
          <p:cNvPr id="9" name="Text 7"/>
          <p:cNvSpPr/>
          <p:nvPr/>
        </p:nvSpPr>
        <p:spPr>
          <a:xfrm>
            <a:off x="1060704"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The Software Lead creates the team’s GitHub organization on student accounts. All code lives here.</a:t>
            </a:r>
            <a:endParaRPr lang="en-US" sz="1050" dirty="0"/>
          </a:p>
        </p:txBody>
      </p:sp>
      <p:sp>
        <p:nvSpPr>
          <p:cNvPr id="10" name="Shape 8"/>
          <p:cNvSpPr/>
          <p:nvPr/>
        </p:nvSpPr>
        <p:spPr>
          <a:xfrm>
            <a:off x="2967228" y="2880360"/>
            <a:ext cx="1993392" cy="2971800"/>
          </a:xfrm>
          <a:prstGeom prst="roundRect">
            <a:avLst>
              <a:gd name="adj" fmla="val 5046"/>
            </a:avLst>
          </a:prstGeom>
          <a:solidFill>
            <a:srgbClr val="FBFBFD"/>
          </a:solidFill>
          <a:ln w="12700">
            <a:solidFill>
              <a:srgbClr val="E3E3E6"/>
            </a:solidFill>
            <a:prstDash val="solid"/>
          </a:ln>
        </p:spPr>
        <p:txBody>
          <a:bodyPr/>
          <a:p/>
        </p:txBody>
      </p:sp>
      <p:sp>
        <p:nvSpPr>
          <p:cNvPr id="11" name="Shape 9"/>
          <p:cNvSpPr/>
          <p:nvPr/>
        </p:nvSpPr>
        <p:spPr>
          <a:xfrm>
            <a:off x="3223260" y="3154680"/>
            <a:ext cx="420624" cy="420624"/>
          </a:xfrm>
          <a:prstGeom prst="ellipse">
            <a:avLst/>
          </a:prstGeom>
          <a:solidFill>
            <a:srgbClr val="EAF2F4"/>
          </a:solidFill>
          <a:ln/>
        </p:spPr>
        <p:txBody>
          <a:bodyPr/>
          <a:p/>
        </p:txBody>
      </p:sp>
      <p:sp>
        <p:nvSpPr>
          <p:cNvPr id="12" name="Text 10"/>
          <p:cNvSpPr/>
          <p:nvPr/>
        </p:nvSpPr>
        <p:spPr>
          <a:xfrm>
            <a:off x="3223260"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2</a:t>
            </a:r>
            <a:endParaRPr lang="en-US" sz="1288" dirty="0"/>
          </a:p>
        </p:txBody>
      </p:sp>
      <p:sp>
        <p:nvSpPr>
          <p:cNvPr id="13" name="Text 11"/>
          <p:cNvSpPr/>
          <p:nvPr/>
        </p:nvSpPr>
        <p:spPr>
          <a:xfrm>
            <a:off x="3204972"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Project wiki</a:t>
            </a:r>
            <a:endParaRPr lang="en-US" sz="1400" dirty="0"/>
          </a:p>
        </p:txBody>
      </p:sp>
      <p:sp>
        <p:nvSpPr>
          <p:cNvPr id="14" name="Text 12"/>
          <p:cNvSpPr/>
          <p:nvPr/>
        </p:nvSpPr>
        <p:spPr>
          <a:xfrm>
            <a:off x="3204972"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A shared wiki for how-tos, wiring notes, and decisions the whole team can read and edit.</a:t>
            </a:r>
            <a:endParaRPr lang="en-US" sz="1050" dirty="0"/>
          </a:p>
        </p:txBody>
      </p:sp>
      <p:sp>
        <p:nvSpPr>
          <p:cNvPr id="15" name="Shape 13"/>
          <p:cNvSpPr/>
          <p:nvPr/>
        </p:nvSpPr>
        <p:spPr>
          <a:xfrm>
            <a:off x="5111496" y="2880360"/>
            <a:ext cx="1993392" cy="2971800"/>
          </a:xfrm>
          <a:prstGeom prst="roundRect">
            <a:avLst>
              <a:gd name="adj" fmla="val 5046"/>
            </a:avLst>
          </a:prstGeom>
          <a:solidFill>
            <a:srgbClr val="FBFBFD"/>
          </a:solidFill>
          <a:ln w="12700">
            <a:solidFill>
              <a:srgbClr val="E3E3E6"/>
            </a:solidFill>
            <a:prstDash val="solid"/>
          </a:ln>
        </p:spPr>
        <p:txBody>
          <a:bodyPr/>
          <a:p/>
        </p:txBody>
      </p:sp>
      <p:sp>
        <p:nvSpPr>
          <p:cNvPr id="16" name="Shape 14"/>
          <p:cNvSpPr/>
          <p:nvPr/>
        </p:nvSpPr>
        <p:spPr>
          <a:xfrm>
            <a:off x="5367528" y="3154680"/>
            <a:ext cx="420624" cy="420624"/>
          </a:xfrm>
          <a:prstGeom prst="ellipse">
            <a:avLst/>
          </a:prstGeom>
          <a:solidFill>
            <a:srgbClr val="EAF2F4"/>
          </a:solidFill>
          <a:ln/>
        </p:spPr>
        <p:txBody>
          <a:bodyPr/>
          <a:p/>
        </p:txBody>
      </p:sp>
      <p:sp>
        <p:nvSpPr>
          <p:cNvPr id="17" name="Text 15"/>
          <p:cNvSpPr/>
          <p:nvPr/>
        </p:nvSpPr>
        <p:spPr>
          <a:xfrm>
            <a:off x="5367528"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3</a:t>
            </a:r>
            <a:endParaRPr lang="en-US" sz="1288" dirty="0"/>
          </a:p>
        </p:txBody>
      </p:sp>
      <p:sp>
        <p:nvSpPr>
          <p:cNvPr id="18" name="Text 16"/>
          <p:cNvSpPr/>
          <p:nvPr/>
        </p:nvSpPr>
        <p:spPr>
          <a:xfrm>
            <a:off x="5349240"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Project notebook</a:t>
            </a:r>
            <a:endParaRPr lang="en-US" sz="1400" dirty="0"/>
          </a:p>
        </p:txBody>
      </p:sp>
      <p:sp>
        <p:nvSpPr>
          <p:cNvPr id="19" name="Text 17"/>
          <p:cNvSpPr/>
          <p:nvPr/>
        </p:nvSpPr>
        <p:spPr>
          <a:xfrm>
            <a:off x="5349240"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Every decision, with its reason. Written as we go — a notebook from memory is fiction.</a:t>
            </a:r>
            <a:endParaRPr lang="en-US" sz="1050" dirty="0"/>
          </a:p>
        </p:txBody>
      </p:sp>
      <p:sp>
        <p:nvSpPr>
          <p:cNvPr id="20" name="Shape 18"/>
          <p:cNvSpPr/>
          <p:nvPr/>
        </p:nvSpPr>
        <p:spPr>
          <a:xfrm>
            <a:off x="7255764" y="2880360"/>
            <a:ext cx="1993392" cy="2971800"/>
          </a:xfrm>
          <a:prstGeom prst="roundRect">
            <a:avLst>
              <a:gd name="adj" fmla="val 5046"/>
            </a:avLst>
          </a:prstGeom>
          <a:solidFill>
            <a:srgbClr val="FBFBFD"/>
          </a:solidFill>
          <a:ln w="12700">
            <a:solidFill>
              <a:srgbClr val="E3E3E6"/>
            </a:solidFill>
            <a:prstDash val="solid"/>
          </a:ln>
        </p:spPr>
        <p:txBody>
          <a:bodyPr/>
          <a:p/>
        </p:txBody>
      </p:sp>
      <p:sp>
        <p:nvSpPr>
          <p:cNvPr id="21" name="Shape 19"/>
          <p:cNvSpPr/>
          <p:nvPr/>
        </p:nvSpPr>
        <p:spPr>
          <a:xfrm>
            <a:off x="7511796" y="3154680"/>
            <a:ext cx="420624" cy="420624"/>
          </a:xfrm>
          <a:prstGeom prst="ellipse">
            <a:avLst/>
          </a:prstGeom>
          <a:solidFill>
            <a:srgbClr val="EAF2F4"/>
          </a:solidFill>
          <a:ln/>
        </p:spPr>
        <p:txBody>
          <a:bodyPr/>
          <a:p/>
        </p:txBody>
      </p:sp>
      <p:sp>
        <p:nvSpPr>
          <p:cNvPr id="22" name="Text 20"/>
          <p:cNvSpPr/>
          <p:nvPr/>
        </p:nvSpPr>
        <p:spPr>
          <a:xfrm>
            <a:off x="7511796"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4</a:t>
            </a:r>
            <a:endParaRPr lang="en-US" sz="1288" dirty="0"/>
          </a:p>
        </p:txBody>
      </p:sp>
      <p:sp>
        <p:nvSpPr>
          <p:cNvPr id="23" name="Text 21"/>
          <p:cNvSpPr/>
          <p:nvPr/>
        </p:nvSpPr>
        <p:spPr>
          <a:xfrm>
            <a:off x="7493508"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Photo log</a:t>
            </a:r>
            <a:endParaRPr lang="en-US" sz="1400" dirty="0"/>
          </a:p>
        </p:txBody>
      </p:sp>
      <p:sp>
        <p:nvSpPr>
          <p:cNvPr id="24" name="Text 22"/>
          <p:cNvSpPr/>
          <p:nvPr/>
        </p:nvSpPr>
        <p:spPr>
          <a:xfrm>
            <a:off x="7493508"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Photograph the work every meeting. These pictures become the marketing display and the report.</a:t>
            </a:r>
            <a:endParaRPr lang="en-US" sz="1050" dirty="0"/>
          </a:p>
        </p:txBody>
      </p:sp>
      <p:sp>
        <p:nvSpPr>
          <p:cNvPr id="25" name="Shape 23"/>
          <p:cNvSpPr/>
          <p:nvPr/>
        </p:nvSpPr>
        <p:spPr>
          <a:xfrm>
            <a:off x="9400032" y="2880360"/>
            <a:ext cx="1993392" cy="2971800"/>
          </a:xfrm>
          <a:prstGeom prst="roundRect">
            <a:avLst>
              <a:gd name="adj" fmla="val 5046"/>
            </a:avLst>
          </a:prstGeom>
          <a:solidFill>
            <a:srgbClr val="FBFBFD"/>
          </a:solidFill>
          <a:ln w="12700">
            <a:solidFill>
              <a:srgbClr val="E3E3E6"/>
            </a:solidFill>
            <a:prstDash val="solid"/>
          </a:ln>
        </p:spPr>
        <p:txBody>
          <a:bodyPr/>
          <a:p/>
        </p:txBody>
      </p:sp>
      <p:sp>
        <p:nvSpPr>
          <p:cNvPr id="26" name="Shape 24"/>
          <p:cNvSpPr/>
          <p:nvPr/>
        </p:nvSpPr>
        <p:spPr>
          <a:xfrm>
            <a:off x="9656064" y="3154680"/>
            <a:ext cx="420624" cy="420624"/>
          </a:xfrm>
          <a:prstGeom prst="ellipse">
            <a:avLst/>
          </a:prstGeom>
          <a:solidFill>
            <a:srgbClr val="EAF2F4"/>
          </a:solidFill>
          <a:ln/>
        </p:spPr>
        <p:txBody>
          <a:bodyPr/>
          <a:p/>
        </p:txBody>
      </p:sp>
      <p:sp>
        <p:nvSpPr>
          <p:cNvPr id="27" name="Text 25"/>
          <p:cNvSpPr/>
          <p:nvPr/>
        </p:nvSpPr>
        <p:spPr>
          <a:xfrm>
            <a:off x="9656064"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5</a:t>
            </a:r>
            <a:endParaRPr lang="en-US" sz="1288" dirty="0"/>
          </a:p>
        </p:txBody>
      </p:sp>
      <p:sp>
        <p:nvSpPr>
          <p:cNvPr id="28" name="Text 26"/>
          <p:cNvSpPr/>
          <p:nvPr/>
        </p:nvSpPr>
        <p:spPr>
          <a:xfrm>
            <a:off x="9637776"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Outreach log</a:t>
            </a:r>
            <a:endParaRPr lang="en-US" sz="1400" dirty="0"/>
          </a:p>
        </p:txBody>
      </p:sp>
      <p:sp>
        <p:nvSpPr>
          <p:cNvPr id="29" name="Text 27"/>
          <p:cNvSpPr/>
          <p:nvPr/>
        </p:nvSpPr>
        <p:spPr>
          <a:xfrm>
            <a:off x="9637776"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Log everyone we teach or reach. Outreach is scored and cannot be faked in April.</a:t>
            </a:r>
            <a:endParaRPr lang="en-US" sz="1050" dirty="0"/>
          </a:p>
        </p:txBody>
      </p:sp>
      <p:sp>
        <p:nvSpPr>
          <p:cNvPr id="30" name="Shape 28"/>
          <p:cNvSpPr/>
          <p:nvPr/>
        </p:nvSpPr>
        <p:spPr>
          <a:xfrm>
            <a:off x="822960" y="6437376"/>
            <a:ext cx="10545775" cy="0"/>
          </a:xfrm>
          <a:prstGeom prst="line">
            <a:avLst/>
          </a:prstGeom>
          <a:noFill/>
          <a:ln w="9525">
            <a:solidFill>
              <a:srgbClr val="E3E3E6"/>
            </a:solidFill>
            <a:prstDash val="solid"/>
          </a:ln>
        </p:spPr>
        <p:txBody>
          <a:bodyPr/>
          <a:p/>
        </p:txBody>
      </p:sp>
      <p:sp>
        <p:nvSpPr>
          <p:cNvPr id="31" name="Text 29"/>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2" name="Text 30"/>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11 / 18</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2">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05</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05</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The Waterproof</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Capsule</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2:35 – 2:50   ·   15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A five-dollar dress rehearsal for the float that must survive 2.5 meters.</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12 / 18</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WATERPROOF CAPSULE</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Keep a paper towel dry. Underwater.</a:t>
            </a:r>
            <a:endParaRPr lang="en-US" sz="3000" dirty="0"/>
          </a:p>
        </p:txBody>
      </p:sp>
      <p:sp>
        <p:nvSpPr>
          <p:cNvPr id="4" name="Text 2"/>
          <p:cNvSpPr/>
          <p:nvPr/>
        </p:nvSpPr>
        <p:spPr>
          <a:xfrm>
            <a:off x="822960" y="1828800"/>
            <a:ext cx="5669280" cy="173736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Each kid designs a small waterproof capsule — a sealed PVC body with a single cable passing through the wall. The test could not be simpler: a paper towel sealed inside has to come out bone dry after a dunk.</a:t>
            </a:r>
            <a:endParaRPr lang="en-US" sz="1500" dirty="0"/>
          </a:p>
        </p:txBody>
      </p:sp>
      <p:sp>
        <p:nvSpPr>
          <p:cNvPr id="5" name="Text 3"/>
          <p:cNvSpPr/>
          <p:nvPr/>
        </p:nvSpPr>
        <p:spPr>
          <a:xfrm>
            <a:off x="822960" y="3611880"/>
            <a:ext cx="5669280" cy="155448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It is the same problem the Phase 2 float must solve at 2.5 meters, where a leak ends the mission. Here it costs five dollars and a do-over. Sketch your design today; we cut and seal next week.</a:t>
            </a:r>
            <a:endParaRPr lang="en-US" sz="1500" dirty="0"/>
          </a:p>
        </p:txBody>
      </p:sp>
      <p:sp>
        <p:nvSpPr>
          <p:cNvPr id="6" name="Text 4"/>
          <p:cNvSpPr/>
          <p:nvPr/>
        </p:nvSpPr>
        <p:spPr>
          <a:xfrm>
            <a:off x="822960" y="5212080"/>
            <a:ext cx="5669280" cy="640080"/>
          </a:xfrm>
          <a:prstGeom prst="rect">
            <a:avLst/>
          </a:prstGeom>
          <a:noFill/>
          <a:ln/>
        </p:spPr>
        <p:txBody>
          <a:bodyPr wrap="square" lIns="0" tIns="0" rIns="0" bIns="0" rtlCol="0" anchor="ctr"/>
          <a:lstStyle/>
          <a:p>
            <a:pPr indent="0" marL="0">
              <a:lnSpc>
                <a:spcPts val="2000"/>
              </a:lnSpc>
              <a:buNone/>
            </a:pPr>
            <a:r>
              <a:rPr lang="en-US" sz="1400" b="1" dirty="0">
                <a:solidFill>
                  <a:srgbClr val="1D1D1F"/>
                </a:solidFill>
                <a:latin typeface="Helvetica Neue" pitchFamily="34" charset="0"/>
                <a:ea typeface="Helvetica Neue" pitchFamily="34" charset="-122"/>
                <a:cs typeface="Helvetica Neue" pitchFamily="34" charset="-120"/>
              </a:rPr>
              <a:t>One body, one cable penetration, zero leaks. Draw your plan before you leave today.</a:t>
            </a:r>
            <a:endParaRPr lang="en-US" sz="1400" dirty="0"/>
          </a:p>
        </p:txBody>
      </p:sp>
      <p:sp>
        <p:nvSpPr>
          <p:cNvPr id="7" name="Shape 5"/>
          <p:cNvSpPr/>
          <p:nvPr/>
        </p:nvSpPr>
        <p:spPr>
          <a:xfrm>
            <a:off x="6858000" y="1828800"/>
            <a:ext cx="4507992" cy="4160520"/>
          </a:xfrm>
          <a:prstGeom prst="roundRect">
            <a:avLst>
              <a:gd name="adj" fmla="val 2418"/>
            </a:avLst>
          </a:prstGeom>
          <a:solidFill>
            <a:srgbClr val="095D75"/>
          </a:solidFill>
          <a:ln w="12700">
            <a:solidFill>
              <a:srgbClr val="095D75"/>
            </a:solidFill>
            <a:prstDash val="solid"/>
          </a:ln>
        </p:spPr>
        <p:txBody>
          <a:bodyPr/>
          <a:p/>
        </p:txBody>
      </p:sp>
      <p:sp>
        <p:nvSpPr>
          <p:cNvPr id="8" name="Text 6"/>
          <p:cNvSpPr/>
          <p:nvPr/>
        </p:nvSpPr>
        <p:spPr>
          <a:xfrm>
            <a:off x="7223760" y="2212848"/>
            <a:ext cx="3840480"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THE BRIEF</a:t>
            </a:r>
            <a:endParaRPr lang="en-US" sz="1050" dirty="0"/>
          </a:p>
        </p:txBody>
      </p:sp>
      <p:sp>
        <p:nvSpPr>
          <p:cNvPr id="9" name="Text 7"/>
          <p:cNvSpPr/>
          <p:nvPr/>
        </p:nvSpPr>
        <p:spPr>
          <a:xfrm>
            <a:off x="7223760" y="2578608"/>
            <a:ext cx="3794760" cy="2103120"/>
          </a:xfrm>
          <a:prstGeom prst="rect">
            <a:avLst/>
          </a:prstGeom>
          <a:noFill/>
          <a:ln/>
        </p:spPr>
        <p:txBody>
          <a:bodyPr wrap="square" lIns="0" tIns="0" rIns="0" bIns="0" rtlCol="0" anchor="ctr"/>
          <a:lstStyle/>
          <a:p>
            <a:pPr indent="0" marL="0">
              <a:lnSpc>
                <a:spcPts val="2700"/>
              </a:lnSpc>
              <a:buNone/>
            </a:pPr>
            <a:r>
              <a:rPr lang="en-US" sz="2100" b="1" dirty="0">
                <a:solidFill>
                  <a:srgbClr val="FFFFFF"/>
                </a:solidFill>
                <a:latin typeface="Helvetica Neue" pitchFamily="34" charset="0"/>
                <a:ea typeface="Helvetica Neue" pitchFamily="34" charset="-122"/>
                <a:cs typeface="Helvetica Neue" pitchFamily="34" charset="-120"/>
              </a:rPr>
              <a:t>Seal the body. Seal the cable. Prove it stays dry.</a:t>
            </a:r>
            <a:endParaRPr lang="en-US" sz="2100" dirty="0"/>
          </a:p>
        </p:txBody>
      </p:sp>
      <p:sp>
        <p:nvSpPr>
          <p:cNvPr id="10" name="Shape 8"/>
          <p:cNvSpPr/>
          <p:nvPr/>
        </p:nvSpPr>
        <p:spPr>
          <a:xfrm>
            <a:off x="7223760" y="4617720"/>
            <a:ext cx="3776472" cy="0"/>
          </a:xfrm>
          <a:prstGeom prst="line">
            <a:avLst/>
          </a:prstGeom>
          <a:noFill/>
          <a:ln w="12700">
            <a:solidFill>
              <a:srgbClr val="3E7E91"/>
            </a:solidFill>
            <a:prstDash val="solid"/>
          </a:ln>
        </p:spPr>
        <p:txBody>
          <a:bodyPr/>
          <a:p/>
        </p:txBody>
      </p:sp>
      <p:sp>
        <p:nvSpPr>
          <p:cNvPr id="11" name="Text 9"/>
          <p:cNvSpPr/>
          <p:nvPr/>
        </p:nvSpPr>
        <p:spPr>
          <a:xfrm>
            <a:off x="7223760" y="4800600"/>
            <a:ext cx="3794760" cy="292608"/>
          </a:xfrm>
          <a:prstGeom prst="rect">
            <a:avLst/>
          </a:prstGeom>
          <a:noFill/>
          <a:ln/>
        </p:spPr>
        <p:txBody>
          <a:bodyPr wrap="square" lIns="0" tIns="0" rIns="0" bIns="0" rtlCol="0" anchor="ctr"/>
          <a:lstStyle/>
          <a:p>
            <a:pPr indent="0" marL="0">
              <a:buNone/>
            </a:pPr>
            <a:r>
              <a:rPr lang="en-US" sz="1200" dirty="0">
                <a:solidFill>
                  <a:srgbClr val="9FCEDA"/>
                </a:solidFill>
                <a:latin typeface="Helvetica Neue" pitchFamily="34" charset="0"/>
                <a:ea typeface="Helvetica Neue" pitchFamily="34" charset="-122"/>
                <a:cs typeface="Helvetica Neue" pitchFamily="34" charset="-120"/>
              </a:rPr>
              <a:t>Due today: your sketch</a:t>
            </a:r>
            <a:endParaRPr lang="en-US" sz="1200" dirty="0"/>
          </a:p>
        </p:txBody>
      </p:sp>
      <p:sp>
        <p:nvSpPr>
          <p:cNvPr id="12" name="Text 10"/>
          <p:cNvSpPr/>
          <p:nvPr/>
        </p:nvSpPr>
        <p:spPr>
          <a:xfrm>
            <a:off x="7223760" y="5084064"/>
            <a:ext cx="3794760" cy="731520"/>
          </a:xfrm>
          <a:prstGeom prst="rect">
            <a:avLst/>
          </a:prstGeom>
          <a:noFill/>
          <a:ln/>
        </p:spPr>
        <p:txBody>
          <a:bodyPr wrap="square" lIns="0" tIns="0" rIns="0" bIns="0" rtlCol="0" anchor="ctr"/>
          <a:lstStyle/>
          <a:p>
            <a:pPr indent="0" marL="0">
              <a:lnSpc>
                <a:spcPts val="1500"/>
              </a:lnSpc>
              <a:buNone/>
            </a:pPr>
            <a:r>
              <a:rPr lang="en-US" sz="1100" dirty="0">
                <a:solidFill>
                  <a:srgbClr val="C9E3EA"/>
                </a:solidFill>
                <a:latin typeface="Helvetica Neue" pitchFamily="34" charset="0"/>
                <a:ea typeface="Helvetica Neue" pitchFamily="34" charset="-122"/>
                <a:cs typeface="Helvetica Neue" pitchFamily="34" charset="-120"/>
              </a:rPr>
              <a:t>Every student designs one. We cut and seal them for real in a later lesson.</a:t>
            </a:r>
            <a:endParaRPr lang="en-US" sz="1100" dirty="0"/>
          </a:p>
        </p:txBody>
      </p:sp>
      <p:sp>
        <p:nvSpPr>
          <p:cNvPr id="13" name="Shape 11"/>
          <p:cNvSpPr/>
          <p:nvPr/>
        </p:nvSpPr>
        <p:spPr>
          <a:xfrm>
            <a:off x="822960" y="6437376"/>
            <a:ext cx="10545775" cy="0"/>
          </a:xfrm>
          <a:prstGeom prst="line">
            <a:avLst/>
          </a:prstGeom>
          <a:noFill/>
          <a:ln w="9525">
            <a:solidFill>
              <a:srgbClr val="E3E3E6"/>
            </a:solidFill>
            <a:prstDash val="solid"/>
          </a:ln>
        </p:spPr>
        <p:txBody>
          <a:bodyPr/>
          <a:p/>
        </p:txBody>
      </p:sp>
      <p:sp>
        <p:nvSpPr>
          <p:cNvPr id="14" name="Text 12"/>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5" name="Text 13"/>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13 / 18</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4">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06</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06</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Wrap-Up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Homework</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2:50 – 3:00   ·   10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Close the loop: what each student carries out, and what the team carries forward into the water.</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14 / 18</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WRAP-UP &amp; HOMEWORK</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Before we meet again.</a:t>
            </a:r>
            <a:endParaRPr lang="en-US" sz="3000" dirty="0"/>
          </a:p>
        </p:txBody>
      </p:sp>
      <p:sp>
        <p:nvSpPr>
          <p:cNvPr id="4" name="Text 2"/>
          <p:cNvSpPr/>
          <p:nvPr/>
        </p:nvSpPr>
        <p:spPr>
          <a:xfrm>
            <a:off x="822960" y="1783080"/>
            <a:ext cx="4937760" cy="274320"/>
          </a:xfrm>
          <a:prstGeom prst="rect">
            <a:avLst/>
          </a:prstGeom>
          <a:noFill/>
          <a:ln/>
        </p:spPr>
        <p:txBody>
          <a:bodyPr wrap="square" lIns="0" tIns="0" rIns="0" bIns="0" rtlCol="0" anchor="ctr"/>
          <a:lstStyle/>
          <a:p>
            <a:pPr indent="0" marL="0">
              <a:buNone/>
            </a:pPr>
            <a:r>
              <a:rPr lang="en-US" sz="1050" b="1" spc="150" kern="0" dirty="0">
                <a:solidFill>
                  <a:srgbClr val="0D7490"/>
                </a:solidFill>
                <a:latin typeface="Helvetica Neue" pitchFamily="34" charset="0"/>
                <a:ea typeface="Helvetica Neue" pitchFamily="34" charset="-122"/>
                <a:cs typeface="Helvetica Neue" pitchFamily="34" charset="-120"/>
              </a:rPr>
              <a:t>EVERY STUDENT</a:t>
            </a:r>
            <a:endParaRPr lang="en-US" sz="1050" dirty="0"/>
          </a:p>
        </p:txBody>
      </p:sp>
      <p:sp>
        <p:nvSpPr>
          <p:cNvPr id="5" name="Shape 3"/>
          <p:cNvSpPr/>
          <p:nvPr/>
        </p:nvSpPr>
        <p:spPr>
          <a:xfrm>
            <a:off x="822960" y="2139696"/>
            <a:ext cx="347472" cy="347472"/>
          </a:xfrm>
          <a:prstGeom prst="ellipse">
            <a:avLst/>
          </a:prstGeom>
          <a:solidFill>
            <a:srgbClr val="EAF2F4"/>
          </a:solidFill>
          <a:ln/>
        </p:spPr>
        <p:txBody>
          <a:bodyPr/>
          <a:p/>
        </p:txBody>
      </p:sp>
      <p:sp>
        <p:nvSpPr>
          <p:cNvPr id="6" name="Text 4"/>
          <p:cNvSpPr/>
          <p:nvPr/>
        </p:nvSpPr>
        <p:spPr>
          <a:xfrm>
            <a:off x="822960" y="2139696"/>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1</a:t>
            </a:r>
            <a:endParaRPr lang="en-US" sz="1064" dirty="0"/>
          </a:p>
        </p:txBody>
      </p:sp>
      <p:sp>
        <p:nvSpPr>
          <p:cNvPr id="7" name="Text 5"/>
          <p:cNvSpPr/>
          <p:nvPr/>
        </p:nvSpPr>
        <p:spPr>
          <a:xfrm>
            <a:off x="1298448" y="2084832"/>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Finish your capsule sketch — one body, one cable, a plan to stay dry.</a:t>
            </a:r>
            <a:endParaRPr lang="en-US" sz="1200" dirty="0"/>
          </a:p>
        </p:txBody>
      </p:sp>
      <p:sp>
        <p:nvSpPr>
          <p:cNvPr id="8" name="Shape 6"/>
          <p:cNvSpPr/>
          <p:nvPr/>
        </p:nvSpPr>
        <p:spPr>
          <a:xfrm>
            <a:off x="822960" y="2907792"/>
            <a:ext cx="347472" cy="347472"/>
          </a:xfrm>
          <a:prstGeom prst="ellipse">
            <a:avLst/>
          </a:prstGeom>
          <a:solidFill>
            <a:srgbClr val="EAF2F4"/>
          </a:solidFill>
          <a:ln/>
        </p:spPr>
        <p:txBody>
          <a:bodyPr/>
          <a:p/>
        </p:txBody>
      </p:sp>
      <p:sp>
        <p:nvSpPr>
          <p:cNvPr id="9" name="Text 7"/>
          <p:cNvSpPr/>
          <p:nvPr/>
        </p:nvSpPr>
        <p:spPr>
          <a:xfrm>
            <a:off x="822960" y="2907792"/>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2</a:t>
            </a:r>
            <a:endParaRPr lang="en-US" sz="1064" dirty="0"/>
          </a:p>
        </p:txBody>
      </p:sp>
      <p:sp>
        <p:nvSpPr>
          <p:cNvPr id="10" name="Text 8"/>
          <p:cNvSpPr/>
          <p:nvPr/>
        </p:nvSpPr>
        <p:spPr>
          <a:xfrm>
            <a:off x="1298448" y="2852928"/>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Software Lead: confirm everyone can log in to the GitHub org.</a:t>
            </a:r>
            <a:endParaRPr lang="en-US" sz="1200" dirty="0"/>
          </a:p>
        </p:txBody>
      </p:sp>
      <p:sp>
        <p:nvSpPr>
          <p:cNvPr id="11" name="Shape 9"/>
          <p:cNvSpPr/>
          <p:nvPr/>
        </p:nvSpPr>
        <p:spPr>
          <a:xfrm>
            <a:off x="822960" y="3675888"/>
            <a:ext cx="347472" cy="347472"/>
          </a:xfrm>
          <a:prstGeom prst="ellipse">
            <a:avLst/>
          </a:prstGeom>
          <a:solidFill>
            <a:srgbClr val="EAF2F4"/>
          </a:solidFill>
          <a:ln/>
        </p:spPr>
        <p:txBody>
          <a:bodyPr/>
          <a:p/>
        </p:txBody>
      </p:sp>
      <p:sp>
        <p:nvSpPr>
          <p:cNvPr id="12" name="Text 10"/>
          <p:cNvSpPr/>
          <p:nvPr/>
        </p:nvSpPr>
        <p:spPr>
          <a:xfrm>
            <a:off x="822960" y="3675888"/>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3</a:t>
            </a:r>
            <a:endParaRPr lang="en-US" sz="1064" dirty="0"/>
          </a:p>
        </p:txBody>
      </p:sp>
      <p:sp>
        <p:nvSpPr>
          <p:cNvPr id="13" name="Text 11"/>
          <p:cNvSpPr/>
          <p:nvPr/>
        </p:nvSpPr>
        <p:spPr>
          <a:xfrm>
            <a:off x="1298448" y="3621024"/>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Watch the Class 1.4 pre-watch (Multimeter Basics) when assigned.</a:t>
            </a:r>
            <a:endParaRPr lang="en-US" sz="1200" dirty="0"/>
          </a:p>
        </p:txBody>
      </p:sp>
      <p:sp>
        <p:nvSpPr>
          <p:cNvPr id="14" name="Text 12"/>
          <p:cNvSpPr/>
          <p:nvPr/>
        </p:nvSpPr>
        <p:spPr>
          <a:xfrm>
            <a:off x="822960" y="4572000"/>
            <a:ext cx="5120640" cy="274320"/>
          </a:xfrm>
          <a:prstGeom prst="rect">
            <a:avLst/>
          </a:prstGeom>
          <a:noFill/>
          <a:ln/>
        </p:spPr>
        <p:txBody>
          <a:bodyPr wrap="square" lIns="0" tIns="0" rIns="0" bIns="0" rtlCol="0" anchor="ctr"/>
          <a:lstStyle/>
          <a:p>
            <a:pPr indent="0" marL="0">
              <a:buNone/>
            </a:pPr>
            <a:r>
              <a:rPr lang="en-US" sz="1050" b="1" spc="100" kern="0" dirty="0">
                <a:solidFill>
                  <a:srgbClr val="0D7490"/>
                </a:solidFill>
                <a:latin typeface="Helvetica Neue" pitchFamily="34" charset="0"/>
                <a:ea typeface="Helvetica Neue" pitchFamily="34" charset="-122"/>
                <a:cs typeface="Helvetica Neue" pitchFamily="34" charset="-120"/>
              </a:rPr>
              <a:t>THE PARALLEL TRACK  ·  LEADS &amp; ADVISORS</a:t>
            </a:r>
            <a:endParaRPr lang="en-US" sz="1050" dirty="0"/>
          </a:p>
        </p:txBody>
      </p:sp>
      <p:sp>
        <p:nvSpPr>
          <p:cNvPr id="15" name="Text 13"/>
          <p:cNvSpPr/>
          <p:nvPr/>
        </p:nvSpPr>
        <p:spPr>
          <a:xfrm>
            <a:off x="822960" y="4882896"/>
            <a:ext cx="5029200" cy="1188720"/>
          </a:xfrm>
          <a:prstGeom prst="rect">
            <a:avLst/>
          </a:prstGeom>
          <a:noFill/>
          <a:ln/>
        </p:spPr>
        <p:txBody>
          <a:bodyPr wrap="square" lIns="0" tIns="0" rIns="0" bIns="0" rtlCol="0" anchor="ctr"/>
          <a:lstStyle/>
          <a:p>
            <a:pPr indent="0" marL="0">
              <a:lnSpc>
                <a:spcPts val="1600"/>
              </a:lnSpc>
              <a:buNone/>
            </a:pPr>
            <a:r>
              <a:rPr lang="en-US" sz="1150" dirty="0">
                <a:solidFill>
                  <a:srgbClr val="6E6E73"/>
                </a:solidFill>
                <a:latin typeface="Helvetica Neue" pitchFamily="34" charset="0"/>
                <a:ea typeface="Helvetica Neue" pitchFamily="34" charset="-122"/>
                <a:cs typeface="Helvetica Neue" pitchFamily="34" charset="-120"/>
              </a:rPr>
              <a:t>Battery, charger, and leads in hand before the electronics workshop. SeaMATE Simple Circuits Lab Kits on order. Pool prerequisites moving — lifeguard, swim checks, host rules in writing.</a:t>
            </a:r>
            <a:endParaRPr lang="en-US" sz="1150" dirty="0"/>
          </a:p>
        </p:txBody>
      </p:sp>
      <p:sp>
        <p:nvSpPr>
          <p:cNvPr id="16" name="Shape 14"/>
          <p:cNvSpPr/>
          <p:nvPr/>
        </p:nvSpPr>
        <p:spPr>
          <a:xfrm>
            <a:off x="6263640" y="1783080"/>
            <a:ext cx="5102352" cy="4297680"/>
          </a:xfrm>
          <a:prstGeom prst="roundRect">
            <a:avLst>
              <a:gd name="adj" fmla="val 2340"/>
            </a:avLst>
          </a:prstGeom>
          <a:solidFill>
            <a:srgbClr val="0D7490"/>
          </a:solidFill>
          <a:ln w="12700">
            <a:solidFill>
              <a:srgbClr val="0D7490"/>
            </a:solidFill>
            <a:prstDash val="solid"/>
          </a:ln>
        </p:spPr>
        <p:txBody>
          <a:bodyPr/>
          <a:p/>
        </p:txBody>
      </p:sp>
      <p:sp>
        <p:nvSpPr>
          <p:cNvPr id="17" name="Text 15"/>
          <p:cNvSpPr/>
          <p:nvPr/>
        </p:nvSpPr>
        <p:spPr>
          <a:xfrm>
            <a:off x="6675120" y="2157984"/>
            <a:ext cx="4297680" cy="274320"/>
          </a:xfrm>
          <a:prstGeom prst="rect">
            <a:avLst/>
          </a:prstGeom>
          <a:noFill/>
          <a:ln/>
        </p:spPr>
        <p:txBody>
          <a:bodyPr wrap="square" lIns="0" tIns="0" rIns="0" bIns="0" rtlCol="0" anchor="ctr"/>
          <a:lstStyle/>
          <a:p>
            <a:pPr indent="0" marL="0">
              <a:buNone/>
            </a:pPr>
            <a:r>
              <a:rPr lang="en-US" sz="1100" b="1" spc="200" kern="0" dirty="0">
                <a:solidFill>
                  <a:srgbClr val="9FCEDA"/>
                </a:solidFill>
                <a:latin typeface="Helvetica Neue" pitchFamily="34" charset="0"/>
                <a:ea typeface="Helvetica Neue" pitchFamily="34" charset="-122"/>
                <a:cs typeface="Helvetica Neue" pitchFamily="34" charset="-120"/>
              </a:rPr>
              <a:t>NEXT LESSON  ·  CLASS 1.4</a:t>
            </a:r>
            <a:endParaRPr lang="en-US" sz="1100" dirty="0"/>
          </a:p>
        </p:txBody>
      </p:sp>
      <p:sp>
        <p:nvSpPr>
          <p:cNvPr id="18" name="Text 16"/>
          <p:cNvSpPr/>
          <p:nvPr/>
        </p:nvSpPr>
        <p:spPr>
          <a:xfrm>
            <a:off x="6675120" y="2487168"/>
            <a:ext cx="4297680" cy="1508760"/>
          </a:xfrm>
          <a:prstGeom prst="rect">
            <a:avLst/>
          </a:prstGeom>
          <a:noFill/>
          <a:ln/>
        </p:spPr>
        <p:txBody>
          <a:bodyPr wrap="square" lIns="0" tIns="0" rIns="0" bIns="0" rtlCol="0" anchor="ctr"/>
          <a:lstStyle/>
          <a:p>
            <a:pPr indent="0" marL="0">
              <a:lnSpc>
                <a:spcPts val="4200"/>
              </a:lnSpc>
              <a:buNone/>
            </a:pPr>
            <a:r>
              <a:rPr lang="en-US" sz="4000" b="1" dirty="0">
                <a:solidFill>
                  <a:srgbClr val="FFFFFF"/>
                </a:solidFill>
                <a:latin typeface="Helvetica Neue" pitchFamily="34" charset="0"/>
                <a:ea typeface="Helvetica Neue" pitchFamily="34" charset="-122"/>
                <a:cs typeface="Helvetica Neue" pitchFamily="34" charset="-120"/>
              </a:rPr>
              <a:t>Electronics</a:t>
            </a:r>
            <a:endParaRPr lang="en-US" sz="4000" dirty="0"/>
          </a:p>
          <a:p>
            <a:pPr indent="0" marL="0">
              <a:lnSpc>
                <a:spcPts val="4200"/>
              </a:lnSpc>
              <a:buNone/>
            </a:pPr>
            <a:r>
              <a:rPr lang="en-US" sz="4000" b="1" dirty="0">
                <a:solidFill>
                  <a:srgbClr val="FFFFFF"/>
                </a:solidFill>
                <a:latin typeface="Helvetica Neue" pitchFamily="34" charset="0"/>
                <a:ea typeface="Helvetica Neue" pitchFamily="34" charset="-122"/>
                <a:cs typeface="Helvetica Neue" pitchFamily="34" charset="-120"/>
              </a:rPr>
              <a:t>Workshop</a:t>
            </a:r>
            <a:endParaRPr lang="en-US" sz="4000" dirty="0"/>
          </a:p>
        </p:txBody>
      </p:sp>
      <p:sp>
        <p:nvSpPr>
          <p:cNvPr id="19" name="Shape 17"/>
          <p:cNvSpPr/>
          <p:nvPr/>
        </p:nvSpPr>
        <p:spPr>
          <a:xfrm>
            <a:off x="6675120" y="4114800"/>
            <a:ext cx="4251960" cy="0"/>
          </a:xfrm>
          <a:prstGeom prst="line">
            <a:avLst/>
          </a:prstGeom>
          <a:noFill/>
          <a:ln w="12700">
            <a:solidFill>
              <a:srgbClr val="3E7E91"/>
            </a:solidFill>
            <a:prstDash val="solid"/>
          </a:ln>
        </p:spPr>
        <p:txBody>
          <a:bodyPr/>
          <a:p/>
        </p:txBody>
      </p:sp>
      <p:sp>
        <p:nvSpPr>
          <p:cNvPr id="20" name="Text 18"/>
          <p:cNvSpPr/>
          <p:nvPr/>
        </p:nvSpPr>
        <p:spPr>
          <a:xfrm>
            <a:off x="6675120" y="4279392"/>
            <a:ext cx="4297680" cy="1554480"/>
          </a:xfrm>
          <a:prstGeom prst="rect">
            <a:avLst/>
          </a:prstGeom>
          <a:noFill/>
          <a:ln/>
        </p:spPr>
        <p:txBody>
          <a:bodyPr wrap="square" lIns="0" tIns="0" rIns="0" bIns="0" rtlCol="0" anchor="ctr"/>
          <a:lstStyle/>
          <a:p>
            <a:pPr indent="0" marL="0">
              <a:lnSpc>
                <a:spcPts val="1750"/>
              </a:lnSpc>
              <a:buNone/>
            </a:pPr>
            <a:r>
              <a:rPr lang="en-US" sz="1250" dirty="0">
                <a:solidFill>
                  <a:srgbClr val="EAF2F4"/>
                </a:solidFill>
                <a:latin typeface="Helvetica Neue" pitchFamily="34" charset="0"/>
                <a:ea typeface="Helvetica Neue" pitchFamily="34" charset="-122"/>
                <a:cs typeface="Helvetica Neue" pitchFamily="34" charset="-120"/>
              </a:rPr>
              <a:t>The multimeter, switches, simple circuits, and the Electrical Symbols handout — learning to read a circuit.</a:t>
            </a:r>
            <a:endParaRPr lang="en-US" sz="1250" dirty="0"/>
          </a:p>
        </p:txBody>
      </p:sp>
      <p:sp>
        <p:nvSpPr>
          <p:cNvPr id="21" name="Shape 19"/>
          <p:cNvSpPr/>
          <p:nvPr/>
        </p:nvSpPr>
        <p:spPr>
          <a:xfrm>
            <a:off x="822960" y="6437376"/>
            <a:ext cx="10545775" cy="0"/>
          </a:xfrm>
          <a:prstGeom prst="line">
            <a:avLst/>
          </a:prstGeom>
          <a:noFill/>
          <a:ln w="9525">
            <a:solidFill>
              <a:srgbClr val="E3E3E6"/>
            </a:solidFill>
            <a:prstDash val="solid"/>
          </a:ln>
        </p:spPr>
        <p:txBody>
          <a:bodyPr/>
          <a:p/>
        </p:txBody>
      </p:sp>
      <p:sp>
        <p:nvSpPr>
          <p:cNvPr id="22" name="Text 20"/>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3" name="Text 21"/>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1.3 — KIT UNBOXING &amp; FIRST ELECTRONICS   ·   15 / 18</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6">
    <p:bg>
      <p:bgPr>
        <a:solidFill>
          <a:srgbClr val="095D75"/>
        </a:solidFill>
      </p:bgPr>
    </p:bg>
    <p:spTree>
      <p:nvGrpSpPr>
        <p:cNvPr id="1" name=""/>
        <p:cNvGrpSpPr/>
        <p:nvPr/>
      </p:nvGrpSpPr>
      <p:grpSpPr>
        <a:xfrm>
          <a:off x="0" y="0"/>
          <a:ext cx="0" cy="0"/>
          <a:chOff x="0" y="0"/>
          <a:chExt cx="0" cy="0"/>
        </a:xfrm>
      </p:grpSpPr>
      <p:pic>
        <p:nvPicPr>
          <p:cNvPr id="2" name="Image 0" descr="/sessions/focused-friendly-goodall/mnt/SayWatt Website/assets/logo-emblem2.png"/>
          <p:cNvPicPr>
            <a:picLocks noChangeAspect="1"/>
          </p:cNvPicPr>
          <p:nvPr/>
        </p:nvPicPr>
        <p:blipFill>
          <a:blip r:embed="rId1"/>
          <a:stretch>
            <a:fillRect/>
          </a:stretch>
        </p:blipFill>
        <p:spPr>
          <a:xfrm>
            <a:off x="5570068" y="960120"/>
            <a:ext cx="1051560" cy="1051560"/>
          </a:xfrm>
          <a:prstGeom prst="rect">
            <a:avLst/>
          </a:prstGeom>
        </p:spPr>
      </p:pic>
      <p:sp>
        <p:nvSpPr>
          <p:cNvPr id="3" name="Text 0"/>
          <p:cNvSpPr/>
          <p:nvPr/>
        </p:nvSpPr>
        <p:spPr>
          <a:xfrm>
            <a:off x="0" y="2304288"/>
            <a:ext cx="12191695" cy="329184"/>
          </a:xfrm>
          <a:prstGeom prst="rect">
            <a:avLst/>
          </a:prstGeom>
          <a:noFill/>
          <a:ln/>
        </p:spPr>
        <p:txBody>
          <a:bodyPr wrap="square" lIns="0" tIns="0" rIns="0" bIns="0" rtlCol="0" anchor="ctr"/>
          <a:lstStyle/>
          <a:p>
            <a:pPr algn="ctr" indent="0" marL="0">
              <a:buNone/>
            </a:pPr>
            <a:r>
              <a:rPr lang="en-US" sz="1200" b="1" spc="350" kern="0" dirty="0">
                <a:solidFill>
                  <a:srgbClr val="9FCEDA"/>
                </a:solidFill>
                <a:latin typeface="Helvetica Neue" pitchFamily="34" charset="0"/>
                <a:ea typeface="Helvetica Neue" pitchFamily="34" charset="-122"/>
                <a:cs typeface="Helvetica Neue" pitchFamily="34" charset="-120"/>
              </a:rPr>
              <a:t>THE KIT IS ALIVE</a:t>
            </a:r>
            <a:endParaRPr lang="en-US" sz="1200" dirty="0"/>
          </a:p>
        </p:txBody>
      </p:sp>
      <p:sp>
        <p:nvSpPr>
          <p:cNvPr id="4" name="Text 1"/>
          <p:cNvSpPr/>
          <p:nvPr/>
        </p:nvSpPr>
        <p:spPr>
          <a:xfrm>
            <a:off x="0" y="2651760"/>
            <a:ext cx="12191695"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Helvetica Neue" pitchFamily="34" charset="0"/>
                <a:ea typeface="Helvetica Neue" pitchFamily="34" charset="-122"/>
                <a:cs typeface="Helvetica Neue" pitchFamily="34" charset="-120"/>
              </a:rPr>
              <a:t>It’s a robot now.</a:t>
            </a:r>
            <a:endParaRPr lang="en-US" sz="4600" dirty="0"/>
          </a:p>
        </p:txBody>
      </p:sp>
      <p:sp>
        <p:nvSpPr>
          <p:cNvPr id="5" name="Shape 2"/>
          <p:cNvSpPr/>
          <p:nvPr/>
        </p:nvSpPr>
        <p:spPr>
          <a:xfrm>
            <a:off x="5455768" y="3703320"/>
            <a:ext cx="1280160" cy="0"/>
          </a:xfrm>
          <a:prstGeom prst="line">
            <a:avLst/>
          </a:prstGeom>
          <a:noFill/>
          <a:ln w="12700">
            <a:solidFill>
              <a:srgbClr val="3E7E91"/>
            </a:solidFill>
            <a:prstDash val="solid"/>
          </a:ln>
        </p:spPr>
        <p:txBody>
          <a:bodyPr/>
          <a:p/>
        </p:txBody>
      </p:sp>
      <p:sp>
        <p:nvSpPr>
          <p:cNvPr id="6" name="Text 3"/>
          <p:cNvSpPr/>
          <p:nvPr/>
        </p:nvSpPr>
        <p:spPr>
          <a:xfrm>
            <a:off x="1371600" y="3950208"/>
            <a:ext cx="9448495" cy="914400"/>
          </a:xfrm>
          <a:prstGeom prst="rect">
            <a:avLst/>
          </a:prstGeom>
          <a:noFill/>
          <a:ln/>
        </p:spPr>
        <p:txBody>
          <a:bodyPr wrap="square" lIns="0" tIns="0" rIns="0" bIns="0" rtlCol="0" anchor="ctr"/>
          <a:lstStyle/>
          <a:p>
            <a:pPr algn="ctr" indent="0" marL="0">
              <a:lnSpc>
                <a:spcPts val="2200"/>
              </a:lnSpc>
              <a:buNone/>
            </a:pPr>
            <a:r>
              <a:rPr lang="en-US" sz="1500" i="1" dirty="0">
                <a:solidFill>
                  <a:srgbClr val="C9E3EA"/>
                </a:solidFill>
                <a:latin typeface="Helvetica Neue" pitchFamily="34" charset="0"/>
                <a:ea typeface="Helvetica Neue" pitchFamily="34" charset="-122"/>
                <a:cs typeface="Helvetica Neue" pitchFamily="34" charset="-120"/>
              </a:rPr>
              <a:t>The Triggerfish is inventoried, its first connections are made, the records are open, and every capsule is designed.</a:t>
            </a:r>
            <a:endParaRPr lang="en-US" sz="1500" dirty="0"/>
          </a:p>
          <a:p>
            <a:pPr algn="ctr" indent="0" marL="0">
              <a:lnSpc>
                <a:spcPts val="2200"/>
              </a:lnSpc>
              <a:buNone/>
            </a:pPr>
            <a:r>
              <a:rPr lang="en-US" sz="1500" i="1" dirty="0">
                <a:solidFill>
                  <a:srgbClr val="C9E3EA"/>
                </a:solidFill>
                <a:latin typeface="Helvetica Neue" pitchFamily="34" charset="0"/>
                <a:ea typeface="Helvetica Neue" pitchFamily="34" charset="-122"/>
                <a:cs typeface="Helvetica Neue" pitchFamily="34" charset="-120"/>
              </a:rPr>
              <a:t>Next, we learn to read it.</a:t>
            </a:r>
            <a:endParaRPr lang="en-US" sz="1500" dirty="0"/>
          </a:p>
        </p:txBody>
      </p:sp>
      <p:sp>
        <p:nvSpPr>
          <p:cNvPr id="7" name="Text 4"/>
          <p:cNvSpPr/>
          <p:nvPr/>
        </p:nvSpPr>
        <p:spPr>
          <a:xfrm>
            <a:off x="0" y="5897880"/>
            <a:ext cx="12191695" cy="310896"/>
          </a:xfrm>
          <a:prstGeom prst="rect">
            <a:avLst/>
          </a:prstGeom>
          <a:noFill/>
          <a:ln/>
        </p:spPr>
        <p:txBody>
          <a:bodyPr wrap="square" lIns="0" tIns="0" rIns="0" bIns="0" rtlCol="0" anchor="ctr"/>
          <a:lstStyle/>
          <a:p>
            <a:pPr algn="ctr" indent="0" marL="0">
              <a:buNone/>
            </a:pPr>
            <a:r>
              <a:rPr lang="en-US" sz="900" spc="200" kern="0" dirty="0">
                <a:solidFill>
                  <a:srgbClr val="6BA0AF"/>
                </a:solidFill>
                <a:latin typeface="Helvetica Neue" pitchFamily="34" charset="0"/>
                <a:ea typeface="Helvetica Neue" pitchFamily="34" charset="-122"/>
                <a:cs typeface="Helvetica Neue" pitchFamily="34" charset="-120"/>
              </a:rPr>
              <a:t>SAY WATT ROBOTICS  ·  ROV TEAM      |      NEXT LESSON — CLASS 1.4, ELECTRONICS WORKSHOP</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TODAY'S ROLES</a:t>
            </a:r>
          </a:p>
        </p:txBody>
      </p:sp>
      <p:sp>
        <p:nvSpPr>
          <p:cNvPr id="3" name="TextBox 2"/>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Four jobs. Four students. Different every week.</a:t>
            </a:r>
          </a:p>
        </p:txBody>
      </p:sp>
      <p:sp>
        <p:nvSpPr>
          <p:cNvPr id="4" name="TextBox 3"/>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Every meeting we assign these four — by season's end, every student has done every job.</a:t>
            </a:r>
          </a:p>
        </p:txBody>
      </p:sp>
      <p:sp>
        <p:nvSpPr>
          <p:cNvPr id="5" name="Rectangle 4"/>
          <p:cNvSpPr/>
          <p:nvPr/>
        </p:nvSpPr>
        <p:spPr>
          <a:xfrm>
            <a:off x="822960" y="2331720"/>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06039"/>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NOTETAKER / SCRIBE</a:t>
            </a:r>
          </a:p>
        </p:txBody>
      </p:sp>
      <p:sp>
        <p:nvSpPr>
          <p:cNvPr id="7" name="TextBox 6"/>
          <p:cNvSpPr txBox="1"/>
          <p:nvPr/>
        </p:nvSpPr>
        <p:spPr>
          <a:xfrm>
            <a:off x="1143000" y="3008376"/>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8" name="TextBox 7"/>
          <p:cNvSpPr txBox="1"/>
          <p:nvPr/>
        </p:nvSpPr>
        <p:spPr>
          <a:xfrm>
            <a:off x="1143000" y="3410711"/>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Captures every decision, action item, and blocker. Files notes with the CFO for the engineering notebook.</a:t>
            </a:r>
          </a:p>
        </p:txBody>
      </p:sp>
      <p:sp>
        <p:nvSpPr>
          <p:cNvPr id="9" name="Rectangle 8"/>
          <p:cNvSpPr/>
          <p:nvPr/>
        </p:nvSpPr>
        <p:spPr>
          <a:xfrm>
            <a:off x="6126480" y="2331720"/>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606039"/>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SAFETY BRIEFER</a:t>
            </a:r>
          </a:p>
        </p:txBody>
      </p:sp>
      <p:sp>
        <p:nvSpPr>
          <p:cNvPr id="11" name="TextBox 10"/>
          <p:cNvSpPr txBox="1"/>
          <p:nvPr/>
        </p:nvSpPr>
        <p:spPr>
          <a:xfrm>
            <a:off x="6446520" y="3008376"/>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12" name="TextBox 11"/>
          <p:cNvSpPr txBox="1"/>
          <p:nvPr/>
        </p:nvSpPr>
        <p:spPr>
          <a:xfrm>
            <a:off x="6446520" y="3410711"/>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Delivers the standing four-question safety brief at the start of the meeting.</a:t>
            </a:r>
          </a:p>
        </p:txBody>
      </p:sp>
      <p:sp>
        <p:nvSpPr>
          <p:cNvPr id="13" name="Rectangle 12"/>
          <p:cNvSpPr/>
          <p:nvPr/>
        </p:nvSpPr>
        <p:spPr>
          <a:xfrm>
            <a:off x="822960" y="4315968"/>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4590288"/>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PHOTOGRAPHER</a:t>
            </a:r>
          </a:p>
        </p:txBody>
      </p:sp>
      <p:sp>
        <p:nvSpPr>
          <p:cNvPr id="15" name="TextBox 14"/>
          <p:cNvSpPr txBox="1"/>
          <p:nvPr/>
        </p:nvSpPr>
        <p:spPr>
          <a:xfrm>
            <a:off x="1143000" y="4992624"/>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16" name="TextBox 15"/>
          <p:cNvSpPr txBox="1"/>
          <p:nvPr/>
        </p:nvSpPr>
        <p:spPr>
          <a:xfrm>
            <a:off x="1143000" y="5394959"/>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Captures photos and short videos throughout — feeds the engineering notebook and the marketing display.</a:t>
            </a:r>
          </a:p>
        </p:txBody>
      </p:sp>
      <p:sp>
        <p:nvSpPr>
          <p:cNvPr id="17" name="Rectangle 16"/>
          <p:cNvSpPr/>
          <p:nvPr/>
        </p:nvSpPr>
        <p:spPr>
          <a:xfrm>
            <a:off x="6126480" y="4315968"/>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4590288"/>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TIMEKEEPER</a:t>
            </a:r>
          </a:p>
        </p:txBody>
      </p:sp>
      <p:sp>
        <p:nvSpPr>
          <p:cNvPr id="19" name="TextBox 18"/>
          <p:cNvSpPr txBox="1"/>
          <p:nvPr/>
        </p:nvSpPr>
        <p:spPr>
          <a:xfrm>
            <a:off x="6446520" y="4992624"/>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20" name="TextBox 19"/>
          <p:cNvSpPr txBox="1"/>
          <p:nvPr/>
        </p:nvSpPr>
        <p:spPr>
          <a:xfrm>
            <a:off x="6446520" y="5394959"/>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Holds the meeting to the agenda's clock. Calls the time at each block change.</a:t>
            </a:r>
          </a:p>
        </p:txBody>
      </p:sp>
      <p:cxnSp>
        <p:nvCxnSpPr>
          <p:cNvPr id="21" name="Connector 20"/>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3" name="TextBox 22"/>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3 — KIT UNBOXING   ·   3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ACTION ITEMS</a:t>
            </a:r>
          </a:p>
        </p:txBody>
      </p:sp>
      <p:sp>
        <p:nvSpPr>
          <p:cNvPr id="3" name="TextBox 2"/>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What we decided. Who owns it. When it's due.</a:t>
            </a:r>
          </a:p>
        </p:txBody>
      </p:sp>
      <p:sp>
        <p:nvSpPr>
          <p:cNvPr id="4" name="TextBox 3"/>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The Notetaker fills these in during the meeting and reads them back before we leave.</a:t>
            </a:r>
          </a:p>
        </p:txBody>
      </p:sp>
      <p:sp>
        <p:nvSpPr>
          <p:cNvPr id="5" name="Rectangle 4"/>
          <p:cNvSpPr/>
          <p:nvPr/>
        </p:nvSpPr>
        <p:spPr>
          <a:xfrm>
            <a:off x="822960" y="2423160"/>
            <a:ext cx="10543032" cy="384048"/>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2459736"/>
            <a:ext cx="5486400"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ITEM</a:t>
            </a:r>
          </a:p>
        </p:txBody>
      </p:sp>
      <p:sp>
        <p:nvSpPr>
          <p:cNvPr id="7" name="TextBox 6"/>
          <p:cNvSpPr txBox="1"/>
          <p:nvPr/>
        </p:nvSpPr>
        <p:spPr>
          <a:xfrm>
            <a:off x="6784848" y="2459736"/>
            <a:ext cx="2011680"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OWNER</a:t>
            </a:r>
          </a:p>
        </p:txBody>
      </p:sp>
      <p:sp>
        <p:nvSpPr>
          <p:cNvPr id="8" name="TextBox 7"/>
          <p:cNvSpPr txBox="1"/>
          <p:nvPr/>
        </p:nvSpPr>
        <p:spPr>
          <a:xfrm>
            <a:off x="9070848" y="2459736"/>
            <a:ext cx="2221992"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DUE</a:t>
            </a:r>
          </a:p>
        </p:txBody>
      </p:sp>
      <p:cxnSp>
        <p:nvCxnSpPr>
          <p:cNvPr id="9" name="Connector 8"/>
          <p:cNvCxnSpPr/>
          <p:nvPr/>
        </p:nvCxnSpPr>
        <p:spPr>
          <a:xfrm>
            <a:off x="822960" y="3374136"/>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83680" y="2807208"/>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869680" y="2807208"/>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24128" y="3209544"/>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784848" y="3209544"/>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070848" y="3209544"/>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22960" y="3941063"/>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374136"/>
            <a:ext cx="0" cy="566927"/>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69680" y="3374136"/>
            <a:ext cx="0" cy="566927"/>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24128" y="3776472"/>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784848" y="3776472"/>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070848" y="3776472"/>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22960" y="4507992"/>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583680" y="3941063"/>
            <a:ext cx="0" cy="566929"/>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869680" y="3941063"/>
            <a:ext cx="0" cy="566929"/>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24128" y="4343400"/>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784848" y="4343400"/>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070848" y="4343400"/>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22960" y="5074920"/>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583680" y="4507992"/>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869680" y="4507992"/>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24128" y="4910328"/>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784848" y="4910328"/>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070848" y="4910328"/>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22960" y="5641848"/>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583680" y="5074920"/>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869680" y="5074920"/>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24128" y="5477256"/>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784848" y="5477256"/>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070848" y="5477256"/>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41" name="TextBox 40"/>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3 — KIT UNBOXING   ·   16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BEFORE WE LEAVE</a:t>
            </a:r>
          </a:p>
        </p:txBody>
      </p:sp>
      <p:sp>
        <p:nvSpPr>
          <p:cNvPr id="3" name="TextBox 2"/>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Tools accounted for. Shop reset.</a:t>
            </a:r>
          </a:p>
        </p:txBody>
      </p:sp>
      <p:sp>
        <p:nvSpPr>
          <p:cNvPr id="4" name="TextBox 3"/>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We do this together, every meeting. No exceptions — the Tool Steward leads.</a:t>
            </a:r>
          </a:p>
        </p:txBody>
      </p:sp>
      <p:sp>
        <p:nvSpPr>
          <p:cNvPr id="5" name="Rectangle 4"/>
          <p:cNvSpPr/>
          <p:nvPr/>
        </p:nvSpPr>
        <p:spPr>
          <a:xfrm>
            <a:off x="822960" y="2423160"/>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08176" y="2404872"/>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Soldering irons unplugged, cool, and put away.</a:t>
            </a:r>
          </a:p>
        </p:txBody>
      </p:sp>
      <p:sp>
        <p:nvSpPr>
          <p:cNvPr id="7" name="Rectangle 6"/>
          <p:cNvSpPr/>
          <p:nvPr/>
        </p:nvSpPr>
        <p:spPr>
          <a:xfrm>
            <a:off x="822960" y="2990088"/>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08176" y="2971800"/>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All hand tools and test equipment back in their bins.</a:t>
            </a:r>
          </a:p>
        </p:txBody>
      </p:sp>
      <p:sp>
        <p:nvSpPr>
          <p:cNvPr id="9" name="Rectangle 8"/>
          <p:cNvSpPr/>
          <p:nvPr/>
        </p:nvSpPr>
        <p:spPr>
          <a:xfrm>
            <a:off x="822960" y="3557015"/>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8176" y="3538727"/>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Batteries off charge; charger stations powered down.</a:t>
            </a:r>
          </a:p>
        </p:txBody>
      </p:sp>
      <p:sp>
        <p:nvSpPr>
          <p:cNvPr id="11" name="Rectangle 10"/>
          <p:cNvSpPr/>
          <p:nvPr/>
        </p:nvSpPr>
        <p:spPr>
          <a:xfrm>
            <a:off x="822960" y="4123944"/>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08176" y="4105656"/>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Workshop swept; benches wiped; trash out.</a:t>
            </a:r>
          </a:p>
        </p:txBody>
      </p:sp>
      <p:sp>
        <p:nvSpPr>
          <p:cNvPr id="13" name="Rectangle 12"/>
          <p:cNvSpPr/>
          <p:nvPr/>
        </p:nvSpPr>
        <p:spPr>
          <a:xfrm>
            <a:off x="822960" y="4690872"/>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08176" y="4672584"/>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Today's photos uploaded to the team folder.</a:t>
            </a:r>
          </a:p>
        </p:txBody>
      </p:sp>
      <p:sp>
        <p:nvSpPr>
          <p:cNvPr id="15" name="Rectangle 14"/>
          <p:cNvSpPr/>
          <p:nvPr/>
        </p:nvSpPr>
        <p:spPr>
          <a:xfrm>
            <a:off x="822960" y="5257800"/>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08176" y="5239512"/>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Notetaker's meeting notes filed with the CFO for the engineering notebook.</a:t>
            </a:r>
          </a:p>
        </p:txBody>
      </p:sp>
      <p:cxnSp>
        <p:nvCxnSpPr>
          <p:cNvPr id="17" name="Connector 16"/>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9" name="TextBox 18"/>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3 — KIT UNBOXING   ·   17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ROV Team — Week 1: Kickoff</dc:title>
  <dc:subject>PptxGenJS Presentation</dc:subject>
  <dc:creator>Say Watt Robotics — ROV Team</dc:creator>
  <cp:lastModifiedBy>Say Watt Robotics — ROV Team</cp:lastModifiedBy>
  <cp:revision>1</cp:revision>
  <dcterms:created xsi:type="dcterms:W3CDTF">2026-05-25T21:02:30Z</dcterms:created>
  <dcterms:modified xsi:type="dcterms:W3CDTF">2026-05-25T21:02:30Z</dcterms:modified>
</cp:coreProperties>
</file>