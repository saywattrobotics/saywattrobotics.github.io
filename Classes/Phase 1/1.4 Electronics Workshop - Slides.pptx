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7.xml" ContentType="application/vnd.openxmlformats-officedocument.presentationml.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9"/>
    <p:sldId id="263" r:id="rId10"/>
    <p:sldId id="264" r:id="rId33"/>
    <p:sldId id="265" r:id="rId12"/>
    <p:sldId id="266" r:id="rId15"/>
    <p:sldId id="267" r:id="rId11"/>
    <p:sldId id="268" r:id="rId16"/>
    <p:sldId id="269" r:id="rId25"/>
    <p:sldId id="270" r:id="rId26"/>
    <p:sldId id="27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5" Type="http://schemas.openxmlformats.org/officeDocument/2006/relationships/slide" Target="slides/slide14.xml"/><Relationship Id="rId16" Type="http://schemas.openxmlformats.org/officeDocument/2006/relationships/slide" Target="slides/slide15.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 this is the week the team has waited for: today everyone solders. 30 seconds here. Set the tone — it is our longest meeting, by design, and the work is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eight blocks quickly, then land one point: this is our longest day, about three and a half hours. If a block runs long, we protect the hands-on practice and trim elsewhere — we never cut the time on the iron. Note the break at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opening as always. Let the CEO run the safety brief if roles are set — 60 to 90 seconds. The ritual matters more today than ever: there are hot irons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safety brief of the season so far. Slow down on hazards and prevention. Irons live in their stands, never on the bench. Confirm the fume fan is on and everyone has glasses before any iron is powered. Read ‘every burn gets reported’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15 minutes. Set up the why before the how: nobody picks up an iron until they understand what a good joint is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 the robot fails at its weakest joint, and that joint is one a kid will make today. Two minutes. Land the bold line: this is the first real engineering skill of the season, and every kid earns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real examples if you have them. Walk the three: cold (dull blob), good (shiny cone), bridged (shorted). Tell them they will make all three today — making the bad ones on purpose is how they learn to see the good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day, 85 minutes. Set the flow: watch, then demo, then everyone practices. Energy up — the clock is generous here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slowly — this is the philosophy of the whole season. Make sure every parent hears it: demonstrate, then step back. The struggle is the point. Mention AI disclosure plainly — honesty is scored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each move once as you walk these six cards — this is the teach-once moment, about 15 minutes. Section 4.3: you show it, then you step back. Do not solder for them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cannot be cut. Every kid makes a joint, inspects it, and redoes it if needed. Circulate, photograph, encourage — hands off the irons. Expect it to run long; that is fine. Nobody opens the kit until they have made a joint they are proud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Irons stay on their stands and cool. Hands washed before snacks — solder has lead. Resume at 1:55,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divider — 10 minutes to close the loop. Make sure every kid leaves knowing their homework and the team knows the parallel-track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for students, no more — keep it light. Read the parallel-track card to the parents: battery before Week 3, pool prerequisites, and the DISL call. These gate the water. Preview Week 3 — electronics finished and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pride — everyone soldered today, the kit is open, the first joints are on the robot. Land the final line: next week, it gets wet. Send them out energized for the first splash.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the 22-minute video before the meeting so it is ready to play. Read the four ‘watch for’ prompts aloud first so they watch actively. Pause on the key moments — tinning the tip, heat on the joint. Then go straight to the bench while energy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docs.google.com/presentation/d/e/2PACX-1vQQmtfJgr958EwnIs4mHeInAdVA22NVUOaB35r6g2CjVZj4CBzTqzZXC9VqRRcdzcj1fs4ZxRsc_V79/pub"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387188" y="749808"/>
            <a:ext cx="1417320" cy="1417320"/>
          </a:xfrm>
          <a:prstGeom prst="rect">
            <a:avLst/>
          </a:prstGeom>
        </p:spPr>
      </p:pic>
      <p:sp>
        <p:nvSpPr>
          <p:cNvPr id="3" name="Text 0"/>
          <p:cNvSpPr/>
          <p:nvPr/>
        </p:nvSpPr>
        <p:spPr>
          <a:xfrm>
            <a:off x="0" y="2505456"/>
            <a:ext cx="12191695" cy="329184"/>
          </a:xfrm>
          <a:prstGeom prst="rect">
            <a:avLst/>
          </a:prstGeom>
          <a:noFill/>
          <a:ln/>
        </p:spPr>
        <p:txBody>
          <a:bodyPr wrap="square" lIns="0" tIns="0" rIns="0" bIns="0" rtlCol="0" anchor="ctr"/>
          <a:lstStyle/>
          <a:p>
            <a:pPr algn="ctr" indent="0" marL="0">
              <a:buNone/>
            </a:pPr>
            <a:r>
              <a:rPr lang="en-US" sz="1300" b="1" spc="350" kern="0" dirty="0">
                <a:solidFill>
                  <a:srgbClr val="9FCEDA"/>
                </a:solidFill>
                <a:latin typeface="Helvetica Neue" pitchFamily="34" charset="0"/>
                <a:ea typeface="Helvetica Neue" pitchFamily="34" charset="-122"/>
                <a:cs typeface="Helvetica Neue" pitchFamily="34" charset="-120"/>
              </a:rPr>
              <a:t>PHASE 1 — FOUNDATION</a:t>
            </a:r>
            <a:endParaRPr lang="en-US" sz="1300" dirty="0"/>
          </a:p>
        </p:txBody>
      </p:sp>
      <p:sp>
        <p:nvSpPr>
          <p:cNvPr id="4" name="Text 1"/>
          <p:cNvSpPr/>
          <p:nvPr/>
        </p:nvSpPr>
        <p:spPr>
          <a:xfrm>
            <a:off x="0" y="2852928"/>
            <a:ext cx="12191695"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Helvetica Neue" pitchFamily="34" charset="0"/>
                <a:ea typeface="Helvetica Neue" pitchFamily="34" charset="-122"/>
                <a:cs typeface="Helvetica Neue" pitchFamily="34" charset="-120"/>
              </a:rPr>
              <a:t>Electronics Workshop</a:t>
            </a:r>
            <a:endParaRPr lang="en-US" sz="5600" dirty="0"/>
          </a:p>
        </p:txBody>
      </p:sp>
      <p:sp>
        <p:nvSpPr>
          <p:cNvPr id="5" name="Text 2"/>
          <p:cNvSpPr/>
          <p:nvPr/>
        </p:nvSpPr>
        <p:spPr>
          <a:xfrm>
            <a:off x="0" y="3877056"/>
            <a:ext cx="12191695" cy="548640"/>
          </a:xfrm>
          <a:prstGeom prst="rect">
            <a:avLst/>
          </a:prstGeom>
          <a:noFill/>
          <a:ln/>
        </p:spPr>
        <p:txBody>
          <a:bodyPr wrap="square" lIns="0" tIns="0" rIns="0" bIns="0" rtlCol="0" anchor="ctr"/>
          <a:lstStyle/>
          <a:p>
            <a:pPr algn="ctr" indent="0" marL="0">
              <a:buNone/>
            </a:pPr>
            <a:r>
              <a:rPr lang="en-US" sz="2300" dirty="0">
                <a:solidFill>
                  <a:srgbClr val="C9E3EA"/>
                </a:solidFill>
                <a:latin typeface="Helvetica Neue" pitchFamily="34" charset="0"/>
                <a:ea typeface="Helvetica Neue" pitchFamily="34" charset="-122"/>
                <a:cs typeface="Helvetica Neue" pitchFamily="34" charset="-120"/>
              </a:rPr>
              <a:t>Learn to read a circuit — the meter, switches, and symbols.</a:t>
            </a:r>
            <a:endParaRPr lang="en-US" sz="2300" dirty="0"/>
          </a:p>
        </p:txBody>
      </p:sp>
      <p:sp>
        <p:nvSpPr>
          <p:cNvPr id="6" name="Shape 3"/>
          <p:cNvSpPr/>
          <p:nvPr/>
        </p:nvSpPr>
        <p:spPr>
          <a:xfrm>
            <a:off x="5455768" y="4681728"/>
            <a:ext cx="1280160" cy="0"/>
          </a:xfrm>
          <a:prstGeom prst="line">
            <a:avLst/>
          </a:prstGeom>
          <a:noFill/>
          <a:ln w="12700">
            <a:solidFill>
              <a:srgbClr val="3E7E91"/>
            </a:solidFill>
            <a:prstDash val="solid"/>
          </a:ln>
        </p:spPr>
      </p:sp>
      <p:sp>
        <p:nvSpPr>
          <p:cNvPr id="7" name="Text 4"/>
          <p:cNvSpPr/>
          <p:nvPr/>
        </p:nvSpPr>
        <p:spPr>
          <a:xfrm>
            <a:off x="0" y="4901184"/>
            <a:ext cx="12191695" cy="329184"/>
          </a:xfrm>
          <a:prstGeom prst="rect">
            <a:avLst/>
          </a:prstGeom>
          <a:noFill/>
          <a:ln/>
        </p:spPr>
        <p:txBody>
          <a:bodyPr wrap="square" lIns="0" tIns="0" rIns="0" bIns="0" rtlCol="0" anchor="ctr"/>
          <a:lstStyle/>
          <a:p>
            <a:pPr algn="ctr" indent="0" marL="0">
              <a:buNone/>
            </a:pPr>
            <a:r>
              <a:rPr lang="en-US" sz="1300" spc="50" kern="0" dirty="0">
                <a:solidFill>
                  <a:srgbClr val="9FCEDA"/>
                </a:solidFill>
                <a:latin typeface="Helvetica Neue" pitchFamily="34" charset="0"/>
                <a:ea typeface="Helvetica Neue" pitchFamily="34" charset="-122"/>
                <a:cs typeface="Helvetica Neue" pitchFamily="34" charset="-120"/>
              </a:rPr>
              <a:t>Say Watt Robotics  ·  ROV Team      |      2026–2027 MATE ROV Season</a:t>
            </a:r>
            <a:endParaRPr lang="en-US" sz="1300" dirty="0"/>
          </a:p>
        </p:txBody>
      </p:sp>
      <p:sp>
        <p:nvSpPr>
          <p:cNvPr id="8" name="Text 5"/>
          <p:cNvSpPr/>
          <p:nvPr/>
        </p:nvSpPr>
        <p:spPr>
          <a:xfrm>
            <a:off x="0" y="5943600"/>
            <a:ext cx="12191695" cy="310896"/>
          </a:xfrm>
          <a:prstGeom prst="rect">
            <a:avLst/>
          </a:prstGeom>
          <a:noFill/>
          <a:ln/>
        </p:spPr>
        <p:txBody>
          <a:bodyPr wrap="square" lIns="0" tIns="0" rIns="0" bIns="0" rtlCol="0" anchor="ctr"/>
          <a:lstStyle/>
          <a:p>
            <a:pPr algn="ctr" indent="0" marL="0">
              <a:buNone/>
            </a:pPr>
            <a:r>
              <a:rPr lang="en-US" sz="950" spc="250" kern="0" dirty="0">
                <a:solidFill>
                  <a:srgbClr val="6BA0AF"/>
                </a:solidFill>
                <a:latin typeface="Helvetica Neue" pitchFamily="34" charset="0"/>
                <a:ea typeface="Helvetica Neue" pitchFamily="34" charset="-122"/>
                <a:cs typeface="Helvetica Neue" pitchFamily="34" charset="-120"/>
              </a:rPr>
              <a:t>CLASS 1.4   ·   ONE SESSION   ·   MADISON, ALABAMA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MEETING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hours, learning to read a circuit.</a:t>
            </a:r>
            <a:endParaRPr lang="en-US" sz="3000" dirty="0"/>
          </a:p>
        </p:txBody>
      </p:sp>
      <p:sp>
        <p:nvSpPr>
          <p:cNvPr id="4" name="Text 2"/>
          <p:cNvSpPr/>
          <p:nvPr/>
        </p:nvSpPr>
        <p:spPr>
          <a:xfrm>
            <a:off x="822960" y="184708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0:00</a:t>
            </a:r>
            <a:endParaRPr lang="en-US" sz="1700" dirty="0"/>
          </a:p>
        </p:txBody>
      </p:sp>
      <p:sp>
        <p:nvSpPr>
          <p:cNvPr id="5" name="Text 3"/>
          <p:cNvSpPr/>
          <p:nvPr/>
        </p:nvSpPr>
        <p:spPr>
          <a:xfrm>
            <a:off x="2148840" y="184708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Welcome &amp; Safety Brief</a:t>
            </a:r>
            <a:endParaRPr lang="en-US" sz="1600" dirty="0"/>
          </a:p>
        </p:txBody>
      </p:sp>
      <p:sp>
        <p:nvSpPr>
          <p:cNvPr id="6" name="Text 4"/>
          <p:cNvSpPr/>
          <p:nvPr/>
        </p:nvSpPr>
        <p:spPr>
          <a:xfrm>
            <a:off x="9601200" y="184708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7" name="Shape 5"/>
          <p:cNvSpPr/>
          <p:nvPr/>
        </p:nvSpPr>
        <p:spPr>
          <a:xfrm>
            <a:off x="822960" y="2400300"/>
            <a:ext cx="10545775" cy="0"/>
          </a:xfrm>
          <a:prstGeom prst="line">
            <a:avLst/>
          </a:prstGeom>
          <a:noFill/>
          <a:ln w="9525">
            <a:solidFill>
              <a:srgbClr val="E3E3E6"/>
            </a:solidFill>
            <a:prstDash val="solid"/>
          </a:ln>
        </p:spPr>
      </p:sp>
      <p:sp>
        <p:nvSpPr>
          <p:cNvPr id="8" name="Text 6"/>
          <p:cNvSpPr/>
          <p:nvPr/>
        </p:nvSpPr>
        <p:spPr>
          <a:xfrm>
            <a:off x="822960" y="240030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0:15</a:t>
            </a:r>
            <a:endParaRPr lang="en-US" sz="1700" dirty="0"/>
          </a:p>
        </p:txBody>
      </p:sp>
      <p:sp>
        <p:nvSpPr>
          <p:cNvPr id="9" name="Text 7"/>
          <p:cNvSpPr/>
          <p:nvPr/>
        </p:nvSpPr>
        <p:spPr>
          <a:xfrm>
            <a:off x="2148840" y="240030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Multimeter</a:t>
            </a:r>
            <a:endParaRPr lang="en-US" sz="1600" dirty="0"/>
          </a:p>
        </p:txBody>
      </p:sp>
      <p:sp>
        <p:nvSpPr>
          <p:cNvPr id="10" name="Text 8"/>
          <p:cNvSpPr/>
          <p:nvPr/>
        </p:nvSpPr>
        <p:spPr>
          <a:xfrm>
            <a:off x="9601200" y="240030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35 min</a:t>
            </a:r>
            <a:endParaRPr lang="en-US" sz="1150" dirty="0"/>
          </a:p>
        </p:txBody>
      </p:sp>
      <p:sp>
        <p:nvSpPr>
          <p:cNvPr id="11" name="Shape 9"/>
          <p:cNvSpPr/>
          <p:nvPr/>
        </p:nvSpPr>
        <p:spPr>
          <a:xfrm>
            <a:off x="822960" y="2953512"/>
            <a:ext cx="10545775" cy="0"/>
          </a:xfrm>
          <a:prstGeom prst="line">
            <a:avLst/>
          </a:prstGeom>
          <a:noFill/>
          <a:ln w="9525">
            <a:solidFill>
              <a:srgbClr val="E3E3E6"/>
            </a:solidFill>
            <a:prstDash val="solid"/>
          </a:ln>
        </p:spPr>
      </p:sp>
      <p:sp>
        <p:nvSpPr>
          <p:cNvPr id="12" name="Text 10"/>
          <p:cNvSpPr/>
          <p:nvPr/>
        </p:nvSpPr>
        <p:spPr>
          <a:xfrm>
            <a:off x="822960" y="295351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0:50</a:t>
            </a:r>
            <a:endParaRPr lang="en-US" sz="1700" dirty="0"/>
          </a:p>
        </p:txBody>
      </p:sp>
      <p:sp>
        <p:nvSpPr>
          <p:cNvPr id="13" name="Text 11"/>
          <p:cNvSpPr/>
          <p:nvPr/>
        </p:nvSpPr>
        <p:spPr>
          <a:xfrm>
            <a:off x="2148840" y="295351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How Switches Work</a:t>
            </a:r>
            <a:endParaRPr lang="en-US" sz="1600" dirty="0"/>
          </a:p>
        </p:txBody>
      </p:sp>
      <p:sp>
        <p:nvSpPr>
          <p:cNvPr id="14" name="Text 12"/>
          <p:cNvSpPr/>
          <p:nvPr/>
        </p:nvSpPr>
        <p:spPr>
          <a:xfrm>
            <a:off x="9601200" y="295351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20 min</a:t>
            </a:r>
            <a:endParaRPr lang="en-US" sz="1150" dirty="0"/>
          </a:p>
        </p:txBody>
      </p:sp>
      <p:sp>
        <p:nvSpPr>
          <p:cNvPr id="15" name="Shape 13"/>
          <p:cNvSpPr/>
          <p:nvPr/>
        </p:nvSpPr>
        <p:spPr>
          <a:xfrm>
            <a:off x="822960" y="3506724"/>
            <a:ext cx="10545775" cy="0"/>
          </a:xfrm>
          <a:prstGeom prst="line">
            <a:avLst/>
          </a:prstGeom>
          <a:noFill/>
          <a:ln w="9525">
            <a:solidFill>
              <a:srgbClr val="E3E3E6"/>
            </a:solidFill>
            <a:prstDash val="solid"/>
          </a:ln>
        </p:spPr>
      </p:sp>
      <p:sp>
        <p:nvSpPr>
          <p:cNvPr id="16" name="Text 14"/>
          <p:cNvSpPr/>
          <p:nvPr/>
        </p:nvSpPr>
        <p:spPr>
          <a:xfrm>
            <a:off x="822960" y="3506724"/>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1:10</a:t>
            </a:r>
            <a:endParaRPr lang="en-US" sz="1700" dirty="0"/>
          </a:p>
        </p:txBody>
      </p:sp>
      <p:sp>
        <p:nvSpPr>
          <p:cNvPr id="17" name="Text 15"/>
          <p:cNvSpPr/>
          <p:nvPr/>
        </p:nvSpPr>
        <p:spPr>
          <a:xfrm>
            <a:off x="2148840" y="3506724"/>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Simple Circuits Lab</a:t>
            </a:r>
            <a:endParaRPr lang="en-US" sz="1600" dirty="0"/>
          </a:p>
        </p:txBody>
      </p:sp>
      <p:sp>
        <p:nvSpPr>
          <p:cNvPr id="18" name="Text 16"/>
          <p:cNvSpPr/>
          <p:nvPr/>
        </p:nvSpPr>
        <p:spPr>
          <a:xfrm>
            <a:off x="9601200" y="3506724"/>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30 min</a:t>
            </a:r>
            <a:endParaRPr lang="en-US" sz="1150" dirty="0"/>
          </a:p>
        </p:txBody>
      </p:sp>
      <p:sp>
        <p:nvSpPr>
          <p:cNvPr id="19" name="Shape 17"/>
          <p:cNvSpPr/>
          <p:nvPr/>
        </p:nvSpPr>
        <p:spPr>
          <a:xfrm>
            <a:off x="822960" y="4059936"/>
            <a:ext cx="10545775" cy="0"/>
          </a:xfrm>
          <a:prstGeom prst="line">
            <a:avLst/>
          </a:prstGeom>
          <a:noFill/>
          <a:ln w="9525">
            <a:solidFill>
              <a:srgbClr val="E3E3E6"/>
            </a:solidFill>
            <a:prstDash val="solid"/>
          </a:ln>
        </p:spPr>
      </p:sp>
      <p:sp>
        <p:nvSpPr>
          <p:cNvPr id="20" name="Text 18"/>
          <p:cNvSpPr/>
          <p:nvPr/>
        </p:nvSpPr>
        <p:spPr>
          <a:xfrm>
            <a:off x="822960" y="4059936"/>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1:40</a:t>
            </a:r>
            <a:endParaRPr lang="en-US" sz="1700" dirty="0"/>
          </a:p>
        </p:txBody>
      </p:sp>
      <p:sp>
        <p:nvSpPr>
          <p:cNvPr id="21" name="Text 19"/>
          <p:cNvSpPr/>
          <p:nvPr/>
        </p:nvSpPr>
        <p:spPr>
          <a:xfrm>
            <a:off x="2148840" y="4059936"/>
            <a:ext cx="7360920" cy="553212"/>
          </a:xfrm>
          <a:prstGeom prst="rect">
            <a:avLst/>
          </a:prstGeom>
          <a:noFill/>
          <a:ln/>
        </p:spPr>
        <p:txBody>
          <a:bodyPr wrap="square" lIns="0" tIns="0" rIns="0" bIns="0" rtlCol="0" anchor="ctr"/>
          <a:lstStyle/>
          <a:p>
            <a:pPr indent="0" marL="0">
              <a:buNone/>
            </a:pPr>
            <a:r>
              <a:rPr lang="en-US" sz="1600" i="1" dirty="0">
                <a:solidFill>
                  <a:srgbClr val="86868B"/>
                </a:solidFill>
                <a:latin typeface="Helvetica Neue" pitchFamily="34" charset="0"/>
                <a:ea typeface="Helvetica Neue" pitchFamily="34" charset="-122"/>
                <a:cs typeface="Helvetica Neue" pitchFamily="34" charset="-120"/>
              </a:rPr>
              <a:t>Break</a:t>
            </a:r>
            <a:endParaRPr lang="en-US" sz="1600" dirty="0"/>
          </a:p>
        </p:txBody>
      </p:sp>
      <p:sp>
        <p:nvSpPr>
          <p:cNvPr id="22" name="Text 20"/>
          <p:cNvSpPr/>
          <p:nvPr/>
        </p:nvSpPr>
        <p:spPr>
          <a:xfrm>
            <a:off x="9601200" y="4059936"/>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23" name="Shape 21"/>
          <p:cNvSpPr/>
          <p:nvPr/>
        </p:nvSpPr>
        <p:spPr>
          <a:xfrm>
            <a:off x="822960" y="4613148"/>
            <a:ext cx="10545775" cy="0"/>
          </a:xfrm>
          <a:prstGeom prst="line">
            <a:avLst/>
          </a:prstGeom>
          <a:noFill/>
          <a:ln w="9525">
            <a:solidFill>
              <a:srgbClr val="E3E3E6"/>
            </a:solidFill>
            <a:prstDash val="solid"/>
          </a:ln>
        </p:spPr>
      </p:sp>
      <p:sp>
        <p:nvSpPr>
          <p:cNvPr id="24" name="Text 22"/>
          <p:cNvSpPr/>
          <p:nvPr/>
        </p:nvSpPr>
        <p:spPr>
          <a:xfrm>
            <a:off x="822960" y="461314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1:50</a:t>
            </a:r>
            <a:endParaRPr lang="en-US" sz="1700" dirty="0"/>
          </a:p>
        </p:txBody>
      </p:sp>
      <p:sp>
        <p:nvSpPr>
          <p:cNvPr id="25" name="Text 23"/>
          <p:cNvSpPr/>
          <p:nvPr/>
        </p:nvSpPr>
        <p:spPr>
          <a:xfrm>
            <a:off x="2148840" y="461314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Build &amp; Measure a Circuit</a:t>
            </a:r>
            <a:endParaRPr lang="en-US" sz="1600" dirty="0"/>
          </a:p>
        </p:txBody>
      </p:sp>
      <p:sp>
        <p:nvSpPr>
          <p:cNvPr id="26" name="Text 24"/>
          <p:cNvSpPr/>
          <p:nvPr/>
        </p:nvSpPr>
        <p:spPr>
          <a:xfrm>
            <a:off x="9601200" y="461314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40 min</a:t>
            </a:r>
            <a:endParaRPr lang="en-US" sz="1150" dirty="0"/>
          </a:p>
        </p:txBody>
      </p:sp>
      <p:sp>
        <p:nvSpPr>
          <p:cNvPr id="27" name="Shape 25"/>
          <p:cNvSpPr/>
          <p:nvPr/>
        </p:nvSpPr>
        <p:spPr>
          <a:xfrm>
            <a:off x="822960" y="5166360"/>
            <a:ext cx="10545775" cy="0"/>
          </a:xfrm>
          <a:prstGeom prst="line">
            <a:avLst/>
          </a:prstGeom>
          <a:noFill/>
          <a:ln w="9525">
            <a:solidFill>
              <a:srgbClr val="E3E3E6"/>
            </a:solidFill>
            <a:prstDash val="solid"/>
          </a:ln>
        </p:spPr>
      </p:sp>
      <p:sp>
        <p:nvSpPr>
          <p:cNvPr id="28" name="Text 26"/>
          <p:cNvSpPr/>
          <p:nvPr/>
        </p:nvSpPr>
        <p:spPr>
          <a:xfrm>
            <a:off x="822960" y="516636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2:30</a:t>
            </a:r>
            <a:endParaRPr lang="en-US" sz="1700" dirty="0"/>
          </a:p>
        </p:txBody>
      </p:sp>
      <p:sp>
        <p:nvSpPr>
          <p:cNvPr id="29" name="Text 27"/>
          <p:cNvSpPr/>
          <p:nvPr/>
        </p:nvSpPr>
        <p:spPr>
          <a:xfrm>
            <a:off x="2148840" y="516636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Electrical Symbols Sheet</a:t>
            </a:r>
            <a:endParaRPr lang="en-US" sz="1600" dirty="0"/>
          </a:p>
        </p:txBody>
      </p:sp>
      <p:sp>
        <p:nvSpPr>
          <p:cNvPr id="30" name="Text 28"/>
          <p:cNvSpPr/>
          <p:nvPr/>
        </p:nvSpPr>
        <p:spPr>
          <a:xfrm>
            <a:off x="9601200" y="516636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20 min</a:t>
            </a:r>
            <a:endParaRPr lang="en-US" sz="1150" dirty="0"/>
          </a:p>
        </p:txBody>
      </p:sp>
      <p:sp>
        <p:nvSpPr>
          <p:cNvPr id="31" name="Shape 29"/>
          <p:cNvSpPr/>
          <p:nvPr/>
        </p:nvSpPr>
        <p:spPr>
          <a:xfrm>
            <a:off x="822960" y="5719572"/>
            <a:ext cx="10545775" cy="0"/>
          </a:xfrm>
          <a:prstGeom prst="line">
            <a:avLst/>
          </a:prstGeom>
          <a:noFill/>
          <a:ln w="9525">
            <a:solidFill>
              <a:srgbClr val="E3E3E6"/>
            </a:solidFill>
            <a:prstDash val="solid"/>
          </a:ln>
        </p:spPr>
      </p:sp>
      <p:sp>
        <p:nvSpPr>
          <p:cNvPr id="32" name="Text 30"/>
          <p:cNvSpPr/>
          <p:nvPr/>
        </p:nvSpPr>
        <p:spPr>
          <a:xfrm>
            <a:off x="822960" y="571957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2:50</a:t>
            </a:r>
            <a:endParaRPr lang="en-US" sz="1700" dirty="0"/>
          </a:p>
        </p:txBody>
      </p:sp>
      <p:sp>
        <p:nvSpPr>
          <p:cNvPr id="33" name="Text 31"/>
          <p:cNvSpPr/>
          <p:nvPr/>
        </p:nvSpPr>
        <p:spPr>
          <a:xfrm>
            <a:off x="2148840" y="571957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Wrap-up &amp; homework</a:t>
            </a:r>
            <a:endParaRPr lang="en-US" sz="1600" dirty="0"/>
          </a:p>
        </p:txBody>
      </p:sp>
      <p:sp>
        <p:nvSpPr>
          <p:cNvPr id="34" name="Text 32"/>
          <p:cNvSpPr/>
          <p:nvPr/>
        </p:nvSpPr>
        <p:spPr>
          <a:xfrm>
            <a:off x="9601200" y="571957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35" name="Text 33"/>
          <p:cNvSpPr/>
          <p:nvPr/>
        </p:nvSpPr>
        <p:spPr>
          <a:xfrm>
            <a:off x="822960" y="6327648"/>
            <a:ext cx="10545775" cy="0"/>
          </a:xfrm>
          <a:prstGeom prst="rect">
            <a:avLst/>
          </a:prstGeom>
          <a:noFill/>
          <a:ln/>
        </p:spPr>
        <p:txBody>
          <a:bodyPr wrap="square" lIns="0" tIns="0" rIns="0" bIns="0" rtlCol="0" anchor="ctr"/>
          <a:lstStyle/>
          <a:p>
            <a:pPr indent="0" marL="0">
              <a:buNone/>
            </a:pPr>
            <a:r>
              <a:rPr lang="en-US" sz="10" dirty="0">
                <a:solidFill>
                  <a:srgbClr val="FFFFFF"/>
                </a:solidFill>
                <a:latin typeface="Helvetica Neue" pitchFamily="34" charset="0"/>
                <a:ea typeface="Helvetica Neue" pitchFamily="34" charset="-122"/>
                <a:cs typeface="Helvetica Neue" pitchFamily="34" charset="-120"/>
              </a:rPr>
              <a:t>We run on time. Every block has a clock, and we hold to it — that habit is part of the engineering.</a:t>
            </a:r>
            <a:endParaRPr lang="en-US" sz="10" dirty="0"/>
          </a:p>
        </p:txBody>
      </p:sp>
      <p:sp>
        <p:nvSpPr>
          <p:cNvPr id="36" name="Shape 34"/>
          <p:cNvSpPr/>
          <p:nvPr/>
        </p:nvSpPr>
        <p:spPr>
          <a:xfrm>
            <a:off x="822960" y="6437376"/>
            <a:ext cx="10545775" cy="0"/>
          </a:xfrm>
          <a:prstGeom prst="line">
            <a:avLst/>
          </a:prstGeom>
          <a:noFill/>
          <a:ln w="9525">
            <a:solidFill>
              <a:srgbClr val="E3E3E6"/>
            </a:solidFill>
            <a:prstDash val="solid"/>
          </a:ln>
        </p:spPr>
      </p:sp>
      <p:sp>
        <p:nvSpPr>
          <p:cNvPr id="37" name="Text 3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8" name="Text 3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2 / 16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01</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01</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Welcome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Brief</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0:00 – 0:15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Every meeting we ever hold will begin in exactly this place.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3 / 16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STANDING RITUAL</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Every meeting opens with a safety brief.</a:t>
            </a:r>
            <a:endParaRPr lang="en-US" sz="3000" dirty="0"/>
          </a:p>
        </p:txBody>
      </p:sp>
      <p:sp>
        <p:nvSpPr>
          <p:cNvPr id="4" name="Text 2"/>
          <p:cNvSpPr/>
          <p:nvPr/>
        </p:nvSpPr>
        <p:spPr>
          <a:xfrm>
            <a:off x="822960" y="1783080"/>
            <a:ext cx="4754880" cy="329184"/>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Why we do this</a:t>
            </a:r>
            <a:endParaRPr lang="en-US" sz="1500" dirty="0"/>
          </a:p>
        </p:txBody>
      </p:sp>
      <p:sp>
        <p:nvSpPr>
          <p:cNvPr id="5" name="Text 3"/>
          <p:cNvSpPr/>
          <p:nvPr/>
        </p:nvSpPr>
        <p:spPr>
          <a:xfrm>
            <a:off x="822960" y="2157984"/>
            <a:ext cx="4800600" cy="2377440"/>
          </a:xfrm>
          <a:prstGeom prst="rect">
            <a:avLst/>
          </a:prstGeom>
          <a:noFill/>
          <a:ln/>
        </p:spPr>
        <p:txBody>
          <a:bodyPr wrap="square" lIns="0" tIns="0" rIns="0" bIns="0" rtlCol="0" anchor="ctr"/>
          <a:lstStyle/>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Real engineering and dive teams brief safety before every job — not because something went wrong, but so it never does. We adopt the same habit on day one. Sixty seconds, every meeting, no exceptions.</a:t>
            </a:r>
            <a:endParaRPr lang="en-US" sz="1350" dirty="0"/>
          </a:p>
          <a:p>
            <a:pPr indent="0" marL="0">
              <a:lnSpc>
                <a:spcPts val="2000"/>
              </a:lnSpc>
              <a:buNone/>
            </a:pPr>
            <a:endParaRPr lang="en-US" sz="1350" dirty="0"/>
          </a:p>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Each brief answers the same four questions, so the team always knows what to expect.</a:t>
            </a:r>
            <a:endParaRPr lang="en-US" sz="1350" dirty="0"/>
          </a:p>
        </p:txBody>
      </p:sp>
      <p:sp>
        <p:nvSpPr>
          <p:cNvPr id="6" name="Shape 4"/>
          <p:cNvSpPr/>
          <p:nvPr/>
        </p:nvSpPr>
        <p:spPr>
          <a:xfrm>
            <a:off x="822960" y="4334256"/>
            <a:ext cx="310896" cy="310896"/>
          </a:xfrm>
          <a:prstGeom prst="ellipse">
            <a:avLst/>
          </a:prstGeom>
          <a:solidFill>
            <a:srgbClr val="EAF2F4"/>
          </a:solidFill>
          <a:ln/>
        </p:spPr>
      </p:sp>
      <p:sp>
        <p:nvSpPr>
          <p:cNvPr id="7" name="Text 5"/>
          <p:cNvSpPr/>
          <p:nvPr/>
        </p:nvSpPr>
        <p:spPr>
          <a:xfrm>
            <a:off x="822960" y="4334256"/>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1</a:t>
            </a:r>
            <a:endParaRPr lang="en-US" sz="952" dirty="0"/>
          </a:p>
        </p:txBody>
      </p:sp>
      <p:sp>
        <p:nvSpPr>
          <p:cNvPr id="8" name="Text 6"/>
          <p:cNvSpPr/>
          <p:nvPr/>
        </p:nvSpPr>
        <p:spPr>
          <a:xfrm>
            <a:off x="1280160" y="4297680"/>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are we doing today?</a:t>
            </a:r>
            <a:endParaRPr lang="en-US" sz="1250" dirty="0"/>
          </a:p>
        </p:txBody>
      </p:sp>
      <p:sp>
        <p:nvSpPr>
          <p:cNvPr id="9" name="Shape 7"/>
          <p:cNvSpPr/>
          <p:nvPr/>
        </p:nvSpPr>
        <p:spPr>
          <a:xfrm>
            <a:off x="822960" y="4754880"/>
            <a:ext cx="310896" cy="310896"/>
          </a:xfrm>
          <a:prstGeom prst="ellipse">
            <a:avLst/>
          </a:prstGeom>
          <a:solidFill>
            <a:srgbClr val="EAF2F4"/>
          </a:solidFill>
          <a:ln/>
        </p:spPr>
      </p:sp>
      <p:sp>
        <p:nvSpPr>
          <p:cNvPr id="10" name="Text 8"/>
          <p:cNvSpPr/>
          <p:nvPr/>
        </p:nvSpPr>
        <p:spPr>
          <a:xfrm>
            <a:off x="822960" y="4754880"/>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2</a:t>
            </a:r>
            <a:endParaRPr lang="en-US" sz="952" dirty="0"/>
          </a:p>
        </p:txBody>
      </p:sp>
      <p:sp>
        <p:nvSpPr>
          <p:cNvPr id="11" name="Text 9"/>
          <p:cNvSpPr/>
          <p:nvPr/>
        </p:nvSpPr>
        <p:spPr>
          <a:xfrm>
            <a:off x="1280160" y="4718304"/>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could hurt someone?</a:t>
            </a:r>
            <a:endParaRPr lang="en-US" sz="1250" dirty="0"/>
          </a:p>
        </p:txBody>
      </p:sp>
      <p:sp>
        <p:nvSpPr>
          <p:cNvPr id="12" name="Shape 10"/>
          <p:cNvSpPr/>
          <p:nvPr/>
        </p:nvSpPr>
        <p:spPr>
          <a:xfrm>
            <a:off x="822960" y="5175504"/>
            <a:ext cx="310896" cy="310896"/>
          </a:xfrm>
          <a:prstGeom prst="ellipse">
            <a:avLst/>
          </a:prstGeom>
          <a:solidFill>
            <a:srgbClr val="EAF2F4"/>
          </a:solidFill>
          <a:ln/>
        </p:spPr>
      </p:sp>
      <p:sp>
        <p:nvSpPr>
          <p:cNvPr id="13" name="Text 11"/>
          <p:cNvSpPr/>
          <p:nvPr/>
        </p:nvSpPr>
        <p:spPr>
          <a:xfrm>
            <a:off x="822960" y="5175504"/>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3</a:t>
            </a:r>
            <a:endParaRPr lang="en-US" sz="952" dirty="0"/>
          </a:p>
        </p:txBody>
      </p:sp>
      <p:sp>
        <p:nvSpPr>
          <p:cNvPr id="14" name="Text 12"/>
          <p:cNvSpPr/>
          <p:nvPr/>
        </p:nvSpPr>
        <p:spPr>
          <a:xfrm>
            <a:off x="1280160" y="5138928"/>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How do we prevent it?</a:t>
            </a:r>
            <a:endParaRPr lang="en-US" sz="1250" dirty="0"/>
          </a:p>
        </p:txBody>
      </p:sp>
      <p:sp>
        <p:nvSpPr>
          <p:cNvPr id="15" name="Shape 13"/>
          <p:cNvSpPr/>
          <p:nvPr/>
        </p:nvSpPr>
        <p:spPr>
          <a:xfrm>
            <a:off x="822960" y="5596128"/>
            <a:ext cx="310896" cy="310896"/>
          </a:xfrm>
          <a:prstGeom prst="ellipse">
            <a:avLst/>
          </a:prstGeom>
          <a:solidFill>
            <a:srgbClr val="EAF2F4"/>
          </a:solidFill>
          <a:ln/>
        </p:spPr>
      </p:sp>
      <p:sp>
        <p:nvSpPr>
          <p:cNvPr id="16" name="Text 14"/>
          <p:cNvSpPr/>
          <p:nvPr/>
        </p:nvSpPr>
        <p:spPr>
          <a:xfrm>
            <a:off x="822960" y="5596128"/>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4</a:t>
            </a:r>
            <a:endParaRPr lang="en-US" sz="952" dirty="0"/>
          </a:p>
        </p:txBody>
      </p:sp>
      <p:sp>
        <p:nvSpPr>
          <p:cNvPr id="17" name="Text 15"/>
          <p:cNvSpPr/>
          <p:nvPr/>
        </p:nvSpPr>
        <p:spPr>
          <a:xfrm>
            <a:off x="1280160" y="5559552"/>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Who do we tell if something happens?</a:t>
            </a:r>
            <a:endParaRPr lang="en-US" sz="1250" dirty="0"/>
          </a:p>
        </p:txBody>
      </p:sp>
      <p:sp>
        <p:nvSpPr>
          <p:cNvPr id="18" name="Shape 16"/>
          <p:cNvSpPr/>
          <p:nvPr/>
        </p:nvSpPr>
        <p:spPr>
          <a:xfrm>
            <a:off x="5989320" y="1783080"/>
            <a:ext cx="5376672" cy="4370832"/>
          </a:xfrm>
          <a:prstGeom prst="roundRect">
            <a:avLst>
              <a:gd name="adj" fmla="val 2301"/>
            </a:avLst>
          </a:prstGeom>
          <a:solidFill>
            <a:srgbClr val="EAF2F4"/>
          </a:solidFill>
          <a:ln w="12700">
            <a:solidFill>
              <a:srgbClr val="EAF2F4"/>
            </a:solidFill>
            <a:prstDash val="solid"/>
          </a:ln>
        </p:spPr>
      </p:sp>
      <p:sp>
        <p:nvSpPr>
          <p:cNvPr id="19" name="Shape 17"/>
          <p:cNvSpPr/>
          <p:nvPr/>
        </p:nvSpPr>
        <p:spPr>
          <a:xfrm>
            <a:off x="5989320" y="1783080"/>
            <a:ext cx="5376672" cy="566928"/>
          </a:xfrm>
          <a:prstGeom prst="rect">
            <a:avLst/>
          </a:prstGeom>
          <a:solidFill>
            <a:srgbClr val="0D7490"/>
          </a:solidFill>
          <a:ln/>
        </p:spPr>
      </p:sp>
      <p:sp>
        <p:nvSpPr>
          <p:cNvPr id="20" name="Text 18"/>
          <p:cNvSpPr/>
          <p:nvPr/>
        </p:nvSpPr>
        <p:spPr>
          <a:xfrm>
            <a:off x="5989320" y="1783080"/>
            <a:ext cx="5376672" cy="56692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Helvetica Neue" pitchFamily="34" charset="0"/>
                <a:ea typeface="Helvetica Neue" pitchFamily="34" charset="-122"/>
                <a:cs typeface="Helvetica Neue" pitchFamily="34" charset="-120"/>
              </a:rPr>
              <a:t>TODAY'S BRIEF  ·  CLASS 1.4</a:t>
            </a:r>
            <a:endParaRPr lang="en-US" sz="1200" dirty="0"/>
          </a:p>
        </p:txBody>
      </p:sp>
      <p:sp>
        <p:nvSpPr>
          <p:cNvPr id="21" name="Text 19"/>
          <p:cNvSpPr/>
          <p:nvPr/>
        </p:nvSpPr>
        <p:spPr>
          <a:xfrm>
            <a:off x="6355080" y="257860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WORK</a:t>
            </a:r>
            <a:endParaRPr lang="en-US" sz="1000" dirty="0"/>
          </a:p>
        </p:txBody>
      </p:sp>
      <p:sp>
        <p:nvSpPr>
          <p:cNvPr id="22" name="Text 20"/>
          <p:cNvSpPr/>
          <p:nvPr/>
        </p:nvSpPr>
        <p:spPr>
          <a:xfrm>
            <a:off x="6355080" y="282549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Multimeters and simple circuits — measuring and reading, not yet wiring the robot.</a:t>
            </a:r>
            <a:endParaRPr lang="en-US" sz="1150" dirty="0"/>
          </a:p>
        </p:txBody>
      </p:sp>
      <p:sp>
        <p:nvSpPr>
          <p:cNvPr id="23" name="Text 21"/>
          <p:cNvSpPr/>
          <p:nvPr/>
        </p:nvSpPr>
        <p:spPr>
          <a:xfrm>
            <a:off x="6355080" y="328726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HAZARDS</a:t>
            </a:r>
            <a:endParaRPr lang="en-US" sz="1000" dirty="0"/>
          </a:p>
        </p:txBody>
      </p:sp>
      <p:sp>
        <p:nvSpPr>
          <p:cNvPr id="24" name="Text 22"/>
          <p:cNvSpPr/>
          <p:nvPr/>
        </p:nvSpPr>
        <p:spPr>
          <a:xfrm>
            <a:off x="6355080" y="353415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Low-voltage circuits and batteries; the soldering iron if we tin a lead.</a:t>
            </a:r>
            <a:endParaRPr lang="en-US" sz="1150" dirty="0"/>
          </a:p>
        </p:txBody>
      </p:sp>
      <p:sp>
        <p:nvSpPr>
          <p:cNvPr id="25" name="Text 23"/>
          <p:cNvSpPr/>
          <p:nvPr/>
        </p:nvSpPr>
        <p:spPr>
          <a:xfrm>
            <a:off x="6355080" y="399592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PREVENTION</a:t>
            </a:r>
            <a:endParaRPr lang="en-US" sz="1000" dirty="0"/>
          </a:p>
        </p:txBody>
      </p:sp>
      <p:sp>
        <p:nvSpPr>
          <p:cNvPr id="26" name="Text 24"/>
          <p:cNvSpPr/>
          <p:nvPr/>
        </p:nvSpPr>
        <p:spPr>
          <a:xfrm>
            <a:off x="6355080" y="424281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Set the meter before connecting; never short a battery's terminals; irons in stands if used.</a:t>
            </a:r>
            <a:endParaRPr lang="en-US" sz="1150" dirty="0"/>
          </a:p>
        </p:txBody>
      </p:sp>
      <p:sp>
        <p:nvSpPr>
          <p:cNvPr id="27" name="Text 25"/>
          <p:cNvSpPr/>
          <p:nvPr/>
        </p:nvSpPr>
        <p:spPr>
          <a:xfrm>
            <a:off x="6355080" y="470458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IF SOMETHING HAPPENS</a:t>
            </a:r>
            <a:endParaRPr lang="en-US" sz="1000" dirty="0"/>
          </a:p>
        </p:txBody>
      </p:sp>
      <p:sp>
        <p:nvSpPr>
          <p:cNvPr id="28" name="Text 26"/>
          <p:cNvSpPr/>
          <p:nvPr/>
        </p:nvSpPr>
        <p:spPr>
          <a:xfrm>
            <a:off x="6355080" y="495147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Stop, disconnect the battery, tell the advisor, and log it.</a:t>
            </a:r>
            <a:endParaRPr lang="en-US" sz="1150" dirty="0"/>
          </a:p>
        </p:txBody>
      </p:sp>
      <p:sp>
        <p:nvSpPr>
          <p:cNvPr id="29" name="Text 27"/>
          <p:cNvSpPr/>
          <p:nvPr/>
        </p:nvSpPr>
        <p:spPr>
          <a:xfrm>
            <a:off x="6355080" y="541324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LOOKING AHEAD</a:t>
            </a:r>
            <a:endParaRPr lang="en-US" sz="1000" dirty="0"/>
          </a:p>
        </p:txBody>
      </p:sp>
      <p:sp>
        <p:nvSpPr>
          <p:cNvPr id="30" name="Text 28"/>
          <p:cNvSpPr/>
          <p:nvPr/>
        </p:nvSpPr>
        <p:spPr>
          <a:xfrm>
            <a:off x="6355080" y="566013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Class 1.5 — the control box build begins (the long one).</a:t>
            </a:r>
            <a:endParaRPr lang="en-US" sz="1150" dirty="0"/>
          </a:p>
        </p:txBody>
      </p:sp>
      <p:sp>
        <p:nvSpPr>
          <p:cNvPr id="31" name="Shape 29"/>
          <p:cNvSpPr/>
          <p:nvPr/>
        </p:nvSpPr>
        <p:spPr>
          <a:xfrm>
            <a:off x="822960" y="6437376"/>
            <a:ext cx="10545775" cy="0"/>
          </a:xfrm>
          <a:prstGeom prst="line">
            <a:avLst/>
          </a:prstGeom>
          <a:noFill/>
          <a:ln w="9525">
            <a:solidFill>
              <a:srgbClr val="E3E3E6"/>
            </a:solidFill>
            <a:prstDash val="solid"/>
          </a:ln>
        </p:spPr>
      </p:sp>
      <p:sp>
        <p:nvSpPr>
          <p:cNvPr id="32" name="Text 3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3" name="Text 3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4 / 16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02</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02</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Multimeter</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0:15 – 0:50   ·   35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Before we trust a wire, we learn to read it.</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5 / 16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MULTIMETER</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Your window into the circuit.</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A multimeter measures what your eyes can't: voltage (the push), continuity (is the path complete?), and current (the flow). With it, a kid can prove a wire is good before trusting it on the robot.</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It is also how you find a fault. A dead thruster is usually an open circuit somewhere — a broken joint or a loose screw. The meter walks the path and finds the gap.</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Measure, don't guess. The meter turns 'I think it's wired right' into 'I know it is.'</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OHM'S LAW</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Voltage = Current × Resistance.</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rPr>
              <a:t>V = I × R</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The one equation behind every reading. From the reading: Underwater Robotics, Ch 8 §4.4.</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6 / 16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IT MEASURES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readings. Know what each tells you.</a:t>
            </a:r>
            <a:endParaRPr lang="en-US" sz="3000" dirty="0"/>
          </a:p>
        </p:txBody>
      </p:sp>
      <p:sp>
        <p:nvSpPr>
          <p:cNvPr id="4" name="Shape 2"/>
          <p:cNvSpPr/>
          <p:nvPr/>
        </p:nvSpPr>
        <p:spPr>
          <a:xfrm>
            <a:off x="822960" y="2057400"/>
            <a:ext cx="3310128" cy="3246120"/>
          </a:xfrm>
          <a:prstGeom prst="roundRect">
            <a:avLst>
              <a:gd name="adj" fmla="val 3099"/>
            </a:avLst>
          </a:prstGeom>
          <a:solidFill>
            <a:srgbClr val="FBFBFD"/>
          </a:solidFill>
          <a:ln w="12700">
            <a:solidFill>
              <a:srgbClr val="E3E3E6"/>
            </a:solidFill>
            <a:prstDash val="solid"/>
          </a:ln>
        </p:spPr>
      </p:sp>
      <p:sp>
        <p:nvSpPr>
          <p:cNvPr id="5" name="Text 3"/>
          <p:cNvSpPr/>
          <p:nvPr/>
        </p:nvSpPr>
        <p:spPr>
          <a:xfrm>
            <a:off x="113385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VOLTAGE</a:t>
            </a:r>
            <a:endParaRPr lang="en-US" sz="1050" dirty="0"/>
          </a:p>
        </p:txBody>
      </p:sp>
      <p:sp>
        <p:nvSpPr>
          <p:cNvPr id="6" name="Text 4"/>
          <p:cNvSpPr/>
          <p:nvPr/>
        </p:nvSpPr>
        <p:spPr>
          <a:xfrm>
            <a:off x="113385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The</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push</a:t>
            </a:r>
            <a:endParaRPr lang="en-US" sz="2700" dirty="0"/>
          </a:p>
        </p:txBody>
      </p:sp>
      <p:sp>
        <p:nvSpPr>
          <p:cNvPr id="7" name="Text 5"/>
          <p:cNvSpPr/>
          <p:nvPr/>
        </p:nvSpPr>
        <p:spPr>
          <a:xfrm>
            <a:off x="113385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How hard the electricity is being pushed, across two points. Our system runs at 12 volts.</a:t>
            </a:r>
            <a:endParaRPr lang="en-US" sz="1200" dirty="0"/>
          </a:p>
        </p:txBody>
      </p:sp>
      <p:sp>
        <p:nvSpPr>
          <p:cNvPr id="8" name="Shape 6"/>
          <p:cNvSpPr/>
          <p:nvPr/>
        </p:nvSpPr>
        <p:spPr>
          <a:xfrm>
            <a:off x="4434840" y="2057400"/>
            <a:ext cx="3310128" cy="3246120"/>
          </a:xfrm>
          <a:prstGeom prst="roundRect">
            <a:avLst>
              <a:gd name="adj" fmla="val 3099"/>
            </a:avLst>
          </a:prstGeom>
          <a:solidFill>
            <a:srgbClr val="0D7490"/>
          </a:solidFill>
          <a:ln w="12700">
            <a:solidFill>
              <a:srgbClr val="0D7490"/>
            </a:solidFill>
            <a:prstDash val="solid"/>
          </a:ln>
        </p:spPr>
      </p:sp>
      <p:sp>
        <p:nvSpPr>
          <p:cNvPr id="9" name="Text 7"/>
          <p:cNvSpPr/>
          <p:nvPr/>
        </p:nvSpPr>
        <p:spPr>
          <a:xfrm>
            <a:off x="4745736" y="2386584"/>
            <a:ext cx="2688336"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CONTINUITY</a:t>
            </a:r>
            <a:endParaRPr lang="en-US" sz="1050" dirty="0"/>
          </a:p>
        </p:txBody>
      </p:sp>
      <p:sp>
        <p:nvSpPr>
          <p:cNvPr id="10" name="Text 8"/>
          <p:cNvSpPr/>
          <p:nvPr/>
        </p:nvSpPr>
        <p:spPr>
          <a:xfrm>
            <a:off x="474573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A closed</a:t>
            </a:r>
            <a:endParaRPr lang="en-US" sz="2700" dirty="0"/>
          </a:p>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loop</a:t>
            </a:r>
            <a:endParaRPr lang="en-US" sz="2700" dirty="0"/>
          </a:p>
        </p:txBody>
      </p:sp>
      <p:sp>
        <p:nvSpPr>
          <p:cNvPr id="11" name="Text 9"/>
          <p:cNvSpPr/>
          <p:nvPr/>
        </p:nvSpPr>
        <p:spPr>
          <a:xfrm>
            <a:off x="474573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EAF2F4"/>
                </a:solidFill>
                <a:latin typeface="Helvetica Neue" pitchFamily="34" charset="0"/>
                <a:ea typeface="Helvetica Neue" pitchFamily="34" charset="-122"/>
                <a:cs typeface="Helvetica Neue" pitchFamily="34" charset="-120"/>
              </a:rPr>
              <a:t>Is the path complete? A beep means the circuit is closed. No beep means an open — a break to find.</a:t>
            </a:r>
            <a:endParaRPr lang="en-US" sz="1200" dirty="0"/>
          </a:p>
        </p:txBody>
      </p:sp>
      <p:sp>
        <p:nvSpPr>
          <p:cNvPr id="12" name="Shape 10"/>
          <p:cNvSpPr/>
          <p:nvPr/>
        </p:nvSpPr>
        <p:spPr>
          <a:xfrm>
            <a:off x="8046720" y="2057400"/>
            <a:ext cx="3310128" cy="3246120"/>
          </a:xfrm>
          <a:prstGeom prst="roundRect">
            <a:avLst>
              <a:gd name="adj" fmla="val 3099"/>
            </a:avLst>
          </a:prstGeom>
          <a:solidFill>
            <a:srgbClr val="FBFBFD"/>
          </a:solidFill>
          <a:ln w="12700">
            <a:solidFill>
              <a:srgbClr val="E3E3E6"/>
            </a:solidFill>
            <a:prstDash val="solid"/>
          </a:ln>
        </p:spPr>
      </p:sp>
      <p:sp>
        <p:nvSpPr>
          <p:cNvPr id="13" name="Text 11"/>
          <p:cNvSpPr/>
          <p:nvPr/>
        </p:nvSpPr>
        <p:spPr>
          <a:xfrm>
            <a:off x="835761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CURRENT</a:t>
            </a:r>
            <a:endParaRPr lang="en-US" sz="1050" dirty="0"/>
          </a:p>
        </p:txBody>
      </p:sp>
      <p:sp>
        <p:nvSpPr>
          <p:cNvPr id="14" name="Text 12"/>
          <p:cNvSpPr/>
          <p:nvPr/>
        </p:nvSpPr>
        <p:spPr>
          <a:xfrm>
            <a:off x="835761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The</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flow</a:t>
            </a:r>
            <a:endParaRPr lang="en-US" sz="2700" dirty="0"/>
          </a:p>
        </p:txBody>
      </p:sp>
      <p:sp>
        <p:nvSpPr>
          <p:cNvPr id="15" name="Text 13"/>
          <p:cNvSpPr/>
          <p:nvPr/>
        </p:nvSpPr>
        <p:spPr>
          <a:xfrm>
            <a:off x="835761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How much is flowing, in amps. Too much means a short or overload — the reason we fuse the circuit.</a:t>
            </a:r>
            <a:endParaRPr lang="en-US" sz="1200" dirty="0"/>
          </a:p>
        </p:txBody>
      </p:sp>
      <p:sp>
        <p:nvSpPr>
          <p:cNvPr id="16" name="Text 14"/>
          <p:cNvSpPr/>
          <p:nvPr/>
        </p:nvSpPr>
        <p:spPr>
          <a:xfrm>
            <a:off x="822960" y="5577840"/>
            <a:ext cx="10515600" cy="457200"/>
          </a:xfrm>
          <a:prstGeom prst="rect">
            <a:avLst/>
          </a:prstGeom>
          <a:noFill/>
          <a:ln/>
        </p:spPr>
        <p:txBody>
          <a:bodyPr wrap="square" lIns="0" tIns="0" rIns="0" bIns="0" rtlCol="0" anchor="ctr"/>
          <a:lstStyle/>
          <a:p>
            <a:pPr algn="ctr" indent="0" marL="0">
              <a:buNone/>
            </a:pPr>
            <a:r>
              <a:rPr lang="en-US" sz="1400" b="1" dirty="0">
                <a:solidFill>
                  <a:srgbClr val="1D1D1F"/>
                </a:solidFill>
                <a:latin typeface="Helvetica Neue" pitchFamily="34" charset="0"/>
                <a:ea typeface="Helvetica Neue" pitchFamily="34" charset="-122"/>
                <a:cs typeface="Helvetica Neue" pitchFamily="34" charset="-120"/>
              </a:rPr>
              <a:t>Voltage, continuity, current — the three questions the meter answers.</a:t>
            </a:r>
            <a:endParaRPr lang="en-US" sz="1400" dirty="0"/>
          </a:p>
        </p:txBody>
      </p:sp>
      <p:sp>
        <p:nvSpPr>
          <p:cNvPr id="17" name="Shape 15"/>
          <p:cNvSpPr/>
          <p:nvPr/>
        </p:nvSpPr>
        <p:spPr>
          <a:xfrm>
            <a:off x="822960" y="6437376"/>
            <a:ext cx="10545775" cy="0"/>
          </a:xfrm>
          <a:prstGeom prst="line">
            <a:avLst/>
          </a:prstGeom>
          <a:noFill/>
          <a:ln w="9525">
            <a:solidFill>
              <a:srgbClr val="E3E3E6"/>
            </a:solidFill>
            <a:prstDash val="solid"/>
          </a:ln>
        </p:spPr>
      </p:sp>
      <p:sp>
        <p:nvSpPr>
          <p:cNvPr id="18" name="Text 16"/>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9" name="Text 17"/>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7 / 16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03</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03</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Switches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Circuits</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0:50 – 1:40   ·   50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A switch, a battery, a light — the whole idea of a circuit in your hands.</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8 / 16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A COMPETITION DIVIDEND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Keep the symbols sheet. Forever.</a:t>
            </a:r>
            <a:endParaRPr lang="en-US" sz="3000" dirty="0"/>
          </a:p>
        </p:txBody>
      </p:sp>
      <p:sp>
        <p:nvSpPr>
          <p:cNvPr id="4" name="Shape 2"/>
          <p:cNvSpPr/>
          <p:nvPr/>
        </p:nvSpPr>
        <p:spPr>
          <a:xfrm>
            <a:off x="822960" y="1874520"/>
            <a:ext cx="10545775" cy="1417320"/>
          </a:xfrm>
          <a:prstGeom prst="roundRect">
            <a:avLst>
              <a:gd name="adj" fmla="val 7097"/>
            </a:avLst>
          </a:prstGeom>
          <a:solidFill>
            <a:srgbClr val="095D75"/>
          </a:solidFill>
          <a:ln w="12700">
            <a:solidFill>
              <a:srgbClr val="095D75"/>
            </a:solidFill>
            <a:prstDash val="solid"/>
          </a:ln>
        </p:spPr>
      </p:sp>
      <p:sp>
        <p:nvSpPr>
          <p:cNvPr id="5" name="Text 3"/>
          <p:cNvSpPr/>
          <p:nvPr/>
        </p:nvSpPr>
        <p:spPr>
          <a:xfrm>
            <a:off x="1234440" y="1874520"/>
            <a:ext cx="9692640" cy="141732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The Electrical Symbols handout uses the same standard your competition SID will be graded against. The sheet you learn on today is the sheet you draw from in April.</a:t>
            </a:r>
            <a:endParaRPr lang="en-US" sz="2100" dirty="0"/>
          </a:p>
        </p:txBody>
      </p:sp>
      <p:sp>
        <p:nvSpPr>
          <p:cNvPr id="6" name="Text 4"/>
          <p:cNvSpPr/>
          <p:nvPr/>
        </p:nvSpPr>
        <p:spPr>
          <a:xfrm>
            <a:off x="822960" y="3520440"/>
            <a:ext cx="10545775" cy="7772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MATE's Electrical Symbols handout is free and small, but it is one of the highest-leverage pages of the season. Print it, three-hole punch it, and keep it in the notebook all year.</a:t>
            </a:r>
            <a:endParaRPr lang="en-US" sz="1400" dirty="0"/>
          </a:p>
        </p:txBody>
      </p:sp>
      <p:sp>
        <p:nvSpPr>
          <p:cNvPr id="7" name="Shape 5"/>
          <p:cNvSpPr/>
          <p:nvPr/>
        </p:nvSpPr>
        <p:spPr>
          <a:xfrm>
            <a:off x="822960" y="4434840"/>
            <a:ext cx="3310128" cy="1600200"/>
          </a:xfrm>
          <a:prstGeom prst="roundRect">
            <a:avLst>
              <a:gd name="adj" fmla="val 6286"/>
            </a:avLst>
          </a:prstGeom>
          <a:solidFill>
            <a:srgbClr val="FBFBFD"/>
          </a:solidFill>
          <a:ln w="12700">
            <a:solidFill>
              <a:srgbClr val="E3E3E6"/>
            </a:solidFill>
            <a:prstDash val="solid"/>
          </a:ln>
        </p:spPr>
      </p:sp>
      <p:sp>
        <p:nvSpPr>
          <p:cNvPr id="8" name="Text 6"/>
          <p:cNvSpPr/>
          <p:nvPr/>
        </p:nvSpPr>
        <p:spPr>
          <a:xfrm>
            <a:off x="109728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The handout</a:t>
            </a:r>
            <a:endParaRPr lang="en-US" sz="1400" dirty="0"/>
          </a:p>
        </p:txBody>
      </p:sp>
      <p:sp>
        <p:nvSpPr>
          <p:cNvPr id="9" name="Text 7"/>
          <p:cNvSpPr/>
          <p:nvPr/>
        </p:nvSpPr>
        <p:spPr>
          <a:xfrm>
            <a:off x="109728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MATE's one-page key to every schematic symbol. Free to print.</a:t>
            </a:r>
            <a:endParaRPr lang="en-US" sz="1150" dirty="0"/>
          </a:p>
        </p:txBody>
      </p:sp>
      <p:sp>
        <p:nvSpPr>
          <p:cNvPr id="10" name="Shape 8"/>
          <p:cNvSpPr/>
          <p:nvPr/>
        </p:nvSpPr>
        <p:spPr>
          <a:xfrm>
            <a:off x="4434840" y="4434840"/>
            <a:ext cx="3310128" cy="1600200"/>
          </a:xfrm>
          <a:prstGeom prst="roundRect">
            <a:avLst>
              <a:gd name="adj" fmla="val 6286"/>
            </a:avLst>
          </a:prstGeom>
          <a:solidFill>
            <a:srgbClr val="FBFBFD"/>
          </a:solidFill>
          <a:ln w="12700">
            <a:solidFill>
              <a:srgbClr val="E3E3E6"/>
            </a:solidFill>
            <a:prstDash val="solid"/>
          </a:ln>
        </p:spPr>
      </p:sp>
      <p:sp>
        <p:nvSpPr>
          <p:cNvPr id="11" name="Text 9"/>
          <p:cNvSpPr/>
          <p:nvPr/>
        </p:nvSpPr>
        <p:spPr>
          <a:xfrm>
            <a:off x="470916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The SID</a:t>
            </a:r>
            <a:endParaRPr lang="en-US" sz="1400" dirty="0"/>
          </a:p>
        </p:txBody>
      </p:sp>
      <p:sp>
        <p:nvSpPr>
          <p:cNvPr id="12" name="Text 10"/>
          <p:cNvSpPr/>
          <p:nvPr/>
        </p:nvSpPr>
        <p:spPr>
          <a:xfrm>
            <a:off x="470916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Your System Integration Diagram — a required, scored competition document drawn in these exact symbols.</a:t>
            </a:r>
            <a:endParaRPr lang="en-US" sz="1150" dirty="0"/>
          </a:p>
        </p:txBody>
      </p:sp>
      <p:sp>
        <p:nvSpPr>
          <p:cNvPr id="13" name="Shape 11"/>
          <p:cNvSpPr/>
          <p:nvPr/>
        </p:nvSpPr>
        <p:spPr>
          <a:xfrm>
            <a:off x="8046720" y="4434840"/>
            <a:ext cx="3310128" cy="1600200"/>
          </a:xfrm>
          <a:prstGeom prst="roundRect">
            <a:avLst>
              <a:gd name="adj" fmla="val 6286"/>
            </a:avLst>
          </a:prstGeom>
          <a:solidFill>
            <a:srgbClr val="FBFBFD"/>
          </a:solidFill>
          <a:ln w="12700">
            <a:solidFill>
              <a:srgbClr val="E3E3E6"/>
            </a:solidFill>
            <a:prstDash val="solid"/>
          </a:ln>
        </p:spPr>
      </p:sp>
      <p:sp>
        <p:nvSpPr>
          <p:cNvPr id="14" name="Text 12"/>
          <p:cNvSpPr/>
          <p:nvPr/>
        </p:nvSpPr>
        <p:spPr>
          <a:xfrm>
            <a:off x="832104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Keep it forever</a:t>
            </a:r>
            <a:endParaRPr lang="en-US" sz="1400" dirty="0"/>
          </a:p>
        </p:txBody>
      </p:sp>
      <p:sp>
        <p:nvSpPr>
          <p:cNvPr id="15" name="Text 13"/>
          <p:cNvSpPr/>
          <p:nvPr/>
        </p:nvSpPr>
        <p:spPr>
          <a:xfrm>
            <a:off x="832104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The standard doesn't change. Today's reference becomes April's grading rubric.</a:t>
            </a:r>
            <a:endParaRPr lang="en-US" sz="1150" dirty="0"/>
          </a:p>
        </p:txBody>
      </p:sp>
      <p:sp>
        <p:nvSpPr>
          <p:cNvPr id="16" name="Shape 14"/>
          <p:cNvSpPr/>
          <p:nvPr/>
        </p:nvSpPr>
        <p:spPr>
          <a:xfrm>
            <a:off x="822960" y="6437376"/>
            <a:ext cx="10545775" cy="0"/>
          </a:xfrm>
          <a:prstGeom prst="line">
            <a:avLst/>
          </a:prstGeom>
          <a:noFill/>
          <a:ln w="9525">
            <a:solidFill>
              <a:srgbClr val="E3E3E6"/>
            </a:solidFill>
            <a:prstDash val="solid"/>
          </a:ln>
        </p:spPr>
      </p:sp>
      <p:sp>
        <p:nvSpPr>
          <p:cNvPr id="17" name="Text 1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8" name="Text 1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12 / 16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LANGUAGE OF CIRCUITS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Six symbols you'll see all season.</a:t>
            </a:r>
            <a:endParaRPr lang="en-US" sz="3000" dirty="0"/>
          </a:p>
        </p:txBody>
      </p:sp>
      <p:sp>
        <p:nvSpPr>
          <p:cNvPr id="4" name="Shape 2"/>
          <p:cNvSpPr/>
          <p:nvPr/>
        </p:nvSpPr>
        <p:spPr>
          <a:xfrm>
            <a:off x="822960" y="1755648"/>
            <a:ext cx="3310128" cy="2121408"/>
          </a:xfrm>
          <a:prstGeom prst="roundRect">
            <a:avLst>
              <a:gd name="adj" fmla="val 4741"/>
            </a:avLst>
          </a:prstGeom>
          <a:solidFill>
            <a:srgbClr val="FBFBFD"/>
          </a:solidFill>
          <a:ln w="12700">
            <a:solidFill>
              <a:srgbClr val="E3E3E6"/>
            </a:solidFill>
            <a:prstDash val="solid"/>
          </a:ln>
        </p:spPr>
      </p:sp>
      <p:sp>
        <p:nvSpPr>
          <p:cNvPr id="5" name="Shape 3"/>
          <p:cNvSpPr/>
          <p:nvPr/>
        </p:nvSpPr>
        <p:spPr>
          <a:xfrm>
            <a:off x="1097280" y="2029968"/>
            <a:ext cx="402336" cy="402336"/>
          </a:xfrm>
          <a:prstGeom prst="ellipse">
            <a:avLst/>
          </a:prstGeom>
          <a:solidFill>
            <a:srgbClr val="0D7490"/>
          </a:solidFill>
          <a:ln/>
        </p:spPr>
      </p:sp>
      <p:sp>
        <p:nvSpPr>
          <p:cNvPr id="6" name="Text 4"/>
          <p:cNvSpPr/>
          <p:nvPr/>
        </p:nvSpPr>
        <p:spPr>
          <a:xfrm>
            <a:off x="109728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1</a:t>
            </a:r>
            <a:endParaRPr lang="en-US" sz="1232" dirty="0"/>
          </a:p>
        </p:txBody>
      </p:sp>
      <p:sp>
        <p:nvSpPr>
          <p:cNvPr id="7" name="Text 5"/>
          <p:cNvSpPr/>
          <p:nvPr/>
        </p:nvSpPr>
        <p:spPr>
          <a:xfrm>
            <a:off x="162763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Wire</a:t>
            </a:r>
            <a:endParaRPr lang="en-US" sz="1550" dirty="0"/>
          </a:p>
        </p:txBody>
      </p:sp>
      <p:sp>
        <p:nvSpPr>
          <p:cNvPr id="8" name="Text 6"/>
          <p:cNvSpPr/>
          <p:nvPr/>
        </p:nvSpPr>
        <p:spPr>
          <a:xfrm>
            <a:off x="109728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A CONDUCTOR</a:t>
            </a:r>
            <a:endParaRPr lang="en-US" sz="900" dirty="0"/>
          </a:p>
        </p:txBody>
      </p:sp>
      <p:sp>
        <p:nvSpPr>
          <p:cNvPr id="9" name="Text 7"/>
          <p:cNvSpPr/>
          <p:nvPr/>
        </p:nvSpPr>
        <p:spPr>
          <a:xfrm>
            <a:off x="109728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A straight line carries current. A dot where wires connect; a hop where they cross without touching.</a:t>
            </a:r>
            <a:endParaRPr lang="en-US" sz="1100" dirty="0"/>
          </a:p>
        </p:txBody>
      </p:sp>
      <p:sp>
        <p:nvSpPr>
          <p:cNvPr id="10" name="Shape 8"/>
          <p:cNvSpPr/>
          <p:nvPr/>
        </p:nvSpPr>
        <p:spPr>
          <a:xfrm>
            <a:off x="4434840" y="1755648"/>
            <a:ext cx="3310128" cy="2121408"/>
          </a:xfrm>
          <a:prstGeom prst="roundRect">
            <a:avLst>
              <a:gd name="adj" fmla="val 4741"/>
            </a:avLst>
          </a:prstGeom>
          <a:solidFill>
            <a:srgbClr val="FBFBFD"/>
          </a:solidFill>
          <a:ln w="12700">
            <a:solidFill>
              <a:srgbClr val="E3E3E6"/>
            </a:solidFill>
            <a:prstDash val="solid"/>
          </a:ln>
        </p:spPr>
      </p:sp>
      <p:sp>
        <p:nvSpPr>
          <p:cNvPr id="11" name="Shape 9"/>
          <p:cNvSpPr/>
          <p:nvPr/>
        </p:nvSpPr>
        <p:spPr>
          <a:xfrm>
            <a:off x="4709160" y="2029968"/>
            <a:ext cx="402336" cy="402336"/>
          </a:xfrm>
          <a:prstGeom prst="ellipse">
            <a:avLst/>
          </a:prstGeom>
          <a:solidFill>
            <a:srgbClr val="0D7490"/>
          </a:solidFill>
          <a:ln/>
        </p:spPr>
      </p:sp>
      <p:sp>
        <p:nvSpPr>
          <p:cNvPr id="12" name="Text 10"/>
          <p:cNvSpPr/>
          <p:nvPr/>
        </p:nvSpPr>
        <p:spPr>
          <a:xfrm>
            <a:off x="470916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2</a:t>
            </a:r>
            <a:endParaRPr lang="en-US" sz="1232" dirty="0"/>
          </a:p>
        </p:txBody>
      </p:sp>
      <p:sp>
        <p:nvSpPr>
          <p:cNvPr id="13" name="Text 11"/>
          <p:cNvSpPr/>
          <p:nvPr/>
        </p:nvSpPr>
        <p:spPr>
          <a:xfrm>
            <a:off x="523951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Battery</a:t>
            </a:r>
            <a:endParaRPr lang="en-US" sz="1550" dirty="0"/>
          </a:p>
        </p:txBody>
      </p:sp>
      <p:sp>
        <p:nvSpPr>
          <p:cNvPr id="14" name="Text 12"/>
          <p:cNvSpPr/>
          <p:nvPr/>
        </p:nvSpPr>
        <p:spPr>
          <a:xfrm>
            <a:off x="470916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THE SOURCE</a:t>
            </a:r>
            <a:endParaRPr lang="en-US" sz="900" dirty="0"/>
          </a:p>
        </p:txBody>
      </p:sp>
      <p:sp>
        <p:nvSpPr>
          <p:cNvPr id="15" name="Text 13"/>
          <p:cNvSpPr/>
          <p:nvPr/>
        </p:nvSpPr>
        <p:spPr>
          <a:xfrm>
            <a:off x="470916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Long line positive, short line negative. The push that drives the circuit.</a:t>
            </a:r>
            <a:endParaRPr lang="en-US" sz="1100" dirty="0"/>
          </a:p>
        </p:txBody>
      </p:sp>
      <p:sp>
        <p:nvSpPr>
          <p:cNvPr id="16" name="Shape 14"/>
          <p:cNvSpPr/>
          <p:nvPr/>
        </p:nvSpPr>
        <p:spPr>
          <a:xfrm>
            <a:off x="8046720" y="1755648"/>
            <a:ext cx="3310128" cy="2121408"/>
          </a:xfrm>
          <a:prstGeom prst="roundRect">
            <a:avLst>
              <a:gd name="adj" fmla="val 4741"/>
            </a:avLst>
          </a:prstGeom>
          <a:solidFill>
            <a:srgbClr val="FBFBFD"/>
          </a:solidFill>
          <a:ln w="12700">
            <a:solidFill>
              <a:srgbClr val="E3E3E6"/>
            </a:solidFill>
            <a:prstDash val="solid"/>
          </a:ln>
        </p:spPr>
      </p:sp>
      <p:sp>
        <p:nvSpPr>
          <p:cNvPr id="17" name="Shape 15"/>
          <p:cNvSpPr/>
          <p:nvPr/>
        </p:nvSpPr>
        <p:spPr>
          <a:xfrm>
            <a:off x="8321040" y="2029968"/>
            <a:ext cx="402336" cy="402336"/>
          </a:xfrm>
          <a:prstGeom prst="ellipse">
            <a:avLst/>
          </a:prstGeom>
          <a:solidFill>
            <a:srgbClr val="0D7490"/>
          </a:solidFill>
          <a:ln/>
        </p:spPr>
      </p:sp>
      <p:sp>
        <p:nvSpPr>
          <p:cNvPr id="18" name="Text 16"/>
          <p:cNvSpPr/>
          <p:nvPr/>
        </p:nvSpPr>
        <p:spPr>
          <a:xfrm>
            <a:off x="832104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3</a:t>
            </a:r>
            <a:endParaRPr lang="en-US" sz="1232" dirty="0"/>
          </a:p>
        </p:txBody>
      </p:sp>
      <p:sp>
        <p:nvSpPr>
          <p:cNvPr id="19" name="Text 17"/>
          <p:cNvSpPr/>
          <p:nvPr/>
        </p:nvSpPr>
        <p:spPr>
          <a:xfrm>
            <a:off x="885139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Switch</a:t>
            </a:r>
            <a:endParaRPr lang="en-US" sz="1550" dirty="0"/>
          </a:p>
        </p:txBody>
      </p:sp>
      <p:sp>
        <p:nvSpPr>
          <p:cNvPr id="20" name="Text 18"/>
          <p:cNvSpPr/>
          <p:nvPr/>
        </p:nvSpPr>
        <p:spPr>
          <a:xfrm>
            <a:off x="832104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THE GATE</a:t>
            </a:r>
            <a:endParaRPr lang="en-US" sz="900" dirty="0"/>
          </a:p>
        </p:txBody>
      </p:sp>
      <p:sp>
        <p:nvSpPr>
          <p:cNvPr id="21" name="Text 19"/>
          <p:cNvSpPr/>
          <p:nvPr/>
        </p:nvSpPr>
        <p:spPr>
          <a:xfrm>
            <a:off x="832104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Opens and closes the path. SPST, SPDT, DPDT — the kinds you'll wire in the control box.</a:t>
            </a:r>
            <a:endParaRPr lang="en-US" sz="1100" dirty="0"/>
          </a:p>
        </p:txBody>
      </p:sp>
      <p:sp>
        <p:nvSpPr>
          <p:cNvPr id="22" name="Shape 20"/>
          <p:cNvSpPr/>
          <p:nvPr/>
        </p:nvSpPr>
        <p:spPr>
          <a:xfrm>
            <a:off x="822960" y="4123944"/>
            <a:ext cx="3310128" cy="2121408"/>
          </a:xfrm>
          <a:prstGeom prst="roundRect">
            <a:avLst>
              <a:gd name="adj" fmla="val 4741"/>
            </a:avLst>
          </a:prstGeom>
          <a:solidFill>
            <a:srgbClr val="FBFBFD"/>
          </a:solidFill>
          <a:ln w="12700">
            <a:solidFill>
              <a:srgbClr val="E3E3E6"/>
            </a:solidFill>
            <a:prstDash val="solid"/>
          </a:ln>
        </p:spPr>
      </p:sp>
      <p:sp>
        <p:nvSpPr>
          <p:cNvPr id="23" name="Shape 21"/>
          <p:cNvSpPr/>
          <p:nvPr/>
        </p:nvSpPr>
        <p:spPr>
          <a:xfrm>
            <a:off x="1097280" y="4398264"/>
            <a:ext cx="402336" cy="402336"/>
          </a:xfrm>
          <a:prstGeom prst="ellipse">
            <a:avLst/>
          </a:prstGeom>
          <a:solidFill>
            <a:srgbClr val="0D7490"/>
          </a:solidFill>
          <a:ln/>
        </p:spPr>
      </p:sp>
      <p:sp>
        <p:nvSpPr>
          <p:cNvPr id="24" name="Text 22"/>
          <p:cNvSpPr/>
          <p:nvPr/>
        </p:nvSpPr>
        <p:spPr>
          <a:xfrm>
            <a:off x="109728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4</a:t>
            </a:r>
            <a:endParaRPr lang="en-US" sz="1232" dirty="0"/>
          </a:p>
        </p:txBody>
      </p:sp>
      <p:sp>
        <p:nvSpPr>
          <p:cNvPr id="25" name="Text 23"/>
          <p:cNvSpPr/>
          <p:nvPr/>
        </p:nvSpPr>
        <p:spPr>
          <a:xfrm>
            <a:off x="162763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Resistor</a:t>
            </a:r>
            <a:endParaRPr lang="en-US" sz="1550" dirty="0"/>
          </a:p>
        </p:txBody>
      </p:sp>
      <p:sp>
        <p:nvSpPr>
          <p:cNvPr id="26" name="Text 24"/>
          <p:cNvSpPr/>
          <p:nvPr/>
        </p:nvSpPr>
        <p:spPr>
          <a:xfrm>
            <a:off x="109728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LIMITS FLOW</a:t>
            </a:r>
            <a:endParaRPr lang="en-US" sz="900" dirty="0"/>
          </a:p>
        </p:txBody>
      </p:sp>
      <p:sp>
        <p:nvSpPr>
          <p:cNvPr id="27" name="Text 25"/>
          <p:cNvSpPr/>
          <p:nvPr/>
        </p:nvSpPr>
        <p:spPr>
          <a:xfrm>
            <a:off x="109728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A zigzag. Slows the current so a component gets just what it needs.</a:t>
            </a:r>
            <a:endParaRPr lang="en-US" sz="1100" dirty="0"/>
          </a:p>
        </p:txBody>
      </p:sp>
      <p:sp>
        <p:nvSpPr>
          <p:cNvPr id="28" name="Shape 26"/>
          <p:cNvSpPr/>
          <p:nvPr/>
        </p:nvSpPr>
        <p:spPr>
          <a:xfrm>
            <a:off x="4434840" y="4123944"/>
            <a:ext cx="3310128" cy="2121408"/>
          </a:xfrm>
          <a:prstGeom prst="roundRect">
            <a:avLst>
              <a:gd name="adj" fmla="val 4741"/>
            </a:avLst>
          </a:prstGeom>
          <a:solidFill>
            <a:srgbClr val="FBFBFD"/>
          </a:solidFill>
          <a:ln w="12700">
            <a:solidFill>
              <a:srgbClr val="E3E3E6"/>
            </a:solidFill>
            <a:prstDash val="solid"/>
          </a:ln>
        </p:spPr>
      </p:sp>
      <p:sp>
        <p:nvSpPr>
          <p:cNvPr id="29" name="Shape 27"/>
          <p:cNvSpPr/>
          <p:nvPr/>
        </p:nvSpPr>
        <p:spPr>
          <a:xfrm>
            <a:off x="4709160" y="4398264"/>
            <a:ext cx="402336" cy="402336"/>
          </a:xfrm>
          <a:prstGeom prst="ellipse">
            <a:avLst/>
          </a:prstGeom>
          <a:solidFill>
            <a:srgbClr val="0D7490"/>
          </a:solidFill>
          <a:ln/>
        </p:spPr>
      </p:sp>
      <p:sp>
        <p:nvSpPr>
          <p:cNvPr id="30" name="Text 28"/>
          <p:cNvSpPr/>
          <p:nvPr/>
        </p:nvSpPr>
        <p:spPr>
          <a:xfrm>
            <a:off x="470916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5</a:t>
            </a:r>
            <a:endParaRPr lang="en-US" sz="1232" dirty="0"/>
          </a:p>
        </p:txBody>
      </p:sp>
      <p:sp>
        <p:nvSpPr>
          <p:cNvPr id="31" name="Text 29"/>
          <p:cNvSpPr/>
          <p:nvPr/>
        </p:nvSpPr>
        <p:spPr>
          <a:xfrm>
            <a:off x="523951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LED</a:t>
            </a:r>
            <a:endParaRPr lang="en-US" sz="1550" dirty="0"/>
          </a:p>
        </p:txBody>
      </p:sp>
      <p:sp>
        <p:nvSpPr>
          <p:cNvPr id="32" name="Text 30"/>
          <p:cNvSpPr/>
          <p:nvPr/>
        </p:nvSpPr>
        <p:spPr>
          <a:xfrm>
            <a:off x="470916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A LIGHT</a:t>
            </a:r>
            <a:endParaRPr lang="en-US" sz="900" dirty="0"/>
          </a:p>
        </p:txBody>
      </p:sp>
      <p:sp>
        <p:nvSpPr>
          <p:cNvPr id="33" name="Text 31"/>
          <p:cNvSpPr/>
          <p:nvPr/>
        </p:nvSpPr>
        <p:spPr>
          <a:xfrm>
            <a:off x="470916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A diode that lights up — and only works one way around. Polarity matters.</a:t>
            </a:r>
            <a:endParaRPr lang="en-US" sz="1100" dirty="0"/>
          </a:p>
        </p:txBody>
      </p:sp>
      <p:sp>
        <p:nvSpPr>
          <p:cNvPr id="34" name="Shape 32"/>
          <p:cNvSpPr/>
          <p:nvPr/>
        </p:nvSpPr>
        <p:spPr>
          <a:xfrm>
            <a:off x="8046720" y="4123944"/>
            <a:ext cx="3310128" cy="2121408"/>
          </a:xfrm>
          <a:prstGeom prst="roundRect">
            <a:avLst>
              <a:gd name="adj" fmla="val 4741"/>
            </a:avLst>
          </a:prstGeom>
          <a:solidFill>
            <a:srgbClr val="FBFBFD"/>
          </a:solidFill>
          <a:ln w="12700">
            <a:solidFill>
              <a:srgbClr val="E3E3E6"/>
            </a:solidFill>
            <a:prstDash val="solid"/>
          </a:ln>
        </p:spPr>
      </p:sp>
      <p:sp>
        <p:nvSpPr>
          <p:cNvPr id="35" name="Shape 33"/>
          <p:cNvSpPr/>
          <p:nvPr/>
        </p:nvSpPr>
        <p:spPr>
          <a:xfrm>
            <a:off x="8321040" y="4398264"/>
            <a:ext cx="402336" cy="402336"/>
          </a:xfrm>
          <a:prstGeom prst="ellipse">
            <a:avLst/>
          </a:prstGeom>
          <a:solidFill>
            <a:srgbClr val="0D7490"/>
          </a:solidFill>
          <a:ln/>
        </p:spPr>
      </p:sp>
      <p:sp>
        <p:nvSpPr>
          <p:cNvPr id="36" name="Text 34"/>
          <p:cNvSpPr/>
          <p:nvPr/>
        </p:nvSpPr>
        <p:spPr>
          <a:xfrm>
            <a:off x="832104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6</a:t>
            </a:r>
            <a:endParaRPr lang="en-US" sz="1232" dirty="0"/>
          </a:p>
        </p:txBody>
      </p:sp>
      <p:sp>
        <p:nvSpPr>
          <p:cNvPr id="37" name="Text 35"/>
          <p:cNvSpPr/>
          <p:nvPr/>
        </p:nvSpPr>
        <p:spPr>
          <a:xfrm>
            <a:off x="885139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Fuse</a:t>
            </a:r>
            <a:endParaRPr lang="en-US" sz="1550" dirty="0"/>
          </a:p>
        </p:txBody>
      </p:sp>
      <p:sp>
        <p:nvSpPr>
          <p:cNvPr id="38" name="Text 36"/>
          <p:cNvSpPr/>
          <p:nvPr/>
        </p:nvSpPr>
        <p:spPr>
          <a:xfrm>
            <a:off x="832104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THE SAFETY</a:t>
            </a:r>
            <a:endParaRPr lang="en-US" sz="900" dirty="0"/>
          </a:p>
        </p:txBody>
      </p:sp>
      <p:sp>
        <p:nvSpPr>
          <p:cNvPr id="39" name="Text 37"/>
          <p:cNvSpPr/>
          <p:nvPr/>
        </p:nvSpPr>
        <p:spPr>
          <a:xfrm>
            <a:off x="832104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Breaks the circuit if current gets too high. Sized to the full-load amps.</a:t>
            </a:r>
            <a:endParaRPr lang="en-US" sz="1100" dirty="0"/>
          </a:p>
        </p:txBody>
      </p:sp>
      <p:sp>
        <p:nvSpPr>
          <p:cNvPr id="40" name="Shape 38"/>
          <p:cNvSpPr/>
          <p:nvPr/>
        </p:nvSpPr>
        <p:spPr>
          <a:xfrm>
            <a:off x="822960" y="6437376"/>
            <a:ext cx="10545775" cy="0"/>
          </a:xfrm>
          <a:prstGeom prst="line">
            <a:avLst/>
          </a:prstGeom>
          <a:noFill/>
          <a:ln w="9525">
            <a:solidFill>
              <a:srgbClr val="E3E3E6"/>
            </a:solidFill>
            <a:prstDash val="solid"/>
          </a:ln>
        </p:spPr>
      </p:sp>
      <p:sp>
        <p:nvSpPr>
          <p:cNvPr id="41" name="Text 3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2" name="Text 4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10 / 16</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HANDS ON</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Build a circuit that works.</a:t>
            </a:r>
            <a:endParaRPr lang="en-US" sz="3000" dirty="0"/>
          </a:p>
        </p:txBody>
      </p:sp>
      <p:sp>
        <p:nvSpPr>
          <p:cNvPr id="4" name="Shape 2"/>
          <p:cNvSpPr/>
          <p:nvPr/>
        </p:nvSpPr>
        <p:spPr>
          <a:xfrm>
            <a:off x="822960" y="1865376"/>
            <a:ext cx="457200" cy="457200"/>
          </a:xfrm>
          <a:prstGeom prst="ellipse">
            <a:avLst/>
          </a:prstGeom>
          <a:solidFill>
            <a:srgbClr val="0D7490"/>
          </a:solidFill>
          <a:ln/>
        </p:spPr>
      </p:sp>
      <p:sp>
        <p:nvSpPr>
          <p:cNvPr id="5" name="Text 3"/>
          <p:cNvSpPr/>
          <p:nvPr/>
        </p:nvSpPr>
        <p:spPr>
          <a:xfrm>
            <a:off x="822960" y="18653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6" name="Text 4"/>
          <p:cNvSpPr/>
          <p:nvPr/>
        </p:nvSpPr>
        <p:spPr>
          <a:xfrm>
            <a:off x="1481328" y="1828800"/>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Read the schematic</a:t>
            </a:r>
            <a:endParaRPr lang="en-US" sz="1600" dirty="0"/>
          </a:p>
        </p:txBody>
      </p:sp>
      <p:sp>
        <p:nvSpPr>
          <p:cNvPr id="7" name="Text 5"/>
          <p:cNvSpPr/>
          <p:nvPr/>
        </p:nvSpPr>
        <p:spPr>
          <a:xfrm>
            <a:off x="5212080" y="1810512"/>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Start from the symbols: battery, switch, resistor, LED. Know the path before you wire it.</a:t>
            </a:r>
            <a:endParaRPr lang="en-US" sz="1250" dirty="0"/>
          </a:p>
        </p:txBody>
      </p:sp>
      <p:sp>
        <p:nvSpPr>
          <p:cNvPr id="8" name="Shape 6"/>
          <p:cNvSpPr/>
          <p:nvPr/>
        </p:nvSpPr>
        <p:spPr>
          <a:xfrm>
            <a:off x="1051560" y="2395728"/>
            <a:ext cx="0" cy="384048"/>
          </a:xfrm>
          <a:prstGeom prst="line">
            <a:avLst/>
          </a:prstGeom>
          <a:noFill/>
          <a:ln w="19050">
            <a:solidFill>
              <a:srgbClr val="D6E7EB"/>
            </a:solidFill>
            <a:prstDash val="solid"/>
          </a:ln>
        </p:spPr>
      </p:sp>
      <p:sp>
        <p:nvSpPr>
          <p:cNvPr id="9" name="Shape 7"/>
          <p:cNvSpPr/>
          <p:nvPr/>
        </p:nvSpPr>
        <p:spPr>
          <a:xfrm>
            <a:off x="822960" y="2816352"/>
            <a:ext cx="457200" cy="457200"/>
          </a:xfrm>
          <a:prstGeom prst="ellipse">
            <a:avLst/>
          </a:prstGeom>
          <a:solidFill>
            <a:srgbClr val="0D7490"/>
          </a:solidFill>
          <a:ln/>
        </p:spPr>
      </p:sp>
      <p:sp>
        <p:nvSpPr>
          <p:cNvPr id="10" name="Text 8"/>
          <p:cNvSpPr/>
          <p:nvPr/>
        </p:nvSpPr>
        <p:spPr>
          <a:xfrm>
            <a:off x="822960"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1" name="Text 9"/>
          <p:cNvSpPr/>
          <p:nvPr/>
        </p:nvSpPr>
        <p:spPr>
          <a:xfrm>
            <a:off x="1481328" y="2779776"/>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Build it on the board</a:t>
            </a:r>
            <a:endParaRPr lang="en-US" sz="1600" dirty="0"/>
          </a:p>
        </p:txBody>
      </p:sp>
      <p:sp>
        <p:nvSpPr>
          <p:cNvPr id="12" name="Text 10"/>
          <p:cNvSpPr/>
          <p:nvPr/>
        </p:nvSpPr>
        <p:spPr>
          <a:xfrm>
            <a:off x="5212080" y="2761488"/>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Wire the Simple Circuits Lab Kit to match the schematic. One group, one circuit.</a:t>
            </a:r>
            <a:endParaRPr lang="en-US" sz="1250" dirty="0"/>
          </a:p>
        </p:txBody>
      </p:sp>
      <p:sp>
        <p:nvSpPr>
          <p:cNvPr id="13" name="Shape 11"/>
          <p:cNvSpPr/>
          <p:nvPr/>
        </p:nvSpPr>
        <p:spPr>
          <a:xfrm>
            <a:off x="1051560" y="3346704"/>
            <a:ext cx="0" cy="384048"/>
          </a:xfrm>
          <a:prstGeom prst="line">
            <a:avLst/>
          </a:prstGeom>
          <a:noFill/>
          <a:ln w="19050">
            <a:solidFill>
              <a:srgbClr val="D6E7EB"/>
            </a:solidFill>
            <a:prstDash val="solid"/>
          </a:ln>
        </p:spPr>
      </p:sp>
      <p:sp>
        <p:nvSpPr>
          <p:cNvPr id="14" name="Shape 12"/>
          <p:cNvSpPr/>
          <p:nvPr/>
        </p:nvSpPr>
        <p:spPr>
          <a:xfrm>
            <a:off x="822960" y="3767328"/>
            <a:ext cx="457200" cy="457200"/>
          </a:xfrm>
          <a:prstGeom prst="ellipse">
            <a:avLst/>
          </a:prstGeom>
          <a:solidFill>
            <a:srgbClr val="0D7490"/>
          </a:solidFill>
          <a:ln/>
        </p:spPr>
      </p:sp>
      <p:sp>
        <p:nvSpPr>
          <p:cNvPr id="15" name="Text 13"/>
          <p:cNvSpPr/>
          <p:nvPr/>
        </p:nvSpPr>
        <p:spPr>
          <a:xfrm>
            <a:off x="822960" y="3767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16" name="Text 14"/>
          <p:cNvSpPr/>
          <p:nvPr/>
        </p:nvSpPr>
        <p:spPr>
          <a:xfrm>
            <a:off x="1481328" y="3730752"/>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Flip the switch</a:t>
            </a:r>
            <a:endParaRPr lang="en-US" sz="1600" dirty="0"/>
          </a:p>
        </p:txBody>
      </p:sp>
      <p:sp>
        <p:nvSpPr>
          <p:cNvPr id="17" name="Text 15"/>
          <p:cNvSpPr/>
          <p:nvPr/>
        </p:nvSpPr>
        <p:spPr>
          <a:xfrm>
            <a:off x="5212080" y="3712464"/>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Close the circuit and the LED lights. Nothing? You have an open — walk it with the meter.</a:t>
            </a:r>
            <a:endParaRPr lang="en-US" sz="1250" dirty="0"/>
          </a:p>
        </p:txBody>
      </p:sp>
      <p:sp>
        <p:nvSpPr>
          <p:cNvPr id="18" name="Shape 16"/>
          <p:cNvSpPr/>
          <p:nvPr/>
        </p:nvSpPr>
        <p:spPr>
          <a:xfrm>
            <a:off x="1051560" y="4297680"/>
            <a:ext cx="0" cy="384048"/>
          </a:xfrm>
          <a:prstGeom prst="line">
            <a:avLst/>
          </a:prstGeom>
          <a:noFill/>
          <a:ln w="19050">
            <a:solidFill>
              <a:srgbClr val="D6E7EB"/>
            </a:solidFill>
            <a:prstDash val="solid"/>
          </a:ln>
        </p:spPr>
      </p:sp>
      <p:sp>
        <p:nvSpPr>
          <p:cNvPr id="19" name="Shape 17"/>
          <p:cNvSpPr/>
          <p:nvPr/>
        </p:nvSpPr>
        <p:spPr>
          <a:xfrm>
            <a:off x="822960" y="4718304"/>
            <a:ext cx="457200" cy="457200"/>
          </a:xfrm>
          <a:prstGeom prst="ellipse">
            <a:avLst/>
          </a:prstGeom>
          <a:solidFill>
            <a:srgbClr val="0D7490"/>
          </a:solidFill>
          <a:ln/>
        </p:spPr>
      </p:sp>
      <p:sp>
        <p:nvSpPr>
          <p:cNvPr id="20" name="Text 18"/>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4</a:t>
            </a:r>
            <a:endParaRPr lang="en-US" sz="1400" dirty="0"/>
          </a:p>
        </p:txBody>
      </p:sp>
      <p:sp>
        <p:nvSpPr>
          <p:cNvPr id="21" name="Text 19"/>
          <p:cNvSpPr/>
          <p:nvPr/>
        </p:nvSpPr>
        <p:spPr>
          <a:xfrm>
            <a:off x="1481328" y="4681728"/>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Measure and prove it</a:t>
            </a:r>
            <a:endParaRPr lang="en-US" sz="1600" dirty="0"/>
          </a:p>
        </p:txBody>
      </p:sp>
      <p:sp>
        <p:nvSpPr>
          <p:cNvPr id="22" name="Text 20"/>
          <p:cNvSpPr/>
          <p:nvPr/>
        </p:nvSpPr>
        <p:spPr>
          <a:xfrm>
            <a:off x="5212080" y="4663440"/>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Read the voltage across the LED and the continuity of each leg. Confirm it matches the plan.</a:t>
            </a:r>
            <a:endParaRPr lang="en-US" sz="1250" dirty="0"/>
          </a:p>
        </p:txBody>
      </p:sp>
      <p:sp>
        <p:nvSpPr>
          <p:cNvPr id="23" name="Shape 21"/>
          <p:cNvSpPr/>
          <p:nvPr/>
        </p:nvSpPr>
        <p:spPr>
          <a:xfrm>
            <a:off x="822960" y="5650992"/>
            <a:ext cx="10545775" cy="658368"/>
          </a:xfrm>
          <a:prstGeom prst="roundRect">
            <a:avLst>
              <a:gd name="adj" fmla="val 15278"/>
            </a:avLst>
          </a:prstGeom>
          <a:solidFill>
            <a:srgbClr val="EAF2F4"/>
          </a:solidFill>
          <a:ln w="12700">
            <a:solidFill>
              <a:srgbClr val="EAF2F4"/>
            </a:solidFill>
            <a:prstDash val="solid"/>
          </a:ln>
        </p:spPr>
      </p:sp>
      <p:sp>
        <p:nvSpPr>
          <p:cNvPr id="24" name="Text 22"/>
          <p:cNvSpPr/>
          <p:nvPr/>
        </p:nvSpPr>
        <p:spPr>
          <a:xfrm>
            <a:off x="1143000" y="5650992"/>
            <a:ext cx="9966960" cy="658368"/>
          </a:xfrm>
          <a:prstGeom prst="rect">
            <a:avLst/>
          </a:prstGeom>
          <a:noFill/>
          <a:ln/>
        </p:spPr>
        <p:txBody>
          <a:bodyPr wrap="square" lIns="0" tIns="0" rIns="0" bIns="0" rtlCol="0" anchor="ctr"/>
          <a:lstStyle/>
          <a:p>
            <a:pPr indent="0" marL="0">
              <a:lnSpc>
                <a:spcPts val="1500"/>
              </a:lnSpc>
              <a:buNone/>
            </a:pPr>
            <a:r>
              <a:rPr lang="en-US" sz="1150" b="1" dirty="0">
                <a:solidFill>
                  <a:srgbClr val="095D75"/>
                </a:solidFill>
                <a:latin typeface="Helvetica Neue" pitchFamily="34" charset="0"/>
                <a:ea typeface="Helvetica Neue" pitchFamily="34" charset="-122"/>
                <a:cs typeface="Helvetica Neue" pitchFamily="34" charset="-120"/>
              </a:rPr>
              <a:t xml:space="preserve">Two things to remember.  </a:t>
            </a:r>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Every kid builds and measures one working circuit before we touch the control box.</a:t>
            </a:r>
            <a:endParaRPr lang="en-US" sz="1150" dirty="0"/>
          </a:p>
        </p:txBody>
      </p:sp>
      <p:sp>
        <p:nvSpPr>
          <p:cNvPr id="25" name="Shape 23"/>
          <p:cNvSpPr/>
          <p:nvPr/>
        </p:nvSpPr>
        <p:spPr>
          <a:xfrm>
            <a:off x="822960" y="6437376"/>
            <a:ext cx="10545775" cy="0"/>
          </a:xfrm>
          <a:prstGeom prst="line">
            <a:avLst/>
          </a:prstGeom>
          <a:noFill/>
          <a:ln w="9525">
            <a:solidFill>
              <a:srgbClr val="E3E3E6"/>
            </a:solidFill>
            <a:prstDash val="solid"/>
          </a:ln>
        </p:spPr>
      </p:sp>
      <p:sp>
        <p:nvSpPr>
          <p:cNvPr id="26" name="Text 24"/>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7" name="Text 25"/>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11 / 16</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0" y="2286000"/>
            <a:ext cx="12191695" cy="457200"/>
          </a:xfrm>
          <a:prstGeom prst="rect">
            <a:avLst/>
          </a:prstGeom>
          <a:noFill/>
          <a:ln/>
        </p:spPr>
        <p:txBody>
          <a:bodyPr wrap="square" lIns="0" tIns="0" rIns="0" bIns="0" rtlCol="0" anchor="ctr"/>
          <a:lstStyle/>
          <a:p>
            <a:pPr algn="ctr" indent="0" marL="0">
              <a:buNone/>
            </a:pPr>
            <a:r>
              <a:rPr lang="en-US" sz="1500" b="1" spc="500" kern="0" dirty="0">
                <a:solidFill>
                  <a:srgbClr val="0D7490"/>
                </a:solidFill>
                <a:latin typeface="Helvetica Neue" pitchFamily="34" charset="0"/>
                <a:ea typeface="Helvetica Neue" pitchFamily="34" charset="-122"/>
                <a:cs typeface="Helvetica Neue" pitchFamily="34" charset="-120"/>
              </a:rPr>
              <a:t>BREAK</a:t>
            </a:r>
            <a:endParaRPr lang="en-US" sz="1500" dirty="0"/>
          </a:p>
        </p:txBody>
      </p:sp>
      <p:sp>
        <p:nvSpPr>
          <p:cNvPr id="3" name="Text 1"/>
          <p:cNvSpPr/>
          <p:nvPr/>
        </p:nvSpPr>
        <p:spPr>
          <a:xfrm>
            <a:off x="0" y="2697480"/>
            <a:ext cx="12191695" cy="1005840"/>
          </a:xfrm>
          <a:prstGeom prst="rect">
            <a:avLst/>
          </a:prstGeom>
          <a:noFill/>
          <a:ln/>
        </p:spPr>
        <p:txBody>
          <a:bodyPr wrap="square" lIns="0" tIns="0" rIns="0" bIns="0" rtlCol="0" anchor="ctr"/>
          <a:lstStyle/>
          <a:p>
            <a:pPr algn="ctr" indent="0" marL="0">
              <a:buNone/>
            </a:pPr>
            <a:r>
              <a:rPr lang="en-US" sz="5200" b="1" dirty="0">
                <a:solidFill>
                  <a:srgbClr val="1D1D1F"/>
                </a:solidFill>
                <a:latin typeface="Helvetica Neue" pitchFamily="34" charset="0"/>
                <a:ea typeface="Helvetica Neue" pitchFamily="34" charset="-122"/>
                <a:cs typeface="Helvetica Neue" pitchFamily="34" charset="-120"/>
              </a:rPr>
              <a:t>Ten minutes.</a:t>
            </a:r>
            <a:endParaRPr lang="en-US" sz="5200" dirty="0"/>
          </a:p>
        </p:txBody>
      </p:sp>
      <p:sp>
        <p:nvSpPr>
          <p:cNvPr id="4" name="Shape 2"/>
          <p:cNvSpPr/>
          <p:nvPr/>
        </p:nvSpPr>
        <p:spPr>
          <a:xfrm>
            <a:off x="5455768" y="3977640"/>
            <a:ext cx="1280160" cy="0"/>
          </a:xfrm>
          <a:prstGeom prst="line">
            <a:avLst/>
          </a:prstGeom>
          <a:noFill/>
          <a:ln w="12700">
            <a:solidFill>
              <a:srgbClr val="E3E3E6"/>
            </a:solidFill>
            <a:prstDash val="solid"/>
          </a:ln>
        </p:spPr>
      </p:sp>
      <p:sp>
        <p:nvSpPr>
          <p:cNvPr id="5" name="Text 3"/>
          <p:cNvSpPr/>
          <p:nvPr/>
        </p:nvSpPr>
        <p:spPr>
          <a:xfrm>
            <a:off x="0" y="4206240"/>
            <a:ext cx="12191695" cy="457200"/>
          </a:xfrm>
          <a:prstGeom prst="rect">
            <a:avLst/>
          </a:prstGeom>
          <a:noFill/>
          <a:ln/>
        </p:spPr>
        <p:txBody>
          <a:bodyPr wrap="square" lIns="0" tIns="0" rIns="0" bIns="0" rtlCol="0" anchor="ctr"/>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We resume in ten — meters down, hands clear of the bench.</a:t>
            </a:r>
            <a:endParaRPr lang="en-US" sz="1500" dirty="0"/>
          </a:p>
        </p:txBody>
      </p:sp>
      <p:sp>
        <p:nvSpPr>
          <p:cNvPr id="6" name="Shape 4"/>
          <p:cNvSpPr/>
          <p:nvPr/>
        </p:nvSpPr>
        <p:spPr>
          <a:xfrm>
            <a:off x="822960" y="6437376"/>
            <a:ext cx="10545775" cy="0"/>
          </a:xfrm>
          <a:prstGeom prst="line">
            <a:avLst/>
          </a:prstGeom>
          <a:noFill/>
          <a:ln w="9525">
            <a:solidFill>
              <a:srgbClr val="E3E3E6"/>
            </a:solidFill>
            <a:prstDash val="solid"/>
          </a:ln>
        </p:spPr>
      </p:sp>
      <p:sp>
        <p:nvSpPr>
          <p:cNvPr id="7" name="Text 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8" name="Text 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13 / 16</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04</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04</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Wrap-Up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Homework</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2:50 – 3:00   ·   10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Name what happens next — and stage the parts before the holiday break.</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14 / 16</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WRAP-UP &amp; HOMEWORK</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Before we meet again.</a:t>
            </a:r>
            <a:endParaRPr lang="en-US" sz="3000" dirty="0"/>
          </a:p>
        </p:txBody>
      </p:sp>
      <p:sp>
        <p:nvSpPr>
          <p:cNvPr id="4" name="Text 2"/>
          <p:cNvSpPr/>
          <p:nvPr/>
        </p:nvSpPr>
        <p:spPr>
          <a:xfrm>
            <a:off x="822960" y="1783080"/>
            <a:ext cx="4937760" cy="274320"/>
          </a:xfrm>
          <a:prstGeom prst="rect">
            <a:avLst/>
          </a:prstGeom>
          <a:noFill/>
          <a:ln/>
        </p:spPr>
        <p:txBody>
          <a:bodyPr wrap="square" lIns="0" tIns="0" rIns="0" bIns="0" rtlCol="0" anchor="ctr"/>
          <a:lstStyle/>
          <a:p>
            <a:pPr indent="0" marL="0">
              <a:buNone/>
            </a:pPr>
            <a:r>
              <a:rPr lang="en-US" sz="1050" b="1" spc="150" kern="0" dirty="0">
                <a:solidFill>
                  <a:srgbClr val="0D7490"/>
                </a:solidFill>
                <a:latin typeface="Helvetica Neue" pitchFamily="34" charset="0"/>
                <a:ea typeface="Helvetica Neue" pitchFamily="34" charset="-122"/>
                <a:cs typeface="Helvetica Neue" pitchFamily="34" charset="-120"/>
              </a:rPr>
              <a:t>EVERY STUDENT</a:t>
            </a:r>
            <a:endParaRPr lang="en-US" sz="1050" dirty="0"/>
          </a:p>
        </p:txBody>
      </p:sp>
      <p:sp>
        <p:nvSpPr>
          <p:cNvPr id="5" name="Shape 3"/>
          <p:cNvSpPr/>
          <p:nvPr/>
        </p:nvSpPr>
        <p:spPr>
          <a:xfrm>
            <a:off x="822960" y="2139696"/>
            <a:ext cx="347472" cy="347472"/>
          </a:xfrm>
          <a:prstGeom prst="ellipse">
            <a:avLst/>
          </a:prstGeom>
          <a:solidFill>
            <a:srgbClr val="EAF2F4"/>
          </a:solidFill>
          <a:ln/>
        </p:spPr>
      </p:sp>
      <p:sp>
        <p:nvSpPr>
          <p:cNvPr id="6" name="Text 4"/>
          <p:cNvSpPr/>
          <p:nvPr/>
        </p:nvSpPr>
        <p:spPr>
          <a:xfrm>
            <a:off x="822960" y="2139696"/>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1</a:t>
            </a:r>
            <a:endParaRPr lang="en-US" sz="1064" dirty="0"/>
          </a:p>
        </p:txBody>
      </p:sp>
      <p:sp>
        <p:nvSpPr>
          <p:cNvPr id="7" name="Text 5"/>
          <p:cNvSpPr/>
          <p:nvPr/>
        </p:nvSpPr>
        <p:spPr>
          <a:xfrm>
            <a:off x="1298448" y="2084832"/>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Practice reading a simple schematic — battery, switch, resistor, LED.</a:t>
            </a:r>
            <a:endParaRPr lang="en-US" sz="1200" dirty="0"/>
          </a:p>
        </p:txBody>
      </p:sp>
      <p:sp>
        <p:nvSpPr>
          <p:cNvPr id="8" name="Shape 6"/>
          <p:cNvSpPr/>
          <p:nvPr/>
        </p:nvSpPr>
        <p:spPr>
          <a:xfrm>
            <a:off x="822960" y="2907792"/>
            <a:ext cx="347472" cy="347472"/>
          </a:xfrm>
          <a:prstGeom prst="ellipse">
            <a:avLst/>
          </a:prstGeom>
          <a:solidFill>
            <a:srgbClr val="EAF2F4"/>
          </a:solidFill>
          <a:ln/>
        </p:spPr>
      </p:sp>
      <p:sp>
        <p:nvSpPr>
          <p:cNvPr id="9" name="Text 7"/>
          <p:cNvSpPr/>
          <p:nvPr/>
        </p:nvSpPr>
        <p:spPr>
          <a:xfrm>
            <a:off x="822960" y="2907792"/>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2</a:t>
            </a:r>
            <a:endParaRPr lang="en-US" sz="1064" dirty="0"/>
          </a:p>
        </p:txBody>
      </p:sp>
      <p:sp>
        <p:nvSpPr>
          <p:cNvPr id="10" name="Text 8"/>
          <p:cNvSpPr/>
          <p:nvPr/>
        </p:nvSpPr>
        <p:spPr>
          <a:xfrm>
            <a:off x="1298448" y="2852928"/>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Keep your Electrical Symbols handout in your notebook — you'll use it all year.</a:t>
            </a:r>
            <a:endParaRPr lang="en-US" sz="1200" dirty="0"/>
          </a:p>
        </p:txBody>
      </p:sp>
      <p:sp>
        <p:nvSpPr>
          <p:cNvPr id="11" name="Shape 9"/>
          <p:cNvSpPr/>
          <p:nvPr/>
        </p:nvSpPr>
        <p:spPr>
          <a:xfrm>
            <a:off x="822960" y="3675888"/>
            <a:ext cx="347472" cy="347472"/>
          </a:xfrm>
          <a:prstGeom prst="ellipse">
            <a:avLst/>
          </a:prstGeom>
          <a:solidFill>
            <a:srgbClr val="EAF2F4"/>
          </a:solidFill>
          <a:ln/>
        </p:spPr>
      </p:sp>
      <p:sp>
        <p:nvSpPr>
          <p:cNvPr id="12" name="Text 10"/>
          <p:cNvSpPr/>
          <p:nvPr/>
        </p:nvSpPr>
        <p:spPr>
          <a:xfrm>
            <a:off x="822960" y="3675888"/>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3</a:t>
            </a:r>
            <a:endParaRPr lang="en-US" sz="1064" dirty="0"/>
          </a:p>
        </p:txBody>
      </p:sp>
      <p:sp>
        <p:nvSpPr>
          <p:cNvPr id="13" name="Text 11"/>
          <p:cNvSpPr/>
          <p:nvPr/>
        </p:nvSpPr>
        <p:spPr>
          <a:xfrm>
            <a:off x="1298448" y="3621024"/>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Software Lead: make sure the repo is ready for wiring notes.</a:t>
            </a:r>
            <a:endParaRPr lang="en-US" sz="1200" dirty="0"/>
          </a:p>
        </p:txBody>
      </p:sp>
      <p:sp>
        <p:nvSpPr>
          <p:cNvPr id="14" name="Text 12"/>
          <p:cNvSpPr/>
          <p:nvPr/>
        </p:nvSpPr>
        <p:spPr>
          <a:xfrm>
            <a:off x="822960" y="4572000"/>
            <a:ext cx="5120640" cy="274320"/>
          </a:xfrm>
          <a:prstGeom prst="rect">
            <a:avLst/>
          </a:prstGeom>
          <a:noFill/>
          <a:ln/>
        </p:spPr>
        <p:txBody>
          <a:bodyPr wrap="square" lIns="0" tIns="0" rIns="0" bIns="0" rtlCol="0" anchor="ctr"/>
          <a:lstStyle/>
          <a:p>
            <a:pPr indent="0" marL="0">
              <a:buNone/>
            </a:pPr>
            <a:r>
              <a:rPr lang="en-US" sz="1050" b="1" spc="100" kern="0" dirty="0">
                <a:solidFill>
                  <a:srgbClr val="0D7490"/>
                </a:solidFill>
                <a:latin typeface="Helvetica Neue" pitchFamily="34" charset="0"/>
                <a:ea typeface="Helvetica Neue" pitchFamily="34" charset="-122"/>
                <a:cs typeface="Helvetica Neue" pitchFamily="34" charset="-120"/>
              </a:rPr>
              <a:t>THE PARALLEL TRACK  ·  LEADS &amp; ADVISORS</a:t>
            </a:r>
            <a:endParaRPr lang="en-US" sz="1050" dirty="0"/>
          </a:p>
        </p:txBody>
      </p:sp>
      <p:sp>
        <p:nvSpPr>
          <p:cNvPr id="15" name="Text 13"/>
          <p:cNvSpPr/>
          <p:nvPr/>
        </p:nvSpPr>
        <p:spPr>
          <a:xfrm>
            <a:off x="822960" y="4882896"/>
            <a:ext cx="5029200" cy="1188720"/>
          </a:xfrm>
          <a:prstGeom prst="rect">
            <a:avLst/>
          </a:prstGeom>
          <a:noFill/>
          <a:ln/>
        </p:spPr>
        <p:txBody>
          <a:bodyPr wrap="square" lIns="0" tIns="0" rIns="0" bIns="0" rtlCol="0" anchor="ctr"/>
          <a:lstStyle/>
          <a:p>
            <a:pPr indent="0" marL="0">
              <a:lnSpc>
                <a:spcPts val="1600"/>
              </a:lnSpc>
              <a:buNone/>
            </a:pPr>
            <a:r>
              <a:rPr lang="en-US" sz="1150" dirty="0">
                <a:solidFill>
                  <a:srgbClr val="6E6E73"/>
                </a:solidFill>
                <a:latin typeface="Helvetica Neue" pitchFamily="34" charset="0"/>
                <a:ea typeface="Helvetica Neue" pitchFamily="34" charset="-122"/>
                <a:cs typeface="Helvetica Neue" pitchFamily="34" charset="-120"/>
              </a:rPr>
              <a:t>The control box is a long build (MATE budgets six hours) — stage the kit's control-box parts and the soldering stations. Battery in hand.</a:t>
            </a:r>
            <a:endParaRPr lang="en-US" sz="1150" dirty="0"/>
          </a:p>
        </p:txBody>
      </p:sp>
      <p:sp>
        <p:nvSpPr>
          <p:cNvPr id="16" name="Shape 14"/>
          <p:cNvSpPr/>
          <p:nvPr/>
        </p:nvSpPr>
        <p:spPr>
          <a:xfrm>
            <a:off x="6263640" y="1783080"/>
            <a:ext cx="5102352" cy="4297680"/>
          </a:xfrm>
          <a:prstGeom prst="roundRect">
            <a:avLst>
              <a:gd name="adj" fmla="val 2340"/>
            </a:avLst>
          </a:prstGeom>
          <a:solidFill>
            <a:srgbClr val="0D7490"/>
          </a:solidFill>
          <a:ln w="12700">
            <a:solidFill>
              <a:srgbClr val="0D7490"/>
            </a:solidFill>
            <a:prstDash val="solid"/>
          </a:ln>
        </p:spPr>
      </p:sp>
      <p:sp>
        <p:nvSpPr>
          <p:cNvPr id="17" name="Text 15"/>
          <p:cNvSpPr/>
          <p:nvPr/>
        </p:nvSpPr>
        <p:spPr>
          <a:xfrm>
            <a:off x="6675120" y="2157984"/>
            <a:ext cx="4297680" cy="274320"/>
          </a:xfrm>
          <a:prstGeom prst="rect">
            <a:avLst/>
          </a:prstGeom>
          <a:noFill/>
          <a:ln/>
        </p:spPr>
        <p:txBody>
          <a:bodyPr wrap="square" lIns="0" tIns="0" rIns="0" bIns="0" rtlCol="0" anchor="ctr"/>
          <a:lstStyle/>
          <a:p>
            <a:pPr indent="0" marL="0">
              <a:buNone/>
            </a:pPr>
            <a:r>
              <a:rPr lang="en-US" sz="1100" b="1" spc="200" kern="0" dirty="0">
                <a:solidFill>
                  <a:srgbClr val="9FCEDA"/>
                </a:solidFill>
                <a:latin typeface="Helvetica Neue" pitchFamily="34" charset="0"/>
                <a:ea typeface="Helvetica Neue" pitchFamily="34" charset="-122"/>
                <a:cs typeface="Helvetica Neue" pitchFamily="34" charset="-120"/>
              </a:rPr>
              <a:t>NEXT LESSON  ·  CLASS 1.5</a:t>
            </a:r>
            <a:endParaRPr lang="en-US" sz="1100" dirty="0"/>
          </a:p>
        </p:txBody>
      </p:sp>
      <p:sp>
        <p:nvSpPr>
          <p:cNvPr id="18" name="Text 16"/>
          <p:cNvSpPr/>
          <p:nvPr/>
        </p:nvSpPr>
        <p:spPr>
          <a:xfrm>
            <a:off x="6675120" y="2487168"/>
            <a:ext cx="4297680" cy="150876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Control Box</a:t>
            </a:r>
            <a:endParaRPr lang="en-US" sz="4000" dirty="0"/>
          </a:p>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Part I</a:t>
            </a:r>
            <a:endParaRPr lang="en-US" sz="4000" dirty="0"/>
          </a:p>
        </p:txBody>
      </p:sp>
      <p:sp>
        <p:nvSpPr>
          <p:cNvPr id="19" name="Shape 17"/>
          <p:cNvSpPr/>
          <p:nvPr/>
        </p:nvSpPr>
        <p:spPr>
          <a:xfrm>
            <a:off x="6675120" y="4114800"/>
            <a:ext cx="4251960" cy="0"/>
          </a:xfrm>
          <a:prstGeom prst="line">
            <a:avLst/>
          </a:prstGeom>
          <a:noFill/>
          <a:ln w="12700">
            <a:solidFill>
              <a:srgbClr val="3E7E91"/>
            </a:solidFill>
            <a:prstDash val="solid"/>
          </a:ln>
        </p:spPr>
      </p:sp>
      <p:sp>
        <p:nvSpPr>
          <p:cNvPr id="20" name="Text 18"/>
          <p:cNvSpPr/>
          <p:nvPr/>
        </p:nvSpPr>
        <p:spPr>
          <a:xfrm>
            <a:off x="6675120" y="4279392"/>
            <a:ext cx="4297680" cy="1554480"/>
          </a:xfrm>
          <a:prstGeom prst="rect">
            <a:avLst/>
          </a:prstGeom>
          <a:noFill/>
          <a:ln/>
        </p:spPr>
        <p:txBody>
          <a:bodyPr wrap="square" lIns="0" tIns="0" rIns="0" bIns="0" rtlCol="0" anchor="ctr"/>
          <a:lstStyle/>
          <a:p>
            <a:pPr indent="0" marL="0">
              <a:lnSpc>
                <a:spcPts val="1750"/>
              </a:lnSpc>
              <a:buNone/>
            </a:pPr>
            <a:r>
              <a:rPr lang="en-US" sz="1250" dirty="0">
                <a:solidFill>
                  <a:srgbClr val="EAF2F4"/>
                </a:solidFill>
                <a:latin typeface="Helvetica Neue" pitchFamily="34" charset="0"/>
                <a:ea typeface="Helvetica Neue" pitchFamily="34" charset="-122"/>
                <a:cs typeface="Helvetica Neue" pitchFamily="34" charset="-120"/>
              </a:rPr>
              <a:t>We build the PufferFish practice board, then start the TriggerFish REV 4 control box — the topside brain that drives the thrusters.</a:t>
            </a:r>
            <a:endParaRPr lang="en-US" sz="1250" dirty="0"/>
          </a:p>
        </p:txBody>
      </p:sp>
      <p:sp>
        <p:nvSpPr>
          <p:cNvPr id="21" name="Shape 19"/>
          <p:cNvSpPr/>
          <p:nvPr/>
        </p:nvSpPr>
        <p:spPr>
          <a:xfrm>
            <a:off x="822960" y="6437376"/>
            <a:ext cx="10545775" cy="0"/>
          </a:xfrm>
          <a:prstGeom prst="line">
            <a:avLst/>
          </a:prstGeom>
          <a:noFill/>
          <a:ln w="9525">
            <a:solidFill>
              <a:srgbClr val="E3E3E6"/>
            </a:solidFill>
            <a:prstDash val="solid"/>
          </a:ln>
        </p:spPr>
      </p:sp>
      <p:sp>
        <p:nvSpPr>
          <p:cNvPr id="22" name="Text 2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3" name="Text 2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15 / 16</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icPr>
            <a:picLocks noChangeAspect="1"/>
          </p:cNvPicPr>
          <p:nvPr/>
        </p:nvPicPr>
        <p:blipFill>
          <a:blip r:embed="rId1"/>
          <a:stretch>
            <a:fillRect/>
          </a:stretch>
        </p:blipFill>
        <p:spPr>
          <a:xfrm>
            <a:off x="5570068" y="960120"/>
            <a:ext cx="1051560" cy="1051560"/>
          </a:xfrm>
          <a:prstGeom prst="rect">
            <a:avLst/>
          </a:prstGeom>
        </p:spPr>
      </p:pic>
      <p:sp>
        <p:nvSpPr>
          <p:cNvPr id="3" name="Text 0"/>
          <p:cNvSpPr/>
          <p:nvPr/>
        </p:nvSpPr>
        <p:spPr>
          <a:xfrm>
            <a:off x="0" y="2304288"/>
            <a:ext cx="12191695" cy="329184"/>
          </a:xfrm>
          <a:prstGeom prst="rect">
            <a:avLst/>
          </a:prstGeom>
          <a:noFill/>
          <a:ln/>
        </p:spPr>
        <p:txBody>
          <a:bodyPr wrap="square" lIns="0" tIns="0" rIns="0" bIns="0" rtlCol="0" anchor="ctr"/>
          <a:lstStyle/>
          <a:p>
            <a:pPr algn="ctr" indent="0" marL="0">
              <a:buNone/>
            </a:pPr>
            <a:r>
              <a:rPr lang="en-US" sz="1200" b="1" spc="350" kern="0" dirty="0">
                <a:solidFill>
                  <a:srgbClr val="9FCEDA"/>
                </a:solidFill>
                <a:latin typeface="Helvetica Neue" pitchFamily="34" charset="0"/>
                <a:ea typeface="Helvetica Neue" pitchFamily="34" charset="-122"/>
                <a:cs typeface="Helvetica Neue" pitchFamily="34" charset="-120"/>
              </a:rPr>
              <a:t>READ THE CIRCUIT</a:t>
            </a:r>
            <a:endParaRPr lang="en-US" sz="1200" dirty="0"/>
          </a:p>
        </p:txBody>
      </p:sp>
      <p:sp>
        <p:nvSpPr>
          <p:cNvPr id="4" name="Text 1"/>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Helvetica Neue" pitchFamily="34" charset="0"/>
                <a:ea typeface="Helvetica Neue" pitchFamily="34" charset="-122"/>
                <a:cs typeface="Helvetica Neue" pitchFamily="34" charset="-120"/>
              </a:rPr>
              <a:t>Now they can read it.</a:t>
            </a:r>
            <a:endParaRPr lang="en-US" sz="4600" dirty="0"/>
          </a:p>
        </p:txBody>
      </p:sp>
      <p:sp>
        <p:nvSpPr>
          <p:cNvPr id="5" name="Shape 2"/>
          <p:cNvSpPr/>
          <p:nvPr/>
        </p:nvSpPr>
        <p:spPr>
          <a:xfrm>
            <a:off x="5455768" y="3703320"/>
            <a:ext cx="1280160" cy="0"/>
          </a:xfrm>
          <a:prstGeom prst="line">
            <a:avLst/>
          </a:prstGeom>
          <a:noFill/>
          <a:ln w="12700">
            <a:solidFill>
              <a:srgbClr val="3E7E91"/>
            </a:solidFill>
            <a:prstDash val="solid"/>
          </a:ln>
        </p:spPr>
      </p:sp>
      <p:sp>
        <p:nvSpPr>
          <p:cNvPr id="6" name="Text 3"/>
          <p:cNvSpPr/>
          <p:nvPr/>
        </p:nvSpPr>
        <p:spPr>
          <a:xfrm>
            <a:off x="1371600" y="3950208"/>
            <a:ext cx="9448495" cy="914400"/>
          </a:xfrm>
          <a:prstGeom prst="rect">
            <a:avLst/>
          </a:prstGeom>
          <a:noFill/>
          <a:ln/>
        </p:spPr>
        <p:txBody>
          <a:bodyPr wrap="square" lIns="0" tIns="0" rIns="0" bIns="0" rtlCol="0" anchor="ctr"/>
          <a:lstStyle/>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Every kid can measure a circuit, read the symbols, and build a working one. The language of electronics is theirs.</a:t>
            </a:r>
            <a:endParaRPr lang="en-US" sz="1500" dirty="0"/>
          </a:p>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Next, the control box.</a:t>
            </a:r>
            <a:endParaRPr lang="en-US" sz="1500" dirty="0"/>
          </a:p>
        </p:txBody>
      </p:sp>
      <p:sp>
        <p:nvSpPr>
          <p:cNvPr id="7" name="Text 4"/>
          <p:cNvSpPr/>
          <p:nvPr/>
        </p:nvSpPr>
        <p:spPr>
          <a:xfrm>
            <a:off x="0" y="5897880"/>
            <a:ext cx="12191695" cy="310896"/>
          </a:xfrm>
          <a:prstGeom prst="rect">
            <a:avLst/>
          </a:prstGeom>
          <a:noFill/>
          <a:ln/>
        </p:spPr>
        <p:txBody>
          <a:bodyPr wrap="square" lIns="0" tIns="0" rIns="0" bIns="0" rtlCol="0" anchor="ctr"/>
          <a:lstStyle/>
          <a:p>
            <a:pPr algn="ctr" indent="0" marL="0">
              <a:buNone/>
            </a:pPr>
            <a:r>
              <a:rPr lang="en-US" sz="900" spc="200" kern="0" dirty="0">
                <a:solidFill>
                  <a:srgbClr val="6BA0AF"/>
                </a:solidFill>
                <a:latin typeface="Helvetica Neue" pitchFamily="34" charset="0"/>
                <a:ea typeface="Helvetica Neue" pitchFamily="34" charset="-122"/>
                <a:cs typeface="Helvetica Neue" pitchFamily="34" charset="-120"/>
              </a:rPr>
              <a:t>SAY WATT ROBOTICS  ·  ROV TEAM      |      NEXT LESSON — CLASS 1.5, CONTROL BOX I</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BEFORE CLASS</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Watch it at home. Build it in class.</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MATE's instructors teach the electronics on video. Watch these before class so our meeting time goes to measuring, wiring, and building — not slides.</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As you watch, notice: how to set the meter's dial, how a switch makes and breaks a circuit, and how a simple circuit carries current from battery to load and back.</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Come ready to measure and build — we pick up the meter at the door.</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PRE-WATCH HOMEWORK</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Three short videos, then straight to the bench.</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hlinkClick r:id="rId3"/>
              </a:rPr>
              <a:t>MATE: Multimeter Basics</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Plus MATE: How Switches Work and Simple Circuits — all assigned on the team site.</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CLASS 1.4 — ELECTRONICS WORKSHOP   ·   9 / 16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 Team — Week 1: Kickoff</dc:title>
  <dc:subject>PptxGenJS Presentation</dc:subject>
  <dc:creator>Say Watt Robotics — ROV Team</dc:creator>
  <cp:lastModifiedBy>Say Watt Robotics — ROV Team</cp:lastModifiedBy>
  <cp:revision>1</cp:revision>
  <dcterms:created xsi:type="dcterms:W3CDTF">2026-05-25T21:02:30Z</dcterms:created>
  <dcterms:modified xsi:type="dcterms:W3CDTF">2026-05-25T21:02:30Z</dcterms:modified>
</cp:coreProperties>
</file>