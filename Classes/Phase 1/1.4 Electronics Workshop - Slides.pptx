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72" r:id="rId23"/>
    <p:sldId id="258" r:id="rId4"/>
    <p:sldId id="259" r:id="rId5"/>
    <p:sldId id="260" r:id="rId6"/>
    <p:sldId id="261" r:id="rId7"/>
    <p:sldId id="262" r:id="rId9"/>
    <p:sldId id="263" r:id="rId10"/>
    <p:sldId id="264" r:id="rId33"/>
    <p:sldId id="265" r:id="rId12"/>
    <p:sldId id="266" r:id="rId15"/>
    <p:sldId id="267" r:id="rId11"/>
    <p:sldId id="268" r:id="rId16"/>
    <p:sldId id="269" r:id="rId25"/>
    <p:sldId id="270" r:id="rId26"/>
    <p:sldId id="273" r:id="rId24"/>
    <p:sldId id="274" r:id="rId22"/>
    <p:sldId id="271" r:id="rId27"/>
  </p:sldIdLst>
  <p:notesMasterIdLst>
    <p:notesMasterId r:id="rId2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12.xml"/><Relationship Id="rId12"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3.xml"/><Relationship Id="rId22" Type="http://schemas.openxmlformats.org/officeDocument/2006/relationships/slide" Target="slides/slide19.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energy — this is the week the team has waited for: today everyone solders. 30 seconds here. Set the tone — it is our longest meeting, by design, and the work is worth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eight blocks quickly, then land one point: this is our longest day, about three and a half hours. If a block runs long, we protect the hands-on practice and trim elsewhere — we never cut the time on the iron. Note the break at 1:55.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opening as always. Let the CEO run the safety brief if roles are set — 60 to 90 seconds. The ritual matters more today than ever: there are hot irons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safety brief of the season so far. Slow down on hazards and prevention. Irons live in their stands, never on the bench. Confirm the fume fan is on and everyone has glasses before any iron is powered. Read ‘every burn gets reported’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divider, 15 minutes. Set up the why before the how: nobody picks up an iron until they understand what a good joint is and why it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it concrete — the robot fails at its weakest joint, and that joint is one a kid will make today. Two minutes. Land the bold line: this is the first real engineering skill of the season, and every kid earns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real examples if you have them. Walk the three: cold (dull blob), good (shiny cone), bridged (shorted). Tell them they will make all three today — making the bad ones on purpose is how they learn to see the good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day, 85 minutes. Set the flow: watch, then demo, then everyone practices. Energy up — the clock is generous here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quote slowly — this is the philosophy of the whole season. Make sure every parent hears it: demonstrate, then step back. The struggle is the point. Mention AI disclosure plainly — honesty is scored in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each move once as you walk these six cards — this is the teach-once moment, about 15 minutes. Section 4.3: you show it, then you step back. Do not solder for them after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block cannot be cut. Every kid makes a joint, inspects it, and redoes it if needed. Circulate, photograph, encourage — hands off the irons. Expect it to run long; that is fine. Nobody opens the kit until they have made a joint they are proud 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minutes. Irons stay on their stands and cool. Hands washed before snacks — solder has lead. Resume at 1:55, 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divider — 10 minutes to close the loop. Make sure every kid leaves knowing their homework and the team knows the parallel-track 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for students, no more — keep it light. Read the parallel-track card to the parents: battery before Week 3, pool prerequisites, and the DISL call. These gate the water. Preview Week 3 — electronics finished and the first splash.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pride — everyone soldered today, the kit is open, the first joints are on the robot. Land the final line: next week, it gets wet. Send them out energized for the first splash.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Cue the 22-minute video before the meeting so it is ready to play. Read the four ‘watch for’ prompts aloud first so they watch actively. Pause on the key moments — tinning the tip, heat on the joint. Then go straight to the bench while energy is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hyperlink" Target="https://docs.google.com/presentation/d/e/2PACX-1vQQmtfJgr958EwnIs4mHeInAdVA22NVUOaB35r6g2CjVZj4CBzTqzZXC9VqRRcdzcj1fs4ZxRsc_V79/pub"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1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5D75"/>
        </a:solidFill>
      </p:bgPr>
    </p:bg>
    <p:spTree>
      <p:nvGrpSpPr>
        <p:cNvPr id="1" name=""/>
        <p:cNvGrpSpPr/>
        <p:nvPr/>
      </p:nvGrpSpPr>
      <p:grpSpPr>
        <a:xfrm>
          <a:off x="0" y="0"/>
          <a:ext cx="0" cy="0"/>
          <a:chOff x="0" y="0"/>
          <a:chExt cx="0" cy="0"/>
        </a:xfrm>
      </p:grpSpPr>
      <p:pic>
        <p:nvPicPr>
          <p:cNvPr id="2" name="Image 0" descr="/sessions/focused-friendly-goodall/mnt/SayWatt Website/assets/logo-emblem2.png"/>
          <p:cNvPicPr>
            <a:picLocks noChangeAspect="1"/>
          </p:cNvPicPr>
          <p:nvPr/>
        </p:nvPicPr>
        <p:blipFill>
          <a:blip r:embed="rId1"/>
          <a:stretch>
            <a:fillRect/>
          </a:stretch>
        </p:blipFill>
        <p:spPr>
          <a:xfrm>
            <a:off x="5387188" y="749808"/>
            <a:ext cx="1417320" cy="1417320"/>
          </a:xfrm>
          <a:prstGeom prst="rect">
            <a:avLst/>
          </a:prstGeom>
        </p:spPr>
      </p:pic>
      <p:sp>
        <p:nvSpPr>
          <p:cNvPr id="3" name="Text 0"/>
          <p:cNvSpPr/>
          <p:nvPr/>
        </p:nvSpPr>
        <p:spPr>
          <a:xfrm>
            <a:off x="0" y="2505456"/>
            <a:ext cx="12191695" cy="329184"/>
          </a:xfrm>
          <a:prstGeom prst="rect">
            <a:avLst/>
          </a:prstGeom>
          <a:noFill/>
          <a:ln/>
        </p:spPr>
        <p:txBody>
          <a:bodyPr wrap="square" lIns="0" tIns="0" rIns="0" bIns="0" rtlCol="0" anchor="ctr"/>
          <a:lstStyle/>
          <a:p>
            <a:pPr algn="ctr" indent="0" marL="0">
              <a:buNone/>
            </a:pPr>
            <a:r>
              <a:rPr lang="en-US" sz="1300" b="1" spc="350" kern="0" dirty="0">
                <a:solidFill>
                  <a:srgbClr val="9FCEDA"/>
                </a:solidFill>
                <a:latin typeface="Helvetica Neue" pitchFamily="34" charset="0"/>
                <a:ea typeface="Helvetica Neue" pitchFamily="34" charset="-122"/>
                <a:cs typeface="Helvetica Neue" pitchFamily="34" charset="-120"/>
              </a:rPr>
              <a:t>PHASE 1 — FOUNDATION</a:t>
            </a:r>
            <a:endParaRPr lang="en-US" sz="1300" dirty="0"/>
          </a:p>
        </p:txBody>
      </p:sp>
      <p:sp>
        <p:nvSpPr>
          <p:cNvPr id="4" name="Text 1"/>
          <p:cNvSpPr/>
          <p:nvPr/>
        </p:nvSpPr>
        <p:spPr>
          <a:xfrm>
            <a:off x="0" y="2852928"/>
            <a:ext cx="12191695" cy="1005840"/>
          </a:xfrm>
          <a:prstGeom prst="rect">
            <a:avLst/>
          </a:prstGeom>
          <a:noFill/>
          <a:ln/>
        </p:spPr>
        <p:txBody>
          <a:bodyPr wrap="square" lIns="0" tIns="0" rIns="0" bIns="0" rtlCol="0" anchor="ctr"/>
          <a:lstStyle/>
          <a:p>
            <a:pPr algn="ctr" indent="0" marL="0">
              <a:buNone/>
            </a:pPr>
            <a:r>
              <a:rPr lang="en-US" sz="4200" b="1" dirty="0">
                <a:solidFill>
                  <a:srgbClr val="FFFFFF"/>
                </a:solidFill>
                <a:latin typeface="Helvetica Neue" pitchFamily="34" charset="0"/>
                <a:ea typeface="Helvetica Neue" pitchFamily="34" charset="-122"/>
                <a:cs typeface="Helvetica Neue" pitchFamily="34" charset="-120"/>
              </a:rPr>
              <a:t>Electronics Workshop</a:t>
            </a:r>
            <a:endParaRPr lang="en-US" sz="5600" dirty="0"/>
          </a:p>
        </p:txBody>
      </p:sp>
      <p:sp>
        <p:nvSpPr>
          <p:cNvPr id="5" name="Text 2"/>
          <p:cNvSpPr/>
          <p:nvPr/>
        </p:nvSpPr>
        <p:spPr>
          <a:xfrm>
            <a:off x="0" y="3877056"/>
            <a:ext cx="12191695" cy="548640"/>
          </a:xfrm>
          <a:prstGeom prst="rect">
            <a:avLst/>
          </a:prstGeom>
          <a:noFill/>
          <a:ln/>
        </p:spPr>
        <p:txBody>
          <a:bodyPr wrap="square" lIns="0" tIns="0" rIns="0" bIns="0" rtlCol="0" anchor="ctr"/>
          <a:lstStyle/>
          <a:p>
            <a:pPr algn="ctr" indent="0" marL="0">
              <a:buNone/>
            </a:pPr>
            <a:r>
              <a:rPr lang="en-US" sz="2300" dirty="0">
                <a:solidFill>
                  <a:srgbClr val="C9E3EA"/>
                </a:solidFill>
                <a:latin typeface="Helvetica Neue" pitchFamily="34" charset="0"/>
                <a:ea typeface="Helvetica Neue" pitchFamily="34" charset="-122"/>
                <a:cs typeface="Helvetica Neue" pitchFamily="34" charset="-120"/>
              </a:rPr>
              <a:t>Learn to read a circuit — the meter, switches, and symbols.</a:t>
            </a:r>
            <a:endParaRPr lang="en-US" sz="2300" dirty="0"/>
          </a:p>
        </p:txBody>
      </p:sp>
      <p:sp>
        <p:nvSpPr>
          <p:cNvPr id="6" name="Shape 3"/>
          <p:cNvSpPr/>
          <p:nvPr/>
        </p:nvSpPr>
        <p:spPr>
          <a:xfrm>
            <a:off x="5455768" y="4681728"/>
            <a:ext cx="1280160" cy="0"/>
          </a:xfrm>
          <a:prstGeom prst="line">
            <a:avLst/>
          </a:prstGeom>
          <a:noFill/>
          <a:ln w="12700">
            <a:solidFill>
              <a:srgbClr val="3E7E91"/>
            </a:solidFill>
            <a:prstDash val="solid"/>
          </a:ln>
        </p:spPr>
        <p:txBody>
          <a:bodyPr/>
          <a:p/>
        </p:txBody>
      </p:sp>
      <p:sp>
        <p:nvSpPr>
          <p:cNvPr id="7" name="Text 4"/>
          <p:cNvSpPr/>
          <p:nvPr/>
        </p:nvSpPr>
        <p:spPr>
          <a:xfrm>
            <a:off x="0" y="4901184"/>
            <a:ext cx="12191695" cy="329184"/>
          </a:xfrm>
          <a:prstGeom prst="rect">
            <a:avLst/>
          </a:prstGeom>
          <a:noFill/>
          <a:ln/>
        </p:spPr>
        <p:txBody>
          <a:bodyPr wrap="square" lIns="0" tIns="0" rIns="0" bIns="0" rtlCol="0" anchor="ctr"/>
          <a:lstStyle/>
          <a:p>
            <a:pPr algn="ctr" indent="0" marL="0">
              <a:buNone/>
            </a:pPr>
            <a:r>
              <a:rPr lang="en-US" sz="1300" spc="50" kern="0" dirty="0">
                <a:solidFill>
                  <a:srgbClr val="9FCEDA"/>
                </a:solidFill>
                <a:latin typeface="Helvetica Neue" pitchFamily="34" charset="0"/>
                <a:ea typeface="Helvetica Neue" pitchFamily="34" charset="-122"/>
                <a:cs typeface="Helvetica Neue" pitchFamily="34" charset="-120"/>
              </a:rPr>
              <a:t>Say Watt Robotics  ·  ROV Team      |      2026–2027 MATE ROV Season</a:t>
            </a:r>
            <a:endParaRPr lang="en-US" sz="1300" dirty="0"/>
          </a:p>
        </p:txBody>
      </p:sp>
      <p:sp>
        <p:nvSpPr>
          <p:cNvPr id="8" name="Text 5"/>
          <p:cNvSpPr/>
          <p:nvPr/>
        </p:nvSpPr>
        <p:spPr>
          <a:xfrm>
            <a:off x="0" y="5943600"/>
            <a:ext cx="12191695" cy="310896"/>
          </a:xfrm>
          <a:prstGeom prst="rect">
            <a:avLst/>
          </a:prstGeom>
          <a:noFill/>
          <a:ln/>
        </p:spPr>
        <p:txBody>
          <a:bodyPr wrap="square" lIns="0" tIns="0" rIns="0" bIns="0" rtlCol="0" anchor="ctr"/>
          <a:lstStyle/>
          <a:p>
            <a:pPr algn="ctr" indent="0" marL="0">
              <a:buNone/>
            </a:pPr>
            <a:r>
              <a:rPr lang="en-US" sz="950" spc="250" kern="0" dirty="0">
                <a:solidFill>
                  <a:srgbClr val="6BA0AF"/>
                </a:solidFill>
                <a:latin typeface="Helvetica Neue" pitchFamily="34" charset="0"/>
                <a:ea typeface="Helvetica Neue" pitchFamily="34" charset="-122"/>
                <a:cs typeface="Helvetica Neue" pitchFamily="34" charset="-120"/>
              </a:rPr>
              <a:t>CLASS 1.4   ·   ONE SESSION   ·   MADISON, ALABAMA</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THE MEETING</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Three hours, learning to read a circuit.</a:t>
            </a:r>
            <a:endParaRPr lang="en-US" sz="3000" dirty="0"/>
          </a:p>
        </p:txBody>
      </p:sp>
      <p:sp>
        <p:nvSpPr>
          <p:cNvPr id="4" name="Text 2"/>
          <p:cNvSpPr/>
          <p:nvPr/>
        </p:nvSpPr>
        <p:spPr>
          <a:xfrm>
            <a:off x="822960" y="1847088"/>
            <a:ext cx="1143000" cy="553212"/>
          </a:xfrm>
          <a:prstGeom prst="rect">
            <a:avLst/>
          </a:prstGeom>
          <a:noFill/>
          <a:ln/>
        </p:spPr>
        <p:txBody>
          <a:bodyPr wrap="square" lIns="0" tIns="0" rIns="0" bIns="0" rtlCol="0" anchor="ctr"/>
          <a:lstStyle/>
          <a:p>
            <a:pPr indent="0" marL="0">
              <a:buNone/>
            </a:pPr>
            <a:r>
              <a:rPr lang="en-US" sz="1700" b="1" dirty="0">
                <a:solidFill>
                  <a:srgbClr val="0D7490"/>
                </a:solidFill>
                <a:latin typeface="Helvetica Neue" pitchFamily="34" charset="0"/>
                <a:ea typeface="Helvetica Neue" pitchFamily="34" charset="-122"/>
                <a:cs typeface="Helvetica Neue" pitchFamily="34" charset="-120"/>
              </a:rPr>
              <a:t>0:00</a:t>
            </a:r>
            <a:endParaRPr lang="en-US" sz="1700" dirty="0"/>
          </a:p>
        </p:txBody>
      </p:sp>
      <p:sp>
        <p:nvSpPr>
          <p:cNvPr id="5" name="Text 3"/>
          <p:cNvSpPr/>
          <p:nvPr/>
        </p:nvSpPr>
        <p:spPr>
          <a:xfrm>
            <a:off x="2148840" y="1847088"/>
            <a:ext cx="7360920" cy="553212"/>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Welcome &amp; Safety Brief</a:t>
            </a:r>
            <a:endParaRPr lang="en-US" sz="1600" dirty="0"/>
          </a:p>
        </p:txBody>
      </p:sp>
      <p:sp>
        <p:nvSpPr>
          <p:cNvPr id="6" name="Text 4"/>
          <p:cNvSpPr/>
          <p:nvPr/>
        </p:nvSpPr>
        <p:spPr>
          <a:xfrm>
            <a:off x="9601200" y="1847088"/>
            <a:ext cx="1764792" cy="553212"/>
          </a:xfrm>
          <a:prstGeom prst="rect">
            <a:avLst/>
          </a:prstGeom>
          <a:noFill/>
          <a:ln/>
        </p:spPr>
        <p:txBody>
          <a:bodyPr wrap="square" lIns="0" tIns="0" rIns="0" bIns="0" rtlCol="0" anchor="ctr"/>
          <a:lstStyle/>
          <a:p>
            <a:pPr algn="r" indent="0" marL="0">
              <a:buNone/>
            </a:pPr>
            <a:r>
              <a:rPr lang="en-US" sz="1150" b="1" spc="50" kern="0" dirty="0">
                <a:solidFill>
                  <a:srgbClr val="6E6E73"/>
                </a:solidFill>
                <a:latin typeface="Helvetica Neue" pitchFamily="34" charset="0"/>
                <a:ea typeface="Helvetica Neue" pitchFamily="34" charset="-122"/>
                <a:cs typeface="Helvetica Neue" pitchFamily="34" charset="-120"/>
              </a:rPr>
              <a:t>15 min</a:t>
            </a:r>
            <a:endParaRPr lang="en-US" sz="1150" dirty="0"/>
          </a:p>
        </p:txBody>
      </p:sp>
      <p:sp>
        <p:nvSpPr>
          <p:cNvPr id="7" name="Shape 5"/>
          <p:cNvSpPr/>
          <p:nvPr/>
        </p:nvSpPr>
        <p:spPr>
          <a:xfrm>
            <a:off x="822960" y="2400300"/>
            <a:ext cx="10545775" cy="0"/>
          </a:xfrm>
          <a:prstGeom prst="line">
            <a:avLst/>
          </a:prstGeom>
          <a:noFill/>
          <a:ln w="9525">
            <a:solidFill>
              <a:srgbClr val="E3E3E6"/>
            </a:solidFill>
            <a:prstDash val="solid"/>
          </a:ln>
        </p:spPr>
        <p:txBody>
          <a:bodyPr/>
          <a:p/>
        </p:txBody>
      </p:sp>
      <p:sp>
        <p:nvSpPr>
          <p:cNvPr id="8" name="Text 6"/>
          <p:cNvSpPr/>
          <p:nvPr/>
        </p:nvSpPr>
        <p:spPr>
          <a:xfrm>
            <a:off x="822960" y="2400300"/>
            <a:ext cx="1143000" cy="553212"/>
          </a:xfrm>
          <a:prstGeom prst="rect">
            <a:avLst/>
          </a:prstGeom>
          <a:noFill/>
          <a:ln/>
        </p:spPr>
        <p:txBody>
          <a:bodyPr wrap="square" lIns="0" tIns="0" rIns="0" bIns="0" rtlCol="0" anchor="ctr"/>
          <a:lstStyle/>
          <a:p>
            <a:pPr indent="0" marL="0">
              <a:buNone/>
            </a:pPr>
            <a:r>
              <a:rPr lang="en-US" sz="1700" b="1" dirty="0">
                <a:solidFill>
                  <a:srgbClr val="0D7490"/>
                </a:solidFill>
                <a:latin typeface="Helvetica Neue" pitchFamily="34" charset="0"/>
                <a:ea typeface="Helvetica Neue" pitchFamily="34" charset="-122"/>
                <a:cs typeface="Helvetica Neue" pitchFamily="34" charset="-120"/>
              </a:rPr>
              <a:t>0:15</a:t>
            </a:r>
            <a:endParaRPr lang="en-US" sz="1700" dirty="0"/>
          </a:p>
        </p:txBody>
      </p:sp>
      <p:sp>
        <p:nvSpPr>
          <p:cNvPr id="9" name="Text 7"/>
          <p:cNvSpPr/>
          <p:nvPr/>
        </p:nvSpPr>
        <p:spPr>
          <a:xfrm>
            <a:off x="2148840" y="2400300"/>
            <a:ext cx="7360920" cy="553212"/>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The Multimeter</a:t>
            </a:r>
            <a:endParaRPr lang="en-US" sz="1600" dirty="0"/>
          </a:p>
        </p:txBody>
      </p:sp>
      <p:sp>
        <p:nvSpPr>
          <p:cNvPr id="10" name="Text 8"/>
          <p:cNvSpPr/>
          <p:nvPr/>
        </p:nvSpPr>
        <p:spPr>
          <a:xfrm>
            <a:off x="9601200" y="2400300"/>
            <a:ext cx="1764792" cy="553212"/>
          </a:xfrm>
          <a:prstGeom prst="rect">
            <a:avLst/>
          </a:prstGeom>
          <a:noFill/>
          <a:ln/>
        </p:spPr>
        <p:txBody>
          <a:bodyPr wrap="square" lIns="0" tIns="0" rIns="0" bIns="0" rtlCol="0" anchor="ctr"/>
          <a:lstStyle/>
          <a:p>
            <a:pPr algn="r" indent="0" marL="0">
              <a:buNone/>
            </a:pPr>
            <a:r>
              <a:rPr lang="en-US" sz="1150" b="1" spc="50" kern="0" dirty="0">
                <a:solidFill>
                  <a:srgbClr val="6E6E73"/>
                </a:solidFill>
                <a:latin typeface="Helvetica Neue" pitchFamily="34" charset="0"/>
                <a:ea typeface="Helvetica Neue" pitchFamily="34" charset="-122"/>
                <a:cs typeface="Helvetica Neue" pitchFamily="34" charset="-120"/>
              </a:rPr>
              <a:t>35 min</a:t>
            </a:r>
            <a:endParaRPr lang="en-US" sz="1150" dirty="0"/>
          </a:p>
        </p:txBody>
      </p:sp>
      <p:sp>
        <p:nvSpPr>
          <p:cNvPr id="11" name="Shape 9"/>
          <p:cNvSpPr/>
          <p:nvPr/>
        </p:nvSpPr>
        <p:spPr>
          <a:xfrm>
            <a:off x="822960" y="2953512"/>
            <a:ext cx="10545775" cy="0"/>
          </a:xfrm>
          <a:prstGeom prst="line">
            <a:avLst/>
          </a:prstGeom>
          <a:noFill/>
          <a:ln w="9525">
            <a:solidFill>
              <a:srgbClr val="E3E3E6"/>
            </a:solidFill>
            <a:prstDash val="solid"/>
          </a:ln>
        </p:spPr>
        <p:txBody>
          <a:bodyPr/>
          <a:p/>
        </p:txBody>
      </p:sp>
      <p:sp>
        <p:nvSpPr>
          <p:cNvPr id="12" name="Text 10"/>
          <p:cNvSpPr/>
          <p:nvPr/>
        </p:nvSpPr>
        <p:spPr>
          <a:xfrm>
            <a:off x="822960" y="2953512"/>
            <a:ext cx="1143000" cy="553212"/>
          </a:xfrm>
          <a:prstGeom prst="rect">
            <a:avLst/>
          </a:prstGeom>
          <a:noFill/>
          <a:ln/>
        </p:spPr>
        <p:txBody>
          <a:bodyPr wrap="square" lIns="0" tIns="0" rIns="0" bIns="0" rtlCol="0" anchor="ctr"/>
          <a:lstStyle/>
          <a:p>
            <a:pPr indent="0" marL="0">
              <a:buNone/>
            </a:pPr>
            <a:r>
              <a:rPr lang="en-US" sz="1700" b="1" dirty="0">
                <a:solidFill>
                  <a:srgbClr val="0D7490"/>
                </a:solidFill>
                <a:latin typeface="Helvetica Neue" pitchFamily="34" charset="0"/>
                <a:ea typeface="Helvetica Neue" pitchFamily="34" charset="-122"/>
                <a:cs typeface="Helvetica Neue" pitchFamily="34" charset="-120"/>
              </a:rPr>
              <a:t>0:50</a:t>
            </a:r>
            <a:endParaRPr lang="en-US" sz="1700" dirty="0"/>
          </a:p>
        </p:txBody>
      </p:sp>
      <p:sp>
        <p:nvSpPr>
          <p:cNvPr id="13" name="Text 11"/>
          <p:cNvSpPr/>
          <p:nvPr/>
        </p:nvSpPr>
        <p:spPr>
          <a:xfrm>
            <a:off x="2148840" y="2953512"/>
            <a:ext cx="7360920" cy="553212"/>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How Switches Work</a:t>
            </a:r>
            <a:endParaRPr lang="en-US" sz="1600" dirty="0"/>
          </a:p>
        </p:txBody>
      </p:sp>
      <p:sp>
        <p:nvSpPr>
          <p:cNvPr id="14" name="Text 12"/>
          <p:cNvSpPr/>
          <p:nvPr/>
        </p:nvSpPr>
        <p:spPr>
          <a:xfrm>
            <a:off x="9601200" y="2953512"/>
            <a:ext cx="1764792" cy="553212"/>
          </a:xfrm>
          <a:prstGeom prst="rect">
            <a:avLst/>
          </a:prstGeom>
          <a:noFill/>
          <a:ln/>
        </p:spPr>
        <p:txBody>
          <a:bodyPr wrap="square" lIns="0" tIns="0" rIns="0" bIns="0" rtlCol="0" anchor="ctr"/>
          <a:lstStyle/>
          <a:p>
            <a:pPr algn="r" indent="0" marL="0">
              <a:buNone/>
            </a:pPr>
            <a:r>
              <a:rPr lang="en-US" sz="1150" b="1" spc="50" kern="0" dirty="0">
                <a:solidFill>
                  <a:srgbClr val="6E6E73"/>
                </a:solidFill>
                <a:latin typeface="Helvetica Neue" pitchFamily="34" charset="0"/>
                <a:ea typeface="Helvetica Neue" pitchFamily="34" charset="-122"/>
                <a:cs typeface="Helvetica Neue" pitchFamily="34" charset="-120"/>
              </a:rPr>
              <a:t>20 min</a:t>
            </a:r>
            <a:endParaRPr lang="en-US" sz="1150" dirty="0"/>
          </a:p>
        </p:txBody>
      </p:sp>
      <p:sp>
        <p:nvSpPr>
          <p:cNvPr id="15" name="Shape 13"/>
          <p:cNvSpPr/>
          <p:nvPr/>
        </p:nvSpPr>
        <p:spPr>
          <a:xfrm>
            <a:off x="822960" y="3506724"/>
            <a:ext cx="10545775" cy="0"/>
          </a:xfrm>
          <a:prstGeom prst="line">
            <a:avLst/>
          </a:prstGeom>
          <a:noFill/>
          <a:ln w="9525">
            <a:solidFill>
              <a:srgbClr val="E3E3E6"/>
            </a:solidFill>
            <a:prstDash val="solid"/>
          </a:ln>
        </p:spPr>
        <p:txBody>
          <a:bodyPr/>
          <a:p/>
        </p:txBody>
      </p:sp>
      <p:sp>
        <p:nvSpPr>
          <p:cNvPr id="16" name="Text 14"/>
          <p:cNvSpPr/>
          <p:nvPr/>
        </p:nvSpPr>
        <p:spPr>
          <a:xfrm>
            <a:off x="822960" y="3506724"/>
            <a:ext cx="1143000" cy="553212"/>
          </a:xfrm>
          <a:prstGeom prst="rect">
            <a:avLst/>
          </a:prstGeom>
          <a:noFill/>
          <a:ln/>
        </p:spPr>
        <p:txBody>
          <a:bodyPr wrap="square" lIns="0" tIns="0" rIns="0" bIns="0" rtlCol="0" anchor="ctr"/>
          <a:lstStyle/>
          <a:p>
            <a:pPr indent="0" marL="0">
              <a:buNone/>
            </a:pPr>
            <a:r>
              <a:rPr lang="en-US" sz="1700" b="1" dirty="0">
                <a:solidFill>
                  <a:srgbClr val="0D7490"/>
                </a:solidFill>
                <a:latin typeface="Helvetica Neue" pitchFamily="34" charset="0"/>
                <a:ea typeface="Helvetica Neue" pitchFamily="34" charset="-122"/>
                <a:cs typeface="Helvetica Neue" pitchFamily="34" charset="-120"/>
              </a:rPr>
              <a:t>1:10</a:t>
            </a:r>
            <a:endParaRPr lang="en-US" sz="1700" dirty="0"/>
          </a:p>
        </p:txBody>
      </p:sp>
      <p:sp>
        <p:nvSpPr>
          <p:cNvPr id="17" name="Text 15"/>
          <p:cNvSpPr/>
          <p:nvPr/>
        </p:nvSpPr>
        <p:spPr>
          <a:xfrm>
            <a:off x="2148840" y="3506724"/>
            <a:ext cx="7360920" cy="553212"/>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Simple Circuits Lab</a:t>
            </a:r>
            <a:endParaRPr lang="en-US" sz="1600" dirty="0"/>
          </a:p>
        </p:txBody>
      </p:sp>
      <p:sp>
        <p:nvSpPr>
          <p:cNvPr id="18" name="Text 16"/>
          <p:cNvSpPr/>
          <p:nvPr/>
        </p:nvSpPr>
        <p:spPr>
          <a:xfrm>
            <a:off x="9601200" y="3506724"/>
            <a:ext cx="1764792" cy="553212"/>
          </a:xfrm>
          <a:prstGeom prst="rect">
            <a:avLst/>
          </a:prstGeom>
          <a:noFill/>
          <a:ln/>
        </p:spPr>
        <p:txBody>
          <a:bodyPr wrap="square" lIns="0" tIns="0" rIns="0" bIns="0" rtlCol="0" anchor="ctr"/>
          <a:lstStyle/>
          <a:p>
            <a:pPr algn="r" indent="0" marL="0">
              <a:buNone/>
            </a:pPr>
            <a:r>
              <a:rPr lang="en-US" sz="1150" b="1" spc="50" kern="0" dirty="0">
                <a:solidFill>
                  <a:srgbClr val="6E6E73"/>
                </a:solidFill>
                <a:latin typeface="Helvetica Neue" pitchFamily="34" charset="0"/>
                <a:ea typeface="Helvetica Neue" pitchFamily="34" charset="-122"/>
                <a:cs typeface="Helvetica Neue" pitchFamily="34" charset="-120"/>
              </a:rPr>
              <a:t>30 min</a:t>
            </a:r>
            <a:endParaRPr lang="en-US" sz="1150" dirty="0"/>
          </a:p>
        </p:txBody>
      </p:sp>
      <p:sp>
        <p:nvSpPr>
          <p:cNvPr id="19" name="Shape 17"/>
          <p:cNvSpPr/>
          <p:nvPr/>
        </p:nvSpPr>
        <p:spPr>
          <a:xfrm>
            <a:off x="822960" y="4059936"/>
            <a:ext cx="10545775" cy="0"/>
          </a:xfrm>
          <a:prstGeom prst="line">
            <a:avLst/>
          </a:prstGeom>
          <a:noFill/>
          <a:ln w="9525">
            <a:solidFill>
              <a:srgbClr val="E3E3E6"/>
            </a:solidFill>
            <a:prstDash val="solid"/>
          </a:ln>
        </p:spPr>
        <p:txBody>
          <a:bodyPr/>
          <a:p/>
        </p:txBody>
      </p:sp>
      <p:sp>
        <p:nvSpPr>
          <p:cNvPr id="20" name="Text 18"/>
          <p:cNvSpPr/>
          <p:nvPr/>
        </p:nvSpPr>
        <p:spPr>
          <a:xfrm>
            <a:off x="822960" y="4059936"/>
            <a:ext cx="1143000" cy="553212"/>
          </a:xfrm>
          <a:prstGeom prst="rect">
            <a:avLst/>
          </a:prstGeom>
          <a:noFill/>
          <a:ln/>
        </p:spPr>
        <p:txBody>
          <a:bodyPr wrap="square" lIns="0" tIns="0" rIns="0" bIns="0" rtlCol="0" anchor="ctr"/>
          <a:lstStyle/>
          <a:p>
            <a:pPr indent="0" marL="0">
              <a:buNone/>
            </a:pPr>
            <a:r>
              <a:rPr lang="en-US" sz="1700" b="1" dirty="0">
                <a:solidFill>
                  <a:srgbClr val="0D7490"/>
                </a:solidFill>
                <a:latin typeface="Helvetica Neue" pitchFamily="34" charset="0"/>
                <a:ea typeface="Helvetica Neue" pitchFamily="34" charset="-122"/>
                <a:cs typeface="Helvetica Neue" pitchFamily="34" charset="-120"/>
              </a:rPr>
              <a:t>1:40</a:t>
            </a:r>
            <a:endParaRPr lang="en-US" sz="1700" dirty="0"/>
          </a:p>
        </p:txBody>
      </p:sp>
      <p:sp>
        <p:nvSpPr>
          <p:cNvPr id="21" name="Text 19"/>
          <p:cNvSpPr/>
          <p:nvPr/>
        </p:nvSpPr>
        <p:spPr>
          <a:xfrm>
            <a:off x="2148840" y="4059936"/>
            <a:ext cx="7360920" cy="553212"/>
          </a:xfrm>
          <a:prstGeom prst="rect">
            <a:avLst/>
          </a:prstGeom>
          <a:noFill/>
          <a:ln/>
        </p:spPr>
        <p:txBody>
          <a:bodyPr wrap="square" lIns="0" tIns="0" rIns="0" bIns="0" rtlCol="0" anchor="ctr"/>
          <a:lstStyle/>
          <a:p>
            <a:pPr indent="0" marL="0">
              <a:buNone/>
            </a:pPr>
            <a:r>
              <a:rPr lang="en-US" sz="1600" i="1" dirty="0">
                <a:solidFill>
                  <a:srgbClr val="86868B"/>
                </a:solidFill>
                <a:latin typeface="Helvetica Neue" pitchFamily="34" charset="0"/>
                <a:ea typeface="Helvetica Neue" pitchFamily="34" charset="-122"/>
                <a:cs typeface="Helvetica Neue" pitchFamily="34" charset="-120"/>
              </a:rPr>
              <a:t>Break</a:t>
            </a:r>
            <a:endParaRPr lang="en-US" sz="1600" dirty="0"/>
          </a:p>
        </p:txBody>
      </p:sp>
      <p:sp>
        <p:nvSpPr>
          <p:cNvPr id="22" name="Text 20"/>
          <p:cNvSpPr/>
          <p:nvPr/>
        </p:nvSpPr>
        <p:spPr>
          <a:xfrm>
            <a:off x="9601200" y="4059936"/>
            <a:ext cx="1764792" cy="553212"/>
          </a:xfrm>
          <a:prstGeom prst="rect">
            <a:avLst/>
          </a:prstGeom>
          <a:noFill/>
          <a:ln/>
        </p:spPr>
        <p:txBody>
          <a:bodyPr wrap="square" lIns="0" tIns="0" rIns="0" bIns="0" rtlCol="0" anchor="ctr"/>
          <a:lstStyle/>
          <a:p>
            <a:pPr algn="r" indent="0" marL="0">
              <a:buNone/>
            </a:pPr>
            <a:r>
              <a:rPr lang="en-US" sz="1150" b="1" spc="50" kern="0" dirty="0">
                <a:solidFill>
                  <a:srgbClr val="6E6E73"/>
                </a:solidFill>
                <a:latin typeface="Helvetica Neue" pitchFamily="34" charset="0"/>
                <a:ea typeface="Helvetica Neue" pitchFamily="34" charset="-122"/>
                <a:cs typeface="Helvetica Neue" pitchFamily="34" charset="-120"/>
              </a:rPr>
              <a:t>10 min</a:t>
            </a:r>
            <a:endParaRPr lang="en-US" sz="1150" dirty="0"/>
          </a:p>
        </p:txBody>
      </p:sp>
      <p:sp>
        <p:nvSpPr>
          <p:cNvPr id="23" name="Shape 21"/>
          <p:cNvSpPr/>
          <p:nvPr/>
        </p:nvSpPr>
        <p:spPr>
          <a:xfrm>
            <a:off x="822960" y="4613148"/>
            <a:ext cx="10545775" cy="0"/>
          </a:xfrm>
          <a:prstGeom prst="line">
            <a:avLst/>
          </a:prstGeom>
          <a:noFill/>
          <a:ln w="9525">
            <a:solidFill>
              <a:srgbClr val="E3E3E6"/>
            </a:solidFill>
            <a:prstDash val="solid"/>
          </a:ln>
        </p:spPr>
        <p:txBody>
          <a:bodyPr/>
          <a:p/>
        </p:txBody>
      </p:sp>
      <p:sp>
        <p:nvSpPr>
          <p:cNvPr id="24" name="Text 22"/>
          <p:cNvSpPr/>
          <p:nvPr/>
        </p:nvSpPr>
        <p:spPr>
          <a:xfrm>
            <a:off x="822960" y="4613148"/>
            <a:ext cx="1143000" cy="553212"/>
          </a:xfrm>
          <a:prstGeom prst="rect">
            <a:avLst/>
          </a:prstGeom>
          <a:noFill/>
          <a:ln/>
        </p:spPr>
        <p:txBody>
          <a:bodyPr wrap="square" lIns="0" tIns="0" rIns="0" bIns="0" rtlCol="0" anchor="ctr"/>
          <a:lstStyle/>
          <a:p>
            <a:pPr indent="0" marL="0">
              <a:buNone/>
            </a:pPr>
            <a:r>
              <a:rPr lang="en-US" sz="1700" b="1" dirty="0">
                <a:solidFill>
                  <a:srgbClr val="0D7490"/>
                </a:solidFill>
                <a:latin typeface="Helvetica Neue" pitchFamily="34" charset="0"/>
                <a:ea typeface="Helvetica Neue" pitchFamily="34" charset="-122"/>
                <a:cs typeface="Helvetica Neue" pitchFamily="34" charset="-120"/>
              </a:rPr>
              <a:t>1:50</a:t>
            </a:r>
            <a:endParaRPr lang="en-US" sz="1700" dirty="0"/>
          </a:p>
        </p:txBody>
      </p:sp>
      <p:sp>
        <p:nvSpPr>
          <p:cNvPr id="25" name="Text 23"/>
          <p:cNvSpPr/>
          <p:nvPr/>
        </p:nvSpPr>
        <p:spPr>
          <a:xfrm>
            <a:off x="2148840" y="4613148"/>
            <a:ext cx="7360920" cy="553212"/>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Build &amp; Measure a Circuit</a:t>
            </a:r>
            <a:endParaRPr lang="en-US" sz="1600" dirty="0"/>
          </a:p>
        </p:txBody>
      </p:sp>
      <p:sp>
        <p:nvSpPr>
          <p:cNvPr id="26" name="Text 24"/>
          <p:cNvSpPr/>
          <p:nvPr/>
        </p:nvSpPr>
        <p:spPr>
          <a:xfrm>
            <a:off x="9601200" y="4613148"/>
            <a:ext cx="1764792" cy="553212"/>
          </a:xfrm>
          <a:prstGeom prst="rect">
            <a:avLst/>
          </a:prstGeom>
          <a:noFill/>
          <a:ln/>
        </p:spPr>
        <p:txBody>
          <a:bodyPr wrap="square" lIns="0" tIns="0" rIns="0" bIns="0" rtlCol="0" anchor="ctr"/>
          <a:lstStyle/>
          <a:p>
            <a:pPr algn="r" indent="0" marL="0">
              <a:buNone/>
            </a:pPr>
            <a:r>
              <a:rPr lang="en-US" sz="1150" b="1" spc="50" kern="0" dirty="0">
                <a:solidFill>
                  <a:srgbClr val="6E6E73"/>
                </a:solidFill>
                <a:latin typeface="Helvetica Neue" pitchFamily="34" charset="0"/>
                <a:ea typeface="Helvetica Neue" pitchFamily="34" charset="-122"/>
                <a:cs typeface="Helvetica Neue" pitchFamily="34" charset="-120"/>
              </a:rPr>
              <a:t>40 min</a:t>
            </a:r>
            <a:endParaRPr lang="en-US" sz="1150" dirty="0"/>
          </a:p>
        </p:txBody>
      </p:sp>
      <p:sp>
        <p:nvSpPr>
          <p:cNvPr id="27" name="Shape 25"/>
          <p:cNvSpPr/>
          <p:nvPr/>
        </p:nvSpPr>
        <p:spPr>
          <a:xfrm>
            <a:off x="822960" y="5166360"/>
            <a:ext cx="10545775" cy="0"/>
          </a:xfrm>
          <a:prstGeom prst="line">
            <a:avLst/>
          </a:prstGeom>
          <a:noFill/>
          <a:ln w="9525">
            <a:solidFill>
              <a:srgbClr val="E3E3E6"/>
            </a:solidFill>
            <a:prstDash val="solid"/>
          </a:ln>
        </p:spPr>
        <p:txBody>
          <a:bodyPr/>
          <a:p/>
        </p:txBody>
      </p:sp>
      <p:sp>
        <p:nvSpPr>
          <p:cNvPr id="28" name="Text 26"/>
          <p:cNvSpPr/>
          <p:nvPr/>
        </p:nvSpPr>
        <p:spPr>
          <a:xfrm>
            <a:off x="822960" y="5166360"/>
            <a:ext cx="1143000" cy="553212"/>
          </a:xfrm>
          <a:prstGeom prst="rect">
            <a:avLst/>
          </a:prstGeom>
          <a:noFill/>
          <a:ln/>
        </p:spPr>
        <p:txBody>
          <a:bodyPr wrap="square" lIns="0" tIns="0" rIns="0" bIns="0" rtlCol="0" anchor="ctr"/>
          <a:lstStyle/>
          <a:p>
            <a:pPr indent="0" marL="0">
              <a:buNone/>
            </a:pPr>
            <a:r>
              <a:rPr lang="en-US" sz="1700" b="1" dirty="0">
                <a:solidFill>
                  <a:srgbClr val="0D7490"/>
                </a:solidFill>
                <a:latin typeface="Helvetica Neue" pitchFamily="34" charset="0"/>
                <a:ea typeface="Helvetica Neue" pitchFamily="34" charset="-122"/>
                <a:cs typeface="Helvetica Neue" pitchFamily="34" charset="-120"/>
              </a:rPr>
              <a:t>2:30</a:t>
            </a:r>
            <a:endParaRPr lang="en-US" sz="1700" dirty="0"/>
          </a:p>
        </p:txBody>
      </p:sp>
      <p:sp>
        <p:nvSpPr>
          <p:cNvPr id="29" name="Text 27"/>
          <p:cNvSpPr/>
          <p:nvPr/>
        </p:nvSpPr>
        <p:spPr>
          <a:xfrm>
            <a:off x="2148840" y="5166360"/>
            <a:ext cx="7360920" cy="553212"/>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The Electrical Symbols Sheet</a:t>
            </a:r>
            <a:endParaRPr lang="en-US" sz="1600" dirty="0"/>
          </a:p>
        </p:txBody>
      </p:sp>
      <p:sp>
        <p:nvSpPr>
          <p:cNvPr id="30" name="Text 28"/>
          <p:cNvSpPr/>
          <p:nvPr/>
        </p:nvSpPr>
        <p:spPr>
          <a:xfrm>
            <a:off x="9601200" y="5166360"/>
            <a:ext cx="1764792" cy="553212"/>
          </a:xfrm>
          <a:prstGeom prst="rect">
            <a:avLst/>
          </a:prstGeom>
          <a:noFill/>
          <a:ln/>
        </p:spPr>
        <p:txBody>
          <a:bodyPr wrap="square" lIns="0" tIns="0" rIns="0" bIns="0" rtlCol="0" anchor="ctr"/>
          <a:lstStyle/>
          <a:p>
            <a:pPr algn="r" indent="0" marL="0">
              <a:buNone/>
            </a:pPr>
            <a:r>
              <a:rPr lang="en-US" sz="1150" b="1" spc="50" kern="0" dirty="0">
                <a:solidFill>
                  <a:srgbClr val="6E6E73"/>
                </a:solidFill>
                <a:latin typeface="Helvetica Neue" pitchFamily="34" charset="0"/>
                <a:ea typeface="Helvetica Neue" pitchFamily="34" charset="-122"/>
                <a:cs typeface="Helvetica Neue" pitchFamily="34" charset="-120"/>
              </a:rPr>
              <a:t>20 min</a:t>
            </a:r>
            <a:endParaRPr lang="en-US" sz="1150" dirty="0"/>
          </a:p>
        </p:txBody>
      </p:sp>
      <p:sp>
        <p:nvSpPr>
          <p:cNvPr id="31" name="Shape 29"/>
          <p:cNvSpPr/>
          <p:nvPr/>
        </p:nvSpPr>
        <p:spPr>
          <a:xfrm>
            <a:off x="822960" y="5719572"/>
            <a:ext cx="10545775" cy="0"/>
          </a:xfrm>
          <a:prstGeom prst="line">
            <a:avLst/>
          </a:prstGeom>
          <a:noFill/>
          <a:ln w="9525">
            <a:solidFill>
              <a:srgbClr val="E3E3E6"/>
            </a:solidFill>
            <a:prstDash val="solid"/>
          </a:ln>
        </p:spPr>
        <p:txBody>
          <a:bodyPr/>
          <a:p/>
        </p:txBody>
      </p:sp>
      <p:sp>
        <p:nvSpPr>
          <p:cNvPr id="32" name="Text 30"/>
          <p:cNvSpPr/>
          <p:nvPr/>
        </p:nvSpPr>
        <p:spPr>
          <a:xfrm>
            <a:off x="822960" y="5719572"/>
            <a:ext cx="1143000" cy="553212"/>
          </a:xfrm>
          <a:prstGeom prst="rect">
            <a:avLst/>
          </a:prstGeom>
          <a:noFill/>
          <a:ln/>
        </p:spPr>
        <p:txBody>
          <a:bodyPr wrap="square" lIns="0" tIns="0" rIns="0" bIns="0" rtlCol="0" anchor="ctr"/>
          <a:lstStyle/>
          <a:p>
            <a:pPr indent="0" marL="0">
              <a:buNone/>
            </a:pPr>
            <a:r>
              <a:rPr lang="en-US" sz="1700" b="1" dirty="0">
                <a:solidFill>
                  <a:srgbClr val="0D7490"/>
                </a:solidFill>
                <a:latin typeface="Helvetica Neue" pitchFamily="34" charset="0"/>
                <a:ea typeface="Helvetica Neue" pitchFamily="34" charset="-122"/>
                <a:cs typeface="Helvetica Neue" pitchFamily="34" charset="-120"/>
              </a:rPr>
              <a:t>2:50</a:t>
            </a:r>
            <a:endParaRPr lang="en-US" sz="1700" dirty="0"/>
          </a:p>
        </p:txBody>
      </p:sp>
      <p:sp>
        <p:nvSpPr>
          <p:cNvPr id="33" name="Text 31"/>
          <p:cNvSpPr/>
          <p:nvPr/>
        </p:nvSpPr>
        <p:spPr>
          <a:xfrm>
            <a:off x="2148840" y="5719572"/>
            <a:ext cx="7360920" cy="553212"/>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Wrap-up &amp; homework</a:t>
            </a:r>
            <a:endParaRPr lang="en-US" sz="1600" dirty="0"/>
          </a:p>
        </p:txBody>
      </p:sp>
      <p:sp>
        <p:nvSpPr>
          <p:cNvPr id="34" name="Text 32"/>
          <p:cNvSpPr/>
          <p:nvPr/>
        </p:nvSpPr>
        <p:spPr>
          <a:xfrm>
            <a:off x="9601200" y="5719572"/>
            <a:ext cx="1764792" cy="553212"/>
          </a:xfrm>
          <a:prstGeom prst="rect">
            <a:avLst/>
          </a:prstGeom>
          <a:noFill/>
          <a:ln/>
        </p:spPr>
        <p:txBody>
          <a:bodyPr wrap="square" lIns="0" tIns="0" rIns="0" bIns="0" rtlCol="0" anchor="ctr"/>
          <a:lstStyle/>
          <a:p>
            <a:pPr algn="r" indent="0" marL="0">
              <a:buNone/>
            </a:pPr>
            <a:r>
              <a:rPr lang="en-US" sz="1150" b="1" spc="50" kern="0" dirty="0">
                <a:solidFill>
                  <a:srgbClr val="6E6E73"/>
                </a:solidFill>
                <a:latin typeface="Helvetica Neue" pitchFamily="34" charset="0"/>
                <a:ea typeface="Helvetica Neue" pitchFamily="34" charset="-122"/>
                <a:cs typeface="Helvetica Neue" pitchFamily="34" charset="-120"/>
              </a:rPr>
              <a:t>10 min</a:t>
            </a:r>
            <a:endParaRPr lang="en-US" sz="1150" dirty="0"/>
          </a:p>
        </p:txBody>
      </p:sp>
      <p:sp>
        <p:nvSpPr>
          <p:cNvPr id="35" name="Text 33"/>
          <p:cNvSpPr/>
          <p:nvPr/>
        </p:nvSpPr>
        <p:spPr>
          <a:xfrm>
            <a:off x="822960" y="6327648"/>
            <a:ext cx="10545775" cy="0"/>
          </a:xfrm>
          <a:prstGeom prst="rect">
            <a:avLst/>
          </a:prstGeom>
          <a:noFill/>
          <a:ln/>
        </p:spPr>
        <p:txBody>
          <a:bodyPr wrap="square" lIns="0" tIns="0" rIns="0" bIns="0" rtlCol="0" anchor="ctr"/>
          <a:lstStyle/>
          <a:p>
            <a:pPr indent="0" marL="0">
              <a:buNone/>
            </a:pPr>
            <a:r>
              <a:rPr lang="en-US" sz="10" dirty="0">
                <a:solidFill>
                  <a:srgbClr val="FFFFFF"/>
                </a:solidFill>
                <a:latin typeface="Helvetica Neue" pitchFamily="34" charset="0"/>
                <a:ea typeface="Helvetica Neue" pitchFamily="34" charset="-122"/>
                <a:cs typeface="Helvetica Neue" pitchFamily="34" charset="-120"/>
              </a:rPr>
              <a:t>We run on time. Every block has a clock, and we hold to it — that habit is part of the engineering.</a:t>
            </a:r>
            <a:endParaRPr lang="en-US" sz="10" dirty="0"/>
          </a:p>
        </p:txBody>
      </p:sp>
      <p:sp>
        <p:nvSpPr>
          <p:cNvPr id="36" name="Shape 34"/>
          <p:cNvSpPr/>
          <p:nvPr/>
        </p:nvSpPr>
        <p:spPr>
          <a:xfrm>
            <a:off x="822960" y="6437376"/>
            <a:ext cx="10545775" cy="0"/>
          </a:xfrm>
          <a:prstGeom prst="line">
            <a:avLst/>
          </a:prstGeom>
          <a:noFill/>
          <a:ln w="9525">
            <a:solidFill>
              <a:srgbClr val="E3E3E6"/>
            </a:solidFill>
            <a:prstDash val="solid"/>
          </a:ln>
        </p:spPr>
        <p:txBody>
          <a:bodyPr/>
          <a:p/>
        </p:txBody>
      </p:sp>
      <p:sp>
        <p:nvSpPr>
          <p:cNvPr id="37" name="Text 35"/>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38" name="Text 36"/>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CLASS 1.4 — ELECTRONICS WORKSHOP   ·   2 / 19</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BFD"/>
        </a:solidFill>
      </p:bgPr>
    </p:bg>
    <p:spTree>
      <p:nvGrpSpPr>
        <p:cNvPr id="1" name=""/>
        <p:cNvGrpSpPr/>
        <p:nvPr/>
      </p:nvGrpSpPr>
      <p:grpSpPr>
        <a:xfrm>
          <a:off x="0" y="0"/>
          <a:ext cx="0" cy="0"/>
          <a:chOff x="0" y="0"/>
          <a:chExt cx="0" cy="0"/>
        </a:xfrm>
      </p:grpSpPr>
      <p:sp>
        <p:nvSpPr>
          <p:cNvPr id="2" name="Text 0"/>
          <p:cNvSpPr/>
          <p:nvPr/>
        </p:nvSpPr>
        <p:spPr>
          <a:xfrm>
            <a:off x="4572000" y="182880"/>
            <a:ext cx="7315200" cy="6492240"/>
          </a:xfrm>
          <a:prstGeom prst="rect">
            <a:avLst/>
          </a:prstGeom>
          <a:noFill/>
          <a:ln/>
        </p:spPr>
        <p:txBody>
          <a:bodyPr wrap="square" lIns="0" tIns="0" rIns="0" bIns="0" rtlCol="0" anchor="ctr"/>
          <a:lstStyle/>
          <a:p>
            <a:pPr algn="r" indent="0" marL="0">
              <a:buNone/>
            </a:pPr>
            <a:r>
              <a:rPr lang="en-US" sz="36000" b="1" dirty="0">
                <a:solidFill>
                  <a:srgbClr val="EEF0F1"/>
                </a:solidFill>
                <a:latin typeface="Helvetica Neue" pitchFamily="34" charset="0"/>
                <a:ea typeface="Helvetica Neue" pitchFamily="34" charset="-122"/>
                <a:cs typeface="Helvetica Neue" pitchFamily="34" charset="-120"/>
              </a:rPr>
              <a:t>01</a:t>
            </a:r>
            <a:endParaRPr lang="en-US" sz="36000" dirty="0"/>
          </a:p>
        </p:txBody>
      </p:sp>
      <p:sp>
        <p:nvSpPr>
          <p:cNvPr id="3" name="Shape 1"/>
          <p:cNvSpPr/>
          <p:nvPr/>
        </p:nvSpPr>
        <p:spPr>
          <a:xfrm>
            <a:off x="841248" y="2395728"/>
            <a:ext cx="566928" cy="91440"/>
          </a:xfrm>
          <a:prstGeom prst="rect">
            <a:avLst/>
          </a:prstGeom>
          <a:solidFill>
            <a:srgbClr val="0D7490"/>
          </a:solidFill>
          <a:ln/>
        </p:spPr>
        <p:txBody>
          <a:bodyPr/>
          <a:p/>
        </p:txBody>
      </p:sp>
      <p:sp>
        <p:nvSpPr>
          <p:cNvPr id="4" name="Text 2"/>
          <p:cNvSpPr/>
          <p:nvPr/>
        </p:nvSpPr>
        <p:spPr>
          <a:xfrm>
            <a:off x="822960" y="2615184"/>
            <a:ext cx="6400800" cy="310896"/>
          </a:xfrm>
          <a:prstGeom prst="rect">
            <a:avLst/>
          </a:prstGeom>
          <a:noFill/>
          <a:ln/>
        </p:spPr>
        <p:txBody>
          <a:bodyPr wrap="square" lIns="0" tIns="0" rIns="0" bIns="0" rtlCol="0" anchor="ctr"/>
          <a:lstStyle/>
          <a:p>
            <a:pPr indent="0" marL="0">
              <a:buNone/>
            </a:pPr>
            <a:r>
              <a:rPr lang="en-US" sz="1300" b="1" spc="250" kern="0" dirty="0">
                <a:solidFill>
                  <a:srgbClr val="0D7490"/>
                </a:solidFill>
                <a:latin typeface="Helvetica Neue" pitchFamily="34" charset="0"/>
                <a:ea typeface="Helvetica Neue" pitchFamily="34" charset="-122"/>
                <a:cs typeface="Helvetica Neue" pitchFamily="34" charset="-120"/>
              </a:rPr>
              <a:t>SECTION 01</a:t>
            </a:r>
            <a:endParaRPr lang="en-US" sz="1300" dirty="0"/>
          </a:p>
        </p:txBody>
      </p:sp>
      <p:sp>
        <p:nvSpPr>
          <p:cNvPr id="5" name="Text 3"/>
          <p:cNvSpPr/>
          <p:nvPr/>
        </p:nvSpPr>
        <p:spPr>
          <a:xfrm>
            <a:off x="786384" y="2926080"/>
            <a:ext cx="6949440" cy="1371600"/>
          </a:xfrm>
          <a:prstGeom prst="rect">
            <a:avLst/>
          </a:prstGeom>
          <a:noFill/>
          <a:ln/>
        </p:spPr>
        <p:txBody>
          <a:bodyPr wrap="square" lIns="0" tIns="0" rIns="0" bIns="0" rtlCol="0" anchor="ctr"/>
          <a:lstStyle/>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Welcome &amp;</a:t>
            </a:r>
            <a:endParaRPr lang="en-US" sz="4000" dirty="0"/>
          </a:p>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Safety Brief</a:t>
            </a:r>
            <a:endParaRPr lang="en-US" sz="4000" dirty="0"/>
          </a:p>
        </p:txBody>
      </p:sp>
      <p:sp>
        <p:nvSpPr>
          <p:cNvPr id="6" name="Shape 4"/>
          <p:cNvSpPr/>
          <p:nvPr/>
        </p:nvSpPr>
        <p:spPr>
          <a:xfrm>
            <a:off x="841248" y="4370832"/>
            <a:ext cx="2971800" cy="420624"/>
          </a:xfrm>
          <a:prstGeom prst="roundRect">
            <a:avLst>
              <a:gd name="adj" fmla="val 50000"/>
            </a:avLst>
          </a:prstGeom>
          <a:solidFill>
            <a:srgbClr val="0D7490"/>
          </a:solidFill>
          <a:ln/>
        </p:spPr>
        <p:txBody>
          <a:bodyPr/>
          <a:p/>
        </p:txBody>
      </p:sp>
      <p:sp>
        <p:nvSpPr>
          <p:cNvPr id="7" name="Text 5"/>
          <p:cNvSpPr/>
          <p:nvPr/>
        </p:nvSpPr>
        <p:spPr>
          <a:xfrm>
            <a:off x="841248" y="4370832"/>
            <a:ext cx="2971800" cy="420624"/>
          </a:xfrm>
          <a:prstGeom prst="rect">
            <a:avLst/>
          </a:prstGeom>
          <a:noFill/>
          <a:ln/>
        </p:spPr>
        <p:txBody>
          <a:bodyPr wrap="square" lIns="0" tIns="0" rIns="0" bIns="0" rtlCol="0" anchor="ctr"/>
          <a:lstStyle/>
          <a:p>
            <a:pPr algn="ctr" indent="0" marL="0">
              <a:buNone/>
            </a:pPr>
            <a:r>
              <a:rPr lang="en-US" sz="1050" b="1" spc="150" kern="0" dirty="0">
                <a:solidFill>
                  <a:srgbClr val="FFFFFF"/>
                </a:solidFill>
                <a:latin typeface="Helvetica Neue" pitchFamily="34" charset="0"/>
                <a:ea typeface="Helvetica Neue" pitchFamily="34" charset="-122"/>
                <a:cs typeface="Helvetica Neue" pitchFamily="34" charset="-120"/>
              </a:rPr>
              <a:t>0:00 – 0:15   ·   15 MIN</a:t>
            </a:r>
            <a:endParaRPr lang="en-US" sz="1050" dirty="0"/>
          </a:p>
        </p:txBody>
      </p:sp>
      <p:sp>
        <p:nvSpPr>
          <p:cNvPr id="8" name="Text 6"/>
          <p:cNvSpPr/>
          <p:nvPr/>
        </p:nvSpPr>
        <p:spPr>
          <a:xfrm>
            <a:off x="841248" y="5029200"/>
            <a:ext cx="6126480" cy="1005840"/>
          </a:xfrm>
          <a:prstGeom prst="rect">
            <a:avLst/>
          </a:prstGeom>
          <a:noFill/>
          <a:ln/>
        </p:spPr>
        <p:txBody>
          <a:bodyPr wrap="square" lIns="0" tIns="0" rIns="0" bIns="0" rtlCol="0" anchor="ctr"/>
          <a:lstStyle/>
          <a:p>
            <a:pPr indent="0" marL="0">
              <a:lnSpc>
                <a:spcPts val="2200"/>
              </a:lnSpc>
              <a:buNone/>
            </a:pPr>
            <a:r>
              <a:rPr lang="en-US" sz="1500" i="1" dirty="0">
                <a:solidFill>
                  <a:srgbClr val="6E6E73"/>
                </a:solidFill>
                <a:latin typeface="Helvetica Neue" pitchFamily="34" charset="0"/>
                <a:ea typeface="Helvetica Neue" pitchFamily="34" charset="-122"/>
                <a:cs typeface="Helvetica Neue" pitchFamily="34" charset="-120"/>
              </a:rPr>
              <a:t>Every meeting we ever hold will begin in exactly this place.</a:t>
            </a:r>
            <a:endParaRPr lang="en-US" sz="1500" dirty="0"/>
          </a:p>
        </p:txBody>
      </p:sp>
      <p:sp>
        <p:nvSpPr>
          <p:cNvPr id="9" name="Shape 7"/>
          <p:cNvSpPr/>
          <p:nvPr/>
        </p:nvSpPr>
        <p:spPr>
          <a:xfrm>
            <a:off x="822960" y="6437376"/>
            <a:ext cx="10545775" cy="0"/>
          </a:xfrm>
          <a:prstGeom prst="line">
            <a:avLst/>
          </a:prstGeom>
          <a:noFill/>
          <a:ln w="9525">
            <a:solidFill>
              <a:srgbClr val="E3E3E6"/>
            </a:solidFill>
            <a:prstDash val="solid"/>
          </a:ln>
        </p:spPr>
        <p:txBody>
          <a:bodyPr/>
          <a:p/>
        </p:txBody>
      </p:sp>
      <p:sp>
        <p:nvSpPr>
          <p:cNvPr id="10" name="Text 8"/>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11" name="Text 9"/>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CLASS 1.4 — ELECTRONICS WORKSHOP   ·   4 / 19</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THE STANDING RITUAL</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Every meeting opens with a safety brief.</a:t>
            </a:r>
            <a:endParaRPr lang="en-US" sz="3000" dirty="0"/>
          </a:p>
        </p:txBody>
      </p:sp>
      <p:sp>
        <p:nvSpPr>
          <p:cNvPr id="4" name="Text 2"/>
          <p:cNvSpPr/>
          <p:nvPr/>
        </p:nvSpPr>
        <p:spPr>
          <a:xfrm>
            <a:off x="822960" y="1783080"/>
            <a:ext cx="4754880" cy="329184"/>
          </a:xfrm>
          <a:prstGeom prst="rect">
            <a:avLst/>
          </a:prstGeom>
          <a:noFill/>
          <a:ln/>
        </p:spPr>
        <p:txBody>
          <a:bodyPr wrap="square" lIns="0" tIns="0" rIns="0" bIns="0" rtlCol="0" anchor="ctr"/>
          <a:lstStyle/>
          <a:p>
            <a:pPr indent="0" marL="0">
              <a:buNone/>
            </a:pPr>
            <a:r>
              <a:rPr lang="en-US" sz="1500" b="1" dirty="0">
                <a:solidFill>
                  <a:srgbClr val="1D1D1F"/>
                </a:solidFill>
                <a:latin typeface="Helvetica Neue" pitchFamily="34" charset="0"/>
                <a:ea typeface="Helvetica Neue" pitchFamily="34" charset="-122"/>
                <a:cs typeface="Helvetica Neue" pitchFamily="34" charset="-120"/>
              </a:rPr>
              <a:t>Why we do this</a:t>
            </a:r>
            <a:endParaRPr lang="en-US" sz="1500" dirty="0"/>
          </a:p>
        </p:txBody>
      </p:sp>
      <p:sp>
        <p:nvSpPr>
          <p:cNvPr id="5" name="Text 3"/>
          <p:cNvSpPr/>
          <p:nvPr/>
        </p:nvSpPr>
        <p:spPr>
          <a:xfrm>
            <a:off x="822960" y="2157984"/>
            <a:ext cx="4800600" cy="2377440"/>
          </a:xfrm>
          <a:prstGeom prst="rect">
            <a:avLst/>
          </a:prstGeom>
          <a:noFill/>
          <a:ln/>
        </p:spPr>
        <p:txBody>
          <a:bodyPr wrap="square" lIns="0" tIns="0" rIns="0" bIns="0" rtlCol="0" anchor="ctr"/>
          <a:lstStyle/>
          <a:p>
            <a:pPr indent="0" marL="0">
              <a:lnSpc>
                <a:spcPts val="2000"/>
              </a:lnSpc>
              <a:buNone/>
            </a:pPr>
            <a:r>
              <a:rPr lang="en-US" sz="1350" dirty="0">
                <a:solidFill>
                  <a:srgbClr val="6E6E73"/>
                </a:solidFill>
                <a:latin typeface="Helvetica Neue" pitchFamily="34" charset="0"/>
                <a:ea typeface="Helvetica Neue" pitchFamily="34" charset="-122"/>
                <a:cs typeface="Helvetica Neue" pitchFamily="34" charset="-120"/>
              </a:rPr>
              <a:t>Real engineering and dive teams brief safety before every job — not because something went wrong, but so it never does. We adopt the same habit on day one. Sixty seconds, every meeting, no exceptions.</a:t>
            </a:r>
            <a:endParaRPr lang="en-US" sz="1350" dirty="0"/>
          </a:p>
          <a:p>
            <a:pPr indent="0" marL="0">
              <a:lnSpc>
                <a:spcPts val="2000"/>
              </a:lnSpc>
              <a:buNone/>
            </a:pPr>
            <a:endParaRPr lang="en-US" sz="1350" dirty="0"/>
          </a:p>
          <a:p>
            <a:pPr indent="0" marL="0">
              <a:lnSpc>
                <a:spcPts val="2000"/>
              </a:lnSpc>
              <a:buNone/>
            </a:pPr>
            <a:r>
              <a:rPr lang="en-US" sz="1350" dirty="0">
                <a:solidFill>
                  <a:srgbClr val="6E6E73"/>
                </a:solidFill>
                <a:latin typeface="Helvetica Neue" pitchFamily="34" charset="0"/>
                <a:ea typeface="Helvetica Neue" pitchFamily="34" charset="-122"/>
                <a:cs typeface="Helvetica Neue" pitchFamily="34" charset="-120"/>
              </a:rPr>
              <a:t>Each brief answers the same four questions, so the team always knows what to expect.</a:t>
            </a:r>
            <a:endParaRPr lang="en-US" sz="1350" dirty="0"/>
          </a:p>
        </p:txBody>
      </p:sp>
      <p:sp>
        <p:nvSpPr>
          <p:cNvPr id="6" name="Shape 4"/>
          <p:cNvSpPr/>
          <p:nvPr/>
        </p:nvSpPr>
        <p:spPr>
          <a:xfrm>
            <a:off x="822960" y="4334256"/>
            <a:ext cx="310896" cy="310896"/>
          </a:xfrm>
          <a:prstGeom prst="ellipse">
            <a:avLst/>
          </a:prstGeom>
          <a:solidFill>
            <a:srgbClr val="EAF2F4"/>
          </a:solidFill>
          <a:ln/>
        </p:spPr>
        <p:txBody>
          <a:bodyPr/>
          <a:p/>
        </p:txBody>
      </p:sp>
      <p:sp>
        <p:nvSpPr>
          <p:cNvPr id="7" name="Text 5"/>
          <p:cNvSpPr/>
          <p:nvPr/>
        </p:nvSpPr>
        <p:spPr>
          <a:xfrm>
            <a:off x="822960" y="4334256"/>
            <a:ext cx="310896" cy="310896"/>
          </a:xfrm>
          <a:prstGeom prst="rect">
            <a:avLst/>
          </a:prstGeom>
          <a:noFill/>
          <a:ln/>
        </p:spPr>
        <p:txBody>
          <a:bodyPr wrap="square" lIns="0" tIns="0" rIns="0" bIns="0" rtlCol="0" anchor="ctr"/>
          <a:lstStyle/>
          <a:p>
            <a:pPr algn="ctr" indent="0" marL="0">
              <a:buNone/>
            </a:pPr>
            <a:r>
              <a:rPr lang="en-US" sz="952" b="1" dirty="0">
                <a:solidFill>
                  <a:srgbClr val="0D7490"/>
                </a:solidFill>
                <a:latin typeface="Helvetica Neue" pitchFamily="34" charset="0"/>
                <a:ea typeface="Helvetica Neue" pitchFamily="34" charset="-122"/>
                <a:cs typeface="Helvetica Neue" pitchFamily="34" charset="-120"/>
              </a:rPr>
              <a:t>1</a:t>
            </a:r>
            <a:endParaRPr lang="en-US" sz="952" dirty="0"/>
          </a:p>
        </p:txBody>
      </p:sp>
      <p:sp>
        <p:nvSpPr>
          <p:cNvPr id="8" name="Text 6"/>
          <p:cNvSpPr/>
          <p:nvPr/>
        </p:nvSpPr>
        <p:spPr>
          <a:xfrm>
            <a:off x="1280160" y="4297680"/>
            <a:ext cx="4389120" cy="384048"/>
          </a:xfrm>
          <a:prstGeom prst="rect">
            <a:avLst/>
          </a:prstGeom>
          <a:noFill/>
          <a:ln/>
        </p:spPr>
        <p:txBody>
          <a:bodyPr wrap="square" lIns="0" tIns="0" rIns="0" bIns="0" rtlCol="0" anchor="ct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What are we doing today?</a:t>
            </a:r>
            <a:endParaRPr lang="en-US" sz="1250" dirty="0"/>
          </a:p>
        </p:txBody>
      </p:sp>
      <p:sp>
        <p:nvSpPr>
          <p:cNvPr id="9" name="Shape 7"/>
          <p:cNvSpPr/>
          <p:nvPr/>
        </p:nvSpPr>
        <p:spPr>
          <a:xfrm>
            <a:off x="822960" y="4754880"/>
            <a:ext cx="310896" cy="310896"/>
          </a:xfrm>
          <a:prstGeom prst="ellipse">
            <a:avLst/>
          </a:prstGeom>
          <a:solidFill>
            <a:srgbClr val="EAF2F4"/>
          </a:solidFill>
          <a:ln/>
        </p:spPr>
        <p:txBody>
          <a:bodyPr/>
          <a:p/>
        </p:txBody>
      </p:sp>
      <p:sp>
        <p:nvSpPr>
          <p:cNvPr id="10" name="Text 8"/>
          <p:cNvSpPr/>
          <p:nvPr/>
        </p:nvSpPr>
        <p:spPr>
          <a:xfrm>
            <a:off x="822960" y="4754880"/>
            <a:ext cx="310896" cy="310896"/>
          </a:xfrm>
          <a:prstGeom prst="rect">
            <a:avLst/>
          </a:prstGeom>
          <a:noFill/>
          <a:ln/>
        </p:spPr>
        <p:txBody>
          <a:bodyPr wrap="square" lIns="0" tIns="0" rIns="0" bIns="0" rtlCol="0" anchor="ctr"/>
          <a:lstStyle/>
          <a:p>
            <a:pPr algn="ctr" indent="0" marL="0">
              <a:buNone/>
            </a:pPr>
            <a:r>
              <a:rPr lang="en-US" sz="952" b="1" dirty="0">
                <a:solidFill>
                  <a:srgbClr val="0D7490"/>
                </a:solidFill>
                <a:latin typeface="Helvetica Neue" pitchFamily="34" charset="0"/>
                <a:ea typeface="Helvetica Neue" pitchFamily="34" charset="-122"/>
                <a:cs typeface="Helvetica Neue" pitchFamily="34" charset="-120"/>
              </a:rPr>
              <a:t>2</a:t>
            </a:r>
            <a:endParaRPr lang="en-US" sz="952" dirty="0"/>
          </a:p>
        </p:txBody>
      </p:sp>
      <p:sp>
        <p:nvSpPr>
          <p:cNvPr id="11" name="Text 9"/>
          <p:cNvSpPr/>
          <p:nvPr/>
        </p:nvSpPr>
        <p:spPr>
          <a:xfrm>
            <a:off x="1280160" y="4718304"/>
            <a:ext cx="4389120" cy="384048"/>
          </a:xfrm>
          <a:prstGeom prst="rect">
            <a:avLst/>
          </a:prstGeom>
          <a:noFill/>
          <a:ln/>
        </p:spPr>
        <p:txBody>
          <a:bodyPr wrap="square" lIns="0" tIns="0" rIns="0" bIns="0" rtlCol="0" anchor="ct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What could hurt someone?</a:t>
            </a:r>
            <a:endParaRPr lang="en-US" sz="1250" dirty="0"/>
          </a:p>
        </p:txBody>
      </p:sp>
      <p:sp>
        <p:nvSpPr>
          <p:cNvPr id="12" name="Shape 10"/>
          <p:cNvSpPr/>
          <p:nvPr/>
        </p:nvSpPr>
        <p:spPr>
          <a:xfrm>
            <a:off x="822960" y="5175504"/>
            <a:ext cx="310896" cy="310896"/>
          </a:xfrm>
          <a:prstGeom prst="ellipse">
            <a:avLst/>
          </a:prstGeom>
          <a:solidFill>
            <a:srgbClr val="EAF2F4"/>
          </a:solidFill>
          <a:ln/>
        </p:spPr>
        <p:txBody>
          <a:bodyPr/>
          <a:p/>
        </p:txBody>
      </p:sp>
      <p:sp>
        <p:nvSpPr>
          <p:cNvPr id="13" name="Text 11"/>
          <p:cNvSpPr/>
          <p:nvPr/>
        </p:nvSpPr>
        <p:spPr>
          <a:xfrm>
            <a:off x="822960" y="5175504"/>
            <a:ext cx="310896" cy="310896"/>
          </a:xfrm>
          <a:prstGeom prst="rect">
            <a:avLst/>
          </a:prstGeom>
          <a:noFill/>
          <a:ln/>
        </p:spPr>
        <p:txBody>
          <a:bodyPr wrap="square" lIns="0" tIns="0" rIns="0" bIns="0" rtlCol="0" anchor="ctr"/>
          <a:lstStyle/>
          <a:p>
            <a:pPr algn="ctr" indent="0" marL="0">
              <a:buNone/>
            </a:pPr>
            <a:r>
              <a:rPr lang="en-US" sz="952" b="1" dirty="0">
                <a:solidFill>
                  <a:srgbClr val="0D7490"/>
                </a:solidFill>
                <a:latin typeface="Helvetica Neue" pitchFamily="34" charset="0"/>
                <a:ea typeface="Helvetica Neue" pitchFamily="34" charset="-122"/>
                <a:cs typeface="Helvetica Neue" pitchFamily="34" charset="-120"/>
              </a:rPr>
              <a:t>3</a:t>
            </a:r>
            <a:endParaRPr lang="en-US" sz="952" dirty="0"/>
          </a:p>
        </p:txBody>
      </p:sp>
      <p:sp>
        <p:nvSpPr>
          <p:cNvPr id="14" name="Text 12"/>
          <p:cNvSpPr/>
          <p:nvPr/>
        </p:nvSpPr>
        <p:spPr>
          <a:xfrm>
            <a:off x="1280160" y="5138928"/>
            <a:ext cx="4389120" cy="384048"/>
          </a:xfrm>
          <a:prstGeom prst="rect">
            <a:avLst/>
          </a:prstGeom>
          <a:noFill/>
          <a:ln/>
        </p:spPr>
        <p:txBody>
          <a:bodyPr wrap="square" lIns="0" tIns="0" rIns="0" bIns="0" rtlCol="0" anchor="ct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How do we prevent it?</a:t>
            </a:r>
            <a:endParaRPr lang="en-US" sz="1250" dirty="0"/>
          </a:p>
        </p:txBody>
      </p:sp>
      <p:sp>
        <p:nvSpPr>
          <p:cNvPr id="15" name="Shape 13"/>
          <p:cNvSpPr/>
          <p:nvPr/>
        </p:nvSpPr>
        <p:spPr>
          <a:xfrm>
            <a:off x="822960" y="5596128"/>
            <a:ext cx="310896" cy="310896"/>
          </a:xfrm>
          <a:prstGeom prst="ellipse">
            <a:avLst/>
          </a:prstGeom>
          <a:solidFill>
            <a:srgbClr val="EAF2F4"/>
          </a:solidFill>
          <a:ln/>
        </p:spPr>
        <p:txBody>
          <a:bodyPr/>
          <a:p/>
        </p:txBody>
      </p:sp>
      <p:sp>
        <p:nvSpPr>
          <p:cNvPr id="16" name="Text 14"/>
          <p:cNvSpPr/>
          <p:nvPr/>
        </p:nvSpPr>
        <p:spPr>
          <a:xfrm>
            <a:off x="822960" y="5596128"/>
            <a:ext cx="310896" cy="310896"/>
          </a:xfrm>
          <a:prstGeom prst="rect">
            <a:avLst/>
          </a:prstGeom>
          <a:noFill/>
          <a:ln/>
        </p:spPr>
        <p:txBody>
          <a:bodyPr wrap="square" lIns="0" tIns="0" rIns="0" bIns="0" rtlCol="0" anchor="ctr"/>
          <a:lstStyle/>
          <a:p>
            <a:pPr algn="ctr" indent="0" marL="0">
              <a:buNone/>
            </a:pPr>
            <a:r>
              <a:rPr lang="en-US" sz="952" b="1" dirty="0">
                <a:solidFill>
                  <a:srgbClr val="0D7490"/>
                </a:solidFill>
                <a:latin typeface="Helvetica Neue" pitchFamily="34" charset="0"/>
                <a:ea typeface="Helvetica Neue" pitchFamily="34" charset="-122"/>
                <a:cs typeface="Helvetica Neue" pitchFamily="34" charset="-120"/>
              </a:rPr>
              <a:t>4</a:t>
            </a:r>
            <a:endParaRPr lang="en-US" sz="952" dirty="0"/>
          </a:p>
        </p:txBody>
      </p:sp>
      <p:sp>
        <p:nvSpPr>
          <p:cNvPr id="17" name="Text 15"/>
          <p:cNvSpPr/>
          <p:nvPr/>
        </p:nvSpPr>
        <p:spPr>
          <a:xfrm>
            <a:off x="1280160" y="5559552"/>
            <a:ext cx="4389120" cy="384048"/>
          </a:xfrm>
          <a:prstGeom prst="rect">
            <a:avLst/>
          </a:prstGeom>
          <a:noFill/>
          <a:ln/>
        </p:spPr>
        <p:txBody>
          <a:bodyPr wrap="square" lIns="0" tIns="0" rIns="0" bIns="0" rtlCol="0" anchor="ct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Who do we tell if something happens?</a:t>
            </a:r>
            <a:endParaRPr lang="en-US" sz="1250" dirty="0"/>
          </a:p>
        </p:txBody>
      </p:sp>
      <p:sp>
        <p:nvSpPr>
          <p:cNvPr id="18" name="Shape 16"/>
          <p:cNvSpPr/>
          <p:nvPr/>
        </p:nvSpPr>
        <p:spPr>
          <a:xfrm>
            <a:off x="5989320" y="1783080"/>
            <a:ext cx="5376672" cy="4370832"/>
          </a:xfrm>
          <a:prstGeom prst="roundRect">
            <a:avLst>
              <a:gd name="adj" fmla="val 2301"/>
            </a:avLst>
          </a:prstGeom>
          <a:solidFill>
            <a:srgbClr val="EAF2F4"/>
          </a:solidFill>
          <a:ln w="12700">
            <a:solidFill>
              <a:srgbClr val="EAF2F4"/>
            </a:solidFill>
            <a:prstDash val="solid"/>
          </a:ln>
        </p:spPr>
        <p:txBody>
          <a:bodyPr/>
          <a:p/>
        </p:txBody>
      </p:sp>
      <p:sp>
        <p:nvSpPr>
          <p:cNvPr id="19" name="Shape 17"/>
          <p:cNvSpPr/>
          <p:nvPr/>
        </p:nvSpPr>
        <p:spPr>
          <a:xfrm>
            <a:off x="5989320" y="1783080"/>
            <a:ext cx="5376672" cy="566928"/>
          </a:xfrm>
          <a:prstGeom prst="rect">
            <a:avLst/>
          </a:prstGeom>
          <a:solidFill>
            <a:srgbClr val="0D7490"/>
          </a:solidFill>
          <a:ln/>
        </p:spPr>
        <p:txBody>
          <a:bodyPr/>
          <a:p/>
        </p:txBody>
      </p:sp>
      <p:sp>
        <p:nvSpPr>
          <p:cNvPr id="20" name="Text 18"/>
          <p:cNvSpPr/>
          <p:nvPr/>
        </p:nvSpPr>
        <p:spPr>
          <a:xfrm>
            <a:off x="5989320" y="1783080"/>
            <a:ext cx="5376672" cy="566928"/>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Helvetica Neue" pitchFamily="34" charset="0"/>
                <a:ea typeface="Helvetica Neue" pitchFamily="34" charset="-122"/>
                <a:cs typeface="Helvetica Neue" pitchFamily="34" charset="-120"/>
              </a:rPr>
              <a:t>TODAY'S BRIEF  ·  CLASS 1.4</a:t>
            </a:r>
            <a:endParaRPr lang="en-US" sz="1200" dirty="0"/>
          </a:p>
        </p:txBody>
      </p:sp>
      <p:sp>
        <p:nvSpPr>
          <p:cNvPr id="21" name="Text 19"/>
          <p:cNvSpPr/>
          <p:nvPr/>
        </p:nvSpPr>
        <p:spPr>
          <a:xfrm>
            <a:off x="6355080" y="2578608"/>
            <a:ext cx="4663440" cy="274320"/>
          </a:xfrm>
          <a:prstGeom prst="rect">
            <a:avLst/>
          </a:prstGeom>
          <a:noFill/>
          <a:ln/>
        </p:spPr>
        <p:txBody>
          <a:bodyPr wrap="square" lIns="0" tIns="0" rIns="0" bIns="0" rtlCol="0" anchor="ctr"/>
          <a:lstStyle/>
          <a:p>
            <a:pPr indent="0" marL="0">
              <a:buNone/>
            </a:pPr>
            <a:r>
              <a:rPr lang="en-US" sz="1000" b="1" spc="150" kern="0" dirty="0">
                <a:solidFill>
                  <a:srgbClr val="095D75"/>
                </a:solidFill>
                <a:latin typeface="Helvetica Neue" pitchFamily="34" charset="0"/>
                <a:ea typeface="Helvetica Neue" pitchFamily="34" charset="-122"/>
                <a:cs typeface="Helvetica Neue" pitchFamily="34" charset="-120"/>
              </a:rPr>
              <a:t>THE WORK</a:t>
            </a:r>
            <a:endParaRPr lang="en-US" sz="1000" dirty="0"/>
          </a:p>
        </p:txBody>
      </p:sp>
      <p:sp>
        <p:nvSpPr>
          <p:cNvPr id="22" name="Text 20"/>
          <p:cNvSpPr/>
          <p:nvPr/>
        </p:nvSpPr>
        <p:spPr>
          <a:xfrm>
            <a:off x="6355080" y="2825496"/>
            <a:ext cx="4681728" cy="457200"/>
          </a:xfrm>
          <a:prstGeom prst="rect">
            <a:avLst/>
          </a:prstGeom>
          <a:noFill/>
          <a:ln/>
        </p:spPr>
        <p:txBody>
          <a:bodyPr wrap="square" lIns="0" tIns="0" rIns="0" bIns="0" rtlCol="0" anchor="ctr"/>
          <a:lstStyle/>
          <a:p>
            <a:pPr indent="0" marL="0">
              <a:lnSpc>
                <a:spcPts val="1500"/>
              </a:lnSpc>
              <a:buNone/>
            </a:pPr>
            <a:r>
              <a:rPr lang="en-US" sz="1150" dirty="0">
                <a:solidFill>
                  <a:srgbClr val="1D1D1F"/>
                </a:solidFill>
                <a:latin typeface="Helvetica Neue" pitchFamily="34" charset="0"/>
                <a:ea typeface="Helvetica Neue" pitchFamily="34" charset="-122"/>
                <a:cs typeface="Helvetica Neue" pitchFamily="34" charset="-120"/>
              </a:rPr>
              <a:t>Multimeters and simple circuits — measuring and reading, not yet wiring the robot.</a:t>
            </a:r>
            <a:endParaRPr lang="en-US" sz="1150" dirty="0"/>
          </a:p>
        </p:txBody>
      </p:sp>
      <p:sp>
        <p:nvSpPr>
          <p:cNvPr id="23" name="Text 21"/>
          <p:cNvSpPr/>
          <p:nvPr/>
        </p:nvSpPr>
        <p:spPr>
          <a:xfrm>
            <a:off x="6355080" y="3287268"/>
            <a:ext cx="4663440" cy="274320"/>
          </a:xfrm>
          <a:prstGeom prst="rect">
            <a:avLst/>
          </a:prstGeom>
          <a:noFill/>
          <a:ln/>
        </p:spPr>
        <p:txBody>
          <a:bodyPr wrap="square" lIns="0" tIns="0" rIns="0" bIns="0" rtlCol="0" anchor="ctr"/>
          <a:lstStyle/>
          <a:p>
            <a:pPr indent="0" marL="0">
              <a:buNone/>
            </a:pPr>
            <a:r>
              <a:rPr lang="en-US" sz="1000" b="1" spc="150" kern="0" dirty="0">
                <a:solidFill>
                  <a:srgbClr val="095D75"/>
                </a:solidFill>
                <a:latin typeface="Helvetica Neue" pitchFamily="34" charset="0"/>
                <a:ea typeface="Helvetica Neue" pitchFamily="34" charset="-122"/>
                <a:cs typeface="Helvetica Neue" pitchFamily="34" charset="-120"/>
              </a:rPr>
              <a:t>THE HAZARDS</a:t>
            </a:r>
            <a:endParaRPr lang="en-US" sz="1000" dirty="0"/>
          </a:p>
        </p:txBody>
      </p:sp>
      <p:sp>
        <p:nvSpPr>
          <p:cNvPr id="24" name="Text 22"/>
          <p:cNvSpPr/>
          <p:nvPr/>
        </p:nvSpPr>
        <p:spPr>
          <a:xfrm>
            <a:off x="6355080" y="3534156"/>
            <a:ext cx="4681728" cy="457200"/>
          </a:xfrm>
          <a:prstGeom prst="rect">
            <a:avLst/>
          </a:prstGeom>
          <a:noFill/>
          <a:ln/>
        </p:spPr>
        <p:txBody>
          <a:bodyPr wrap="square" lIns="0" tIns="0" rIns="0" bIns="0" rtlCol="0" anchor="ctr"/>
          <a:lstStyle/>
          <a:p>
            <a:pPr indent="0" marL="0">
              <a:lnSpc>
                <a:spcPts val="1500"/>
              </a:lnSpc>
              <a:buNone/>
            </a:pPr>
            <a:r>
              <a:rPr lang="en-US" sz="1150" dirty="0">
                <a:solidFill>
                  <a:srgbClr val="1D1D1F"/>
                </a:solidFill>
                <a:latin typeface="Helvetica Neue" pitchFamily="34" charset="0"/>
                <a:ea typeface="Helvetica Neue" pitchFamily="34" charset="-122"/>
                <a:cs typeface="Helvetica Neue" pitchFamily="34" charset="-120"/>
              </a:rPr>
              <a:t>Low-voltage circuits and batteries; the soldering iron if we tin a lead.</a:t>
            </a:r>
            <a:endParaRPr lang="en-US" sz="1150" dirty="0"/>
          </a:p>
        </p:txBody>
      </p:sp>
      <p:sp>
        <p:nvSpPr>
          <p:cNvPr id="25" name="Text 23"/>
          <p:cNvSpPr/>
          <p:nvPr/>
        </p:nvSpPr>
        <p:spPr>
          <a:xfrm>
            <a:off x="6355080" y="3995928"/>
            <a:ext cx="4663440" cy="274320"/>
          </a:xfrm>
          <a:prstGeom prst="rect">
            <a:avLst/>
          </a:prstGeom>
          <a:noFill/>
          <a:ln/>
        </p:spPr>
        <p:txBody>
          <a:bodyPr wrap="square" lIns="0" tIns="0" rIns="0" bIns="0" rtlCol="0" anchor="ctr"/>
          <a:lstStyle/>
          <a:p>
            <a:pPr indent="0" marL="0">
              <a:buNone/>
            </a:pPr>
            <a:r>
              <a:rPr lang="en-US" sz="1000" b="1" spc="150" kern="0" dirty="0">
                <a:solidFill>
                  <a:srgbClr val="095D75"/>
                </a:solidFill>
                <a:latin typeface="Helvetica Neue" pitchFamily="34" charset="0"/>
                <a:ea typeface="Helvetica Neue" pitchFamily="34" charset="-122"/>
                <a:cs typeface="Helvetica Neue" pitchFamily="34" charset="-120"/>
              </a:rPr>
              <a:t>PREVENTION</a:t>
            </a:r>
            <a:endParaRPr lang="en-US" sz="1000" dirty="0"/>
          </a:p>
        </p:txBody>
      </p:sp>
      <p:sp>
        <p:nvSpPr>
          <p:cNvPr id="26" name="Text 24"/>
          <p:cNvSpPr/>
          <p:nvPr/>
        </p:nvSpPr>
        <p:spPr>
          <a:xfrm>
            <a:off x="6355080" y="4242816"/>
            <a:ext cx="4681728" cy="457200"/>
          </a:xfrm>
          <a:prstGeom prst="rect">
            <a:avLst/>
          </a:prstGeom>
          <a:noFill/>
          <a:ln/>
        </p:spPr>
        <p:txBody>
          <a:bodyPr wrap="square" lIns="0" tIns="0" rIns="0" bIns="0" rtlCol="0" anchor="ctr"/>
          <a:lstStyle/>
          <a:p>
            <a:pPr indent="0" marL="0">
              <a:lnSpc>
                <a:spcPts val="1500"/>
              </a:lnSpc>
              <a:buNone/>
            </a:pPr>
            <a:r>
              <a:rPr lang="en-US" sz="1150" dirty="0">
                <a:solidFill>
                  <a:srgbClr val="1D1D1F"/>
                </a:solidFill>
                <a:latin typeface="Helvetica Neue" pitchFamily="34" charset="0"/>
                <a:ea typeface="Helvetica Neue" pitchFamily="34" charset="-122"/>
                <a:cs typeface="Helvetica Neue" pitchFamily="34" charset="-120"/>
              </a:rPr>
              <a:t>Set the meter before connecting; never short a battery's terminals; irons in stands if used.</a:t>
            </a:r>
            <a:endParaRPr lang="en-US" sz="1150" dirty="0"/>
          </a:p>
        </p:txBody>
      </p:sp>
      <p:sp>
        <p:nvSpPr>
          <p:cNvPr id="27" name="Text 25"/>
          <p:cNvSpPr/>
          <p:nvPr/>
        </p:nvSpPr>
        <p:spPr>
          <a:xfrm>
            <a:off x="6355080" y="4704588"/>
            <a:ext cx="4663440" cy="274320"/>
          </a:xfrm>
          <a:prstGeom prst="rect">
            <a:avLst/>
          </a:prstGeom>
          <a:noFill/>
          <a:ln/>
        </p:spPr>
        <p:txBody>
          <a:bodyPr wrap="square" lIns="0" tIns="0" rIns="0" bIns="0" rtlCol="0" anchor="ctr"/>
          <a:lstStyle/>
          <a:p>
            <a:pPr indent="0" marL="0">
              <a:buNone/>
            </a:pPr>
            <a:r>
              <a:rPr lang="en-US" sz="1000" b="1" spc="150" kern="0" dirty="0">
                <a:solidFill>
                  <a:srgbClr val="095D75"/>
                </a:solidFill>
                <a:latin typeface="Helvetica Neue" pitchFamily="34" charset="0"/>
                <a:ea typeface="Helvetica Neue" pitchFamily="34" charset="-122"/>
                <a:cs typeface="Helvetica Neue" pitchFamily="34" charset="-120"/>
              </a:rPr>
              <a:t>IF SOMETHING HAPPENS</a:t>
            </a:r>
            <a:endParaRPr lang="en-US" sz="1000" dirty="0"/>
          </a:p>
        </p:txBody>
      </p:sp>
      <p:sp>
        <p:nvSpPr>
          <p:cNvPr id="28" name="Text 26"/>
          <p:cNvSpPr/>
          <p:nvPr/>
        </p:nvSpPr>
        <p:spPr>
          <a:xfrm>
            <a:off x="6355080" y="4951476"/>
            <a:ext cx="4681728" cy="457200"/>
          </a:xfrm>
          <a:prstGeom prst="rect">
            <a:avLst/>
          </a:prstGeom>
          <a:noFill/>
          <a:ln/>
        </p:spPr>
        <p:txBody>
          <a:bodyPr wrap="square" lIns="0" tIns="0" rIns="0" bIns="0" rtlCol="0" anchor="ctr"/>
          <a:lstStyle/>
          <a:p>
            <a:pPr indent="0" marL="0">
              <a:lnSpc>
                <a:spcPts val="1500"/>
              </a:lnSpc>
              <a:buNone/>
            </a:pPr>
            <a:r>
              <a:rPr lang="en-US" sz="1150" dirty="0">
                <a:solidFill>
                  <a:srgbClr val="1D1D1F"/>
                </a:solidFill>
                <a:latin typeface="Helvetica Neue" pitchFamily="34" charset="0"/>
                <a:ea typeface="Helvetica Neue" pitchFamily="34" charset="-122"/>
                <a:cs typeface="Helvetica Neue" pitchFamily="34" charset="-120"/>
              </a:rPr>
              <a:t>Stop, disconnect the battery, tell the advisor, and log it.</a:t>
            </a:r>
            <a:endParaRPr lang="en-US" sz="1150" dirty="0"/>
          </a:p>
        </p:txBody>
      </p:sp>
      <p:sp>
        <p:nvSpPr>
          <p:cNvPr id="29" name="Text 27"/>
          <p:cNvSpPr/>
          <p:nvPr/>
        </p:nvSpPr>
        <p:spPr>
          <a:xfrm>
            <a:off x="6355080" y="5413248"/>
            <a:ext cx="4663440" cy="274320"/>
          </a:xfrm>
          <a:prstGeom prst="rect">
            <a:avLst/>
          </a:prstGeom>
          <a:noFill/>
          <a:ln/>
        </p:spPr>
        <p:txBody>
          <a:bodyPr wrap="square" lIns="0" tIns="0" rIns="0" bIns="0" rtlCol="0" anchor="ctr"/>
          <a:lstStyle/>
          <a:p>
            <a:pPr indent="0" marL="0">
              <a:buNone/>
            </a:pPr>
            <a:r>
              <a:rPr lang="en-US" sz="1000" b="1" spc="150" kern="0" dirty="0">
                <a:solidFill>
                  <a:srgbClr val="095D75"/>
                </a:solidFill>
                <a:latin typeface="Helvetica Neue" pitchFamily="34" charset="0"/>
                <a:ea typeface="Helvetica Neue" pitchFamily="34" charset="-122"/>
                <a:cs typeface="Helvetica Neue" pitchFamily="34" charset="-120"/>
              </a:rPr>
              <a:t>LOOKING AHEAD</a:t>
            </a:r>
            <a:endParaRPr lang="en-US" sz="1000" dirty="0"/>
          </a:p>
        </p:txBody>
      </p:sp>
      <p:sp>
        <p:nvSpPr>
          <p:cNvPr id="30" name="Text 28"/>
          <p:cNvSpPr/>
          <p:nvPr/>
        </p:nvSpPr>
        <p:spPr>
          <a:xfrm>
            <a:off x="6355080" y="5660136"/>
            <a:ext cx="4681728" cy="457200"/>
          </a:xfrm>
          <a:prstGeom prst="rect">
            <a:avLst/>
          </a:prstGeom>
          <a:noFill/>
          <a:ln/>
        </p:spPr>
        <p:txBody>
          <a:bodyPr wrap="square" lIns="0" tIns="0" rIns="0" bIns="0" rtlCol="0" anchor="ctr"/>
          <a:lstStyle/>
          <a:p>
            <a:pPr indent="0" marL="0">
              <a:lnSpc>
                <a:spcPts val="1500"/>
              </a:lnSpc>
              <a:buNone/>
            </a:pPr>
            <a:r>
              <a:rPr lang="en-US" sz="1150" dirty="0">
                <a:solidFill>
                  <a:srgbClr val="1D1D1F"/>
                </a:solidFill>
                <a:latin typeface="Helvetica Neue" pitchFamily="34" charset="0"/>
                <a:ea typeface="Helvetica Neue" pitchFamily="34" charset="-122"/>
                <a:cs typeface="Helvetica Neue" pitchFamily="34" charset="-120"/>
              </a:rPr>
              <a:t>Class 1.5 — the control box build begins (the long one).</a:t>
            </a:r>
            <a:endParaRPr lang="en-US" sz="1150" dirty="0"/>
          </a:p>
        </p:txBody>
      </p:sp>
      <p:sp>
        <p:nvSpPr>
          <p:cNvPr id="31" name="Shape 29"/>
          <p:cNvSpPr/>
          <p:nvPr/>
        </p:nvSpPr>
        <p:spPr>
          <a:xfrm>
            <a:off x="822960" y="6437376"/>
            <a:ext cx="10545775" cy="0"/>
          </a:xfrm>
          <a:prstGeom prst="line">
            <a:avLst/>
          </a:prstGeom>
          <a:noFill/>
          <a:ln w="9525">
            <a:solidFill>
              <a:srgbClr val="E3E3E6"/>
            </a:solidFill>
            <a:prstDash val="solid"/>
          </a:ln>
        </p:spPr>
        <p:txBody>
          <a:bodyPr/>
          <a:p/>
        </p:txBody>
      </p:sp>
      <p:sp>
        <p:nvSpPr>
          <p:cNvPr id="32" name="Text 30"/>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33" name="Text 31"/>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CLASS 1.4 — ELECTRONICS WORKSHOP   ·   5 / 19</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BFD"/>
        </a:solidFill>
      </p:bgPr>
    </p:bg>
    <p:spTree>
      <p:nvGrpSpPr>
        <p:cNvPr id="1" name=""/>
        <p:cNvGrpSpPr/>
        <p:nvPr/>
      </p:nvGrpSpPr>
      <p:grpSpPr>
        <a:xfrm>
          <a:off x="0" y="0"/>
          <a:ext cx="0" cy="0"/>
          <a:chOff x="0" y="0"/>
          <a:chExt cx="0" cy="0"/>
        </a:xfrm>
      </p:grpSpPr>
      <p:sp>
        <p:nvSpPr>
          <p:cNvPr id="2" name="Text 0"/>
          <p:cNvSpPr/>
          <p:nvPr/>
        </p:nvSpPr>
        <p:spPr>
          <a:xfrm>
            <a:off x="4572000" y="182880"/>
            <a:ext cx="7315200" cy="6492240"/>
          </a:xfrm>
          <a:prstGeom prst="rect">
            <a:avLst/>
          </a:prstGeom>
          <a:noFill/>
          <a:ln/>
        </p:spPr>
        <p:txBody>
          <a:bodyPr wrap="square" lIns="0" tIns="0" rIns="0" bIns="0" rtlCol="0" anchor="ctr"/>
          <a:lstStyle/>
          <a:p>
            <a:pPr algn="r" indent="0" marL="0">
              <a:buNone/>
            </a:pPr>
            <a:r>
              <a:rPr lang="en-US" sz="36000" b="1" dirty="0">
                <a:solidFill>
                  <a:srgbClr val="EEF0F1"/>
                </a:solidFill>
                <a:latin typeface="Helvetica Neue" pitchFamily="34" charset="0"/>
                <a:ea typeface="Helvetica Neue" pitchFamily="34" charset="-122"/>
                <a:cs typeface="Helvetica Neue" pitchFamily="34" charset="-120"/>
              </a:rPr>
              <a:t>02</a:t>
            </a:r>
            <a:endParaRPr lang="en-US" sz="36000" dirty="0"/>
          </a:p>
        </p:txBody>
      </p:sp>
      <p:sp>
        <p:nvSpPr>
          <p:cNvPr id="3" name="Shape 1"/>
          <p:cNvSpPr/>
          <p:nvPr/>
        </p:nvSpPr>
        <p:spPr>
          <a:xfrm>
            <a:off x="841248" y="2395728"/>
            <a:ext cx="566928" cy="91440"/>
          </a:xfrm>
          <a:prstGeom prst="rect">
            <a:avLst/>
          </a:prstGeom>
          <a:solidFill>
            <a:srgbClr val="0D7490"/>
          </a:solidFill>
          <a:ln/>
        </p:spPr>
        <p:txBody>
          <a:bodyPr/>
          <a:p/>
        </p:txBody>
      </p:sp>
      <p:sp>
        <p:nvSpPr>
          <p:cNvPr id="4" name="Text 2"/>
          <p:cNvSpPr/>
          <p:nvPr/>
        </p:nvSpPr>
        <p:spPr>
          <a:xfrm>
            <a:off x="822960" y="2615184"/>
            <a:ext cx="6400800" cy="310896"/>
          </a:xfrm>
          <a:prstGeom prst="rect">
            <a:avLst/>
          </a:prstGeom>
          <a:noFill/>
          <a:ln/>
        </p:spPr>
        <p:txBody>
          <a:bodyPr wrap="square" lIns="0" tIns="0" rIns="0" bIns="0" rtlCol="0" anchor="ctr"/>
          <a:lstStyle/>
          <a:p>
            <a:pPr indent="0" marL="0">
              <a:buNone/>
            </a:pPr>
            <a:r>
              <a:rPr lang="en-US" sz="1300" b="1" spc="250" kern="0" dirty="0">
                <a:solidFill>
                  <a:srgbClr val="0D7490"/>
                </a:solidFill>
                <a:latin typeface="Helvetica Neue" pitchFamily="34" charset="0"/>
                <a:ea typeface="Helvetica Neue" pitchFamily="34" charset="-122"/>
                <a:cs typeface="Helvetica Neue" pitchFamily="34" charset="-120"/>
              </a:rPr>
              <a:t>SECTION 02</a:t>
            </a:r>
            <a:endParaRPr lang="en-US" sz="1300" dirty="0"/>
          </a:p>
        </p:txBody>
      </p:sp>
      <p:sp>
        <p:nvSpPr>
          <p:cNvPr id="5" name="Text 3"/>
          <p:cNvSpPr/>
          <p:nvPr/>
        </p:nvSpPr>
        <p:spPr>
          <a:xfrm>
            <a:off x="786384" y="2926080"/>
            <a:ext cx="6949440" cy="1371600"/>
          </a:xfrm>
          <a:prstGeom prst="rect">
            <a:avLst/>
          </a:prstGeom>
          <a:noFill/>
          <a:ln/>
        </p:spPr>
        <p:txBody>
          <a:bodyPr wrap="square" lIns="0" tIns="0" rIns="0" bIns="0" rtlCol="0" anchor="ctr"/>
          <a:lstStyle/>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The</a:t>
            </a:r>
            <a:endParaRPr lang="en-US" sz="4000" dirty="0"/>
          </a:p>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Multimeter</a:t>
            </a:r>
            <a:endParaRPr lang="en-US" sz="4000" dirty="0"/>
          </a:p>
        </p:txBody>
      </p:sp>
      <p:sp>
        <p:nvSpPr>
          <p:cNvPr id="6" name="Shape 4"/>
          <p:cNvSpPr/>
          <p:nvPr/>
        </p:nvSpPr>
        <p:spPr>
          <a:xfrm>
            <a:off x="841248" y="4370832"/>
            <a:ext cx="2971800" cy="420624"/>
          </a:xfrm>
          <a:prstGeom prst="roundRect">
            <a:avLst>
              <a:gd name="adj" fmla="val 50000"/>
            </a:avLst>
          </a:prstGeom>
          <a:solidFill>
            <a:srgbClr val="0D7490"/>
          </a:solidFill>
          <a:ln/>
        </p:spPr>
        <p:txBody>
          <a:bodyPr/>
          <a:p/>
        </p:txBody>
      </p:sp>
      <p:sp>
        <p:nvSpPr>
          <p:cNvPr id="7" name="Text 5"/>
          <p:cNvSpPr/>
          <p:nvPr/>
        </p:nvSpPr>
        <p:spPr>
          <a:xfrm>
            <a:off x="841248" y="4370832"/>
            <a:ext cx="2971800" cy="420624"/>
          </a:xfrm>
          <a:prstGeom prst="rect">
            <a:avLst/>
          </a:prstGeom>
          <a:noFill/>
          <a:ln/>
        </p:spPr>
        <p:txBody>
          <a:bodyPr wrap="square" lIns="0" tIns="0" rIns="0" bIns="0" rtlCol="0" anchor="ctr"/>
          <a:lstStyle/>
          <a:p>
            <a:pPr algn="ctr" indent="0" marL="0">
              <a:buNone/>
            </a:pPr>
            <a:r>
              <a:rPr lang="en-US" sz="1050" b="1" spc="150" kern="0" dirty="0">
                <a:solidFill>
                  <a:srgbClr val="FFFFFF"/>
                </a:solidFill>
                <a:latin typeface="Helvetica Neue" pitchFamily="34" charset="0"/>
                <a:ea typeface="Helvetica Neue" pitchFamily="34" charset="-122"/>
                <a:cs typeface="Helvetica Neue" pitchFamily="34" charset="-120"/>
              </a:rPr>
              <a:t>0:15 – 0:50   ·   35 MIN</a:t>
            </a:r>
            <a:endParaRPr lang="en-US" sz="1050" dirty="0"/>
          </a:p>
        </p:txBody>
      </p:sp>
      <p:sp>
        <p:nvSpPr>
          <p:cNvPr id="8" name="Text 6"/>
          <p:cNvSpPr/>
          <p:nvPr/>
        </p:nvSpPr>
        <p:spPr>
          <a:xfrm>
            <a:off x="841248" y="5029200"/>
            <a:ext cx="6126480" cy="1005840"/>
          </a:xfrm>
          <a:prstGeom prst="rect">
            <a:avLst/>
          </a:prstGeom>
          <a:noFill/>
          <a:ln/>
        </p:spPr>
        <p:txBody>
          <a:bodyPr wrap="square" lIns="0" tIns="0" rIns="0" bIns="0" rtlCol="0" anchor="ctr"/>
          <a:lstStyle/>
          <a:p>
            <a:pPr indent="0" marL="0">
              <a:lnSpc>
                <a:spcPts val="2200"/>
              </a:lnSpc>
              <a:buNone/>
            </a:pPr>
            <a:r>
              <a:rPr lang="en-US" sz="1500" i="1" dirty="0">
                <a:solidFill>
                  <a:srgbClr val="6E6E73"/>
                </a:solidFill>
                <a:latin typeface="Helvetica Neue" pitchFamily="34" charset="0"/>
                <a:ea typeface="Helvetica Neue" pitchFamily="34" charset="-122"/>
                <a:cs typeface="Helvetica Neue" pitchFamily="34" charset="-120"/>
              </a:rPr>
              <a:t>Before we trust a wire, we learn to read it.</a:t>
            </a:r>
            <a:endParaRPr lang="en-US" sz="1500" dirty="0"/>
          </a:p>
        </p:txBody>
      </p:sp>
      <p:sp>
        <p:nvSpPr>
          <p:cNvPr id="9" name="Shape 7"/>
          <p:cNvSpPr/>
          <p:nvPr/>
        </p:nvSpPr>
        <p:spPr>
          <a:xfrm>
            <a:off x="822960" y="6437376"/>
            <a:ext cx="10545775" cy="0"/>
          </a:xfrm>
          <a:prstGeom prst="line">
            <a:avLst/>
          </a:prstGeom>
          <a:noFill/>
          <a:ln w="9525">
            <a:solidFill>
              <a:srgbClr val="E3E3E6"/>
            </a:solidFill>
            <a:prstDash val="solid"/>
          </a:ln>
        </p:spPr>
        <p:txBody>
          <a:bodyPr/>
          <a:p/>
        </p:txBody>
      </p:sp>
      <p:sp>
        <p:nvSpPr>
          <p:cNvPr id="10" name="Text 8"/>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11" name="Text 9"/>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CLASS 1.4 — ELECTRONICS WORKSHOP   ·   6 / 19</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THE MULTIMETER</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Your window into the circuit.</a:t>
            </a:r>
            <a:endParaRPr lang="en-US" sz="3000" dirty="0"/>
          </a:p>
        </p:txBody>
      </p:sp>
      <p:sp>
        <p:nvSpPr>
          <p:cNvPr id="4" name="Text 2"/>
          <p:cNvSpPr/>
          <p:nvPr/>
        </p:nvSpPr>
        <p:spPr>
          <a:xfrm>
            <a:off x="822960" y="1828800"/>
            <a:ext cx="5669280" cy="1737360"/>
          </a:xfrm>
          <a:prstGeom prst="rect">
            <a:avLst/>
          </a:prstGeom>
          <a:noFill/>
          <a:ln/>
        </p:spPr>
        <p:txBody>
          <a:bodyPr wrap="square" lIns="0" tIns="0" rIns="0" bIns="0" rtlCol="0" anchor="ctr"/>
          <a:lstStyle/>
          <a:p>
            <a:pPr indent="0" marL="0">
              <a:lnSpc>
                <a:spcPts val="2300"/>
              </a:lnSpc>
              <a:buNone/>
            </a:pPr>
            <a:r>
              <a:rPr lang="en-US" sz="1500" dirty="0">
                <a:solidFill>
                  <a:srgbClr val="6E6E73"/>
                </a:solidFill>
                <a:latin typeface="Helvetica Neue" pitchFamily="34" charset="0"/>
                <a:ea typeface="Helvetica Neue" pitchFamily="34" charset="-122"/>
                <a:cs typeface="Helvetica Neue" pitchFamily="34" charset="-120"/>
              </a:rPr>
              <a:t>A multimeter measures what your eyes can't: voltage (the push), continuity (is the path complete?), and current (the flow). With it, a kid can prove a wire is good before trusting it on the robot.</a:t>
            </a:r>
            <a:endParaRPr lang="en-US" sz="1500" dirty="0"/>
          </a:p>
        </p:txBody>
      </p:sp>
      <p:sp>
        <p:nvSpPr>
          <p:cNvPr id="5" name="Text 3"/>
          <p:cNvSpPr/>
          <p:nvPr/>
        </p:nvSpPr>
        <p:spPr>
          <a:xfrm>
            <a:off x="822960" y="3611880"/>
            <a:ext cx="5669280" cy="1554480"/>
          </a:xfrm>
          <a:prstGeom prst="rect">
            <a:avLst/>
          </a:prstGeom>
          <a:noFill/>
          <a:ln/>
        </p:spPr>
        <p:txBody>
          <a:bodyPr wrap="square" lIns="0" tIns="0" rIns="0" bIns="0" rtlCol="0" anchor="ctr"/>
          <a:lstStyle/>
          <a:p>
            <a:pPr indent="0" marL="0">
              <a:lnSpc>
                <a:spcPts val="2300"/>
              </a:lnSpc>
              <a:buNone/>
            </a:pPr>
            <a:r>
              <a:rPr lang="en-US" sz="1500" dirty="0">
                <a:solidFill>
                  <a:srgbClr val="6E6E73"/>
                </a:solidFill>
                <a:latin typeface="Helvetica Neue" pitchFamily="34" charset="0"/>
                <a:ea typeface="Helvetica Neue" pitchFamily="34" charset="-122"/>
                <a:cs typeface="Helvetica Neue" pitchFamily="34" charset="-120"/>
              </a:rPr>
              <a:t>It is also how you find a fault. A dead thruster is usually an open circuit somewhere — a broken joint or a loose screw. The meter walks the path and finds the gap.</a:t>
            </a:r>
            <a:endParaRPr lang="en-US" sz="1500" dirty="0"/>
          </a:p>
        </p:txBody>
      </p:sp>
      <p:sp>
        <p:nvSpPr>
          <p:cNvPr id="6" name="Text 4"/>
          <p:cNvSpPr/>
          <p:nvPr/>
        </p:nvSpPr>
        <p:spPr>
          <a:xfrm>
            <a:off x="822960" y="5212080"/>
            <a:ext cx="5669280" cy="640080"/>
          </a:xfrm>
          <a:prstGeom prst="rect">
            <a:avLst/>
          </a:prstGeom>
          <a:noFill/>
          <a:ln/>
        </p:spPr>
        <p:txBody>
          <a:bodyPr wrap="square" lIns="0" tIns="0" rIns="0" bIns="0" rtlCol="0" anchor="ctr"/>
          <a:lstStyle/>
          <a:p>
            <a:pPr indent="0" marL="0">
              <a:lnSpc>
                <a:spcPts val="2000"/>
              </a:lnSpc>
              <a:buNone/>
            </a:pPr>
            <a:r>
              <a:rPr lang="en-US" sz="1400" b="1" dirty="0">
                <a:solidFill>
                  <a:srgbClr val="1D1D1F"/>
                </a:solidFill>
                <a:latin typeface="Helvetica Neue" pitchFamily="34" charset="0"/>
                <a:ea typeface="Helvetica Neue" pitchFamily="34" charset="-122"/>
                <a:cs typeface="Helvetica Neue" pitchFamily="34" charset="-120"/>
              </a:rPr>
              <a:t>Measure, don't guess. The meter turns 'I think it's wired right' into 'I know it is.'</a:t>
            </a:r>
            <a:endParaRPr lang="en-US" sz="1400" dirty="0"/>
          </a:p>
        </p:txBody>
      </p:sp>
      <p:sp>
        <p:nvSpPr>
          <p:cNvPr id="7" name="Shape 5"/>
          <p:cNvSpPr/>
          <p:nvPr/>
        </p:nvSpPr>
        <p:spPr>
          <a:xfrm>
            <a:off x="6858000" y="1828800"/>
            <a:ext cx="4507992" cy="4160520"/>
          </a:xfrm>
          <a:prstGeom prst="roundRect">
            <a:avLst>
              <a:gd name="adj" fmla="val 2418"/>
            </a:avLst>
          </a:prstGeom>
          <a:solidFill>
            <a:srgbClr val="095D75"/>
          </a:solidFill>
          <a:ln w="12700">
            <a:solidFill>
              <a:srgbClr val="095D75"/>
            </a:solidFill>
            <a:prstDash val="solid"/>
          </a:ln>
        </p:spPr>
        <p:txBody>
          <a:bodyPr/>
          <a:p/>
        </p:txBody>
      </p:sp>
      <p:sp>
        <p:nvSpPr>
          <p:cNvPr id="8" name="Text 6"/>
          <p:cNvSpPr/>
          <p:nvPr/>
        </p:nvSpPr>
        <p:spPr>
          <a:xfrm>
            <a:off x="7223760" y="2212848"/>
            <a:ext cx="3840480" cy="274320"/>
          </a:xfrm>
          <a:prstGeom prst="rect">
            <a:avLst/>
          </a:prstGeom>
          <a:noFill/>
          <a:ln/>
        </p:spPr>
        <p:txBody>
          <a:bodyPr wrap="square" lIns="0" tIns="0" rIns="0" bIns="0" rtlCol="0" anchor="ctr"/>
          <a:lstStyle/>
          <a:p>
            <a:pPr indent="0" marL="0">
              <a:buNone/>
            </a:pPr>
            <a:r>
              <a:rPr lang="en-US" sz="1050" b="1" spc="200" kern="0" dirty="0">
                <a:solidFill>
                  <a:srgbClr val="9FCEDA"/>
                </a:solidFill>
                <a:latin typeface="Helvetica Neue" pitchFamily="34" charset="0"/>
                <a:ea typeface="Helvetica Neue" pitchFamily="34" charset="-122"/>
                <a:cs typeface="Helvetica Neue" pitchFamily="34" charset="-120"/>
              </a:rPr>
              <a:t>OHM'S LAW</a:t>
            </a:r>
            <a:endParaRPr lang="en-US" sz="1050" dirty="0"/>
          </a:p>
        </p:txBody>
      </p:sp>
      <p:sp>
        <p:nvSpPr>
          <p:cNvPr id="9" name="Text 7"/>
          <p:cNvSpPr/>
          <p:nvPr/>
        </p:nvSpPr>
        <p:spPr>
          <a:xfrm>
            <a:off x="7223760" y="2578608"/>
            <a:ext cx="3794760" cy="2103120"/>
          </a:xfrm>
          <a:prstGeom prst="rect">
            <a:avLst/>
          </a:prstGeom>
          <a:noFill/>
          <a:ln/>
        </p:spPr>
        <p:txBody>
          <a:bodyPr wrap="square" lIns="0" tIns="0" rIns="0" bIns="0" rtlCol="0" anchor="ctr"/>
          <a:lstStyle/>
          <a:p>
            <a:pPr indent="0" marL="0">
              <a:lnSpc>
                <a:spcPts val="2700"/>
              </a:lnSpc>
              <a:buNone/>
            </a:pPr>
            <a:r>
              <a:rPr lang="en-US" sz="2100" b="1" dirty="0">
                <a:solidFill>
                  <a:srgbClr val="FFFFFF"/>
                </a:solidFill>
                <a:latin typeface="Helvetica Neue" pitchFamily="34" charset="0"/>
                <a:ea typeface="Helvetica Neue" pitchFamily="34" charset="-122"/>
                <a:cs typeface="Helvetica Neue" pitchFamily="34" charset="-120"/>
              </a:rPr>
              <a:t>Voltage = Current × Resistance.</a:t>
            </a:r>
            <a:endParaRPr lang="en-US" sz="2100" dirty="0"/>
          </a:p>
        </p:txBody>
      </p:sp>
      <p:sp>
        <p:nvSpPr>
          <p:cNvPr id="10" name="Shape 8"/>
          <p:cNvSpPr/>
          <p:nvPr/>
        </p:nvSpPr>
        <p:spPr>
          <a:xfrm>
            <a:off x="7223760" y="4617720"/>
            <a:ext cx="3776472" cy="0"/>
          </a:xfrm>
          <a:prstGeom prst="line">
            <a:avLst/>
          </a:prstGeom>
          <a:noFill/>
          <a:ln w="12700">
            <a:solidFill>
              <a:srgbClr val="3E7E91"/>
            </a:solidFill>
            <a:prstDash val="solid"/>
          </a:ln>
        </p:spPr>
        <p:txBody>
          <a:bodyPr/>
          <a:p/>
        </p:txBody>
      </p:sp>
      <p:sp>
        <p:nvSpPr>
          <p:cNvPr id="11" name="Text 9"/>
          <p:cNvSpPr/>
          <p:nvPr/>
        </p:nvSpPr>
        <p:spPr>
          <a:xfrm>
            <a:off x="7223760" y="4800600"/>
            <a:ext cx="3794760" cy="292608"/>
          </a:xfrm>
          <a:prstGeom prst="rect">
            <a:avLst/>
          </a:prstGeom>
          <a:noFill/>
          <a:ln/>
        </p:spPr>
        <p:txBody>
          <a:bodyPr wrap="square" lIns="0" tIns="0" rIns="0" bIns="0" rtlCol="0" anchor="ctr"/>
          <a:lstStyle/>
          <a:p>
            <a:pPr indent="0" marL="0">
              <a:buNone/>
            </a:pPr>
            <a:r>
              <a:rPr lang="en-US" sz="1200" dirty="0">
                <a:solidFill>
                  <a:srgbClr val="9FCEDA"/>
                </a:solidFill>
                <a:latin typeface="Helvetica Neue" pitchFamily="34" charset="0"/>
                <a:ea typeface="Helvetica Neue" pitchFamily="34" charset="-122"/>
                <a:cs typeface="Helvetica Neue" pitchFamily="34" charset="-120"/>
              </a:rPr>
              <a:t>V = I × R</a:t>
            </a:r>
            <a:endParaRPr lang="en-US" sz="1200" dirty="0"/>
          </a:p>
        </p:txBody>
      </p:sp>
      <p:sp>
        <p:nvSpPr>
          <p:cNvPr id="12" name="Text 10"/>
          <p:cNvSpPr/>
          <p:nvPr/>
        </p:nvSpPr>
        <p:spPr>
          <a:xfrm>
            <a:off x="7223760" y="5084064"/>
            <a:ext cx="3794760" cy="731520"/>
          </a:xfrm>
          <a:prstGeom prst="rect">
            <a:avLst/>
          </a:prstGeom>
          <a:noFill/>
          <a:ln/>
        </p:spPr>
        <p:txBody>
          <a:bodyPr wrap="square" lIns="0" tIns="0" rIns="0" bIns="0" rtlCol="0" anchor="ctr"/>
          <a:lstStyle/>
          <a:p>
            <a:pPr indent="0" marL="0">
              <a:lnSpc>
                <a:spcPts val="1500"/>
              </a:lnSpc>
              <a:buNone/>
            </a:pPr>
            <a:r>
              <a:rPr lang="en-US" sz="1100" dirty="0">
                <a:solidFill>
                  <a:srgbClr val="C9E3EA"/>
                </a:solidFill>
                <a:latin typeface="Helvetica Neue" pitchFamily="34" charset="0"/>
                <a:ea typeface="Helvetica Neue" pitchFamily="34" charset="-122"/>
                <a:cs typeface="Helvetica Neue" pitchFamily="34" charset="-120"/>
              </a:rPr>
              <a:t>The one equation behind every reading. From the reading: Underwater Robotics, Ch 8 §4.4.</a:t>
            </a:r>
            <a:endParaRPr lang="en-US" sz="1100" dirty="0"/>
          </a:p>
        </p:txBody>
      </p:sp>
      <p:sp>
        <p:nvSpPr>
          <p:cNvPr id="13" name="Shape 11"/>
          <p:cNvSpPr/>
          <p:nvPr/>
        </p:nvSpPr>
        <p:spPr>
          <a:xfrm>
            <a:off x="822960" y="6437376"/>
            <a:ext cx="10545775" cy="0"/>
          </a:xfrm>
          <a:prstGeom prst="line">
            <a:avLst/>
          </a:prstGeom>
          <a:noFill/>
          <a:ln w="9525">
            <a:solidFill>
              <a:srgbClr val="E3E3E6"/>
            </a:solidFill>
            <a:prstDash val="solid"/>
          </a:ln>
        </p:spPr>
        <p:txBody>
          <a:bodyPr/>
          <a:p/>
        </p:txBody>
      </p:sp>
      <p:sp>
        <p:nvSpPr>
          <p:cNvPr id="14" name="Text 12"/>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15" name="Text 13"/>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CLASS 1.4 — ELECTRONICS WORKSHOP   ·   7 / 19</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WHAT IT MEASURES</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Three readings. Know what each tells you.</a:t>
            </a:r>
            <a:endParaRPr lang="en-US" sz="3000" dirty="0"/>
          </a:p>
        </p:txBody>
      </p:sp>
      <p:sp>
        <p:nvSpPr>
          <p:cNvPr id="4" name="Shape 2"/>
          <p:cNvSpPr/>
          <p:nvPr/>
        </p:nvSpPr>
        <p:spPr>
          <a:xfrm>
            <a:off x="822960" y="2057400"/>
            <a:ext cx="3310128" cy="3246120"/>
          </a:xfrm>
          <a:prstGeom prst="roundRect">
            <a:avLst>
              <a:gd name="adj" fmla="val 3099"/>
            </a:avLst>
          </a:prstGeom>
          <a:solidFill>
            <a:srgbClr val="FBFBFD"/>
          </a:solidFill>
          <a:ln w="12700">
            <a:solidFill>
              <a:srgbClr val="E3E3E6"/>
            </a:solidFill>
            <a:prstDash val="solid"/>
          </a:ln>
        </p:spPr>
        <p:txBody>
          <a:bodyPr/>
          <a:p/>
        </p:txBody>
      </p:sp>
      <p:sp>
        <p:nvSpPr>
          <p:cNvPr id="5" name="Text 3"/>
          <p:cNvSpPr/>
          <p:nvPr/>
        </p:nvSpPr>
        <p:spPr>
          <a:xfrm>
            <a:off x="1133856" y="2386584"/>
            <a:ext cx="2688336" cy="274320"/>
          </a:xfrm>
          <a:prstGeom prst="rect">
            <a:avLst/>
          </a:prstGeom>
          <a:noFill/>
          <a:ln/>
        </p:spPr>
        <p:txBody>
          <a:bodyPr wrap="square" lIns="0" tIns="0" rIns="0" bIns="0" rtlCol="0" anchor="ctr"/>
          <a:lstStyle/>
          <a:p>
            <a:pPr indent="0" marL="0">
              <a:buNone/>
            </a:pPr>
            <a:r>
              <a:rPr lang="en-US" sz="1050" b="1" spc="200" kern="0" dirty="0">
                <a:solidFill>
                  <a:srgbClr val="0D7490"/>
                </a:solidFill>
                <a:latin typeface="Helvetica Neue" pitchFamily="34" charset="0"/>
                <a:ea typeface="Helvetica Neue" pitchFamily="34" charset="-122"/>
                <a:cs typeface="Helvetica Neue" pitchFamily="34" charset="-120"/>
              </a:rPr>
              <a:t>VOLTAGE</a:t>
            </a:r>
            <a:endParaRPr lang="en-US" sz="1050" dirty="0"/>
          </a:p>
        </p:txBody>
      </p:sp>
      <p:sp>
        <p:nvSpPr>
          <p:cNvPr id="6" name="Text 4"/>
          <p:cNvSpPr/>
          <p:nvPr/>
        </p:nvSpPr>
        <p:spPr>
          <a:xfrm>
            <a:off x="1133856" y="2734056"/>
            <a:ext cx="2688336" cy="1371600"/>
          </a:xfrm>
          <a:prstGeom prst="rect">
            <a:avLst/>
          </a:prstGeom>
          <a:noFill/>
          <a:ln/>
        </p:spPr>
        <p:txBody>
          <a:bodyPr wrap="square" lIns="0" tIns="0" rIns="0" bIns="0" rtlCol="0" anchor="ctr"/>
          <a:lstStyle/>
          <a:p>
            <a:pPr indent="0" marL="0">
              <a:lnSpc>
                <a:spcPts val="3000"/>
              </a:lnSpc>
              <a:buNone/>
            </a:pPr>
            <a:r>
              <a:rPr lang="en-US" sz="2700" b="1" dirty="0">
                <a:solidFill>
                  <a:srgbClr val="1D1D1F"/>
                </a:solidFill>
                <a:latin typeface="Helvetica Neue" pitchFamily="34" charset="0"/>
                <a:ea typeface="Helvetica Neue" pitchFamily="34" charset="-122"/>
                <a:cs typeface="Helvetica Neue" pitchFamily="34" charset="-120"/>
              </a:rPr>
              <a:t>The</a:t>
            </a:r>
            <a:endParaRPr lang="en-US" sz="2700" dirty="0"/>
          </a:p>
          <a:p>
            <a:pPr indent="0" marL="0">
              <a:lnSpc>
                <a:spcPts val="3000"/>
              </a:lnSpc>
              <a:buNone/>
            </a:pPr>
            <a:r>
              <a:rPr lang="en-US" sz="2700" b="1" dirty="0">
                <a:solidFill>
                  <a:srgbClr val="1D1D1F"/>
                </a:solidFill>
                <a:latin typeface="Helvetica Neue" pitchFamily="34" charset="0"/>
                <a:ea typeface="Helvetica Neue" pitchFamily="34" charset="-122"/>
                <a:cs typeface="Helvetica Neue" pitchFamily="34" charset="-120"/>
              </a:rPr>
              <a:t>push</a:t>
            </a:r>
            <a:endParaRPr lang="en-US" sz="2700" dirty="0"/>
          </a:p>
        </p:txBody>
      </p:sp>
      <p:sp>
        <p:nvSpPr>
          <p:cNvPr id="7" name="Text 5"/>
          <p:cNvSpPr/>
          <p:nvPr/>
        </p:nvSpPr>
        <p:spPr>
          <a:xfrm>
            <a:off x="1133856" y="4050792"/>
            <a:ext cx="2688336" cy="1097280"/>
          </a:xfrm>
          <a:prstGeom prst="rect">
            <a:avLst/>
          </a:prstGeom>
          <a:noFill/>
          <a:ln/>
        </p:spPr>
        <p:txBody>
          <a:bodyPr wrap="square" lIns="0" tIns="0" rIns="0" bIns="0" rtlCol="0" anchor="ctr"/>
          <a:lstStyle/>
          <a:p>
            <a:pPr indent="0" marL="0">
              <a:lnSpc>
                <a:spcPts val="1700"/>
              </a:lnSpc>
              <a:buNone/>
            </a:pPr>
            <a:r>
              <a:rPr lang="en-US" sz="1200" dirty="0">
                <a:solidFill>
                  <a:srgbClr val="6E6E73"/>
                </a:solidFill>
                <a:latin typeface="Helvetica Neue" pitchFamily="34" charset="0"/>
                <a:ea typeface="Helvetica Neue" pitchFamily="34" charset="-122"/>
                <a:cs typeface="Helvetica Neue" pitchFamily="34" charset="-120"/>
              </a:rPr>
              <a:t>How hard the electricity is being pushed, across two points. Our system runs at 12 volts.</a:t>
            </a:r>
            <a:endParaRPr lang="en-US" sz="1200" dirty="0"/>
          </a:p>
        </p:txBody>
      </p:sp>
      <p:sp>
        <p:nvSpPr>
          <p:cNvPr id="8" name="Shape 6"/>
          <p:cNvSpPr/>
          <p:nvPr/>
        </p:nvSpPr>
        <p:spPr>
          <a:xfrm>
            <a:off x="4434840" y="2057400"/>
            <a:ext cx="3310128" cy="3246120"/>
          </a:xfrm>
          <a:prstGeom prst="roundRect">
            <a:avLst>
              <a:gd name="adj" fmla="val 3099"/>
            </a:avLst>
          </a:prstGeom>
          <a:solidFill>
            <a:srgbClr val="0D7490"/>
          </a:solidFill>
          <a:ln w="12700">
            <a:solidFill>
              <a:srgbClr val="0D7490"/>
            </a:solidFill>
            <a:prstDash val="solid"/>
          </a:ln>
        </p:spPr>
        <p:txBody>
          <a:bodyPr/>
          <a:p/>
        </p:txBody>
      </p:sp>
      <p:sp>
        <p:nvSpPr>
          <p:cNvPr id="9" name="Text 7"/>
          <p:cNvSpPr/>
          <p:nvPr/>
        </p:nvSpPr>
        <p:spPr>
          <a:xfrm>
            <a:off x="4745736" y="2386584"/>
            <a:ext cx="2688336" cy="274320"/>
          </a:xfrm>
          <a:prstGeom prst="rect">
            <a:avLst/>
          </a:prstGeom>
          <a:noFill/>
          <a:ln/>
        </p:spPr>
        <p:txBody>
          <a:bodyPr wrap="square" lIns="0" tIns="0" rIns="0" bIns="0" rtlCol="0" anchor="ctr"/>
          <a:lstStyle/>
          <a:p>
            <a:pPr indent="0" marL="0">
              <a:buNone/>
            </a:pPr>
            <a:r>
              <a:rPr lang="en-US" sz="1050" b="1" spc="200" kern="0" dirty="0">
                <a:solidFill>
                  <a:srgbClr val="9FCEDA"/>
                </a:solidFill>
                <a:latin typeface="Helvetica Neue" pitchFamily="34" charset="0"/>
                <a:ea typeface="Helvetica Neue" pitchFamily="34" charset="-122"/>
                <a:cs typeface="Helvetica Neue" pitchFamily="34" charset="-120"/>
              </a:rPr>
              <a:t>CONTINUITY</a:t>
            </a:r>
            <a:endParaRPr lang="en-US" sz="1050" dirty="0"/>
          </a:p>
        </p:txBody>
      </p:sp>
      <p:sp>
        <p:nvSpPr>
          <p:cNvPr id="10" name="Text 8"/>
          <p:cNvSpPr/>
          <p:nvPr/>
        </p:nvSpPr>
        <p:spPr>
          <a:xfrm>
            <a:off x="4745736" y="2734056"/>
            <a:ext cx="2688336" cy="1371600"/>
          </a:xfrm>
          <a:prstGeom prst="rect">
            <a:avLst/>
          </a:prstGeom>
          <a:noFill/>
          <a:ln/>
        </p:spPr>
        <p:txBody>
          <a:bodyPr wrap="square" lIns="0" tIns="0" rIns="0" bIns="0" rtlCol="0" anchor="ctr"/>
          <a:lstStyle/>
          <a:p>
            <a:pPr indent="0" marL="0">
              <a:lnSpc>
                <a:spcPts val="3000"/>
              </a:lnSpc>
              <a:buNone/>
            </a:pPr>
            <a:r>
              <a:rPr lang="en-US" sz="2700" b="1" dirty="0">
                <a:solidFill>
                  <a:srgbClr val="FFFFFF"/>
                </a:solidFill>
                <a:latin typeface="Helvetica Neue" pitchFamily="34" charset="0"/>
                <a:ea typeface="Helvetica Neue" pitchFamily="34" charset="-122"/>
                <a:cs typeface="Helvetica Neue" pitchFamily="34" charset="-120"/>
              </a:rPr>
              <a:t>A closed</a:t>
            </a:r>
            <a:endParaRPr lang="en-US" sz="2700" dirty="0"/>
          </a:p>
          <a:p>
            <a:pPr indent="0" marL="0">
              <a:lnSpc>
                <a:spcPts val="3000"/>
              </a:lnSpc>
              <a:buNone/>
            </a:pPr>
            <a:r>
              <a:rPr lang="en-US" sz="2700" b="1" dirty="0">
                <a:solidFill>
                  <a:srgbClr val="FFFFFF"/>
                </a:solidFill>
                <a:latin typeface="Helvetica Neue" pitchFamily="34" charset="0"/>
                <a:ea typeface="Helvetica Neue" pitchFamily="34" charset="-122"/>
                <a:cs typeface="Helvetica Neue" pitchFamily="34" charset="-120"/>
              </a:rPr>
              <a:t>loop</a:t>
            </a:r>
            <a:endParaRPr lang="en-US" sz="2700" dirty="0"/>
          </a:p>
        </p:txBody>
      </p:sp>
      <p:sp>
        <p:nvSpPr>
          <p:cNvPr id="11" name="Text 9"/>
          <p:cNvSpPr/>
          <p:nvPr/>
        </p:nvSpPr>
        <p:spPr>
          <a:xfrm>
            <a:off x="4745736" y="4050792"/>
            <a:ext cx="2688336" cy="1097280"/>
          </a:xfrm>
          <a:prstGeom prst="rect">
            <a:avLst/>
          </a:prstGeom>
          <a:noFill/>
          <a:ln/>
        </p:spPr>
        <p:txBody>
          <a:bodyPr wrap="square" lIns="0" tIns="0" rIns="0" bIns="0" rtlCol="0" anchor="ctr"/>
          <a:lstStyle/>
          <a:p>
            <a:pPr indent="0" marL="0">
              <a:lnSpc>
                <a:spcPts val="1700"/>
              </a:lnSpc>
              <a:buNone/>
            </a:pPr>
            <a:r>
              <a:rPr lang="en-US" sz="1200" dirty="0">
                <a:solidFill>
                  <a:srgbClr val="EAF2F4"/>
                </a:solidFill>
                <a:latin typeface="Helvetica Neue" pitchFamily="34" charset="0"/>
                <a:ea typeface="Helvetica Neue" pitchFamily="34" charset="-122"/>
                <a:cs typeface="Helvetica Neue" pitchFamily="34" charset="-120"/>
              </a:rPr>
              <a:t>Is the path complete? A beep means the circuit is closed. No beep means an open — a break to find.</a:t>
            </a:r>
            <a:endParaRPr lang="en-US" sz="1200" dirty="0"/>
          </a:p>
        </p:txBody>
      </p:sp>
      <p:sp>
        <p:nvSpPr>
          <p:cNvPr id="12" name="Shape 10"/>
          <p:cNvSpPr/>
          <p:nvPr/>
        </p:nvSpPr>
        <p:spPr>
          <a:xfrm>
            <a:off x="8046720" y="2057400"/>
            <a:ext cx="3310128" cy="3246120"/>
          </a:xfrm>
          <a:prstGeom prst="roundRect">
            <a:avLst>
              <a:gd name="adj" fmla="val 3099"/>
            </a:avLst>
          </a:prstGeom>
          <a:solidFill>
            <a:srgbClr val="FBFBFD"/>
          </a:solidFill>
          <a:ln w="12700">
            <a:solidFill>
              <a:srgbClr val="E3E3E6"/>
            </a:solidFill>
            <a:prstDash val="solid"/>
          </a:ln>
        </p:spPr>
        <p:txBody>
          <a:bodyPr/>
          <a:p/>
        </p:txBody>
      </p:sp>
      <p:sp>
        <p:nvSpPr>
          <p:cNvPr id="13" name="Text 11"/>
          <p:cNvSpPr/>
          <p:nvPr/>
        </p:nvSpPr>
        <p:spPr>
          <a:xfrm>
            <a:off x="8357616" y="2386584"/>
            <a:ext cx="2688336" cy="274320"/>
          </a:xfrm>
          <a:prstGeom prst="rect">
            <a:avLst/>
          </a:prstGeom>
          <a:noFill/>
          <a:ln/>
        </p:spPr>
        <p:txBody>
          <a:bodyPr wrap="square" lIns="0" tIns="0" rIns="0" bIns="0" rtlCol="0" anchor="ctr"/>
          <a:lstStyle/>
          <a:p>
            <a:pPr indent="0" marL="0">
              <a:buNone/>
            </a:pPr>
            <a:r>
              <a:rPr lang="en-US" sz="1050" b="1" spc="200" kern="0" dirty="0">
                <a:solidFill>
                  <a:srgbClr val="0D7490"/>
                </a:solidFill>
                <a:latin typeface="Helvetica Neue" pitchFamily="34" charset="0"/>
                <a:ea typeface="Helvetica Neue" pitchFamily="34" charset="-122"/>
                <a:cs typeface="Helvetica Neue" pitchFamily="34" charset="-120"/>
              </a:rPr>
              <a:t>CURRENT</a:t>
            </a:r>
            <a:endParaRPr lang="en-US" sz="1050" dirty="0"/>
          </a:p>
        </p:txBody>
      </p:sp>
      <p:sp>
        <p:nvSpPr>
          <p:cNvPr id="14" name="Text 12"/>
          <p:cNvSpPr/>
          <p:nvPr/>
        </p:nvSpPr>
        <p:spPr>
          <a:xfrm>
            <a:off x="8357616" y="2734056"/>
            <a:ext cx="2688336" cy="1371600"/>
          </a:xfrm>
          <a:prstGeom prst="rect">
            <a:avLst/>
          </a:prstGeom>
          <a:noFill/>
          <a:ln/>
        </p:spPr>
        <p:txBody>
          <a:bodyPr wrap="square" lIns="0" tIns="0" rIns="0" bIns="0" rtlCol="0" anchor="ctr"/>
          <a:lstStyle/>
          <a:p>
            <a:pPr indent="0" marL="0">
              <a:lnSpc>
                <a:spcPts val="3000"/>
              </a:lnSpc>
              <a:buNone/>
            </a:pPr>
            <a:r>
              <a:rPr lang="en-US" sz="2700" b="1" dirty="0">
                <a:solidFill>
                  <a:srgbClr val="1D1D1F"/>
                </a:solidFill>
                <a:latin typeface="Helvetica Neue" pitchFamily="34" charset="0"/>
                <a:ea typeface="Helvetica Neue" pitchFamily="34" charset="-122"/>
                <a:cs typeface="Helvetica Neue" pitchFamily="34" charset="-120"/>
              </a:rPr>
              <a:t>The</a:t>
            </a:r>
            <a:endParaRPr lang="en-US" sz="2700" dirty="0"/>
          </a:p>
          <a:p>
            <a:pPr indent="0" marL="0">
              <a:lnSpc>
                <a:spcPts val="3000"/>
              </a:lnSpc>
              <a:buNone/>
            </a:pPr>
            <a:r>
              <a:rPr lang="en-US" sz="2700" b="1" dirty="0">
                <a:solidFill>
                  <a:srgbClr val="1D1D1F"/>
                </a:solidFill>
                <a:latin typeface="Helvetica Neue" pitchFamily="34" charset="0"/>
                <a:ea typeface="Helvetica Neue" pitchFamily="34" charset="-122"/>
                <a:cs typeface="Helvetica Neue" pitchFamily="34" charset="-120"/>
              </a:rPr>
              <a:t>flow</a:t>
            </a:r>
            <a:endParaRPr lang="en-US" sz="2700" dirty="0"/>
          </a:p>
        </p:txBody>
      </p:sp>
      <p:sp>
        <p:nvSpPr>
          <p:cNvPr id="15" name="Text 13"/>
          <p:cNvSpPr/>
          <p:nvPr/>
        </p:nvSpPr>
        <p:spPr>
          <a:xfrm>
            <a:off x="8357616" y="4050792"/>
            <a:ext cx="2688336" cy="1097280"/>
          </a:xfrm>
          <a:prstGeom prst="rect">
            <a:avLst/>
          </a:prstGeom>
          <a:noFill/>
          <a:ln/>
        </p:spPr>
        <p:txBody>
          <a:bodyPr wrap="square" lIns="0" tIns="0" rIns="0" bIns="0" rtlCol="0" anchor="ctr"/>
          <a:lstStyle/>
          <a:p>
            <a:pPr indent="0" marL="0">
              <a:lnSpc>
                <a:spcPts val="1700"/>
              </a:lnSpc>
              <a:buNone/>
            </a:pPr>
            <a:r>
              <a:rPr lang="en-US" sz="1200" dirty="0">
                <a:solidFill>
                  <a:srgbClr val="6E6E73"/>
                </a:solidFill>
                <a:latin typeface="Helvetica Neue" pitchFamily="34" charset="0"/>
                <a:ea typeface="Helvetica Neue" pitchFamily="34" charset="-122"/>
                <a:cs typeface="Helvetica Neue" pitchFamily="34" charset="-120"/>
              </a:rPr>
              <a:t>How much is flowing, in amps. Too much means a short or overload — the reason we fuse the circuit.</a:t>
            </a:r>
            <a:endParaRPr lang="en-US" sz="1200" dirty="0"/>
          </a:p>
        </p:txBody>
      </p:sp>
      <p:sp>
        <p:nvSpPr>
          <p:cNvPr id="16" name="Text 14"/>
          <p:cNvSpPr/>
          <p:nvPr/>
        </p:nvSpPr>
        <p:spPr>
          <a:xfrm>
            <a:off x="822960" y="5577840"/>
            <a:ext cx="10515600" cy="457200"/>
          </a:xfrm>
          <a:prstGeom prst="rect">
            <a:avLst/>
          </a:prstGeom>
          <a:noFill/>
          <a:ln/>
        </p:spPr>
        <p:txBody>
          <a:bodyPr wrap="square" lIns="0" tIns="0" rIns="0" bIns="0" rtlCol="0" anchor="ctr"/>
          <a:lstStyle/>
          <a:p>
            <a:pPr algn="ctr" indent="0" marL="0">
              <a:buNone/>
            </a:pPr>
            <a:r>
              <a:rPr lang="en-US" sz="1400" b="1" dirty="0">
                <a:solidFill>
                  <a:srgbClr val="1D1D1F"/>
                </a:solidFill>
                <a:latin typeface="Helvetica Neue" pitchFamily="34" charset="0"/>
                <a:ea typeface="Helvetica Neue" pitchFamily="34" charset="-122"/>
                <a:cs typeface="Helvetica Neue" pitchFamily="34" charset="-120"/>
              </a:rPr>
              <a:t>Voltage, continuity, current — the three questions the meter answers.</a:t>
            </a:r>
            <a:endParaRPr lang="en-US" sz="1400" dirty="0"/>
          </a:p>
        </p:txBody>
      </p:sp>
      <p:sp>
        <p:nvSpPr>
          <p:cNvPr id="17" name="Shape 15"/>
          <p:cNvSpPr/>
          <p:nvPr/>
        </p:nvSpPr>
        <p:spPr>
          <a:xfrm>
            <a:off x="822960" y="6437376"/>
            <a:ext cx="10545775" cy="0"/>
          </a:xfrm>
          <a:prstGeom prst="line">
            <a:avLst/>
          </a:prstGeom>
          <a:noFill/>
          <a:ln w="9525">
            <a:solidFill>
              <a:srgbClr val="E3E3E6"/>
            </a:solidFill>
            <a:prstDash val="solid"/>
          </a:ln>
        </p:spPr>
        <p:txBody>
          <a:bodyPr/>
          <a:p/>
        </p:txBody>
      </p:sp>
      <p:sp>
        <p:nvSpPr>
          <p:cNvPr id="18" name="Text 16"/>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19" name="Text 17"/>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CLASS 1.4 — ELECTRONICS WORKSHOP   ·   8 / 19</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BFBFD"/>
        </a:solidFill>
      </p:bgPr>
    </p:bg>
    <p:spTree>
      <p:nvGrpSpPr>
        <p:cNvPr id="1" name=""/>
        <p:cNvGrpSpPr/>
        <p:nvPr/>
      </p:nvGrpSpPr>
      <p:grpSpPr>
        <a:xfrm>
          <a:off x="0" y="0"/>
          <a:ext cx="0" cy="0"/>
          <a:chOff x="0" y="0"/>
          <a:chExt cx="0" cy="0"/>
        </a:xfrm>
      </p:grpSpPr>
      <p:sp>
        <p:nvSpPr>
          <p:cNvPr id="2" name="Text 0"/>
          <p:cNvSpPr/>
          <p:nvPr/>
        </p:nvSpPr>
        <p:spPr>
          <a:xfrm>
            <a:off x="4572000" y="182880"/>
            <a:ext cx="7315200" cy="6492240"/>
          </a:xfrm>
          <a:prstGeom prst="rect">
            <a:avLst/>
          </a:prstGeom>
          <a:noFill/>
          <a:ln/>
        </p:spPr>
        <p:txBody>
          <a:bodyPr wrap="square" lIns="0" tIns="0" rIns="0" bIns="0" rtlCol="0" anchor="ctr"/>
          <a:lstStyle/>
          <a:p>
            <a:pPr algn="r" indent="0" marL="0">
              <a:buNone/>
            </a:pPr>
            <a:r>
              <a:rPr lang="en-US" sz="36000" b="1" dirty="0">
                <a:solidFill>
                  <a:srgbClr val="EEF0F1"/>
                </a:solidFill>
                <a:latin typeface="Helvetica Neue" pitchFamily="34" charset="0"/>
                <a:ea typeface="Helvetica Neue" pitchFamily="34" charset="-122"/>
                <a:cs typeface="Helvetica Neue" pitchFamily="34" charset="-120"/>
              </a:rPr>
              <a:t>03</a:t>
            </a:r>
            <a:endParaRPr lang="en-US" sz="36000" dirty="0"/>
          </a:p>
        </p:txBody>
      </p:sp>
      <p:sp>
        <p:nvSpPr>
          <p:cNvPr id="3" name="Shape 1"/>
          <p:cNvSpPr/>
          <p:nvPr/>
        </p:nvSpPr>
        <p:spPr>
          <a:xfrm>
            <a:off x="841248" y="2395728"/>
            <a:ext cx="566928" cy="91440"/>
          </a:xfrm>
          <a:prstGeom prst="rect">
            <a:avLst/>
          </a:prstGeom>
          <a:solidFill>
            <a:srgbClr val="0D7490"/>
          </a:solidFill>
          <a:ln/>
        </p:spPr>
        <p:txBody>
          <a:bodyPr/>
          <a:p/>
        </p:txBody>
      </p:sp>
      <p:sp>
        <p:nvSpPr>
          <p:cNvPr id="4" name="Text 2"/>
          <p:cNvSpPr/>
          <p:nvPr/>
        </p:nvSpPr>
        <p:spPr>
          <a:xfrm>
            <a:off x="822960" y="2615184"/>
            <a:ext cx="6400800" cy="310896"/>
          </a:xfrm>
          <a:prstGeom prst="rect">
            <a:avLst/>
          </a:prstGeom>
          <a:noFill/>
          <a:ln/>
        </p:spPr>
        <p:txBody>
          <a:bodyPr wrap="square" lIns="0" tIns="0" rIns="0" bIns="0" rtlCol="0" anchor="ctr"/>
          <a:lstStyle/>
          <a:p>
            <a:pPr indent="0" marL="0">
              <a:buNone/>
            </a:pPr>
            <a:r>
              <a:rPr lang="en-US" sz="1300" b="1" spc="250" kern="0" dirty="0">
                <a:solidFill>
                  <a:srgbClr val="0D7490"/>
                </a:solidFill>
                <a:latin typeface="Helvetica Neue" pitchFamily="34" charset="0"/>
                <a:ea typeface="Helvetica Neue" pitchFamily="34" charset="-122"/>
                <a:cs typeface="Helvetica Neue" pitchFamily="34" charset="-120"/>
              </a:rPr>
              <a:t>SECTION 03</a:t>
            </a:r>
            <a:endParaRPr lang="en-US" sz="1300" dirty="0"/>
          </a:p>
        </p:txBody>
      </p:sp>
      <p:sp>
        <p:nvSpPr>
          <p:cNvPr id="5" name="Text 3"/>
          <p:cNvSpPr/>
          <p:nvPr/>
        </p:nvSpPr>
        <p:spPr>
          <a:xfrm>
            <a:off x="786384" y="2926080"/>
            <a:ext cx="6949440" cy="1371600"/>
          </a:xfrm>
          <a:prstGeom prst="rect">
            <a:avLst/>
          </a:prstGeom>
          <a:noFill/>
          <a:ln/>
        </p:spPr>
        <p:txBody>
          <a:bodyPr wrap="square" lIns="0" tIns="0" rIns="0" bIns="0" rtlCol="0" anchor="ctr"/>
          <a:lstStyle/>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Switches &amp;</a:t>
            </a:r>
            <a:endParaRPr lang="en-US" sz="4000" dirty="0"/>
          </a:p>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Circuits</a:t>
            </a:r>
            <a:endParaRPr lang="en-US" sz="4000" dirty="0"/>
          </a:p>
        </p:txBody>
      </p:sp>
      <p:sp>
        <p:nvSpPr>
          <p:cNvPr id="6" name="Shape 4"/>
          <p:cNvSpPr/>
          <p:nvPr/>
        </p:nvSpPr>
        <p:spPr>
          <a:xfrm>
            <a:off x="841248" y="4370832"/>
            <a:ext cx="2971800" cy="420624"/>
          </a:xfrm>
          <a:prstGeom prst="roundRect">
            <a:avLst>
              <a:gd name="adj" fmla="val 50000"/>
            </a:avLst>
          </a:prstGeom>
          <a:solidFill>
            <a:srgbClr val="0D7490"/>
          </a:solidFill>
          <a:ln/>
        </p:spPr>
        <p:txBody>
          <a:bodyPr/>
          <a:p/>
        </p:txBody>
      </p:sp>
      <p:sp>
        <p:nvSpPr>
          <p:cNvPr id="7" name="Text 5"/>
          <p:cNvSpPr/>
          <p:nvPr/>
        </p:nvSpPr>
        <p:spPr>
          <a:xfrm>
            <a:off x="841248" y="4370832"/>
            <a:ext cx="2971800" cy="420624"/>
          </a:xfrm>
          <a:prstGeom prst="rect">
            <a:avLst/>
          </a:prstGeom>
          <a:noFill/>
          <a:ln/>
        </p:spPr>
        <p:txBody>
          <a:bodyPr wrap="square" lIns="0" tIns="0" rIns="0" bIns="0" rtlCol="0" anchor="ctr"/>
          <a:lstStyle/>
          <a:p>
            <a:pPr algn="ctr" indent="0" marL="0">
              <a:buNone/>
            </a:pPr>
            <a:r>
              <a:rPr lang="en-US" sz="1050" b="1" spc="150" kern="0" dirty="0">
                <a:solidFill>
                  <a:srgbClr val="FFFFFF"/>
                </a:solidFill>
                <a:latin typeface="Helvetica Neue" pitchFamily="34" charset="0"/>
                <a:ea typeface="Helvetica Neue" pitchFamily="34" charset="-122"/>
                <a:cs typeface="Helvetica Neue" pitchFamily="34" charset="-120"/>
              </a:rPr>
              <a:t>0:50 – 1:40   ·   50 MIN</a:t>
            </a:r>
            <a:endParaRPr lang="en-US" sz="1050" dirty="0"/>
          </a:p>
        </p:txBody>
      </p:sp>
      <p:sp>
        <p:nvSpPr>
          <p:cNvPr id="8" name="Text 6"/>
          <p:cNvSpPr/>
          <p:nvPr/>
        </p:nvSpPr>
        <p:spPr>
          <a:xfrm>
            <a:off x="841248" y="5029200"/>
            <a:ext cx="6126480" cy="1005840"/>
          </a:xfrm>
          <a:prstGeom prst="rect">
            <a:avLst/>
          </a:prstGeom>
          <a:noFill/>
          <a:ln/>
        </p:spPr>
        <p:txBody>
          <a:bodyPr wrap="square" lIns="0" tIns="0" rIns="0" bIns="0" rtlCol="0" anchor="ctr"/>
          <a:lstStyle/>
          <a:p>
            <a:pPr indent="0" marL="0">
              <a:lnSpc>
                <a:spcPts val="2200"/>
              </a:lnSpc>
              <a:buNone/>
            </a:pPr>
            <a:r>
              <a:rPr lang="en-US" sz="1500" i="1" dirty="0">
                <a:solidFill>
                  <a:srgbClr val="6E6E73"/>
                </a:solidFill>
                <a:latin typeface="Helvetica Neue" pitchFamily="34" charset="0"/>
                <a:ea typeface="Helvetica Neue" pitchFamily="34" charset="-122"/>
                <a:cs typeface="Helvetica Neue" pitchFamily="34" charset="-120"/>
              </a:rPr>
              <a:t>A switch, a battery, a light — the whole idea of a circuit in your hands.</a:t>
            </a:r>
            <a:endParaRPr lang="en-US" sz="1500" dirty="0"/>
          </a:p>
        </p:txBody>
      </p:sp>
      <p:sp>
        <p:nvSpPr>
          <p:cNvPr id="9" name="Shape 7"/>
          <p:cNvSpPr/>
          <p:nvPr/>
        </p:nvSpPr>
        <p:spPr>
          <a:xfrm>
            <a:off x="822960" y="6437376"/>
            <a:ext cx="10545775" cy="0"/>
          </a:xfrm>
          <a:prstGeom prst="line">
            <a:avLst/>
          </a:prstGeom>
          <a:noFill/>
          <a:ln w="9525">
            <a:solidFill>
              <a:srgbClr val="E3E3E6"/>
            </a:solidFill>
            <a:prstDash val="solid"/>
          </a:ln>
        </p:spPr>
        <p:txBody>
          <a:bodyPr/>
          <a:p/>
        </p:txBody>
      </p:sp>
      <p:sp>
        <p:nvSpPr>
          <p:cNvPr id="10" name="Text 8"/>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11" name="Text 9"/>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CLASS 1.4 — ELECTRONICS WORKSHOP   ·   9 / 19</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BEFORE CLASS</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Watch it at home. Build it in class.</a:t>
            </a:r>
            <a:endParaRPr lang="en-US" sz="3000" dirty="0"/>
          </a:p>
        </p:txBody>
      </p:sp>
      <p:sp>
        <p:nvSpPr>
          <p:cNvPr id="4" name="Text 2"/>
          <p:cNvSpPr/>
          <p:nvPr/>
        </p:nvSpPr>
        <p:spPr>
          <a:xfrm>
            <a:off x="822960" y="1828800"/>
            <a:ext cx="5669280" cy="1737360"/>
          </a:xfrm>
          <a:prstGeom prst="rect">
            <a:avLst/>
          </a:prstGeom>
          <a:noFill/>
          <a:ln/>
        </p:spPr>
        <p:txBody>
          <a:bodyPr wrap="square" lIns="0" tIns="0" rIns="0" bIns="0" rtlCol="0" anchor="ctr"/>
          <a:lstStyle/>
          <a:p>
            <a:pPr indent="0" marL="0">
              <a:lnSpc>
                <a:spcPts val="2300"/>
              </a:lnSpc>
              <a:buNone/>
            </a:pPr>
            <a:r>
              <a:rPr lang="en-US" sz="1500" dirty="0">
                <a:solidFill>
                  <a:srgbClr val="6E6E73"/>
                </a:solidFill>
                <a:latin typeface="Helvetica Neue" pitchFamily="34" charset="0"/>
                <a:ea typeface="Helvetica Neue" pitchFamily="34" charset="-122"/>
                <a:cs typeface="Helvetica Neue" pitchFamily="34" charset="-120"/>
              </a:rPr>
              <a:t>MATE's instructors teach the electronics on video. Watch these before class so our meeting time goes to measuring, wiring, and building — not slides.</a:t>
            </a:r>
            <a:endParaRPr lang="en-US" sz="1500" dirty="0"/>
          </a:p>
        </p:txBody>
      </p:sp>
      <p:sp>
        <p:nvSpPr>
          <p:cNvPr id="5" name="Text 3"/>
          <p:cNvSpPr/>
          <p:nvPr/>
        </p:nvSpPr>
        <p:spPr>
          <a:xfrm>
            <a:off x="822960" y="3611880"/>
            <a:ext cx="5669280" cy="1554480"/>
          </a:xfrm>
          <a:prstGeom prst="rect">
            <a:avLst/>
          </a:prstGeom>
          <a:noFill/>
          <a:ln/>
        </p:spPr>
        <p:txBody>
          <a:bodyPr wrap="square" lIns="0" tIns="0" rIns="0" bIns="0" rtlCol="0" anchor="ctr"/>
          <a:lstStyle/>
          <a:p>
            <a:pPr indent="0" marL="0">
              <a:lnSpc>
                <a:spcPts val="2300"/>
              </a:lnSpc>
              <a:buNone/>
            </a:pPr>
            <a:r>
              <a:rPr lang="en-US" sz="1500" dirty="0">
                <a:solidFill>
                  <a:srgbClr val="6E6E73"/>
                </a:solidFill>
                <a:latin typeface="Helvetica Neue" pitchFamily="34" charset="0"/>
                <a:ea typeface="Helvetica Neue" pitchFamily="34" charset="-122"/>
                <a:cs typeface="Helvetica Neue" pitchFamily="34" charset="-120"/>
              </a:rPr>
              <a:t>As you watch, notice: how to set the meter's dial, how a switch makes and breaks a circuit, and how a simple circuit carries current from battery to load and back.</a:t>
            </a:r>
            <a:endParaRPr lang="en-US" sz="1500" dirty="0"/>
          </a:p>
        </p:txBody>
      </p:sp>
      <p:sp>
        <p:nvSpPr>
          <p:cNvPr id="6" name="Text 4"/>
          <p:cNvSpPr/>
          <p:nvPr/>
        </p:nvSpPr>
        <p:spPr>
          <a:xfrm>
            <a:off x="822960" y="5212080"/>
            <a:ext cx="5669280" cy="640080"/>
          </a:xfrm>
          <a:prstGeom prst="rect">
            <a:avLst/>
          </a:prstGeom>
          <a:noFill/>
          <a:ln/>
        </p:spPr>
        <p:txBody>
          <a:bodyPr wrap="square" lIns="0" tIns="0" rIns="0" bIns="0" rtlCol="0" anchor="ctr"/>
          <a:lstStyle/>
          <a:p>
            <a:pPr indent="0" marL="0">
              <a:lnSpc>
                <a:spcPts val="2000"/>
              </a:lnSpc>
              <a:buNone/>
            </a:pPr>
            <a:r>
              <a:rPr lang="en-US" sz="1400" b="1" dirty="0">
                <a:solidFill>
                  <a:srgbClr val="1D1D1F"/>
                </a:solidFill>
                <a:latin typeface="Helvetica Neue" pitchFamily="34" charset="0"/>
                <a:ea typeface="Helvetica Neue" pitchFamily="34" charset="-122"/>
                <a:cs typeface="Helvetica Neue" pitchFamily="34" charset="-120"/>
              </a:rPr>
              <a:t>Come ready to measure and build — we pick up the meter at the door.</a:t>
            </a:r>
            <a:endParaRPr lang="en-US" sz="1400" dirty="0"/>
          </a:p>
        </p:txBody>
      </p:sp>
      <p:sp>
        <p:nvSpPr>
          <p:cNvPr id="7" name="Shape 5"/>
          <p:cNvSpPr/>
          <p:nvPr/>
        </p:nvSpPr>
        <p:spPr>
          <a:xfrm>
            <a:off x="6858000" y="1828800"/>
            <a:ext cx="4507992" cy="4160520"/>
          </a:xfrm>
          <a:prstGeom prst="roundRect">
            <a:avLst>
              <a:gd name="adj" fmla="val 2418"/>
            </a:avLst>
          </a:prstGeom>
          <a:solidFill>
            <a:srgbClr val="095D75"/>
          </a:solidFill>
          <a:ln w="12700">
            <a:solidFill>
              <a:srgbClr val="095D75"/>
            </a:solidFill>
            <a:prstDash val="solid"/>
          </a:ln>
        </p:spPr>
        <p:txBody>
          <a:bodyPr/>
          <a:p/>
        </p:txBody>
      </p:sp>
      <p:sp>
        <p:nvSpPr>
          <p:cNvPr id="8" name="Text 6"/>
          <p:cNvSpPr/>
          <p:nvPr/>
        </p:nvSpPr>
        <p:spPr>
          <a:xfrm>
            <a:off x="7223760" y="2212848"/>
            <a:ext cx="3840480" cy="274320"/>
          </a:xfrm>
          <a:prstGeom prst="rect">
            <a:avLst/>
          </a:prstGeom>
          <a:noFill/>
          <a:ln/>
        </p:spPr>
        <p:txBody>
          <a:bodyPr wrap="square" lIns="0" tIns="0" rIns="0" bIns="0" rtlCol="0" anchor="ctr"/>
          <a:lstStyle/>
          <a:p>
            <a:pPr indent="0" marL="0">
              <a:buNone/>
            </a:pPr>
            <a:r>
              <a:rPr lang="en-US" sz="1050" b="1" spc="200" kern="0" dirty="0">
                <a:solidFill>
                  <a:srgbClr val="9FCEDA"/>
                </a:solidFill>
                <a:latin typeface="Helvetica Neue" pitchFamily="34" charset="0"/>
                <a:ea typeface="Helvetica Neue" pitchFamily="34" charset="-122"/>
                <a:cs typeface="Helvetica Neue" pitchFamily="34" charset="-120"/>
              </a:rPr>
              <a:t>PRE-WATCH HOMEWORK</a:t>
            </a:r>
            <a:endParaRPr lang="en-US" sz="1050" dirty="0"/>
          </a:p>
        </p:txBody>
      </p:sp>
      <p:sp>
        <p:nvSpPr>
          <p:cNvPr id="9" name="Text 7"/>
          <p:cNvSpPr/>
          <p:nvPr/>
        </p:nvSpPr>
        <p:spPr>
          <a:xfrm>
            <a:off x="7223760" y="2578608"/>
            <a:ext cx="3794760" cy="2103120"/>
          </a:xfrm>
          <a:prstGeom prst="rect">
            <a:avLst/>
          </a:prstGeom>
          <a:noFill/>
          <a:ln/>
        </p:spPr>
        <p:txBody>
          <a:bodyPr wrap="square" lIns="0" tIns="0" rIns="0" bIns="0" rtlCol="0" anchor="ctr"/>
          <a:lstStyle/>
          <a:p>
            <a:pPr indent="0" marL="0">
              <a:lnSpc>
                <a:spcPts val="2700"/>
              </a:lnSpc>
              <a:buNone/>
            </a:pPr>
            <a:r>
              <a:rPr lang="en-US" sz="2100" b="1" dirty="0">
                <a:solidFill>
                  <a:srgbClr val="FFFFFF"/>
                </a:solidFill>
                <a:latin typeface="Helvetica Neue" pitchFamily="34" charset="0"/>
                <a:ea typeface="Helvetica Neue" pitchFamily="34" charset="-122"/>
                <a:cs typeface="Helvetica Neue" pitchFamily="34" charset="-120"/>
              </a:rPr>
              <a:t>Three short videos, then straight to the bench.</a:t>
            </a:r>
            <a:endParaRPr lang="en-US" sz="2100" dirty="0"/>
          </a:p>
        </p:txBody>
      </p:sp>
      <p:sp>
        <p:nvSpPr>
          <p:cNvPr id="10" name="Shape 8"/>
          <p:cNvSpPr/>
          <p:nvPr/>
        </p:nvSpPr>
        <p:spPr>
          <a:xfrm>
            <a:off x="7223760" y="4617720"/>
            <a:ext cx="3776472" cy="0"/>
          </a:xfrm>
          <a:prstGeom prst="line">
            <a:avLst/>
          </a:prstGeom>
          <a:noFill/>
          <a:ln w="12700">
            <a:solidFill>
              <a:srgbClr val="3E7E91"/>
            </a:solidFill>
            <a:prstDash val="solid"/>
          </a:ln>
        </p:spPr>
        <p:txBody>
          <a:bodyPr/>
          <a:p/>
        </p:txBody>
      </p:sp>
      <p:sp>
        <p:nvSpPr>
          <p:cNvPr id="11" name="Text 9"/>
          <p:cNvSpPr/>
          <p:nvPr/>
        </p:nvSpPr>
        <p:spPr>
          <a:xfrm>
            <a:off x="7223760" y="4800600"/>
            <a:ext cx="3794760" cy="292608"/>
          </a:xfrm>
          <a:prstGeom prst="rect">
            <a:avLst/>
          </a:prstGeom>
          <a:noFill/>
          <a:ln/>
        </p:spPr>
        <p:txBody>
          <a:bodyPr wrap="square" lIns="0" tIns="0" rIns="0" bIns="0" rtlCol="0" anchor="ctr"/>
          <a:lstStyle/>
          <a:p>
            <a:pPr indent="0" marL="0">
              <a:buNone/>
            </a:pPr>
            <a:r>
              <a:rPr lang="en-US" sz="1200" dirty="0">
                <a:solidFill>
                  <a:srgbClr val="9FCEDA"/>
                </a:solidFill>
                <a:latin typeface="Helvetica Neue" pitchFamily="34" charset="0"/>
                <a:ea typeface="Helvetica Neue" pitchFamily="34" charset="-122"/>
                <a:cs typeface="Helvetica Neue" pitchFamily="34" charset="-120"/>
                <a:hlinkClick r:id="rId3"/>
              </a:rPr>
              <a:t>MATE: Multimeter Basics</a:t>
            </a:r>
            <a:endParaRPr lang="en-US" sz="1200" dirty="0"/>
          </a:p>
        </p:txBody>
      </p:sp>
      <p:sp>
        <p:nvSpPr>
          <p:cNvPr id="12" name="Text 10"/>
          <p:cNvSpPr/>
          <p:nvPr/>
        </p:nvSpPr>
        <p:spPr>
          <a:xfrm>
            <a:off x="7223760" y="5084064"/>
            <a:ext cx="3794760" cy="731520"/>
          </a:xfrm>
          <a:prstGeom prst="rect">
            <a:avLst/>
          </a:prstGeom>
          <a:noFill/>
          <a:ln/>
        </p:spPr>
        <p:txBody>
          <a:bodyPr wrap="square" lIns="0" tIns="0" rIns="0" bIns="0" rtlCol="0" anchor="ctr"/>
          <a:lstStyle/>
          <a:p>
            <a:pPr indent="0" marL="0">
              <a:lnSpc>
                <a:spcPts val="1500"/>
              </a:lnSpc>
              <a:buNone/>
            </a:pPr>
            <a:r>
              <a:rPr lang="en-US" sz="1100" dirty="0">
                <a:solidFill>
                  <a:srgbClr val="C9E3EA"/>
                </a:solidFill>
                <a:latin typeface="Helvetica Neue" pitchFamily="34" charset="0"/>
                <a:ea typeface="Helvetica Neue" pitchFamily="34" charset="-122"/>
                <a:cs typeface="Helvetica Neue" pitchFamily="34" charset="-120"/>
              </a:rPr>
              <a:t>Plus MATE: How Switches Work and Simple Circuits — all assigned on the team site.</a:t>
            </a:r>
            <a:endParaRPr lang="en-US" sz="1100" dirty="0"/>
          </a:p>
        </p:txBody>
      </p:sp>
      <p:sp>
        <p:nvSpPr>
          <p:cNvPr id="13" name="Shape 11"/>
          <p:cNvSpPr/>
          <p:nvPr/>
        </p:nvSpPr>
        <p:spPr>
          <a:xfrm>
            <a:off x="822960" y="6437376"/>
            <a:ext cx="10545775" cy="0"/>
          </a:xfrm>
          <a:prstGeom prst="line">
            <a:avLst/>
          </a:prstGeom>
          <a:noFill/>
          <a:ln w="9525">
            <a:solidFill>
              <a:srgbClr val="E3E3E6"/>
            </a:solidFill>
            <a:prstDash val="solid"/>
          </a:ln>
        </p:spPr>
        <p:txBody>
          <a:bodyPr/>
          <a:p/>
        </p:txBody>
      </p:sp>
      <p:sp>
        <p:nvSpPr>
          <p:cNvPr id="14" name="Text 12"/>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15" name="Text 13"/>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CLASS 1.4 — ELECTRONICS WORKSHOP   ·   10 / 19</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THE LANGUAGE OF CIRCUITS</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Six symbols you'll see all season.</a:t>
            </a:r>
            <a:endParaRPr lang="en-US" sz="3000" dirty="0"/>
          </a:p>
        </p:txBody>
      </p:sp>
      <p:sp>
        <p:nvSpPr>
          <p:cNvPr id="4" name="Shape 2"/>
          <p:cNvSpPr/>
          <p:nvPr/>
        </p:nvSpPr>
        <p:spPr>
          <a:xfrm>
            <a:off x="822960" y="1755648"/>
            <a:ext cx="3310128" cy="2121408"/>
          </a:xfrm>
          <a:prstGeom prst="roundRect">
            <a:avLst>
              <a:gd name="adj" fmla="val 4741"/>
            </a:avLst>
          </a:prstGeom>
          <a:solidFill>
            <a:srgbClr val="FBFBFD"/>
          </a:solidFill>
          <a:ln w="12700">
            <a:solidFill>
              <a:srgbClr val="E3E3E6"/>
            </a:solidFill>
            <a:prstDash val="solid"/>
          </a:ln>
        </p:spPr>
        <p:txBody>
          <a:bodyPr/>
          <a:p/>
        </p:txBody>
      </p:sp>
      <p:sp>
        <p:nvSpPr>
          <p:cNvPr id="5" name="Shape 3"/>
          <p:cNvSpPr/>
          <p:nvPr/>
        </p:nvSpPr>
        <p:spPr>
          <a:xfrm>
            <a:off x="1097280" y="2029968"/>
            <a:ext cx="402336" cy="402336"/>
          </a:xfrm>
          <a:prstGeom prst="ellipse">
            <a:avLst/>
          </a:prstGeom>
          <a:solidFill>
            <a:srgbClr val="0D7490"/>
          </a:solidFill>
          <a:ln/>
        </p:spPr>
        <p:txBody>
          <a:bodyPr/>
          <a:p/>
        </p:txBody>
      </p:sp>
      <p:sp>
        <p:nvSpPr>
          <p:cNvPr id="6" name="Text 4"/>
          <p:cNvSpPr/>
          <p:nvPr/>
        </p:nvSpPr>
        <p:spPr>
          <a:xfrm>
            <a:off x="1097280" y="2029968"/>
            <a:ext cx="402336" cy="402336"/>
          </a:xfrm>
          <a:prstGeom prst="rect">
            <a:avLst/>
          </a:prstGeom>
          <a:noFill/>
          <a:ln/>
        </p:spPr>
        <p:txBody>
          <a:bodyPr wrap="square" lIns="0" tIns="0" rIns="0" bIns="0" rtlCol="0" anchor="ctr"/>
          <a:lstStyle/>
          <a:p>
            <a:pPr algn="ctr" indent="0" marL="0">
              <a:buNone/>
            </a:pPr>
            <a:r>
              <a:rPr lang="en-US" sz="1232" b="1" dirty="0">
                <a:solidFill>
                  <a:srgbClr val="FFFFFF"/>
                </a:solidFill>
                <a:latin typeface="Helvetica Neue" pitchFamily="34" charset="0"/>
                <a:ea typeface="Helvetica Neue" pitchFamily="34" charset="-122"/>
                <a:cs typeface="Helvetica Neue" pitchFamily="34" charset="-120"/>
              </a:rPr>
              <a:t>1</a:t>
            </a:r>
            <a:endParaRPr lang="en-US" sz="1232" dirty="0"/>
          </a:p>
        </p:txBody>
      </p:sp>
      <p:sp>
        <p:nvSpPr>
          <p:cNvPr id="7" name="Text 5"/>
          <p:cNvSpPr/>
          <p:nvPr/>
        </p:nvSpPr>
        <p:spPr>
          <a:xfrm>
            <a:off x="1627632" y="2002536"/>
            <a:ext cx="2304288" cy="365760"/>
          </a:xfrm>
          <a:prstGeom prst="rect">
            <a:avLst/>
          </a:prstGeom>
          <a:noFill/>
          <a:ln/>
        </p:spPr>
        <p:txBody>
          <a:bodyPr wrap="square" lIns="0" tIns="0" rIns="0" bIns="0" rtlCol="0" anchor="ctr"/>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Wire</a:t>
            </a:r>
            <a:endParaRPr lang="en-US" sz="1550" dirty="0"/>
          </a:p>
        </p:txBody>
      </p:sp>
      <p:sp>
        <p:nvSpPr>
          <p:cNvPr id="8" name="Text 6"/>
          <p:cNvSpPr/>
          <p:nvPr/>
        </p:nvSpPr>
        <p:spPr>
          <a:xfrm>
            <a:off x="1097280" y="2542032"/>
            <a:ext cx="2761488" cy="274320"/>
          </a:xfrm>
          <a:prstGeom prst="rect">
            <a:avLst/>
          </a:prstGeom>
          <a:noFill/>
          <a:ln/>
        </p:spPr>
        <p:txBody>
          <a:bodyPr wrap="square" lIns="0" tIns="0" rIns="0" bIns="0" rtlCol="0" anchor="ctr"/>
          <a:lstStyle/>
          <a:p>
            <a:pPr indent="0" marL="0">
              <a:buNone/>
            </a:pPr>
            <a:r>
              <a:rPr lang="en-US" sz="900" b="1" spc="150" kern="0" dirty="0">
                <a:solidFill>
                  <a:srgbClr val="0D7490"/>
                </a:solidFill>
                <a:latin typeface="Helvetica Neue" pitchFamily="34" charset="0"/>
                <a:ea typeface="Helvetica Neue" pitchFamily="34" charset="-122"/>
                <a:cs typeface="Helvetica Neue" pitchFamily="34" charset="-120"/>
              </a:rPr>
              <a:t>A CONDUCTOR</a:t>
            </a:r>
            <a:endParaRPr lang="en-US" sz="900" dirty="0"/>
          </a:p>
        </p:txBody>
      </p:sp>
      <p:sp>
        <p:nvSpPr>
          <p:cNvPr id="9" name="Text 7"/>
          <p:cNvSpPr/>
          <p:nvPr/>
        </p:nvSpPr>
        <p:spPr>
          <a:xfrm>
            <a:off x="1097280" y="2834640"/>
            <a:ext cx="2779776" cy="914400"/>
          </a:xfrm>
          <a:prstGeom prst="rect">
            <a:avLst/>
          </a:prstGeom>
          <a:noFill/>
          <a:ln/>
        </p:spPr>
        <p:txBody>
          <a:bodyPr wrap="square" lIns="0" tIns="0" rIns="0" bIns="0" rtlCol="0" anchor="ctr"/>
          <a:lstStyle/>
          <a:p>
            <a:pPr indent="0" marL="0">
              <a:lnSpc>
                <a:spcPts val="1500"/>
              </a:lnSpc>
              <a:buNone/>
            </a:pPr>
            <a:r>
              <a:rPr lang="en-US" sz="1100" dirty="0">
                <a:solidFill>
                  <a:srgbClr val="6E6E73"/>
                </a:solidFill>
                <a:latin typeface="Helvetica Neue" pitchFamily="34" charset="0"/>
                <a:ea typeface="Helvetica Neue" pitchFamily="34" charset="-122"/>
                <a:cs typeface="Helvetica Neue" pitchFamily="34" charset="-120"/>
              </a:rPr>
              <a:t>A straight line carries current. A dot where wires connect; a hop where they cross without touching.</a:t>
            </a:r>
            <a:endParaRPr lang="en-US" sz="1100" dirty="0"/>
          </a:p>
        </p:txBody>
      </p:sp>
      <p:sp>
        <p:nvSpPr>
          <p:cNvPr id="10" name="Shape 8"/>
          <p:cNvSpPr/>
          <p:nvPr/>
        </p:nvSpPr>
        <p:spPr>
          <a:xfrm>
            <a:off x="4434840" y="1755648"/>
            <a:ext cx="3310128" cy="2121408"/>
          </a:xfrm>
          <a:prstGeom prst="roundRect">
            <a:avLst>
              <a:gd name="adj" fmla="val 4741"/>
            </a:avLst>
          </a:prstGeom>
          <a:solidFill>
            <a:srgbClr val="FBFBFD"/>
          </a:solidFill>
          <a:ln w="12700">
            <a:solidFill>
              <a:srgbClr val="E3E3E6"/>
            </a:solidFill>
            <a:prstDash val="solid"/>
          </a:ln>
        </p:spPr>
        <p:txBody>
          <a:bodyPr/>
          <a:p/>
        </p:txBody>
      </p:sp>
      <p:sp>
        <p:nvSpPr>
          <p:cNvPr id="11" name="Shape 9"/>
          <p:cNvSpPr/>
          <p:nvPr/>
        </p:nvSpPr>
        <p:spPr>
          <a:xfrm>
            <a:off x="4709160" y="2029968"/>
            <a:ext cx="402336" cy="402336"/>
          </a:xfrm>
          <a:prstGeom prst="ellipse">
            <a:avLst/>
          </a:prstGeom>
          <a:solidFill>
            <a:srgbClr val="0D7490"/>
          </a:solidFill>
          <a:ln/>
        </p:spPr>
        <p:txBody>
          <a:bodyPr/>
          <a:p/>
        </p:txBody>
      </p:sp>
      <p:sp>
        <p:nvSpPr>
          <p:cNvPr id="12" name="Text 10"/>
          <p:cNvSpPr/>
          <p:nvPr/>
        </p:nvSpPr>
        <p:spPr>
          <a:xfrm>
            <a:off x="4709160" y="2029968"/>
            <a:ext cx="402336" cy="402336"/>
          </a:xfrm>
          <a:prstGeom prst="rect">
            <a:avLst/>
          </a:prstGeom>
          <a:noFill/>
          <a:ln/>
        </p:spPr>
        <p:txBody>
          <a:bodyPr wrap="square" lIns="0" tIns="0" rIns="0" bIns="0" rtlCol="0" anchor="ctr"/>
          <a:lstStyle/>
          <a:p>
            <a:pPr algn="ctr" indent="0" marL="0">
              <a:buNone/>
            </a:pPr>
            <a:r>
              <a:rPr lang="en-US" sz="1232" b="1" dirty="0">
                <a:solidFill>
                  <a:srgbClr val="FFFFFF"/>
                </a:solidFill>
                <a:latin typeface="Helvetica Neue" pitchFamily="34" charset="0"/>
                <a:ea typeface="Helvetica Neue" pitchFamily="34" charset="-122"/>
                <a:cs typeface="Helvetica Neue" pitchFamily="34" charset="-120"/>
              </a:rPr>
              <a:t>2</a:t>
            </a:r>
            <a:endParaRPr lang="en-US" sz="1232" dirty="0"/>
          </a:p>
        </p:txBody>
      </p:sp>
      <p:sp>
        <p:nvSpPr>
          <p:cNvPr id="13" name="Text 11"/>
          <p:cNvSpPr/>
          <p:nvPr/>
        </p:nvSpPr>
        <p:spPr>
          <a:xfrm>
            <a:off x="5239512" y="2002536"/>
            <a:ext cx="2304288" cy="365760"/>
          </a:xfrm>
          <a:prstGeom prst="rect">
            <a:avLst/>
          </a:prstGeom>
          <a:noFill/>
          <a:ln/>
        </p:spPr>
        <p:txBody>
          <a:bodyPr wrap="square" lIns="0" tIns="0" rIns="0" bIns="0" rtlCol="0" anchor="ctr"/>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Battery</a:t>
            </a:r>
            <a:endParaRPr lang="en-US" sz="1550" dirty="0"/>
          </a:p>
        </p:txBody>
      </p:sp>
      <p:sp>
        <p:nvSpPr>
          <p:cNvPr id="14" name="Text 12"/>
          <p:cNvSpPr/>
          <p:nvPr/>
        </p:nvSpPr>
        <p:spPr>
          <a:xfrm>
            <a:off x="4709160" y="2542032"/>
            <a:ext cx="2761488" cy="274320"/>
          </a:xfrm>
          <a:prstGeom prst="rect">
            <a:avLst/>
          </a:prstGeom>
          <a:noFill/>
          <a:ln/>
        </p:spPr>
        <p:txBody>
          <a:bodyPr wrap="square" lIns="0" tIns="0" rIns="0" bIns="0" rtlCol="0" anchor="ctr"/>
          <a:lstStyle/>
          <a:p>
            <a:pPr indent="0" marL="0">
              <a:buNone/>
            </a:pPr>
            <a:r>
              <a:rPr lang="en-US" sz="900" b="1" spc="150" kern="0" dirty="0">
                <a:solidFill>
                  <a:srgbClr val="0D7490"/>
                </a:solidFill>
                <a:latin typeface="Helvetica Neue" pitchFamily="34" charset="0"/>
                <a:ea typeface="Helvetica Neue" pitchFamily="34" charset="-122"/>
                <a:cs typeface="Helvetica Neue" pitchFamily="34" charset="-120"/>
              </a:rPr>
              <a:t>THE SOURCE</a:t>
            </a:r>
            <a:endParaRPr lang="en-US" sz="900" dirty="0"/>
          </a:p>
        </p:txBody>
      </p:sp>
      <p:sp>
        <p:nvSpPr>
          <p:cNvPr id="15" name="Text 13"/>
          <p:cNvSpPr/>
          <p:nvPr/>
        </p:nvSpPr>
        <p:spPr>
          <a:xfrm>
            <a:off x="4709160" y="2834640"/>
            <a:ext cx="2779776" cy="914400"/>
          </a:xfrm>
          <a:prstGeom prst="rect">
            <a:avLst/>
          </a:prstGeom>
          <a:noFill/>
          <a:ln/>
        </p:spPr>
        <p:txBody>
          <a:bodyPr wrap="square" lIns="0" tIns="0" rIns="0" bIns="0" rtlCol="0" anchor="ctr"/>
          <a:lstStyle/>
          <a:p>
            <a:pPr indent="0" marL="0">
              <a:lnSpc>
                <a:spcPts val="1500"/>
              </a:lnSpc>
              <a:buNone/>
            </a:pPr>
            <a:r>
              <a:rPr lang="en-US" sz="1100" dirty="0">
                <a:solidFill>
                  <a:srgbClr val="6E6E73"/>
                </a:solidFill>
                <a:latin typeface="Helvetica Neue" pitchFamily="34" charset="0"/>
                <a:ea typeface="Helvetica Neue" pitchFamily="34" charset="-122"/>
                <a:cs typeface="Helvetica Neue" pitchFamily="34" charset="-120"/>
              </a:rPr>
              <a:t>Long line positive, short line negative. The push that drives the circuit.</a:t>
            </a:r>
            <a:endParaRPr lang="en-US" sz="1100" dirty="0"/>
          </a:p>
        </p:txBody>
      </p:sp>
      <p:sp>
        <p:nvSpPr>
          <p:cNvPr id="16" name="Shape 14"/>
          <p:cNvSpPr/>
          <p:nvPr/>
        </p:nvSpPr>
        <p:spPr>
          <a:xfrm>
            <a:off x="8046720" y="1755648"/>
            <a:ext cx="3310128" cy="2121408"/>
          </a:xfrm>
          <a:prstGeom prst="roundRect">
            <a:avLst>
              <a:gd name="adj" fmla="val 4741"/>
            </a:avLst>
          </a:prstGeom>
          <a:solidFill>
            <a:srgbClr val="FBFBFD"/>
          </a:solidFill>
          <a:ln w="12700">
            <a:solidFill>
              <a:srgbClr val="E3E3E6"/>
            </a:solidFill>
            <a:prstDash val="solid"/>
          </a:ln>
        </p:spPr>
        <p:txBody>
          <a:bodyPr/>
          <a:p/>
        </p:txBody>
      </p:sp>
      <p:sp>
        <p:nvSpPr>
          <p:cNvPr id="17" name="Shape 15"/>
          <p:cNvSpPr/>
          <p:nvPr/>
        </p:nvSpPr>
        <p:spPr>
          <a:xfrm>
            <a:off x="8321040" y="2029968"/>
            <a:ext cx="402336" cy="402336"/>
          </a:xfrm>
          <a:prstGeom prst="ellipse">
            <a:avLst/>
          </a:prstGeom>
          <a:solidFill>
            <a:srgbClr val="0D7490"/>
          </a:solidFill>
          <a:ln/>
        </p:spPr>
        <p:txBody>
          <a:bodyPr/>
          <a:p/>
        </p:txBody>
      </p:sp>
      <p:sp>
        <p:nvSpPr>
          <p:cNvPr id="18" name="Text 16"/>
          <p:cNvSpPr/>
          <p:nvPr/>
        </p:nvSpPr>
        <p:spPr>
          <a:xfrm>
            <a:off x="8321040" y="2029968"/>
            <a:ext cx="402336" cy="402336"/>
          </a:xfrm>
          <a:prstGeom prst="rect">
            <a:avLst/>
          </a:prstGeom>
          <a:noFill/>
          <a:ln/>
        </p:spPr>
        <p:txBody>
          <a:bodyPr wrap="square" lIns="0" tIns="0" rIns="0" bIns="0" rtlCol="0" anchor="ctr"/>
          <a:lstStyle/>
          <a:p>
            <a:pPr algn="ctr" indent="0" marL="0">
              <a:buNone/>
            </a:pPr>
            <a:r>
              <a:rPr lang="en-US" sz="1232" b="1" dirty="0">
                <a:solidFill>
                  <a:srgbClr val="FFFFFF"/>
                </a:solidFill>
                <a:latin typeface="Helvetica Neue" pitchFamily="34" charset="0"/>
                <a:ea typeface="Helvetica Neue" pitchFamily="34" charset="-122"/>
                <a:cs typeface="Helvetica Neue" pitchFamily="34" charset="-120"/>
              </a:rPr>
              <a:t>3</a:t>
            </a:r>
            <a:endParaRPr lang="en-US" sz="1232" dirty="0"/>
          </a:p>
        </p:txBody>
      </p:sp>
      <p:sp>
        <p:nvSpPr>
          <p:cNvPr id="19" name="Text 17"/>
          <p:cNvSpPr/>
          <p:nvPr/>
        </p:nvSpPr>
        <p:spPr>
          <a:xfrm>
            <a:off x="8851392" y="2002536"/>
            <a:ext cx="2304288" cy="365760"/>
          </a:xfrm>
          <a:prstGeom prst="rect">
            <a:avLst/>
          </a:prstGeom>
          <a:noFill/>
          <a:ln/>
        </p:spPr>
        <p:txBody>
          <a:bodyPr wrap="square" lIns="0" tIns="0" rIns="0" bIns="0" rtlCol="0" anchor="ctr"/>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Switch</a:t>
            </a:r>
            <a:endParaRPr lang="en-US" sz="1550" dirty="0"/>
          </a:p>
        </p:txBody>
      </p:sp>
      <p:sp>
        <p:nvSpPr>
          <p:cNvPr id="20" name="Text 18"/>
          <p:cNvSpPr/>
          <p:nvPr/>
        </p:nvSpPr>
        <p:spPr>
          <a:xfrm>
            <a:off x="8321040" y="2542032"/>
            <a:ext cx="2761488" cy="274320"/>
          </a:xfrm>
          <a:prstGeom prst="rect">
            <a:avLst/>
          </a:prstGeom>
          <a:noFill/>
          <a:ln/>
        </p:spPr>
        <p:txBody>
          <a:bodyPr wrap="square" lIns="0" tIns="0" rIns="0" bIns="0" rtlCol="0" anchor="ctr"/>
          <a:lstStyle/>
          <a:p>
            <a:pPr indent="0" marL="0">
              <a:buNone/>
            </a:pPr>
            <a:r>
              <a:rPr lang="en-US" sz="900" b="1" spc="150" kern="0" dirty="0">
                <a:solidFill>
                  <a:srgbClr val="0D7490"/>
                </a:solidFill>
                <a:latin typeface="Helvetica Neue" pitchFamily="34" charset="0"/>
                <a:ea typeface="Helvetica Neue" pitchFamily="34" charset="-122"/>
                <a:cs typeface="Helvetica Neue" pitchFamily="34" charset="-120"/>
              </a:rPr>
              <a:t>THE GATE</a:t>
            </a:r>
            <a:endParaRPr lang="en-US" sz="900" dirty="0"/>
          </a:p>
        </p:txBody>
      </p:sp>
      <p:sp>
        <p:nvSpPr>
          <p:cNvPr id="21" name="Text 19"/>
          <p:cNvSpPr/>
          <p:nvPr/>
        </p:nvSpPr>
        <p:spPr>
          <a:xfrm>
            <a:off x="8321040" y="2834640"/>
            <a:ext cx="2779776" cy="914400"/>
          </a:xfrm>
          <a:prstGeom prst="rect">
            <a:avLst/>
          </a:prstGeom>
          <a:noFill/>
          <a:ln/>
        </p:spPr>
        <p:txBody>
          <a:bodyPr wrap="square" lIns="0" tIns="0" rIns="0" bIns="0" rtlCol="0" anchor="ctr"/>
          <a:lstStyle/>
          <a:p>
            <a:pPr indent="0" marL="0">
              <a:lnSpc>
                <a:spcPts val="1500"/>
              </a:lnSpc>
              <a:buNone/>
            </a:pPr>
            <a:r>
              <a:rPr lang="en-US" sz="1100" dirty="0">
                <a:solidFill>
                  <a:srgbClr val="6E6E73"/>
                </a:solidFill>
                <a:latin typeface="Helvetica Neue" pitchFamily="34" charset="0"/>
                <a:ea typeface="Helvetica Neue" pitchFamily="34" charset="-122"/>
                <a:cs typeface="Helvetica Neue" pitchFamily="34" charset="-120"/>
              </a:rPr>
              <a:t>Opens and closes the path. SPST, SPDT, DPDT — the kinds you'll wire in the control box.</a:t>
            </a:r>
            <a:endParaRPr lang="en-US" sz="1100" dirty="0"/>
          </a:p>
        </p:txBody>
      </p:sp>
      <p:sp>
        <p:nvSpPr>
          <p:cNvPr id="22" name="Shape 20"/>
          <p:cNvSpPr/>
          <p:nvPr/>
        </p:nvSpPr>
        <p:spPr>
          <a:xfrm>
            <a:off x="822960" y="4123944"/>
            <a:ext cx="3310128" cy="2121408"/>
          </a:xfrm>
          <a:prstGeom prst="roundRect">
            <a:avLst>
              <a:gd name="adj" fmla="val 4741"/>
            </a:avLst>
          </a:prstGeom>
          <a:solidFill>
            <a:srgbClr val="FBFBFD"/>
          </a:solidFill>
          <a:ln w="12700">
            <a:solidFill>
              <a:srgbClr val="E3E3E6"/>
            </a:solidFill>
            <a:prstDash val="solid"/>
          </a:ln>
        </p:spPr>
        <p:txBody>
          <a:bodyPr/>
          <a:p/>
        </p:txBody>
      </p:sp>
      <p:sp>
        <p:nvSpPr>
          <p:cNvPr id="23" name="Shape 21"/>
          <p:cNvSpPr/>
          <p:nvPr/>
        </p:nvSpPr>
        <p:spPr>
          <a:xfrm>
            <a:off x="1097280" y="4398264"/>
            <a:ext cx="402336" cy="402336"/>
          </a:xfrm>
          <a:prstGeom prst="ellipse">
            <a:avLst/>
          </a:prstGeom>
          <a:solidFill>
            <a:srgbClr val="0D7490"/>
          </a:solidFill>
          <a:ln/>
        </p:spPr>
        <p:txBody>
          <a:bodyPr/>
          <a:p/>
        </p:txBody>
      </p:sp>
      <p:sp>
        <p:nvSpPr>
          <p:cNvPr id="24" name="Text 22"/>
          <p:cNvSpPr/>
          <p:nvPr/>
        </p:nvSpPr>
        <p:spPr>
          <a:xfrm>
            <a:off x="1097280" y="4398264"/>
            <a:ext cx="402336" cy="402336"/>
          </a:xfrm>
          <a:prstGeom prst="rect">
            <a:avLst/>
          </a:prstGeom>
          <a:noFill/>
          <a:ln/>
        </p:spPr>
        <p:txBody>
          <a:bodyPr wrap="square" lIns="0" tIns="0" rIns="0" bIns="0" rtlCol="0" anchor="ctr"/>
          <a:lstStyle/>
          <a:p>
            <a:pPr algn="ctr" indent="0" marL="0">
              <a:buNone/>
            </a:pPr>
            <a:r>
              <a:rPr lang="en-US" sz="1232" b="1" dirty="0">
                <a:solidFill>
                  <a:srgbClr val="FFFFFF"/>
                </a:solidFill>
                <a:latin typeface="Helvetica Neue" pitchFamily="34" charset="0"/>
                <a:ea typeface="Helvetica Neue" pitchFamily="34" charset="-122"/>
                <a:cs typeface="Helvetica Neue" pitchFamily="34" charset="-120"/>
              </a:rPr>
              <a:t>4</a:t>
            </a:r>
            <a:endParaRPr lang="en-US" sz="1232" dirty="0"/>
          </a:p>
        </p:txBody>
      </p:sp>
      <p:sp>
        <p:nvSpPr>
          <p:cNvPr id="25" name="Text 23"/>
          <p:cNvSpPr/>
          <p:nvPr/>
        </p:nvSpPr>
        <p:spPr>
          <a:xfrm>
            <a:off x="1627632" y="4370832"/>
            <a:ext cx="2304288" cy="365760"/>
          </a:xfrm>
          <a:prstGeom prst="rect">
            <a:avLst/>
          </a:prstGeom>
          <a:noFill/>
          <a:ln/>
        </p:spPr>
        <p:txBody>
          <a:bodyPr wrap="square" lIns="0" tIns="0" rIns="0" bIns="0" rtlCol="0" anchor="ctr"/>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Resistor</a:t>
            </a:r>
            <a:endParaRPr lang="en-US" sz="1550" dirty="0"/>
          </a:p>
        </p:txBody>
      </p:sp>
      <p:sp>
        <p:nvSpPr>
          <p:cNvPr id="26" name="Text 24"/>
          <p:cNvSpPr/>
          <p:nvPr/>
        </p:nvSpPr>
        <p:spPr>
          <a:xfrm>
            <a:off x="1097280" y="4910328"/>
            <a:ext cx="2761488" cy="274320"/>
          </a:xfrm>
          <a:prstGeom prst="rect">
            <a:avLst/>
          </a:prstGeom>
          <a:noFill/>
          <a:ln/>
        </p:spPr>
        <p:txBody>
          <a:bodyPr wrap="square" lIns="0" tIns="0" rIns="0" bIns="0" rtlCol="0" anchor="ctr"/>
          <a:lstStyle/>
          <a:p>
            <a:pPr indent="0" marL="0">
              <a:buNone/>
            </a:pPr>
            <a:r>
              <a:rPr lang="en-US" sz="900" b="1" spc="150" kern="0" dirty="0">
                <a:solidFill>
                  <a:srgbClr val="0D7490"/>
                </a:solidFill>
                <a:latin typeface="Helvetica Neue" pitchFamily="34" charset="0"/>
                <a:ea typeface="Helvetica Neue" pitchFamily="34" charset="-122"/>
                <a:cs typeface="Helvetica Neue" pitchFamily="34" charset="-120"/>
              </a:rPr>
              <a:t>LIMITS FLOW</a:t>
            </a:r>
            <a:endParaRPr lang="en-US" sz="900" dirty="0"/>
          </a:p>
        </p:txBody>
      </p:sp>
      <p:sp>
        <p:nvSpPr>
          <p:cNvPr id="27" name="Text 25"/>
          <p:cNvSpPr/>
          <p:nvPr/>
        </p:nvSpPr>
        <p:spPr>
          <a:xfrm>
            <a:off x="1097280" y="5202936"/>
            <a:ext cx="2779776" cy="914400"/>
          </a:xfrm>
          <a:prstGeom prst="rect">
            <a:avLst/>
          </a:prstGeom>
          <a:noFill/>
          <a:ln/>
        </p:spPr>
        <p:txBody>
          <a:bodyPr wrap="square" lIns="0" tIns="0" rIns="0" bIns="0" rtlCol="0" anchor="ctr"/>
          <a:lstStyle/>
          <a:p>
            <a:pPr indent="0" marL="0">
              <a:lnSpc>
                <a:spcPts val="1500"/>
              </a:lnSpc>
              <a:buNone/>
            </a:pPr>
            <a:r>
              <a:rPr lang="en-US" sz="1100" dirty="0">
                <a:solidFill>
                  <a:srgbClr val="6E6E73"/>
                </a:solidFill>
                <a:latin typeface="Helvetica Neue" pitchFamily="34" charset="0"/>
                <a:ea typeface="Helvetica Neue" pitchFamily="34" charset="-122"/>
                <a:cs typeface="Helvetica Neue" pitchFamily="34" charset="-120"/>
              </a:rPr>
              <a:t>A zigzag. Slows the current so a component gets just what it needs.</a:t>
            </a:r>
            <a:endParaRPr lang="en-US" sz="1100" dirty="0"/>
          </a:p>
        </p:txBody>
      </p:sp>
      <p:sp>
        <p:nvSpPr>
          <p:cNvPr id="28" name="Shape 26"/>
          <p:cNvSpPr/>
          <p:nvPr/>
        </p:nvSpPr>
        <p:spPr>
          <a:xfrm>
            <a:off x="4434840" y="4123944"/>
            <a:ext cx="3310128" cy="2121408"/>
          </a:xfrm>
          <a:prstGeom prst="roundRect">
            <a:avLst>
              <a:gd name="adj" fmla="val 4741"/>
            </a:avLst>
          </a:prstGeom>
          <a:solidFill>
            <a:srgbClr val="FBFBFD"/>
          </a:solidFill>
          <a:ln w="12700">
            <a:solidFill>
              <a:srgbClr val="E3E3E6"/>
            </a:solidFill>
            <a:prstDash val="solid"/>
          </a:ln>
        </p:spPr>
        <p:txBody>
          <a:bodyPr/>
          <a:p/>
        </p:txBody>
      </p:sp>
      <p:sp>
        <p:nvSpPr>
          <p:cNvPr id="29" name="Shape 27"/>
          <p:cNvSpPr/>
          <p:nvPr/>
        </p:nvSpPr>
        <p:spPr>
          <a:xfrm>
            <a:off x="4709160" y="4398264"/>
            <a:ext cx="402336" cy="402336"/>
          </a:xfrm>
          <a:prstGeom prst="ellipse">
            <a:avLst/>
          </a:prstGeom>
          <a:solidFill>
            <a:srgbClr val="0D7490"/>
          </a:solidFill>
          <a:ln/>
        </p:spPr>
        <p:txBody>
          <a:bodyPr/>
          <a:p/>
        </p:txBody>
      </p:sp>
      <p:sp>
        <p:nvSpPr>
          <p:cNvPr id="30" name="Text 28"/>
          <p:cNvSpPr/>
          <p:nvPr/>
        </p:nvSpPr>
        <p:spPr>
          <a:xfrm>
            <a:off x="4709160" y="4398264"/>
            <a:ext cx="402336" cy="402336"/>
          </a:xfrm>
          <a:prstGeom prst="rect">
            <a:avLst/>
          </a:prstGeom>
          <a:noFill/>
          <a:ln/>
        </p:spPr>
        <p:txBody>
          <a:bodyPr wrap="square" lIns="0" tIns="0" rIns="0" bIns="0" rtlCol="0" anchor="ctr"/>
          <a:lstStyle/>
          <a:p>
            <a:pPr algn="ctr" indent="0" marL="0">
              <a:buNone/>
            </a:pPr>
            <a:r>
              <a:rPr lang="en-US" sz="1232" b="1" dirty="0">
                <a:solidFill>
                  <a:srgbClr val="FFFFFF"/>
                </a:solidFill>
                <a:latin typeface="Helvetica Neue" pitchFamily="34" charset="0"/>
                <a:ea typeface="Helvetica Neue" pitchFamily="34" charset="-122"/>
                <a:cs typeface="Helvetica Neue" pitchFamily="34" charset="-120"/>
              </a:rPr>
              <a:t>5</a:t>
            </a:r>
            <a:endParaRPr lang="en-US" sz="1232" dirty="0"/>
          </a:p>
        </p:txBody>
      </p:sp>
      <p:sp>
        <p:nvSpPr>
          <p:cNvPr id="31" name="Text 29"/>
          <p:cNvSpPr/>
          <p:nvPr/>
        </p:nvSpPr>
        <p:spPr>
          <a:xfrm>
            <a:off x="5239512" y="4370832"/>
            <a:ext cx="2304288" cy="365760"/>
          </a:xfrm>
          <a:prstGeom prst="rect">
            <a:avLst/>
          </a:prstGeom>
          <a:noFill/>
          <a:ln/>
        </p:spPr>
        <p:txBody>
          <a:bodyPr wrap="square" lIns="0" tIns="0" rIns="0" bIns="0" rtlCol="0" anchor="ctr"/>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LED</a:t>
            </a:r>
            <a:endParaRPr lang="en-US" sz="1550" dirty="0"/>
          </a:p>
        </p:txBody>
      </p:sp>
      <p:sp>
        <p:nvSpPr>
          <p:cNvPr id="32" name="Text 30"/>
          <p:cNvSpPr/>
          <p:nvPr/>
        </p:nvSpPr>
        <p:spPr>
          <a:xfrm>
            <a:off x="4709160" y="4910328"/>
            <a:ext cx="2761488" cy="274320"/>
          </a:xfrm>
          <a:prstGeom prst="rect">
            <a:avLst/>
          </a:prstGeom>
          <a:noFill/>
          <a:ln/>
        </p:spPr>
        <p:txBody>
          <a:bodyPr wrap="square" lIns="0" tIns="0" rIns="0" bIns="0" rtlCol="0" anchor="ctr"/>
          <a:lstStyle/>
          <a:p>
            <a:pPr indent="0" marL="0">
              <a:buNone/>
            </a:pPr>
            <a:r>
              <a:rPr lang="en-US" sz="900" b="1" spc="150" kern="0" dirty="0">
                <a:solidFill>
                  <a:srgbClr val="0D7490"/>
                </a:solidFill>
                <a:latin typeface="Helvetica Neue" pitchFamily="34" charset="0"/>
                <a:ea typeface="Helvetica Neue" pitchFamily="34" charset="-122"/>
                <a:cs typeface="Helvetica Neue" pitchFamily="34" charset="-120"/>
              </a:rPr>
              <a:t>A LIGHT</a:t>
            </a:r>
            <a:endParaRPr lang="en-US" sz="900" dirty="0"/>
          </a:p>
        </p:txBody>
      </p:sp>
      <p:sp>
        <p:nvSpPr>
          <p:cNvPr id="33" name="Text 31"/>
          <p:cNvSpPr/>
          <p:nvPr/>
        </p:nvSpPr>
        <p:spPr>
          <a:xfrm>
            <a:off x="4709160" y="5202936"/>
            <a:ext cx="2779776" cy="914400"/>
          </a:xfrm>
          <a:prstGeom prst="rect">
            <a:avLst/>
          </a:prstGeom>
          <a:noFill/>
          <a:ln/>
        </p:spPr>
        <p:txBody>
          <a:bodyPr wrap="square" lIns="0" tIns="0" rIns="0" bIns="0" rtlCol="0" anchor="ctr"/>
          <a:lstStyle/>
          <a:p>
            <a:pPr indent="0" marL="0">
              <a:lnSpc>
                <a:spcPts val="1500"/>
              </a:lnSpc>
              <a:buNone/>
            </a:pPr>
            <a:r>
              <a:rPr lang="en-US" sz="1100" dirty="0">
                <a:solidFill>
                  <a:srgbClr val="6E6E73"/>
                </a:solidFill>
                <a:latin typeface="Helvetica Neue" pitchFamily="34" charset="0"/>
                <a:ea typeface="Helvetica Neue" pitchFamily="34" charset="-122"/>
                <a:cs typeface="Helvetica Neue" pitchFamily="34" charset="-120"/>
              </a:rPr>
              <a:t>A diode that lights up — and only works one way around. Polarity matters.</a:t>
            </a:r>
            <a:endParaRPr lang="en-US" sz="1100" dirty="0"/>
          </a:p>
        </p:txBody>
      </p:sp>
      <p:sp>
        <p:nvSpPr>
          <p:cNvPr id="34" name="Shape 32"/>
          <p:cNvSpPr/>
          <p:nvPr/>
        </p:nvSpPr>
        <p:spPr>
          <a:xfrm>
            <a:off x="8046720" y="4123944"/>
            <a:ext cx="3310128" cy="2121408"/>
          </a:xfrm>
          <a:prstGeom prst="roundRect">
            <a:avLst>
              <a:gd name="adj" fmla="val 4741"/>
            </a:avLst>
          </a:prstGeom>
          <a:solidFill>
            <a:srgbClr val="FBFBFD"/>
          </a:solidFill>
          <a:ln w="12700">
            <a:solidFill>
              <a:srgbClr val="E3E3E6"/>
            </a:solidFill>
            <a:prstDash val="solid"/>
          </a:ln>
        </p:spPr>
        <p:txBody>
          <a:bodyPr/>
          <a:p/>
        </p:txBody>
      </p:sp>
      <p:sp>
        <p:nvSpPr>
          <p:cNvPr id="35" name="Shape 33"/>
          <p:cNvSpPr/>
          <p:nvPr/>
        </p:nvSpPr>
        <p:spPr>
          <a:xfrm>
            <a:off x="8321040" y="4398264"/>
            <a:ext cx="402336" cy="402336"/>
          </a:xfrm>
          <a:prstGeom prst="ellipse">
            <a:avLst/>
          </a:prstGeom>
          <a:solidFill>
            <a:srgbClr val="0D7490"/>
          </a:solidFill>
          <a:ln/>
        </p:spPr>
        <p:txBody>
          <a:bodyPr/>
          <a:p/>
        </p:txBody>
      </p:sp>
      <p:sp>
        <p:nvSpPr>
          <p:cNvPr id="36" name="Text 34"/>
          <p:cNvSpPr/>
          <p:nvPr/>
        </p:nvSpPr>
        <p:spPr>
          <a:xfrm>
            <a:off x="8321040" y="4398264"/>
            <a:ext cx="402336" cy="402336"/>
          </a:xfrm>
          <a:prstGeom prst="rect">
            <a:avLst/>
          </a:prstGeom>
          <a:noFill/>
          <a:ln/>
        </p:spPr>
        <p:txBody>
          <a:bodyPr wrap="square" lIns="0" tIns="0" rIns="0" bIns="0" rtlCol="0" anchor="ctr"/>
          <a:lstStyle/>
          <a:p>
            <a:pPr algn="ctr" indent="0" marL="0">
              <a:buNone/>
            </a:pPr>
            <a:r>
              <a:rPr lang="en-US" sz="1232" b="1" dirty="0">
                <a:solidFill>
                  <a:srgbClr val="FFFFFF"/>
                </a:solidFill>
                <a:latin typeface="Helvetica Neue" pitchFamily="34" charset="0"/>
                <a:ea typeface="Helvetica Neue" pitchFamily="34" charset="-122"/>
                <a:cs typeface="Helvetica Neue" pitchFamily="34" charset="-120"/>
              </a:rPr>
              <a:t>6</a:t>
            </a:r>
            <a:endParaRPr lang="en-US" sz="1232" dirty="0"/>
          </a:p>
        </p:txBody>
      </p:sp>
      <p:sp>
        <p:nvSpPr>
          <p:cNvPr id="37" name="Text 35"/>
          <p:cNvSpPr/>
          <p:nvPr/>
        </p:nvSpPr>
        <p:spPr>
          <a:xfrm>
            <a:off x="8851392" y="4370832"/>
            <a:ext cx="2304288" cy="365760"/>
          </a:xfrm>
          <a:prstGeom prst="rect">
            <a:avLst/>
          </a:prstGeom>
          <a:noFill/>
          <a:ln/>
        </p:spPr>
        <p:txBody>
          <a:bodyPr wrap="square" lIns="0" tIns="0" rIns="0" bIns="0" rtlCol="0" anchor="ctr"/>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Fuse</a:t>
            </a:r>
            <a:endParaRPr lang="en-US" sz="1550" dirty="0"/>
          </a:p>
        </p:txBody>
      </p:sp>
      <p:sp>
        <p:nvSpPr>
          <p:cNvPr id="38" name="Text 36"/>
          <p:cNvSpPr/>
          <p:nvPr/>
        </p:nvSpPr>
        <p:spPr>
          <a:xfrm>
            <a:off x="8321040" y="4910328"/>
            <a:ext cx="2761488" cy="274320"/>
          </a:xfrm>
          <a:prstGeom prst="rect">
            <a:avLst/>
          </a:prstGeom>
          <a:noFill/>
          <a:ln/>
        </p:spPr>
        <p:txBody>
          <a:bodyPr wrap="square" lIns="0" tIns="0" rIns="0" bIns="0" rtlCol="0" anchor="ctr"/>
          <a:lstStyle/>
          <a:p>
            <a:pPr indent="0" marL="0">
              <a:buNone/>
            </a:pPr>
            <a:r>
              <a:rPr lang="en-US" sz="900" b="1" spc="150" kern="0" dirty="0">
                <a:solidFill>
                  <a:srgbClr val="0D7490"/>
                </a:solidFill>
                <a:latin typeface="Helvetica Neue" pitchFamily="34" charset="0"/>
                <a:ea typeface="Helvetica Neue" pitchFamily="34" charset="-122"/>
                <a:cs typeface="Helvetica Neue" pitchFamily="34" charset="-120"/>
              </a:rPr>
              <a:t>THE SAFETY</a:t>
            </a:r>
            <a:endParaRPr lang="en-US" sz="900" dirty="0"/>
          </a:p>
        </p:txBody>
      </p:sp>
      <p:sp>
        <p:nvSpPr>
          <p:cNvPr id="39" name="Text 37"/>
          <p:cNvSpPr/>
          <p:nvPr/>
        </p:nvSpPr>
        <p:spPr>
          <a:xfrm>
            <a:off x="8321040" y="5202936"/>
            <a:ext cx="2779776" cy="914400"/>
          </a:xfrm>
          <a:prstGeom prst="rect">
            <a:avLst/>
          </a:prstGeom>
          <a:noFill/>
          <a:ln/>
        </p:spPr>
        <p:txBody>
          <a:bodyPr wrap="square" lIns="0" tIns="0" rIns="0" bIns="0" rtlCol="0" anchor="ctr"/>
          <a:lstStyle/>
          <a:p>
            <a:pPr indent="0" marL="0">
              <a:lnSpc>
                <a:spcPts val="1500"/>
              </a:lnSpc>
              <a:buNone/>
            </a:pPr>
            <a:r>
              <a:rPr lang="en-US" sz="1100" dirty="0">
                <a:solidFill>
                  <a:srgbClr val="6E6E73"/>
                </a:solidFill>
                <a:latin typeface="Helvetica Neue" pitchFamily="34" charset="0"/>
                <a:ea typeface="Helvetica Neue" pitchFamily="34" charset="-122"/>
                <a:cs typeface="Helvetica Neue" pitchFamily="34" charset="-120"/>
              </a:rPr>
              <a:t>Breaks the circuit if current gets too high. Sized to the full-load amps.</a:t>
            </a:r>
            <a:endParaRPr lang="en-US" sz="1100" dirty="0"/>
          </a:p>
        </p:txBody>
      </p:sp>
      <p:sp>
        <p:nvSpPr>
          <p:cNvPr id="40" name="Shape 38"/>
          <p:cNvSpPr/>
          <p:nvPr/>
        </p:nvSpPr>
        <p:spPr>
          <a:xfrm>
            <a:off x="822960" y="6437376"/>
            <a:ext cx="10545775" cy="0"/>
          </a:xfrm>
          <a:prstGeom prst="line">
            <a:avLst/>
          </a:prstGeom>
          <a:noFill/>
          <a:ln w="9525">
            <a:solidFill>
              <a:srgbClr val="E3E3E6"/>
            </a:solidFill>
            <a:prstDash val="solid"/>
          </a:ln>
        </p:spPr>
        <p:txBody>
          <a:bodyPr/>
          <a:p/>
        </p:txBody>
      </p:sp>
      <p:sp>
        <p:nvSpPr>
          <p:cNvPr id="41" name="Text 39"/>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42" name="Text 40"/>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CLASS 1.4 — ELECTRONICS WORKSHOP   ·   11 / 19</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HANDS ON</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Build a circuit that works.</a:t>
            </a:r>
            <a:endParaRPr lang="en-US" sz="3000" dirty="0"/>
          </a:p>
        </p:txBody>
      </p:sp>
      <p:sp>
        <p:nvSpPr>
          <p:cNvPr id="4" name="Shape 2"/>
          <p:cNvSpPr/>
          <p:nvPr/>
        </p:nvSpPr>
        <p:spPr>
          <a:xfrm>
            <a:off x="822960" y="1865376"/>
            <a:ext cx="457200" cy="457200"/>
          </a:xfrm>
          <a:prstGeom prst="ellipse">
            <a:avLst/>
          </a:prstGeom>
          <a:solidFill>
            <a:srgbClr val="0D7490"/>
          </a:solidFill>
          <a:ln/>
        </p:spPr>
        <p:txBody>
          <a:bodyPr/>
          <a:p/>
        </p:txBody>
      </p:sp>
      <p:sp>
        <p:nvSpPr>
          <p:cNvPr id="5" name="Text 3"/>
          <p:cNvSpPr/>
          <p:nvPr/>
        </p:nvSpPr>
        <p:spPr>
          <a:xfrm>
            <a:off x="822960" y="1865376"/>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Neue" pitchFamily="34" charset="0"/>
                <a:ea typeface="Helvetica Neue" pitchFamily="34" charset="-122"/>
                <a:cs typeface="Helvetica Neue" pitchFamily="34" charset="-120"/>
              </a:rPr>
              <a:t>1</a:t>
            </a:r>
            <a:endParaRPr lang="en-US" sz="1400" dirty="0"/>
          </a:p>
        </p:txBody>
      </p:sp>
      <p:sp>
        <p:nvSpPr>
          <p:cNvPr id="6" name="Text 4"/>
          <p:cNvSpPr/>
          <p:nvPr/>
        </p:nvSpPr>
        <p:spPr>
          <a:xfrm>
            <a:off x="1481328" y="1828800"/>
            <a:ext cx="3657600" cy="457200"/>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Read the schematic</a:t>
            </a:r>
            <a:endParaRPr lang="en-US" sz="1600" dirty="0"/>
          </a:p>
        </p:txBody>
      </p:sp>
      <p:sp>
        <p:nvSpPr>
          <p:cNvPr id="7" name="Text 5"/>
          <p:cNvSpPr/>
          <p:nvPr/>
        </p:nvSpPr>
        <p:spPr>
          <a:xfrm>
            <a:off x="5212080" y="1810512"/>
            <a:ext cx="6126480" cy="594360"/>
          </a:xfrm>
          <a:prstGeom prst="rect">
            <a:avLst/>
          </a:prstGeom>
          <a:noFill/>
          <a:ln/>
        </p:spPr>
        <p:txBody>
          <a:bodyPr wrap="square" lIns="0" tIns="0" rIns="0" bIns="0" rtlCol="0" anchor="ctr"/>
          <a:lstStyle/>
          <a:p>
            <a:pPr indent="0" marL="0">
              <a:lnSpc>
                <a:spcPts val="1600"/>
              </a:lnSpc>
              <a:buNone/>
            </a:pPr>
            <a:r>
              <a:rPr lang="en-US" sz="1250" dirty="0">
                <a:solidFill>
                  <a:srgbClr val="6E6E73"/>
                </a:solidFill>
                <a:latin typeface="Helvetica Neue" pitchFamily="34" charset="0"/>
                <a:ea typeface="Helvetica Neue" pitchFamily="34" charset="-122"/>
                <a:cs typeface="Helvetica Neue" pitchFamily="34" charset="-120"/>
              </a:rPr>
              <a:t>Start from the symbols: battery, switch, resistor, LED. Know the path before you wire it.</a:t>
            </a:r>
            <a:endParaRPr lang="en-US" sz="1250" dirty="0"/>
          </a:p>
        </p:txBody>
      </p:sp>
      <p:sp>
        <p:nvSpPr>
          <p:cNvPr id="8" name="Shape 6"/>
          <p:cNvSpPr/>
          <p:nvPr/>
        </p:nvSpPr>
        <p:spPr>
          <a:xfrm>
            <a:off x="1051560" y="2395728"/>
            <a:ext cx="0" cy="384048"/>
          </a:xfrm>
          <a:prstGeom prst="line">
            <a:avLst/>
          </a:prstGeom>
          <a:noFill/>
          <a:ln w="19050">
            <a:solidFill>
              <a:srgbClr val="D6E7EB"/>
            </a:solidFill>
            <a:prstDash val="solid"/>
          </a:ln>
        </p:spPr>
        <p:txBody>
          <a:bodyPr/>
          <a:p/>
        </p:txBody>
      </p:sp>
      <p:sp>
        <p:nvSpPr>
          <p:cNvPr id="9" name="Shape 7"/>
          <p:cNvSpPr/>
          <p:nvPr/>
        </p:nvSpPr>
        <p:spPr>
          <a:xfrm>
            <a:off x="822960" y="2816352"/>
            <a:ext cx="457200" cy="457200"/>
          </a:xfrm>
          <a:prstGeom prst="ellipse">
            <a:avLst/>
          </a:prstGeom>
          <a:solidFill>
            <a:srgbClr val="0D7490"/>
          </a:solidFill>
          <a:ln/>
        </p:spPr>
        <p:txBody>
          <a:bodyPr/>
          <a:p/>
        </p:txBody>
      </p:sp>
      <p:sp>
        <p:nvSpPr>
          <p:cNvPr id="10" name="Text 8"/>
          <p:cNvSpPr/>
          <p:nvPr/>
        </p:nvSpPr>
        <p:spPr>
          <a:xfrm>
            <a:off x="822960" y="2816352"/>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Neue" pitchFamily="34" charset="0"/>
                <a:ea typeface="Helvetica Neue" pitchFamily="34" charset="-122"/>
                <a:cs typeface="Helvetica Neue" pitchFamily="34" charset="-120"/>
              </a:rPr>
              <a:t>2</a:t>
            </a:r>
            <a:endParaRPr lang="en-US" sz="1400" dirty="0"/>
          </a:p>
        </p:txBody>
      </p:sp>
      <p:sp>
        <p:nvSpPr>
          <p:cNvPr id="11" name="Text 9"/>
          <p:cNvSpPr/>
          <p:nvPr/>
        </p:nvSpPr>
        <p:spPr>
          <a:xfrm>
            <a:off x="1481328" y="2779776"/>
            <a:ext cx="3657600" cy="457200"/>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Build it on the board</a:t>
            </a:r>
            <a:endParaRPr lang="en-US" sz="1600" dirty="0"/>
          </a:p>
        </p:txBody>
      </p:sp>
      <p:sp>
        <p:nvSpPr>
          <p:cNvPr id="12" name="Text 10"/>
          <p:cNvSpPr/>
          <p:nvPr/>
        </p:nvSpPr>
        <p:spPr>
          <a:xfrm>
            <a:off x="5212080" y="2761488"/>
            <a:ext cx="6126480" cy="594360"/>
          </a:xfrm>
          <a:prstGeom prst="rect">
            <a:avLst/>
          </a:prstGeom>
          <a:noFill/>
          <a:ln/>
        </p:spPr>
        <p:txBody>
          <a:bodyPr wrap="square" lIns="0" tIns="0" rIns="0" bIns="0" rtlCol="0" anchor="ctr"/>
          <a:lstStyle/>
          <a:p>
            <a:pPr indent="0" marL="0">
              <a:lnSpc>
                <a:spcPts val="1600"/>
              </a:lnSpc>
              <a:buNone/>
            </a:pPr>
            <a:r>
              <a:rPr lang="en-US" sz="1250" dirty="0">
                <a:solidFill>
                  <a:srgbClr val="6E6E73"/>
                </a:solidFill>
                <a:latin typeface="Helvetica Neue" pitchFamily="34" charset="0"/>
                <a:ea typeface="Helvetica Neue" pitchFamily="34" charset="-122"/>
                <a:cs typeface="Helvetica Neue" pitchFamily="34" charset="-120"/>
              </a:rPr>
              <a:t>Wire the Simple Circuits Lab Kit to match the schematic. One group, one circuit.</a:t>
            </a:r>
            <a:endParaRPr lang="en-US" sz="1250" dirty="0"/>
          </a:p>
        </p:txBody>
      </p:sp>
      <p:sp>
        <p:nvSpPr>
          <p:cNvPr id="13" name="Shape 11"/>
          <p:cNvSpPr/>
          <p:nvPr/>
        </p:nvSpPr>
        <p:spPr>
          <a:xfrm>
            <a:off x="1051560" y="3346704"/>
            <a:ext cx="0" cy="384048"/>
          </a:xfrm>
          <a:prstGeom prst="line">
            <a:avLst/>
          </a:prstGeom>
          <a:noFill/>
          <a:ln w="19050">
            <a:solidFill>
              <a:srgbClr val="D6E7EB"/>
            </a:solidFill>
            <a:prstDash val="solid"/>
          </a:ln>
        </p:spPr>
        <p:txBody>
          <a:bodyPr/>
          <a:p/>
        </p:txBody>
      </p:sp>
      <p:sp>
        <p:nvSpPr>
          <p:cNvPr id="14" name="Shape 12"/>
          <p:cNvSpPr/>
          <p:nvPr/>
        </p:nvSpPr>
        <p:spPr>
          <a:xfrm>
            <a:off x="822960" y="3767328"/>
            <a:ext cx="457200" cy="457200"/>
          </a:xfrm>
          <a:prstGeom prst="ellipse">
            <a:avLst/>
          </a:prstGeom>
          <a:solidFill>
            <a:srgbClr val="0D7490"/>
          </a:solidFill>
          <a:ln/>
        </p:spPr>
        <p:txBody>
          <a:bodyPr/>
          <a:p/>
        </p:txBody>
      </p:sp>
      <p:sp>
        <p:nvSpPr>
          <p:cNvPr id="15" name="Text 13"/>
          <p:cNvSpPr/>
          <p:nvPr/>
        </p:nvSpPr>
        <p:spPr>
          <a:xfrm>
            <a:off x="822960" y="376732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Neue" pitchFamily="34" charset="0"/>
                <a:ea typeface="Helvetica Neue" pitchFamily="34" charset="-122"/>
                <a:cs typeface="Helvetica Neue" pitchFamily="34" charset="-120"/>
              </a:rPr>
              <a:t>3</a:t>
            </a:r>
            <a:endParaRPr lang="en-US" sz="1400" dirty="0"/>
          </a:p>
        </p:txBody>
      </p:sp>
      <p:sp>
        <p:nvSpPr>
          <p:cNvPr id="16" name="Text 14"/>
          <p:cNvSpPr/>
          <p:nvPr/>
        </p:nvSpPr>
        <p:spPr>
          <a:xfrm>
            <a:off x="1481328" y="3730752"/>
            <a:ext cx="3657600" cy="457200"/>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Flip the switch</a:t>
            </a:r>
            <a:endParaRPr lang="en-US" sz="1600" dirty="0"/>
          </a:p>
        </p:txBody>
      </p:sp>
      <p:sp>
        <p:nvSpPr>
          <p:cNvPr id="17" name="Text 15"/>
          <p:cNvSpPr/>
          <p:nvPr/>
        </p:nvSpPr>
        <p:spPr>
          <a:xfrm>
            <a:off x="5212080" y="3712464"/>
            <a:ext cx="6126480" cy="594360"/>
          </a:xfrm>
          <a:prstGeom prst="rect">
            <a:avLst/>
          </a:prstGeom>
          <a:noFill/>
          <a:ln/>
        </p:spPr>
        <p:txBody>
          <a:bodyPr wrap="square" lIns="0" tIns="0" rIns="0" bIns="0" rtlCol="0" anchor="ctr"/>
          <a:lstStyle/>
          <a:p>
            <a:pPr indent="0" marL="0">
              <a:lnSpc>
                <a:spcPts val="1600"/>
              </a:lnSpc>
              <a:buNone/>
            </a:pPr>
            <a:r>
              <a:rPr lang="en-US" sz="1250" dirty="0">
                <a:solidFill>
                  <a:srgbClr val="6E6E73"/>
                </a:solidFill>
                <a:latin typeface="Helvetica Neue" pitchFamily="34" charset="0"/>
                <a:ea typeface="Helvetica Neue" pitchFamily="34" charset="-122"/>
                <a:cs typeface="Helvetica Neue" pitchFamily="34" charset="-120"/>
              </a:rPr>
              <a:t>Close the circuit and the LED lights. Nothing? You have an open — walk it with the meter.</a:t>
            </a:r>
            <a:endParaRPr lang="en-US" sz="1250" dirty="0"/>
          </a:p>
        </p:txBody>
      </p:sp>
      <p:sp>
        <p:nvSpPr>
          <p:cNvPr id="18" name="Shape 16"/>
          <p:cNvSpPr/>
          <p:nvPr/>
        </p:nvSpPr>
        <p:spPr>
          <a:xfrm>
            <a:off x="1051560" y="4297680"/>
            <a:ext cx="0" cy="384048"/>
          </a:xfrm>
          <a:prstGeom prst="line">
            <a:avLst/>
          </a:prstGeom>
          <a:noFill/>
          <a:ln w="19050">
            <a:solidFill>
              <a:srgbClr val="D6E7EB"/>
            </a:solidFill>
            <a:prstDash val="solid"/>
          </a:ln>
        </p:spPr>
        <p:txBody>
          <a:bodyPr/>
          <a:p/>
        </p:txBody>
      </p:sp>
      <p:sp>
        <p:nvSpPr>
          <p:cNvPr id="19" name="Shape 17"/>
          <p:cNvSpPr/>
          <p:nvPr/>
        </p:nvSpPr>
        <p:spPr>
          <a:xfrm>
            <a:off x="822960" y="4718304"/>
            <a:ext cx="457200" cy="457200"/>
          </a:xfrm>
          <a:prstGeom prst="ellipse">
            <a:avLst/>
          </a:prstGeom>
          <a:solidFill>
            <a:srgbClr val="0D7490"/>
          </a:solidFill>
          <a:ln/>
        </p:spPr>
        <p:txBody>
          <a:bodyPr/>
          <a:p/>
        </p:txBody>
      </p:sp>
      <p:sp>
        <p:nvSpPr>
          <p:cNvPr id="20" name="Text 18"/>
          <p:cNvSpPr/>
          <p:nvPr/>
        </p:nvSpPr>
        <p:spPr>
          <a:xfrm>
            <a:off x="822960" y="4718304"/>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Neue" pitchFamily="34" charset="0"/>
                <a:ea typeface="Helvetica Neue" pitchFamily="34" charset="-122"/>
                <a:cs typeface="Helvetica Neue" pitchFamily="34" charset="-120"/>
              </a:rPr>
              <a:t>4</a:t>
            </a:r>
            <a:endParaRPr lang="en-US" sz="1400" dirty="0"/>
          </a:p>
        </p:txBody>
      </p:sp>
      <p:sp>
        <p:nvSpPr>
          <p:cNvPr id="21" name="Text 19"/>
          <p:cNvSpPr/>
          <p:nvPr/>
        </p:nvSpPr>
        <p:spPr>
          <a:xfrm>
            <a:off x="1481328" y="4681728"/>
            <a:ext cx="3657600" cy="457200"/>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Measure and prove it</a:t>
            </a:r>
            <a:endParaRPr lang="en-US" sz="1600" dirty="0"/>
          </a:p>
        </p:txBody>
      </p:sp>
      <p:sp>
        <p:nvSpPr>
          <p:cNvPr id="22" name="Text 20"/>
          <p:cNvSpPr/>
          <p:nvPr/>
        </p:nvSpPr>
        <p:spPr>
          <a:xfrm>
            <a:off x="5212080" y="4663440"/>
            <a:ext cx="6126480" cy="594360"/>
          </a:xfrm>
          <a:prstGeom prst="rect">
            <a:avLst/>
          </a:prstGeom>
          <a:noFill/>
          <a:ln/>
        </p:spPr>
        <p:txBody>
          <a:bodyPr wrap="square" lIns="0" tIns="0" rIns="0" bIns="0" rtlCol="0" anchor="ctr"/>
          <a:lstStyle/>
          <a:p>
            <a:pPr indent="0" marL="0">
              <a:lnSpc>
                <a:spcPts val="1600"/>
              </a:lnSpc>
              <a:buNone/>
            </a:pPr>
            <a:r>
              <a:rPr lang="en-US" sz="1250" dirty="0">
                <a:solidFill>
                  <a:srgbClr val="6E6E73"/>
                </a:solidFill>
                <a:latin typeface="Helvetica Neue" pitchFamily="34" charset="0"/>
                <a:ea typeface="Helvetica Neue" pitchFamily="34" charset="-122"/>
                <a:cs typeface="Helvetica Neue" pitchFamily="34" charset="-120"/>
              </a:rPr>
              <a:t>Read the voltage across the LED and the continuity of each leg. Confirm it matches the plan.</a:t>
            </a:r>
            <a:endParaRPr lang="en-US" sz="1250" dirty="0"/>
          </a:p>
        </p:txBody>
      </p:sp>
      <p:sp>
        <p:nvSpPr>
          <p:cNvPr id="23" name="Shape 21"/>
          <p:cNvSpPr/>
          <p:nvPr/>
        </p:nvSpPr>
        <p:spPr>
          <a:xfrm>
            <a:off x="822960" y="5650992"/>
            <a:ext cx="10545775" cy="658368"/>
          </a:xfrm>
          <a:prstGeom prst="roundRect">
            <a:avLst>
              <a:gd name="adj" fmla="val 15278"/>
            </a:avLst>
          </a:prstGeom>
          <a:solidFill>
            <a:srgbClr val="EAF2F4"/>
          </a:solidFill>
          <a:ln w="12700">
            <a:solidFill>
              <a:srgbClr val="EAF2F4"/>
            </a:solidFill>
            <a:prstDash val="solid"/>
          </a:ln>
        </p:spPr>
        <p:txBody>
          <a:bodyPr/>
          <a:p/>
        </p:txBody>
      </p:sp>
      <p:sp>
        <p:nvSpPr>
          <p:cNvPr id="24" name="Text 22"/>
          <p:cNvSpPr/>
          <p:nvPr/>
        </p:nvSpPr>
        <p:spPr>
          <a:xfrm>
            <a:off x="1143000" y="5650992"/>
            <a:ext cx="9966960" cy="658368"/>
          </a:xfrm>
          <a:prstGeom prst="rect">
            <a:avLst/>
          </a:prstGeom>
          <a:noFill/>
          <a:ln/>
        </p:spPr>
        <p:txBody>
          <a:bodyPr wrap="square" lIns="0" tIns="0" rIns="0" bIns="0" rtlCol="0" anchor="ctr"/>
          <a:lstStyle/>
          <a:p>
            <a:pPr indent="0" marL="0">
              <a:lnSpc>
                <a:spcPts val="1500"/>
              </a:lnSpc>
              <a:buNone/>
            </a:pPr>
            <a:r>
              <a:rPr lang="en-US" sz="1150" b="1" dirty="0">
                <a:solidFill>
                  <a:srgbClr val="095D75"/>
                </a:solidFill>
                <a:latin typeface="Helvetica Neue" pitchFamily="34" charset="0"/>
                <a:ea typeface="Helvetica Neue" pitchFamily="34" charset="-122"/>
                <a:cs typeface="Helvetica Neue" pitchFamily="34" charset="-120"/>
              </a:rPr>
              <a:t xml:space="preserve">Two things to remember.  </a:t>
            </a:r>
            <a:pPr indent="0" marL="0">
              <a:lnSpc>
                <a:spcPts val="1500"/>
              </a:lnSpc>
              <a:buNone/>
            </a:pPr>
            <a:r>
              <a:rPr lang="en-US" sz="1150" dirty="0">
                <a:solidFill>
                  <a:srgbClr val="1D1D1F"/>
                </a:solidFill>
                <a:latin typeface="Helvetica Neue" pitchFamily="34" charset="0"/>
                <a:ea typeface="Helvetica Neue" pitchFamily="34" charset="-122"/>
                <a:cs typeface="Helvetica Neue" pitchFamily="34" charset="-120"/>
              </a:rPr>
              <a:t>Every kid builds and measures one working circuit before we touch the control box.</a:t>
            </a:r>
            <a:endParaRPr lang="en-US" sz="1150" dirty="0"/>
          </a:p>
        </p:txBody>
      </p:sp>
      <p:sp>
        <p:nvSpPr>
          <p:cNvPr id="25" name="Shape 23"/>
          <p:cNvSpPr/>
          <p:nvPr/>
        </p:nvSpPr>
        <p:spPr>
          <a:xfrm>
            <a:off x="822960" y="6437376"/>
            <a:ext cx="10545775" cy="0"/>
          </a:xfrm>
          <a:prstGeom prst="line">
            <a:avLst/>
          </a:prstGeom>
          <a:noFill/>
          <a:ln w="9525">
            <a:solidFill>
              <a:srgbClr val="E3E3E6"/>
            </a:solidFill>
            <a:prstDash val="solid"/>
          </a:ln>
        </p:spPr>
        <p:txBody>
          <a:bodyPr/>
          <a:p/>
        </p:txBody>
      </p:sp>
      <p:sp>
        <p:nvSpPr>
          <p:cNvPr id="26" name="Text 24"/>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27" name="Text 25"/>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CLASS 1.4 — ELECTRONICS WORKSHOP   ·   12 / 19</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A COMPETITION DIVIDEND</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Keep the symbols sheet. Forever.</a:t>
            </a:r>
            <a:endParaRPr lang="en-US" sz="3000" dirty="0"/>
          </a:p>
        </p:txBody>
      </p:sp>
      <p:sp>
        <p:nvSpPr>
          <p:cNvPr id="4" name="Shape 2"/>
          <p:cNvSpPr/>
          <p:nvPr/>
        </p:nvSpPr>
        <p:spPr>
          <a:xfrm>
            <a:off x="822960" y="1874520"/>
            <a:ext cx="10545775" cy="1417320"/>
          </a:xfrm>
          <a:prstGeom prst="roundRect">
            <a:avLst>
              <a:gd name="adj" fmla="val 7097"/>
            </a:avLst>
          </a:prstGeom>
          <a:solidFill>
            <a:srgbClr val="095D75"/>
          </a:solidFill>
          <a:ln w="12700">
            <a:solidFill>
              <a:srgbClr val="095D75"/>
            </a:solidFill>
            <a:prstDash val="solid"/>
          </a:ln>
        </p:spPr>
        <p:txBody>
          <a:bodyPr/>
          <a:p/>
        </p:txBody>
      </p:sp>
      <p:sp>
        <p:nvSpPr>
          <p:cNvPr id="5" name="Text 3"/>
          <p:cNvSpPr/>
          <p:nvPr/>
        </p:nvSpPr>
        <p:spPr>
          <a:xfrm>
            <a:off x="1234440" y="1874520"/>
            <a:ext cx="9692640" cy="1417320"/>
          </a:xfrm>
          <a:prstGeom prst="rect">
            <a:avLst/>
          </a:prstGeom>
          <a:noFill/>
          <a:ln/>
        </p:spPr>
        <p:txBody>
          <a:bodyPr wrap="square" lIns="0" tIns="0" rIns="0" bIns="0" rtlCol="0" anchor="ctr"/>
          <a:lstStyle/>
          <a:p>
            <a:pPr indent="0" marL="0">
              <a:lnSpc>
                <a:spcPts val="2700"/>
              </a:lnSpc>
              <a:buNone/>
            </a:pPr>
            <a:r>
              <a:rPr lang="en-US" sz="2100" b="1" i="1" dirty="0">
                <a:solidFill>
                  <a:srgbClr val="FFFFFF"/>
                </a:solidFill>
                <a:latin typeface="Helvetica Neue" pitchFamily="34" charset="0"/>
                <a:ea typeface="Helvetica Neue" pitchFamily="34" charset="-122"/>
                <a:cs typeface="Helvetica Neue" pitchFamily="34" charset="-120"/>
              </a:rPr>
              <a:t>The Electrical Symbols handout uses the same standard your competition SID will be graded against. The sheet you learn on today is the sheet you draw from in April.</a:t>
            </a:r>
            <a:endParaRPr lang="en-US" sz="2100" dirty="0"/>
          </a:p>
        </p:txBody>
      </p:sp>
      <p:sp>
        <p:nvSpPr>
          <p:cNvPr id="6" name="Text 4"/>
          <p:cNvSpPr/>
          <p:nvPr/>
        </p:nvSpPr>
        <p:spPr>
          <a:xfrm>
            <a:off x="822960" y="3520440"/>
            <a:ext cx="10545775" cy="777240"/>
          </a:xfrm>
          <a:prstGeom prst="rect">
            <a:avLst/>
          </a:prstGeom>
          <a:noFill/>
          <a:ln/>
        </p:spPr>
        <p:txBody>
          <a:bodyPr wrap="square" lIns="0" tIns="0" rIns="0" bIns="0" rtlCol="0" anchor="ctr"/>
          <a:lstStyle/>
          <a:p>
            <a:pPr indent="0" marL="0">
              <a:lnSpc>
                <a:spcPts val="2100"/>
              </a:lnSpc>
              <a:buNone/>
            </a:pPr>
            <a:r>
              <a:rPr lang="en-US" sz="1400" dirty="0">
                <a:solidFill>
                  <a:srgbClr val="6E6E73"/>
                </a:solidFill>
                <a:latin typeface="Helvetica Neue" pitchFamily="34" charset="0"/>
                <a:ea typeface="Helvetica Neue" pitchFamily="34" charset="-122"/>
                <a:cs typeface="Helvetica Neue" pitchFamily="34" charset="-120"/>
              </a:rPr>
              <a:t>MATE's Electrical Symbols handout is free and small, but it is one of the highest-leverage pages of the season. Print it, three-hole punch it, and keep it in the notebook all year.</a:t>
            </a:r>
            <a:endParaRPr lang="en-US" sz="1400" dirty="0"/>
          </a:p>
        </p:txBody>
      </p:sp>
      <p:sp>
        <p:nvSpPr>
          <p:cNvPr id="7" name="Shape 5"/>
          <p:cNvSpPr/>
          <p:nvPr/>
        </p:nvSpPr>
        <p:spPr>
          <a:xfrm>
            <a:off x="822960" y="4434840"/>
            <a:ext cx="3310128" cy="1600200"/>
          </a:xfrm>
          <a:prstGeom prst="roundRect">
            <a:avLst>
              <a:gd name="adj" fmla="val 6286"/>
            </a:avLst>
          </a:prstGeom>
          <a:solidFill>
            <a:srgbClr val="FBFBFD"/>
          </a:solidFill>
          <a:ln w="12700">
            <a:solidFill>
              <a:srgbClr val="E3E3E6"/>
            </a:solidFill>
            <a:prstDash val="solid"/>
          </a:ln>
        </p:spPr>
        <p:txBody>
          <a:bodyPr/>
          <a:p/>
        </p:txBody>
      </p:sp>
      <p:sp>
        <p:nvSpPr>
          <p:cNvPr id="8" name="Text 6"/>
          <p:cNvSpPr/>
          <p:nvPr/>
        </p:nvSpPr>
        <p:spPr>
          <a:xfrm>
            <a:off x="1097280" y="4654296"/>
            <a:ext cx="2761488" cy="329184"/>
          </a:xfrm>
          <a:prstGeom prst="rect">
            <a:avLst/>
          </a:prstGeom>
          <a:noFill/>
          <a:ln/>
        </p:spPr>
        <p:txBody>
          <a:bodyPr wrap="square" lIns="0" tIns="0" rIns="0" bIns="0" rtlCol="0" anchor="ctr"/>
          <a:lstStyle/>
          <a:p>
            <a:pPr indent="0" marL="0">
              <a:buNone/>
            </a:pPr>
            <a:r>
              <a:rPr lang="en-US" sz="1400" b="1" dirty="0">
                <a:solidFill>
                  <a:srgbClr val="095D75"/>
                </a:solidFill>
                <a:latin typeface="Helvetica Neue" pitchFamily="34" charset="0"/>
                <a:ea typeface="Helvetica Neue" pitchFamily="34" charset="-122"/>
                <a:cs typeface="Helvetica Neue" pitchFamily="34" charset="-120"/>
              </a:rPr>
              <a:t>The handout</a:t>
            </a:r>
            <a:endParaRPr lang="en-US" sz="1400" dirty="0"/>
          </a:p>
        </p:txBody>
      </p:sp>
      <p:sp>
        <p:nvSpPr>
          <p:cNvPr id="9" name="Text 7"/>
          <p:cNvSpPr/>
          <p:nvPr/>
        </p:nvSpPr>
        <p:spPr>
          <a:xfrm>
            <a:off x="1097280" y="5001768"/>
            <a:ext cx="2761488" cy="914400"/>
          </a:xfrm>
          <a:prstGeom prst="rect">
            <a:avLst/>
          </a:prstGeom>
          <a:noFill/>
          <a:ln/>
        </p:spPr>
        <p:txBody>
          <a:bodyPr wrap="square" lIns="0" tIns="0" rIns="0" bIns="0" rtlCol="0" anchor="ctr"/>
          <a:lstStyle/>
          <a:p>
            <a:pPr indent="0" marL="0">
              <a:lnSpc>
                <a:spcPts val="1550"/>
              </a:lnSpc>
              <a:buNone/>
            </a:pPr>
            <a:r>
              <a:rPr lang="en-US" sz="1150" dirty="0">
                <a:solidFill>
                  <a:srgbClr val="6E6E73"/>
                </a:solidFill>
                <a:latin typeface="Helvetica Neue" pitchFamily="34" charset="0"/>
                <a:ea typeface="Helvetica Neue" pitchFamily="34" charset="-122"/>
                <a:cs typeface="Helvetica Neue" pitchFamily="34" charset="-120"/>
              </a:rPr>
              <a:t>MATE's one-page key to every schematic symbol. Free to print.</a:t>
            </a:r>
            <a:endParaRPr lang="en-US" sz="1150" dirty="0"/>
          </a:p>
        </p:txBody>
      </p:sp>
      <p:sp>
        <p:nvSpPr>
          <p:cNvPr id="10" name="Shape 8"/>
          <p:cNvSpPr/>
          <p:nvPr/>
        </p:nvSpPr>
        <p:spPr>
          <a:xfrm>
            <a:off x="4434840" y="4434840"/>
            <a:ext cx="3310128" cy="1600200"/>
          </a:xfrm>
          <a:prstGeom prst="roundRect">
            <a:avLst>
              <a:gd name="adj" fmla="val 6286"/>
            </a:avLst>
          </a:prstGeom>
          <a:solidFill>
            <a:srgbClr val="FBFBFD"/>
          </a:solidFill>
          <a:ln w="12700">
            <a:solidFill>
              <a:srgbClr val="E3E3E6"/>
            </a:solidFill>
            <a:prstDash val="solid"/>
          </a:ln>
        </p:spPr>
        <p:txBody>
          <a:bodyPr/>
          <a:p/>
        </p:txBody>
      </p:sp>
      <p:sp>
        <p:nvSpPr>
          <p:cNvPr id="11" name="Text 9"/>
          <p:cNvSpPr/>
          <p:nvPr/>
        </p:nvSpPr>
        <p:spPr>
          <a:xfrm>
            <a:off x="4709160" y="4654296"/>
            <a:ext cx="2761488" cy="329184"/>
          </a:xfrm>
          <a:prstGeom prst="rect">
            <a:avLst/>
          </a:prstGeom>
          <a:noFill/>
          <a:ln/>
        </p:spPr>
        <p:txBody>
          <a:bodyPr wrap="square" lIns="0" tIns="0" rIns="0" bIns="0" rtlCol="0" anchor="ctr"/>
          <a:lstStyle/>
          <a:p>
            <a:pPr indent="0" marL="0">
              <a:buNone/>
            </a:pPr>
            <a:r>
              <a:rPr lang="en-US" sz="1400" b="1" dirty="0">
                <a:solidFill>
                  <a:srgbClr val="095D75"/>
                </a:solidFill>
                <a:latin typeface="Helvetica Neue" pitchFamily="34" charset="0"/>
                <a:ea typeface="Helvetica Neue" pitchFamily="34" charset="-122"/>
                <a:cs typeface="Helvetica Neue" pitchFamily="34" charset="-120"/>
              </a:rPr>
              <a:t>The SID</a:t>
            </a:r>
            <a:endParaRPr lang="en-US" sz="1400" dirty="0"/>
          </a:p>
        </p:txBody>
      </p:sp>
      <p:sp>
        <p:nvSpPr>
          <p:cNvPr id="12" name="Text 10"/>
          <p:cNvSpPr/>
          <p:nvPr/>
        </p:nvSpPr>
        <p:spPr>
          <a:xfrm>
            <a:off x="4709160" y="5001768"/>
            <a:ext cx="2761488" cy="914400"/>
          </a:xfrm>
          <a:prstGeom prst="rect">
            <a:avLst/>
          </a:prstGeom>
          <a:noFill/>
          <a:ln/>
        </p:spPr>
        <p:txBody>
          <a:bodyPr wrap="square" lIns="0" tIns="0" rIns="0" bIns="0" rtlCol="0" anchor="ctr"/>
          <a:lstStyle/>
          <a:p>
            <a:pPr indent="0" marL="0">
              <a:lnSpc>
                <a:spcPts val="1550"/>
              </a:lnSpc>
              <a:buNone/>
            </a:pPr>
            <a:r>
              <a:rPr lang="en-US" sz="1150" dirty="0">
                <a:solidFill>
                  <a:srgbClr val="6E6E73"/>
                </a:solidFill>
                <a:latin typeface="Helvetica Neue" pitchFamily="34" charset="0"/>
                <a:ea typeface="Helvetica Neue" pitchFamily="34" charset="-122"/>
                <a:cs typeface="Helvetica Neue" pitchFamily="34" charset="-120"/>
              </a:rPr>
              <a:t>Your System Integration Diagram — a required, scored competition document drawn in these exact symbols.</a:t>
            </a:r>
            <a:endParaRPr lang="en-US" sz="1150" dirty="0"/>
          </a:p>
        </p:txBody>
      </p:sp>
      <p:sp>
        <p:nvSpPr>
          <p:cNvPr id="13" name="Shape 11"/>
          <p:cNvSpPr/>
          <p:nvPr/>
        </p:nvSpPr>
        <p:spPr>
          <a:xfrm>
            <a:off x="8046720" y="4434840"/>
            <a:ext cx="3310128" cy="1600200"/>
          </a:xfrm>
          <a:prstGeom prst="roundRect">
            <a:avLst>
              <a:gd name="adj" fmla="val 6286"/>
            </a:avLst>
          </a:prstGeom>
          <a:solidFill>
            <a:srgbClr val="FBFBFD"/>
          </a:solidFill>
          <a:ln w="12700">
            <a:solidFill>
              <a:srgbClr val="E3E3E6"/>
            </a:solidFill>
            <a:prstDash val="solid"/>
          </a:ln>
        </p:spPr>
        <p:txBody>
          <a:bodyPr/>
          <a:p/>
        </p:txBody>
      </p:sp>
      <p:sp>
        <p:nvSpPr>
          <p:cNvPr id="14" name="Text 12"/>
          <p:cNvSpPr/>
          <p:nvPr/>
        </p:nvSpPr>
        <p:spPr>
          <a:xfrm>
            <a:off x="8321040" y="4654296"/>
            <a:ext cx="2761488" cy="329184"/>
          </a:xfrm>
          <a:prstGeom prst="rect">
            <a:avLst/>
          </a:prstGeom>
          <a:noFill/>
          <a:ln/>
        </p:spPr>
        <p:txBody>
          <a:bodyPr wrap="square" lIns="0" tIns="0" rIns="0" bIns="0" rtlCol="0" anchor="ctr"/>
          <a:lstStyle/>
          <a:p>
            <a:pPr indent="0" marL="0">
              <a:buNone/>
            </a:pPr>
            <a:r>
              <a:rPr lang="en-US" sz="1400" b="1" dirty="0">
                <a:solidFill>
                  <a:srgbClr val="095D75"/>
                </a:solidFill>
                <a:latin typeface="Helvetica Neue" pitchFamily="34" charset="0"/>
                <a:ea typeface="Helvetica Neue" pitchFamily="34" charset="-122"/>
                <a:cs typeface="Helvetica Neue" pitchFamily="34" charset="-120"/>
              </a:rPr>
              <a:t>Keep it forever</a:t>
            </a:r>
            <a:endParaRPr lang="en-US" sz="1400" dirty="0"/>
          </a:p>
        </p:txBody>
      </p:sp>
      <p:sp>
        <p:nvSpPr>
          <p:cNvPr id="15" name="Text 13"/>
          <p:cNvSpPr/>
          <p:nvPr/>
        </p:nvSpPr>
        <p:spPr>
          <a:xfrm>
            <a:off x="8321040" y="5001768"/>
            <a:ext cx="2761488" cy="914400"/>
          </a:xfrm>
          <a:prstGeom prst="rect">
            <a:avLst/>
          </a:prstGeom>
          <a:noFill/>
          <a:ln/>
        </p:spPr>
        <p:txBody>
          <a:bodyPr wrap="square" lIns="0" tIns="0" rIns="0" bIns="0" rtlCol="0" anchor="ctr"/>
          <a:lstStyle/>
          <a:p>
            <a:pPr indent="0" marL="0">
              <a:lnSpc>
                <a:spcPts val="1550"/>
              </a:lnSpc>
              <a:buNone/>
            </a:pPr>
            <a:r>
              <a:rPr lang="en-US" sz="1150" dirty="0">
                <a:solidFill>
                  <a:srgbClr val="6E6E73"/>
                </a:solidFill>
                <a:latin typeface="Helvetica Neue" pitchFamily="34" charset="0"/>
                <a:ea typeface="Helvetica Neue" pitchFamily="34" charset="-122"/>
                <a:cs typeface="Helvetica Neue" pitchFamily="34" charset="-120"/>
              </a:rPr>
              <a:t>The standard doesn't change. Today's reference becomes April's grading rubric.</a:t>
            </a:r>
            <a:endParaRPr lang="en-US" sz="1150" dirty="0"/>
          </a:p>
        </p:txBody>
      </p:sp>
      <p:sp>
        <p:nvSpPr>
          <p:cNvPr id="16" name="Shape 14"/>
          <p:cNvSpPr/>
          <p:nvPr/>
        </p:nvSpPr>
        <p:spPr>
          <a:xfrm>
            <a:off x="822960" y="6437376"/>
            <a:ext cx="10545775" cy="0"/>
          </a:xfrm>
          <a:prstGeom prst="line">
            <a:avLst/>
          </a:prstGeom>
          <a:noFill/>
          <a:ln w="9525">
            <a:solidFill>
              <a:srgbClr val="E3E3E6"/>
            </a:solidFill>
            <a:prstDash val="solid"/>
          </a:ln>
        </p:spPr>
        <p:txBody>
          <a:bodyPr/>
          <a:p/>
        </p:txBody>
      </p:sp>
      <p:sp>
        <p:nvSpPr>
          <p:cNvPr id="17" name="Text 15"/>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18" name="Text 16"/>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CLASS 1.4 — ELECTRONICS WORKSHOP   ·   13 / 19</a:t>
            </a:r>
            <a:endParaRPr lang="en-US" sz="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5">
    <p:bg>
      <p:bgPr>
        <a:solidFill>
          <a:srgbClr val="FBFBFD"/>
        </a:solidFill>
      </p:bgPr>
    </p:bg>
    <p:spTree>
      <p:nvGrpSpPr>
        <p:cNvPr id="1" name=""/>
        <p:cNvGrpSpPr/>
        <p:nvPr/>
      </p:nvGrpSpPr>
      <p:grpSpPr>
        <a:xfrm>
          <a:off x="0" y="0"/>
          <a:ext cx="0" cy="0"/>
          <a:chOff x="0" y="0"/>
          <a:chExt cx="0" cy="0"/>
        </a:xfrm>
      </p:grpSpPr>
      <p:sp>
        <p:nvSpPr>
          <p:cNvPr id="2" name="Text 0"/>
          <p:cNvSpPr/>
          <p:nvPr/>
        </p:nvSpPr>
        <p:spPr>
          <a:xfrm>
            <a:off x="0" y="2286000"/>
            <a:ext cx="12191695" cy="457200"/>
          </a:xfrm>
          <a:prstGeom prst="rect">
            <a:avLst/>
          </a:prstGeom>
          <a:noFill/>
          <a:ln/>
        </p:spPr>
        <p:txBody>
          <a:bodyPr wrap="square" lIns="0" tIns="0" rIns="0" bIns="0" rtlCol="0" anchor="ctr"/>
          <a:lstStyle/>
          <a:p>
            <a:pPr algn="ctr" indent="0" marL="0">
              <a:buNone/>
            </a:pPr>
            <a:r>
              <a:rPr lang="en-US" sz="1500" b="1" spc="500" kern="0" dirty="0">
                <a:solidFill>
                  <a:srgbClr val="0D7490"/>
                </a:solidFill>
                <a:latin typeface="Helvetica Neue" pitchFamily="34" charset="0"/>
                <a:ea typeface="Helvetica Neue" pitchFamily="34" charset="-122"/>
                <a:cs typeface="Helvetica Neue" pitchFamily="34" charset="-120"/>
              </a:rPr>
              <a:t>BREAK</a:t>
            </a:r>
            <a:endParaRPr lang="en-US" sz="1500" dirty="0"/>
          </a:p>
        </p:txBody>
      </p:sp>
      <p:sp>
        <p:nvSpPr>
          <p:cNvPr id="3" name="Text 1"/>
          <p:cNvSpPr/>
          <p:nvPr/>
        </p:nvSpPr>
        <p:spPr>
          <a:xfrm>
            <a:off x="0" y="2697480"/>
            <a:ext cx="12191695" cy="1005840"/>
          </a:xfrm>
          <a:prstGeom prst="rect">
            <a:avLst/>
          </a:prstGeom>
          <a:noFill/>
          <a:ln/>
        </p:spPr>
        <p:txBody>
          <a:bodyPr wrap="square" lIns="0" tIns="0" rIns="0" bIns="0" rtlCol="0" anchor="ctr"/>
          <a:lstStyle/>
          <a:p>
            <a:pPr algn="ctr" indent="0" marL="0">
              <a:buNone/>
            </a:pPr>
            <a:r>
              <a:rPr lang="en-US" sz="5200" b="1" dirty="0">
                <a:solidFill>
                  <a:srgbClr val="1D1D1F"/>
                </a:solidFill>
                <a:latin typeface="Helvetica Neue" pitchFamily="34" charset="0"/>
                <a:ea typeface="Helvetica Neue" pitchFamily="34" charset="-122"/>
                <a:cs typeface="Helvetica Neue" pitchFamily="34" charset="-120"/>
              </a:rPr>
              <a:t>Ten minutes.</a:t>
            </a:r>
            <a:endParaRPr lang="en-US" sz="5200" dirty="0"/>
          </a:p>
        </p:txBody>
      </p:sp>
      <p:sp>
        <p:nvSpPr>
          <p:cNvPr id="4" name="Shape 2"/>
          <p:cNvSpPr/>
          <p:nvPr/>
        </p:nvSpPr>
        <p:spPr>
          <a:xfrm>
            <a:off x="5455768" y="3977640"/>
            <a:ext cx="1280160" cy="0"/>
          </a:xfrm>
          <a:prstGeom prst="line">
            <a:avLst/>
          </a:prstGeom>
          <a:noFill/>
          <a:ln w="12700">
            <a:solidFill>
              <a:srgbClr val="E3E3E6"/>
            </a:solidFill>
            <a:prstDash val="solid"/>
          </a:ln>
        </p:spPr>
        <p:txBody>
          <a:bodyPr/>
          <a:p/>
        </p:txBody>
      </p:sp>
      <p:sp>
        <p:nvSpPr>
          <p:cNvPr id="5" name="Text 3"/>
          <p:cNvSpPr/>
          <p:nvPr/>
        </p:nvSpPr>
        <p:spPr>
          <a:xfrm>
            <a:off x="0" y="4206240"/>
            <a:ext cx="12191695" cy="457200"/>
          </a:xfrm>
          <a:prstGeom prst="rect">
            <a:avLst/>
          </a:prstGeom>
          <a:noFill/>
          <a:ln/>
        </p:spPr>
        <p:txBody>
          <a:bodyPr wrap="square" lIns="0" tIns="0" rIns="0" bIns="0" rtlCol="0" anchor="ctr"/>
          <a:lstStyle/>
          <a:p>
            <a:pPr algn="ctr" indent="0" marL="0">
              <a:buNone/>
            </a:pPr>
            <a:r>
              <a:rPr lang="en-US" sz="1500" dirty="0">
                <a:solidFill>
                  <a:srgbClr val="6E6E73"/>
                </a:solidFill>
                <a:latin typeface="Helvetica Neue" pitchFamily="34" charset="0"/>
                <a:ea typeface="Helvetica Neue" pitchFamily="34" charset="-122"/>
                <a:cs typeface="Helvetica Neue" pitchFamily="34" charset="-120"/>
              </a:rPr>
              <a:t>We resume in ten — meters down, hands clear of the bench.</a:t>
            </a:r>
            <a:endParaRPr lang="en-US" sz="1500" dirty="0"/>
          </a:p>
        </p:txBody>
      </p:sp>
      <p:sp>
        <p:nvSpPr>
          <p:cNvPr id="6" name="Shape 4"/>
          <p:cNvSpPr/>
          <p:nvPr/>
        </p:nvSpPr>
        <p:spPr>
          <a:xfrm>
            <a:off x="822960" y="6437376"/>
            <a:ext cx="10545775" cy="0"/>
          </a:xfrm>
          <a:prstGeom prst="line">
            <a:avLst/>
          </a:prstGeom>
          <a:noFill/>
          <a:ln w="9525">
            <a:solidFill>
              <a:srgbClr val="E3E3E6"/>
            </a:solidFill>
            <a:prstDash val="solid"/>
          </a:ln>
        </p:spPr>
        <p:txBody>
          <a:bodyPr/>
          <a:p/>
        </p:txBody>
      </p:sp>
      <p:sp>
        <p:nvSpPr>
          <p:cNvPr id="7" name="Text 5"/>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8" name="Text 6"/>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CLASS 1.4 — ELECTRONICS WORKSHOP   ·   14 / 19</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24">
    <p:bg>
      <p:bgPr>
        <a:solidFill>
          <a:srgbClr val="FBFBFD"/>
        </a:solidFill>
      </p:bgPr>
    </p:bg>
    <p:spTree>
      <p:nvGrpSpPr>
        <p:cNvPr id="1" name=""/>
        <p:cNvGrpSpPr/>
        <p:nvPr/>
      </p:nvGrpSpPr>
      <p:grpSpPr>
        <a:xfrm>
          <a:off x="0" y="0"/>
          <a:ext cx="0" cy="0"/>
          <a:chOff x="0" y="0"/>
          <a:chExt cx="0" cy="0"/>
        </a:xfrm>
      </p:grpSpPr>
      <p:sp>
        <p:nvSpPr>
          <p:cNvPr id="2" name="Text 0"/>
          <p:cNvSpPr/>
          <p:nvPr/>
        </p:nvSpPr>
        <p:spPr>
          <a:xfrm>
            <a:off x="4572000" y="182880"/>
            <a:ext cx="7315200" cy="6492240"/>
          </a:xfrm>
          <a:prstGeom prst="rect">
            <a:avLst/>
          </a:prstGeom>
          <a:noFill/>
          <a:ln/>
        </p:spPr>
        <p:txBody>
          <a:bodyPr wrap="square" lIns="0" tIns="0" rIns="0" bIns="0" rtlCol="0" anchor="ctr"/>
          <a:lstStyle/>
          <a:p>
            <a:pPr algn="r" indent="0" marL="0">
              <a:buNone/>
            </a:pPr>
            <a:r>
              <a:rPr lang="en-US" sz="36000" b="1" dirty="0">
                <a:solidFill>
                  <a:srgbClr val="EEF0F1"/>
                </a:solidFill>
                <a:latin typeface="Helvetica Neue" pitchFamily="34" charset="0"/>
                <a:ea typeface="Helvetica Neue" pitchFamily="34" charset="-122"/>
                <a:cs typeface="Helvetica Neue" pitchFamily="34" charset="-120"/>
              </a:rPr>
              <a:t>04</a:t>
            </a:r>
            <a:endParaRPr lang="en-US" sz="36000" dirty="0"/>
          </a:p>
        </p:txBody>
      </p:sp>
      <p:sp>
        <p:nvSpPr>
          <p:cNvPr id="3" name="Shape 1"/>
          <p:cNvSpPr/>
          <p:nvPr/>
        </p:nvSpPr>
        <p:spPr>
          <a:xfrm>
            <a:off x="841248" y="2395728"/>
            <a:ext cx="566928" cy="91440"/>
          </a:xfrm>
          <a:prstGeom prst="rect">
            <a:avLst/>
          </a:prstGeom>
          <a:solidFill>
            <a:srgbClr val="0D7490"/>
          </a:solidFill>
          <a:ln/>
        </p:spPr>
        <p:txBody>
          <a:bodyPr/>
          <a:p/>
        </p:txBody>
      </p:sp>
      <p:sp>
        <p:nvSpPr>
          <p:cNvPr id="4" name="Text 2"/>
          <p:cNvSpPr/>
          <p:nvPr/>
        </p:nvSpPr>
        <p:spPr>
          <a:xfrm>
            <a:off x="822960" y="2615184"/>
            <a:ext cx="6400800" cy="310896"/>
          </a:xfrm>
          <a:prstGeom prst="rect">
            <a:avLst/>
          </a:prstGeom>
          <a:noFill/>
          <a:ln/>
        </p:spPr>
        <p:txBody>
          <a:bodyPr wrap="square" lIns="0" tIns="0" rIns="0" bIns="0" rtlCol="0" anchor="ctr"/>
          <a:lstStyle/>
          <a:p>
            <a:pPr indent="0" marL="0">
              <a:buNone/>
            </a:pPr>
            <a:r>
              <a:rPr lang="en-US" sz="1300" b="1" spc="250" kern="0" dirty="0">
                <a:solidFill>
                  <a:srgbClr val="0D7490"/>
                </a:solidFill>
                <a:latin typeface="Helvetica Neue" pitchFamily="34" charset="0"/>
                <a:ea typeface="Helvetica Neue" pitchFamily="34" charset="-122"/>
                <a:cs typeface="Helvetica Neue" pitchFamily="34" charset="-120"/>
              </a:rPr>
              <a:t>SECTION 04</a:t>
            </a:r>
            <a:endParaRPr lang="en-US" sz="1300" dirty="0"/>
          </a:p>
        </p:txBody>
      </p:sp>
      <p:sp>
        <p:nvSpPr>
          <p:cNvPr id="5" name="Text 3"/>
          <p:cNvSpPr/>
          <p:nvPr/>
        </p:nvSpPr>
        <p:spPr>
          <a:xfrm>
            <a:off x="786384" y="2926080"/>
            <a:ext cx="6949440" cy="1371600"/>
          </a:xfrm>
          <a:prstGeom prst="rect">
            <a:avLst/>
          </a:prstGeom>
          <a:noFill/>
          <a:ln/>
        </p:spPr>
        <p:txBody>
          <a:bodyPr wrap="square" lIns="0" tIns="0" rIns="0" bIns="0" rtlCol="0" anchor="ctr"/>
          <a:lstStyle/>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Wrap-Up &amp;</a:t>
            </a:r>
            <a:endParaRPr lang="en-US" sz="4000" dirty="0"/>
          </a:p>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Homework</a:t>
            </a:r>
            <a:endParaRPr lang="en-US" sz="4000" dirty="0"/>
          </a:p>
        </p:txBody>
      </p:sp>
      <p:sp>
        <p:nvSpPr>
          <p:cNvPr id="6" name="Shape 4"/>
          <p:cNvSpPr/>
          <p:nvPr/>
        </p:nvSpPr>
        <p:spPr>
          <a:xfrm>
            <a:off x="841248" y="4370832"/>
            <a:ext cx="2971800" cy="420624"/>
          </a:xfrm>
          <a:prstGeom prst="roundRect">
            <a:avLst>
              <a:gd name="adj" fmla="val 50000"/>
            </a:avLst>
          </a:prstGeom>
          <a:solidFill>
            <a:srgbClr val="0D7490"/>
          </a:solidFill>
          <a:ln/>
        </p:spPr>
        <p:txBody>
          <a:bodyPr/>
          <a:p/>
        </p:txBody>
      </p:sp>
      <p:sp>
        <p:nvSpPr>
          <p:cNvPr id="7" name="Text 5"/>
          <p:cNvSpPr/>
          <p:nvPr/>
        </p:nvSpPr>
        <p:spPr>
          <a:xfrm>
            <a:off x="841248" y="4370832"/>
            <a:ext cx="2971800" cy="420624"/>
          </a:xfrm>
          <a:prstGeom prst="rect">
            <a:avLst/>
          </a:prstGeom>
          <a:noFill/>
          <a:ln/>
        </p:spPr>
        <p:txBody>
          <a:bodyPr wrap="square" lIns="0" tIns="0" rIns="0" bIns="0" rtlCol="0" anchor="ctr"/>
          <a:lstStyle/>
          <a:p>
            <a:pPr algn="ctr" indent="0" marL="0">
              <a:buNone/>
            </a:pPr>
            <a:r>
              <a:rPr lang="en-US" sz="1050" b="1" spc="150" kern="0" dirty="0">
                <a:solidFill>
                  <a:srgbClr val="FFFFFF"/>
                </a:solidFill>
                <a:latin typeface="Helvetica Neue" pitchFamily="34" charset="0"/>
                <a:ea typeface="Helvetica Neue" pitchFamily="34" charset="-122"/>
                <a:cs typeface="Helvetica Neue" pitchFamily="34" charset="-120"/>
              </a:rPr>
              <a:t>2:50 – 3:00   ·   10 MIN</a:t>
            </a:r>
            <a:endParaRPr lang="en-US" sz="1050" dirty="0"/>
          </a:p>
        </p:txBody>
      </p:sp>
      <p:sp>
        <p:nvSpPr>
          <p:cNvPr id="8" name="Text 6"/>
          <p:cNvSpPr/>
          <p:nvPr/>
        </p:nvSpPr>
        <p:spPr>
          <a:xfrm>
            <a:off x="841248" y="5029200"/>
            <a:ext cx="6126480" cy="1005840"/>
          </a:xfrm>
          <a:prstGeom prst="rect">
            <a:avLst/>
          </a:prstGeom>
          <a:noFill/>
          <a:ln/>
        </p:spPr>
        <p:txBody>
          <a:bodyPr wrap="square" lIns="0" tIns="0" rIns="0" bIns="0" rtlCol="0" anchor="ctr"/>
          <a:lstStyle/>
          <a:p>
            <a:pPr indent="0" marL="0">
              <a:lnSpc>
                <a:spcPts val="2200"/>
              </a:lnSpc>
              <a:buNone/>
            </a:pPr>
            <a:r>
              <a:rPr lang="en-US" sz="1500" i="1" dirty="0">
                <a:solidFill>
                  <a:srgbClr val="6E6E73"/>
                </a:solidFill>
                <a:latin typeface="Helvetica Neue" pitchFamily="34" charset="0"/>
                <a:ea typeface="Helvetica Neue" pitchFamily="34" charset="-122"/>
                <a:cs typeface="Helvetica Neue" pitchFamily="34" charset="-120"/>
              </a:rPr>
              <a:t>Name what happens next — and stage the parts before the holiday break.</a:t>
            </a:r>
            <a:endParaRPr lang="en-US" sz="1500" dirty="0"/>
          </a:p>
        </p:txBody>
      </p:sp>
      <p:sp>
        <p:nvSpPr>
          <p:cNvPr id="9" name="Shape 7"/>
          <p:cNvSpPr/>
          <p:nvPr/>
        </p:nvSpPr>
        <p:spPr>
          <a:xfrm>
            <a:off x="822960" y="6437376"/>
            <a:ext cx="10545775" cy="0"/>
          </a:xfrm>
          <a:prstGeom prst="line">
            <a:avLst/>
          </a:prstGeom>
          <a:noFill/>
          <a:ln w="9525">
            <a:solidFill>
              <a:srgbClr val="E3E3E6"/>
            </a:solidFill>
            <a:prstDash val="solid"/>
          </a:ln>
        </p:spPr>
        <p:txBody>
          <a:bodyPr/>
          <a:p/>
        </p:txBody>
      </p:sp>
      <p:sp>
        <p:nvSpPr>
          <p:cNvPr id="10" name="Text 8"/>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11" name="Text 9"/>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CLASS 1.4 — ELECTRONICS WORKSHOP   ·   15 / 19</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WRAP-UP &amp; HOMEWORK</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Before we meet again.</a:t>
            </a:r>
            <a:endParaRPr lang="en-US" sz="3000" dirty="0"/>
          </a:p>
        </p:txBody>
      </p:sp>
      <p:sp>
        <p:nvSpPr>
          <p:cNvPr id="4" name="Text 2"/>
          <p:cNvSpPr/>
          <p:nvPr/>
        </p:nvSpPr>
        <p:spPr>
          <a:xfrm>
            <a:off x="822960" y="1783080"/>
            <a:ext cx="4937760" cy="274320"/>
          </a:xfrm>
          <a:prstGeom prst="rect">
            <a:avLst/>
          </a:prstGeom>
          <a:noFill/>
          <a:ln/>
        </p:spPr>
        <p:txBody>
          <a:bodyPr wrap="square" lIns="0" tIns="0" rIns="0" bIns="0" rtlCol="0" anchor="ctr"/>
          <a:lstStyle/>
          <a:p>
            <a:pPr indent="0" marL="0">
              <a:buNone/>
            </a:pPr>
            <a:r>
              <a:rPr lang="en-US" sz="1050" b="1" spc="150" kern="0" dirty="0">
                <a:solidFill>
                  <a:srgbClr val="0D7490"/>
                </a:solidFill>
                <a:latin typeface="Helvetica Neue" pitchFamily="34" charset="0"/>
                <a:ea typeface="Helvetica Neue" pitchFamily="34" charset="-122"/>
                <a:cs typeface="Helvetica Neue" pitchFamily="34" charset="-120"/>
              </a:rPr>
              <a:t>EVERY STUDENT</a:t>
            </a:r>
            <a:endParaRPr lang="en-US" sz="1050" dirty="0"/>
          </a:p>
        </p:txBody>
      </p:sp>
      <p:sp>
        <p:nvSpPr>
          <p:cNvPr id="5" name="Shape 3"/>
          <p:cNvSpPr/>
          <p:nvPr/>
        </p:nvSpPr>
        <p:spPr>
          <a:xfrm>
            <a:off x="822960" y="2139696"/>
            <a:ext cx="347472" cy="347472"/>
          </a:xfrm>
          <a:prstGeom prst="ellipse">
            <a:avLst/>
          </a:prstGeom>
          <a:solidFill>
            <a:srgbClr val="EAF2F4"/>
          </a:solidFill>
          <a:ln/>
        </p:spPr>
        <p:txBody>
          <a:bodyPr/>
          <a:p/>
        </p:txBody>
      </p:sp>
      <p:sp>
        <p:nvSpPr>
          <p:cNvPr id="6" name="Text 4"/>
          <p:cNvSpPr/>
          <p:nvPr/>
        </p:nvSpPr>
        <p:spPr>
          <a:xfrm>
            <a:off x="822960" y="2139696"/>
            <a:ext cx="347472" cy="347472"/>
          </a:xfrm>
          <a:prstGeom prst="rect">
            <a:avLst/>
          </a:prstGeom>
          <a:noFill/>
          <a:ln/>
        </p:spPr>
        <p:txBody>
          <a:bodyPr wrap="square" lIns="0" tIns="0" rIns="0" bIns="0" rtlCol="0" anchor="ctr"/>
          <a:lstStyle/>
          <a:p>
            <a:pPr algn="ctr" indent="0" marL="0">
              <a:buNone/>
            </a:pPr>
            <a:r>
              <a:rPr lang="en-US" sz="1064" b="1" dirty="0">
                <a:solidFill>
                  <a:srgbClr val="0D7490"/>
                </a:solidFill>
                <a:latin typeface="Helvetica Neue" pitchFamily="34" charset="0"/>
                <a:ea typeface="Helvetica Neue" pitchFamily="34" charset="-122"/>
                <a:cs typeface="Helvetica Neue" pitchFamily="34" charset="-120"/>
              </a:rPr>
              <a:t>1</a:t>
            </a:r>
            <a:endParaRPr lang="en-US" sz="1064" dirty="0"/>
          </a:p>
        </p:txBody>
      </p:sp>
      <p:sp>
        <p:nvSpPr>
          <p:cNvPr id="7" name="Text 5"/>
          <p:cNvSpPr/>
          <p:nvPr/>
        </p:nvSpPr>
        <p:spPr>
          <a:xfrm>
            <a:off x="1298448" y="2084832"/>
            <a:ext cx="4480560" cy="640080"/>
          </a:xfrm>
          <a:prstGeom prst="rect">
            <a:avLst/>
          </a:prstGeom>
          <a:noFill/>
          <a:ln/>
        </p:spPr>
        <p:txBody>
          <a:bodyPr wrap="square" lIns="0" tIns="0" rIns="0" bIns="0" rtlCol="0" anchor="ctr"/>
          <a:lstStyle/>
          <a:p>
            <a:pPr indent="0" marL="0">
              <a:lnSpc>
                <a:spcPts val="1550"/>
              </a:lnSpc>
              <a:buNone/>
            </a:pPr>
            <a:r>
              <a:rPr lang="en-US" sz="1200" dirty="0">
                <a:solidFill>
                  <a:srgbClr val="1D1D1F"/>
                </a:solidFill>
                <a:latin typeface="Helvetica Neue" pitchFamily="34" charset="0"/>
                <a:ea typeface="Helvetica Neue" pitchFamily="34" charset="-122"/>
                <a:cs typeface="Helvetica Neue" pitchFamily="34" charset="-120"/>
              </a:rPr>
              <a:t>Practice reading a simple schematic — battery, switch, resistor, LED.</a:t>
            </a:r>
            <a:endParaRPr lang="en-US" sz="1200" dirty="0"/>
          </a:p>
        </p:txBody>
      </p:sp>
      <p:sp>
        <p:nvSpPr>
          <p:cNvPr id="8" name="Shape 6"/>
          <p:cNvSpPr/>
          <p:nvPr/>
        </p:nvSpPr>
        <p:spPr>
          <a:xfrm>
            <a:off x="822960" y="2907792"/>
            <a:ext cx="347472" cy="347472"/>
          </a:xfrm>
          <a:prstGeom prst="ellipse">
            <a:avLst/>
          </a:prstGeom>
          <a:solidFill>
            <a:srgbClr val="EAF2F4"/>
          </a:solidFill>
          <a:ln/>
        </p:spPr>
        <p:txBody>
          <a:bodyPr/>
          <a:p/>
        </p:txBody>
      </p:sp>
      <p:sp>
        <p:nvSpPr>
          <p:cNvPr id="9" name="Text 7"/>
          <p:cNvSpPr/>
          <p:nvPr/>
        </p:nvSpPr>
        <p:spPr>
          <a:xfrm>
            <a:off x="822960" y="2907792"/>
            <a:ext cx="347472" cy="347472"/>
          </a:xfrm>
          <a:prstGeom prst="rect">
            <a:avLst/>
          </a:prstGeom>
          <a:noFill/>
          <a:ln/>
        </p:spPr>
        <p:txBody>
          <a:bodyPr wrap="square" lIns="0" tIns="0" rIns="0" bIns="0" rtlCol="0" anchor="ctr"/>
          <a:lstStyle/>
          <a:p>
            <a:pPr algn="ctr" indent="0" marL="0">
              <a:buNone/>
            </a:pPr>
            <a:r>
              <a:rPr lang="en-US" sz="1064" b="1" dirty="0">
                <a:solidFill>
                  <a:srgbClr val="0D7490"/>
                </a:solidFill>
                <a:latin typeface="Helvetica Neue" pitchFamily="34" charset="0"/>
                <a:ea typeface="Helvetica Neue" pitchFamily="34" charset="-122"/>
                <a:cs typeface="Helvetica Neue" pitchFamily="34" charset="-120"/>
              </a:rPr>
              <a:t>2</a:t>
            </a:r>
            <a:endParaRPr lang="en-US" sz="1064" dirty="0"/>
          </a:p>
        </p:txBody>
      </p:sp>
      <p:sp>
        <p:nvSpPr>
          <p:cNvPr id="10" name="Text 8"/>
          <p:cNvSpPr/>
          <p:nvPr/>
        </p:nvSpPr>
        <p:spPr>
          <a:xfrm>
            <a:off x="1298448" y="2852928"/>
            <a:ext cx="4480560" cy="640080"/>
          </a:xfrm>
          <a:prstGeom prst="rect">
            <a:avLst/>
          </a:prstGeom>
          <a:noFill/>
          <a:ln/>
        </p:spPr>
        <p:txBody>
          <a:bodyPr wrap="square" lIns="0" tIns="0" rIns="0" bIns="0" rtlCol="0" anchor="ctr"/>
          <a:lstStyle/>
          <a:p>
            <a:pPr indent="0" marL="0">
              <a:lnSpc>
                <a:spcPts val="1550"/>
              </a:lnSpc>
              <a:buNone/>
            </a:pPr>
            <a:r>
              <a:rPr lang="en-US" sz="1200" dirty="0">
                <a:solidFill>
                  <a:srgbClr val="1D1D1F"/>
                </a:solidFill>
                <a:latin typeface="Helvetica Neue" pitchFamily="34" charset="0"/>
                <a:ea typeface="Helvetica Neue" pitchFamily="34" charset="-122"/>
                <a:cs typeface="Helvetica Neue" pitchFamily="34" charset="-120"/>
              </a:rPr>
              <a:t>Keep your Electrical Symbols handout in your notebook — you'll use it all year.</a:t>
            </a:r>
            <a:endParaRPr lang="en-US" sz="1200" dirty="0"/>
          </a:p>
        </p:txBody>
      </p:sp>
      <p:sp>
        <p:nvSpPr>
          <p:cNvPr id="11" name="Shape 9"/>
          <p:cNvSpPr/>
          <p:nvPr/>
        </p:nvSpPr>
        <p:spPr>
          <a:xfrm>
            <a:off x="822960" y="3675888"/>
            <a:ext cx="347472" cy="347472"/>
          </a:xfrm>
          <a:prstGeom prst="ellipse">
            <a:avLst/>
          </a:prstGeom>
          <a:solidFill>
            <a:srgbClr val="EAF2F4"/>
          </a:solidFill>
          <a:ln/>
        </p:spPr>
        <p:txBody>
          <a:bodyPr/>
          <a:p/>
        </p:txBody>
      </p:sp>
      <p:sp>
        <p:nvSpPr>
          <p:cNvPr id="12" name="Text 10"/>
          <p:cNvSpPr/>
          <p:nvPr/>
        </p:nvSpPr>
        <p:spPr>
          <a:xfrm>
            <a:off x="822960" y="3675888"/>
            <a:ext cx="347472" cy="347472"/>
          </a:xfrm>
          <a:prstGeom prst="rect">
            <a:avLst/>
          </a:prstGeom>
          <a:noFill/>
          <a:ln/>
        </p:spPr>
        <p:txBody>
          <a:bodyPr wrap="square" lIns="0" tIns="0" rIns="0" bIns="0" rtlCol="0" anchor="ctr"/>
          <a:lstStyle/>
          <a:p>
            <a:pPr algn="ctr" indent="0" marL="0">
              <a:buNone/>
            </a:pPr>
            <a:r>
              <a:rPr lang="en-US" sz="1064" b="1" dirty="0">
                <a:solidFill>
                  <a:srgbClr val="0D7490"/>
                </a:solidFill>
                <a:latin typeface="Helvetica Neue" pitchFamily="34" charset="0"/>
                <a:ea typeface="Helvetica Neue" pitchFamily="34" charset="-122"/>
                <a:cs typeface="Helvetica Neue" pitchFamily="34" charset="-120"/>
              </a:rPr>
              <a:t>3</a:t>
            </a:r>
            <a:endParaRPr lang="en-US" sz="1064" dirty="0"/>
          </a:p>
        </p:txBody>
      </p:sp>
      <p:sp>
        <p:nvSpPr>
          <p:cNvPr id="13" name="Text 11"/>
          <p:cNvSpPr/>
          <p:nvPr/>
        </p:nvSpPr>
        <p:spPr>
          <a:xfrm>
            <a:off x="1298448" y="3621024"/>
            <a:ext cx="4480560" cy="640080"/>
          </a:xfrm>
          <a:prstGeom prst="rect">
            <a:avLst/>
          </a:prstGeom>
          <a:noFill/>
          <a:ln/>
        </p:spPr>
        <p:txBody>
          <a:bodyPr wrap="square" lIns="0" tIns="0" rIns="0" bIns="0" rtlCol="0" anchor="ctr"/>
          <a:lstStyle/>
          <a:p>
            <a:pPr indent="0" marL="0">
              <a:lnSpc>
                <a:spcPts val="1550"/>
              </a:lnSpc>
              <a:buNone/>
            </a:pPr>
            <a:r>
              <a:rPr lang="en-US" sz="1200" dirty="0">
                <a:solidFill>
                  <a:srgbClr val="1D1D1F"/>
                </a:solidFill>
                <a:latin typeface="Helvetica Neue" pitchFamily="34" charset="0"/>
                <a:ea typeface="Helvetica Neue" pitchFamily="34" charset="-122"/>
                <a:cs typeface="Helvetica Neue" pitchFamily="34" charset="-120"/>
              </a:rPr>
              <a:t>Software Lead: make sure the repo is ready for wiring notes.</a:t>
            </a:r>
            <a:endParaRPr lang="en-US" sz="1200" dirty="0"/>
          </a:p>
        </p:txBody>
      </p:sp>
      <p:sp>
        <p:nvSpPr>
          <p:cNvPr id="14" name="Text 12"/>
          <p:cNvSpPr/>
          <p:nvPr/>
        </p:nvSpPr>
        <p:spPr>
          <a:xfrm>
            <a:off x="822960" y="4572000"/>
            <a:ext cx="5120640" cy="274320"/>
          </a:xfrm>
          <a:prstGeom prst="rect">
            <a:avLst/>
          </a:prstGeom>
          <a:noFill/>
          <a:ln/>
        </p:spPr>
        <p:txBody>
          <a:bodyPr wrap="square" lIns="0" tIns="0" rIns="0" bIns="0" rtlCol="0" anchor="ctr"/>
          <a:lstStyle/>
          <a:p>
            <a:pPr indent="0" marL="0">
              <a:buNone/>
            </a:pPr>
            <a:r>
              <a:rPr lang="en-US" sz="1050" b="1" spc="100" kern="0" dirty="0">
                <a:solidFill>
                  <a:srgbClr val="0D7490"/>
                </a:solidFill>
                <a:latin typeface="Helvetica Neue" pitchFamily="34" charset="0"/>
                <a:ea typeface="Helvetica Neue" pitchFamily="34" charset="-122"/>
                <a:cs typeface="Helvetica Neue" pitchFamily="34" charset="-120"/>
              </a:rPr>
              <a:t>THE PARALLEL TRACK  ·  LEADS &amp; ADVISORS</a:t>
            </a:r>
            <a:endParaRPr lang="en-US" sz="1050" dirty="0"/>
          </a:p>
        </p:txBody>
      </p:sp>
      <p:sp>
        <p:nvSpPr>
          <p:cNvPr id="15" name="Text 13"/>
          <p:cNvSpPr/>
          <p:nvPr/>
        </p:nvSpPr>
        <p:spPr>
          <a:xfrm>
            <a:off x="822960" y="4882896"/>
            <a:ext cx="5029200" cy="1188720"/>
          </a:xfrm>
          <a:prstGeom prst="rect">
            <a:avLst/>
          </a:prstGeom>
          <a:noFill/>
          <a:ln/>
        </p:spPr>
        <p:txBody>
          <a:bodyPr wrap="square" lIns="0" tIns="0" rIns="0" bIns="0" rtlCol="0" anchor="ctr"/>
          <a:lstStyle/>
          <a:p>
            <a:pPr indent="0" marL="0">
              <a:lnSpc>
                <a:spcPts val="1600"/>
              </a:lnSpc>
              <a:buNone/>
            </a:pPr>
            <a:r>
              <a:rPr lang="en-US" sz="1150" dirty="0">
                <a:solidFill>
                  <a:srgbClr val="6E6E73"/>
                </a:solidFill>
                <a:latin typeface="Helvetica Neue" pitchFamily="34" charset="0"/>
                <a:ea typeface="Helvetica Neue" pitchFamily="34" charset="-122"/>
                <a:cs typeface="Helvetica Neue" pitchFamily="34" charset="-120"/>
              </a:rPr>
              <a:t>The control box is a long build (MATE budgets six hours) — stage the kit's control-box parts and the soldering stations. Battery in hand.</a:t>
            </a:r>
            <a:endParaRPr lang="en-US" sz="1150" dirty="0"/>
          </a:p>
        </p:txBody>
      </p:sp>
      <p:sp>
        <p:nvSpPr>
          <p:cNvPr id="16" name="Shape 14"/>
          <p:cNvSpPr/>
          <p:nvPr/>
        </p:nvSpPr>
        <p:spPr>
          <a:xfrm>
            <a:off x="6263640" y="1783080"/>
            <a:ext cx="5102352" cy="4297680"/>
          </a:xfrm>
          <a:prstGeom prst="roundRect">
            <a:avLst>
              <a:gd name="adj" fmla="val 2340"/>
            </a:avLst>
          </a:prstGeom>
          <a:solidFill>
            <a:srgbClr val="0D7490"/>
          </a:solidFill>
          <a:ln w="12700">
            <a:solidFill>
              <a:srgbClr val="0D7490"/>
            </a:solidFill>
            <a:prstDash val="solid"/>
          </a:ln>
        </p:spPr>
        <p:txBody>
          <a:bodyPr/>
          <a:p/>
        </p:txBody>
      </p:sp>
      <p:sp>
        <p:nvSpPr>
          <p:cNvPr id="17" name="Text 15"/>
          <p:cNvSpPr/>
          <p:nvPr/>
        </p:nvSpPr>
        <p:spPr>
          <a:xfrm>
            <a:off x="6675120" y="2157984"/>
            <a:ext cx="4297680" cy="274320"/>
          </a:xfrm>
          <a:prstGeom prst="rect">
            <a:avLst/>
          </a:prstGeom>
          <a:noFill/>
          <a:ln/>
        </p:spPr>
        <p:txBody>
          <a:bodyPr wrap="square" lIns="0" tIns="0" rIns="0" bIns="0" rtlCol="0" anchor="ctr"/>
          <a:lstStyle/>
          <a:p>
            <a:pPr indent="0" marL="0">
              <a:buNone/>
            </a:pPr>
            <a:r>
              <a:rPr lang="en-US" sz="1100" b="1" spc="200" kern="0" dirty="0">
                <a:solidFill>
                  <a:srgbClr val="9FCEDA"/>
                </a:solidFill>
                <a:latin typeface="Helvetica Neue" pitchFamily="34" charset="0"/>
                <a:ea typeface="Helvetica Neue" pitchFamily="34" charset="-122"/>
                <a:cs typeface="Helvetica Neue" pitchFamily="34" charset="-120"/>
              </a:rPr>
              <a:t>NEXT LESSON  ·  CLASS 1.5</a:t>
            </a:r>
            <a:endParaRPr lang="en-US" sz="1100" dirty="0"/>
          </a:p>
        </p:txBody>
      </p:sp>
      <p:sp>
        <p:nvSpPr>
          <p:cNvPr id="18" name="Text 16"/>
          <p:cNvSpPr/>
          <p:nvPr/>
        </p:nvSpPr>
        <p:spPr>
          <a:xfrm>
            <a:off x="6675120" y="2487168"/>
            <a:ext cx="4297680" cy="1508760"/>
          </a:xfrm>
          <a:prstGeom prst="rect">
            <a:avLst/>
          </a:prstGeom>
          <a:noFill/>
          <a:ln/>
        </p:spPr>
        <p:txBody>
          <a:bodyPr wrap="square" lIns="0" tIns="0" rIns="0" bIns="0" rtlCol="0" anchor="ctr"/>
          <a:lstStyle/>
          <a:p>
            <a:pPr indent="0" marL="0">
              <a:lnSpc>
                <a:spcPts val="4200"/>
              </a:lnSpc>
              <a:buNone/>
            </a:pPr>
            <a:r>
              <a:rPr lang="en-US" sz="4000" b="1" dirty="0">
                <a:solidFill>
                  <a:srgbClr val="FFFFFF"/>
                </a:solidFill>
                <a:latin typeface="Helvetica Neue" pitchFamily="34" charset="0"/>
                <a:ea typeface="Helvetica Neue" pitchFamily="34" charset="-122"/>
                <a:cs typeface="Helvetica Neue" pitchFamily="34" charset="-120"/>
              </a:rPr>
              <a:t>Control Box</a:t>
            </a:r>
            <a:endParaRPr lang="en-US" sz="4000" dirty="0"/>
          </a:p>
          <a:p>
            <a:pPr indent="0" marL="0">
              <a:lnSpc>
                <a:spcPts val="4200"/>
              </a:lnSpc>
              <a:buNone/>
            </a:pPr>
            <a:r>
              <a:rPr lang="en-US" sz="4000" b="1" dirty="0">
                <a:solidFill>
                  <a:srgbClr val="FFFFFF"/>
                </a:solidFill>
                <a:latin typeface="Helvetica Neue" pitchFamily="34" charset="0"/>
                <a:ea typeface="Helvetica Neue" pitchFamily="34" charset="-122"/>
                <a:cs typeface="Helvetica Neue" pitchFamily="34" charset="-120"/>
              </a:rPr>
              <a:t>Part I</a:t>
            </a:r>
            <a:endParaRPr lang="en-US" sz="4000" dirty="0"/>
          </a:p>
        </p:txBody>
      </p:sp>
      <p:sp>
        <p:nvSpPr>
          <p:cNvPr id="19" name="Shape 17"/>
          <p:cNvSpPr/>
          <p:nvPr/>
        </p:nvSpPr>
        <p:spPr>
          <a:xfrm>
            <a:off x="6675120" y="4114800"/>
            <a:ext cx="4251960" cy="0"/>
          </a:xfrm>
          <a:prstGeom prst="line">
            <a:avLst/>
          </a:prstGeom>
          <a:noFill/>
          <a:ln w="12700">
            <a:solidFill>
              <a:srgbClr val="3E7E91"/>
            </a:solidFill>
            <a:prstDash val="solid"/>
          </a:ln>
        </p:spPr>
        <p:txBody>
          <a:bodyPr/>
          <a:p/>
        </p:txBody>
      </p:sp>
      <p:sp>
        <p:nvSpPr>
          <p:cNvPr id="20" name="Text 18"/>
          <p:cNvSpPr/>
          <p:nvPr/>
        </p:nvSpPr>
        <p:spPr>
          <a:xfrm>
            <a:off x="6675120" y="4279392"/>
            <a:ext cx="4297680" cy="1554480"/>
          </a:xfrm>
          <a:prstGeom prst="rect">
            <a:avLst/>
          </a:prstGeom>
          <a:noFill/>
          <a:ln/>
        </p:spPr>
        <p:txBody>
          <a:bodyPr wrap="square" lIns="0" tIns="0" rIns="0" bIns="0" rtlCol="0" anchor="ctr"/>
          <a:lstStyle/>
          <a:p>
            <a:pPr indent="0" marL="0">
              <a:lnSpc>
                <a:spcPts val="1750"/>
              </a:lnSpc>
              <a:buNone/>
            </a:pPr>
            <a:r>
              <a:rPr lang="en-US" sz="1250" dirty="0">
                <a:solidFill>
                  <a:srgbClr val="EAF2F4"/>
                </a:solidFill>
                <a:latin typeface="Helvetica Neue" pitchFamily="34" charset="0"/>
                <a:ea typeface="Helvetica Neue" pitchFamily="34" charset="-122"/>
                <a:cs typeface="Helvetica Neue" pitchFamily="34" charset="-120"/>
              </a:rPr>
              <a:t>We build the PufferFish practice board, then start the TriggerFish REV 4 control box — the topside brain that drives the thrusters.</a:t>
            </a:r>
            <a:endParaRPr lang="en-US" sz="1250" dirty="0"/>
          </a:p>
        </p:txBody>
      </p:sp>
      <p:sp>
        <p:nvSpPr>
          <p:cNvPr id="21" name="Shape 19"/>
          <p:cNvSpPr/>
          <p:nvPr/>
        </p:nvSpPr>
        <p:spPr>
          <a:xfrm>
            <a:off x="822960" y="6437376"/>
            <a:ext cx="10545775" cy="0"/>
          </a:xfrm>
          <a:prstGeom prst="line">
            <a:avLst/>
          </a:prstGeom>
          <a:noFill/>
          <a:ln w="9525">
            <a:solidFill>
              <a:srgbClr val="E3E3E6"/>
            </a:solidFill>
            <a:prstDash val="solid"/>
          </a:ln>
        </p:spPr>
        <p:txBody>
          <a:bodyPr/>
          <a:p/>
        </p:txBody>
      </p:sp>
      <p:sp>
        <p:nvSpPr>
          <p:cNvPr id="22" name="Text 20"/>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23" name="Text 21"/>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CLASS 1.4 — ELECTRONICS WORKSHOP   ·   16 / 19</a:t>
            </a:r>
            <a:endParaRPr lang="en-US" sz="7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26">
    <p:bg>
      <p:bgPr>
        <a:solidFill>
          <a:srgbClr val="095D75"/>
        </a:solidFill>
      </p:bgPr>
    </p:bg>
    <p:spTree>
      <p:nvGrpSpPr>
        <p:cNvPr id="1" name=""/>
        <p:cNvGrpSpPr/>
        <p:nvPr/>
      </p:nvGrpSpPr>
      <p:grpSpPr>
        <a:xfrm>
          <a:off x="0" y="0"/>
          <a:ext cx="0" cy="0"/>
          <a:chOff x="0" y="0"/>
          <a:chExt cx="0" cy="0"/>
        </a:xfrm>
      </p:grpSpPr>
      <p:pic>
        <p:nvPicPr>
          <p:cNvPr id="2" name="Image 0" descr="/sessions/focused-friendly-goodall/mnt/SayWatt Website/assets/logo-emblem2.png"/>
          <p:cNvPicPr>
            <a:picLocks noChangeAspect="1"/>
          </p:cNvPicPr>
          <p:nvPr/>
        </p:nvPicPr>
        <p:blipFill>
          <a:blip r:embed="rId1"/>
          <a:stretch>
            <a:fillRect/>
          </a:stretch>
        </p:blipFill>
        <p:spPr>
          <a:xfrm>
            <a:off x="5570068" y="960120"/>
            <a:ext cx="1051560" cy="1051560"/>
          </a:xfrm>
          <a:prstGeom prst="rect">
            <a:avLst/>
          </a:prstGeom>
        </p:spPr>
      </p:pic>
      <p:sp>
        <p:nvSpPr>
          <p:cNvPr id="3" name="Text 0"/>
          <p:cNvSpPr/>
          <p:nvPr/>
        </p:nvSpPr>
        <p:spPr>
          <a:xfrm>
            <a:off x="0" y="2304288"/>
            <a:ext cx="12191695" cy="329184"/>
          </a:xfrm>
          <a:prstGeom prst="rect">
            <a:avLst/>
          </a:prstGeom>
          <a:noFill/>
          <a:ln/>
        </p:spPr>
        <p:txBody>
          <a:bodyPr wrap="square" lIns="0" tIns="0" rIns="0" bIns="0" rtlCol="0" anchor="ctr"/>
          <a:lstStyle/>
          <a:p>
            <a:pPr algn="ctr" indent="0" marL="0">
              <a:buNone/>
            </a:pPr>
            <a:r>
              <a:rPr lang="en-US" sz="1200" b="1" spc="350" kern="0" dirty="0">
                <a:solidFill>
                  <a:srgbClr val="9FCEDA"/>
                </a:solidFill>
                <a:latin typeface="Helvetica Neue" pitchFamily="34" charset="0"/>
                <a:ea typeface="Helvetica Neue" pitchFamily="34" charset="-122"/>
                <a:cs typeface="Helvetica Neue" pitchFamily="34" charset="-120"/>
              </a:rPr>
              <a:t>READ THE CIRCUIT</a:t>
            </a:r>
            <a:endParaRPr lang="en-US" sz="1200" dirty="0"/>
          </a:p>
        </p:txBody>
      </p:sp>
      <p:sp>
        <p:nvSpPr>
          <p:cNvPr id="4" name="Text 1"/>
          <p:cNvSpPr/>
          <p:nvPr/>
        </p:nvSpPr>
        <p:spPr>
          <a:xfrm>
            <a:off x="0" y="2651760"/>
            <a:ext cx="12191695" cy="914400"/>
          </a:xfrm>
          <a:prstGeom prst="rect">
            <a:avLst/>
          </a:prstGeom>
          <a:noFill/>
          <a:ln/>
        </p:spPr>
        <p:txBody>
          <a:bodyPr wrap="square" lIns="0" tIns="0" rIns="0" bIns="0" rtlCol="0" anchor="ctr"/>
          <a:lstStyle/>
          <a:p>
            <a:pPr algn="ctr" indent="0" marL="0">
              <a:buNone/>
            </a:pPr>
            <a:r>
              <a:rPr lang="en-US" sz="4600" b="1" dirty="0">
                <a:solidFill>
                  <a:srgbClr val="FFFFFF"/>
                </a:solidFill>
                <a:latin typeface="Helvetica Neue" pitchFamily="34" charset="0"/>
                <a:ea typeface="Helvetica Neue" pitchFamily="34" charset="-122"/>
                <a:cs typeface="Helvetica Neue" pitchFamily="34" charset="-120"/>
              </a:rPr>
              <a:t>Now they can read it.</a:t>
            </a:r>
            <a:endParaRPr lang="en-US" sz="4600" dirty="0"/>
          </a:p>
        </p:txBody>
      </p:sp>
      <p:sp>
        <p:nvSpPr>
          <p:cNvPr id="5" name="Shape 2"/>
          <p:cNvSpPr/>
          <p:nvPr/>
        </p:nvSpPr>
        <p:spPr>
          <a:xfrm>
            <a:off x="5455768" y="3703320"/>
            <a:ext cx="1280160" cy="0"/>
          </a:xfrm>
          <a:prstGeom prst="line">
            <a:avLst/>
          </a:prstGeom>
          <a:noFill/>
          <a:ln w="12700">
            <a:solidFill>
              <a:srgbClr val="3E7E91"/>
            </a:solidFill>
            <a:prstDash val="solid"/>
          </a:ln>
        </p:spPr>
        <p:txBody>
          <a:bodyPr/>
          <a:p/>
        </p:txBody>
      </p:sp>
      <p:sp>
        <p:nvSpPr>
          <p:cNvPr id="6" name="Text 3"/>
          <p:cNvSpPr/>
          <p:nvPr/>
        </p:nvSpPr>
        <p:spPr>
          <a:xfrm>
            <a:off x="1371600" y="3950208"/>
            <a:ext cx="9448495" cy="914400"/>
          </a:xfrm>
          <a:prstGeom prst="rect">
            <a:avLst/>
          </a:prstGeom>
          <a:noFill/>
          <a:ln/>
        </p:spPr>
        <p:txBody>
          <a:bodyPr wrap="square" lIns="0" tIns="0" rIns="0" bIns="0" rtlCol="0" anchor="ctr"/>
          <a:lstStyle/>
          <a:p>
            <a:pPr algn="ctr" indent="0" marL="0">
              <a:lnSpc>
                <a:spcPts val="2200"/>
              </a:lnSpc>
              <a:buNone/>
            </a:pPr>
            <a:r>
              <a:rPr lang="en-US" sz="1500" i="1" dirty="0">
                <a:solidFill>
                  <a:srgbClr val="C9E3EA"/>
                </a:solidFill>
                <a:latin typeface="Helvetica Neue" pitchFamily="34" charset="0"/>
                <a:ea typeface="Helvetica Neue" pitchFamily="34" charset="-122"/>
                <a:cs typeface="Helvetica Neue" pitchFamily="34" charset="-120"/>
              </a:rPr>
              <a:t>Every kid can measure a circuit, read the symbols, and build a working one. The language of electronics is theirs.</a:t>
            </a:r>
            <a:endParaRPr lang="en-US" sz="1500" dirty="0"/>
          </a:p>
          <a:p>
            <a:pPr algn="ctr" indent="0" marL="0">
              <a:lnSpc>
                <a:spcPts val="2200"/>
              </a:lnSpc>
              <a:buNone/>
            </a:pPr>
            <a:r>
              <a:rPr lang="en-US" sz="1500" i="1" dirty="0">
                <a:solidFill>
                  <a:srgbClr val="C9E3EA"/>
                </a:solidFill>
                <a:latin typeface="Helvetica Neue" pitchFamily="34" charset="0"/>
                <a:ea typeface="Helvetica Neue" pitchFamily="34" charset="-122"/>
                <a:cs typeface="Helvetica Neue" pitchFamily="34" charset="-120"/>
              </a:rPr>
              <a:t>Next, the control box.</a:t>
            </a:r>
            <a:endParaRPr lang="en-US" sz="1500" dirty="0"/>
          </a:p>
        </p:txBody>
      </p:sp>
      <p:sp>
        <p:nvSpPr>
          <p:cNvPr id="7" name="Text 4"/>
          <p:cNvSpPr/>
          <p:nvPr/>
        </p:nvSpPr>
        <p:spPr>
          <a:xfrm>
            <a:off x="0" y="5897880"/>
            <a:ext cx="12191695" cy="310896"/>
          </a:xfrm>
          <a:prstGeom prst="rect">
            <a:avLst/>
          </a:prstGeom>
          <a:noFill/>
          <a:ln/>
        </p:spPr>
        <p:txBody>
          <a:bodyPr wrap="square" lIns="0" tIns="0" rIns="0" bIns="0" rtlCol="0" anchor="ctr"/>
          <a:lstStyle/>
          <a:p>
            <a:pPr algn="ctr" indent="0" marL="0">
              <a:buNone/>
            </a:pPr>
            <a:r>
              <a:rPr lang="en-US" sz="900" spc="200" kern="0" dirty="0">
                <a:solidFill>
                  <a:srgbClr val="6BA0AF"/>
                </a:solidFill>
                <a:latin typeface="Helvetica Neue" pitchFamily="34" charset="0"/>
                <a:ea typeface="Helvetica Neue" pitchFamily="34" charset="-122"/>
                <a:cs typeface="Helvetica Neue" pitchFamily="34" charset="-120"/>
              </a:rPr>
              <a:t>SAY WATT ROBOTICS  ·  ROV TEAM      |      NEXT LESSON — CLASS 1.5, CONTROL BOX I</a:t>
            </a:r>
            <a:endParaRPr lang="en-US" sz="9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530352"/>
            <a:ext cx="10515600" cy="292608"/>
          </a:xfrm>
          <a:prstGeom prst="rect">
            <a:avLst/>
          </a:prstGeom>
          <a:noFill/>
        </p:spPr>
        <p:txBody>
          <a:bodyPr wrap="square" lIns="0" rIns="0" tIns="0" bIns="0" anchor="t">
            <a:spAutoFit/>
          </a:bodyPr>
          <a:lstStyle/>
          <a:p>
            <a:pPr algn="l"/>
            <a:r>
              <a:rPr sz="1200" b="1" i="0" cap="all" spc="180">
                <a:solidFill>
                  <a:srgbClr val="0D7490"/>
                </a:solidFill>
                <a:latin typeface="Helvetica Neue"/>
              </a:rPr>
              <a:t>TODAY'S ROLES</a:t>
            </a:r>
          </a:p>
        </p:txBody>
      </p:sp>
      <p:sp>
        <p:nvSpPr>
          <p:cNvPr id="3" name="TextBox 2"/>
          <p:cNvSpPr txBox="1"/>
          <p:nvPr/>
        </p:nvSpPr>
        <p:spPr>
          <a:xfrm>
            <a:off x="804672" y="822960"/>
            <a:ext cx="10515600" cy="868680"/>
          </a:xfrm>
          <a:prstGeom prst="rect">
            <a:avLst/>
          </a:prstGeom>
          <a:noFill/>
        </p:spPr>
        <p:txBody>
          <a:bodyPr wrap="square" lIns="0" rIns="0" tIns="0" bIns="0" anchor="t">
            <a:spAutoFit/>
          </a:bodyPr>
          <a:lstStyle/>
          <a:p>
            <a:pPr algn="l">
              <a:lnSpc>
                <a:spcPct val="105000"/>
              </a:lnSpc>
            </a:pPr>
            <a:r>
              <a:rPr sz="3000" b="1" i="0">
                <a:solidFill>
                  <a:srgbClr val="1D1D1F"/>
                </a:solidFill>
                <a:latin typeface="Helvetica Neue"/>
              </a:rPr>
              <a:t>Four jobs. Four students. Different every week.</a:t>
            </a:r>
          </a:p>
        </p:txBody>
      </p:sp>
      <p:sp>
        <p:nvSpPr>
          <p:cNvPr id="4" name="TextBox 3"/>
          <p:cNvSpPr txBox="1"/>
          <p:nvPr/>
        </p:nvSpPr>
        <p:spPr>
          <a:xfrm>
            <a:off x="822960" y="1700784"/>
            <a:ext cx="10515600" cy="457200"/>
          </a:xfrm>
          <a:prstGeom prst="rect">
            <a:avLst/>
          </a:prstGeom>
          <a:noFill/>
        </p:spPr>
        <p:txBody>
          <a:bodyPr wrap="square" lIns="0" rIns="0" tIns="0" bIns="0" anchor="t">
            <a:spAutoFit/>
          </a:bodyPr>
          <a:lstStyle/>
          <a:p>
            <a:pPr algn="l"/>
            <a:r>
              <a:rPr sz="1400" b="0" i="1">
                <a:solidFill>
                  <a:srgbClr val="6E6E73"/>
                </a:solidFill>
                <a:latin typeface="Helvetica Neue"/>
              </a:rPr>
              <a:t>Every meeting we assign these four — by season's end, every student has done every job.</a:t>
            </a:r>
          </a:p>
        </p:txBody>
      </p:sp>
      <p:sp>
        <p:nvSpPr>
          <p:cNvPr id="5" name="Rectangle 4"/>
          <p:cNvSpPr/>
          <p:nvPr/>
        </p:nvSpPr>
        <p:spPr>
          <a:xfrm>
            <a:off x="822960" y="2331720"/>
            <a:ext cx="5074920" cy="1783080"/>
          </a:xfrm>
          <a:prstGeom prst="rect">
            <a:avLst/>
          </a:prstGeom>
          <a:solidFill>
            <a:srgbClr val="FBFBFD"/>
          </a:solidFill>
          <a:ln w="9525">
            <a:solidFill>
              <a:srgbClr val="E3E3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 y="2606039"/>
            <a:ext cx="4434840" cy="329184"/>
          </a:xfrm>
          <a:prstGeom prst="rect">
            <a:avLst/>
          </a:prstGeom>
          <a:noFill/>
        </p:spPr>
        <p:txBody>
          <a:bodyPr wrap="square" lIns="0" rIns="0" tIns="0" bIns="0" anchor="t">
            <a:spAutoFit/>
          </a:bodyPr>
          <a:lstStyle/>
          <a:p>
            <a:pPr algn="l"/>
            <a:r>
              <a:rPr sz="1000" b="1" i="0" cap="all" spc="180">
                <a:solidFill>
                  <a:srgbClr val="0D7490"/>
                </a:solidFill>
                <a:latin typeface="Helvetica Neue"/>
              </a:rPr>
              <a:t>NOTETAKER / SCRIBE</a:t>
            </a:r>
          </a:p>
        </p:txBody>
      </p:sp>
      <p:sp>
        <p:nvSpPr>
          <p:cNvPr id="7" name="TextBox 6"/>
          <p:cNvSpPr txBox="1"/>
          <p:nvPr/>
        </p:nvSpPr>
        <p:spPr>
          <a:xfrm>
            <a:off x="1143000" y="3008376"/>
            <a:ext cx="4434840" cy="329184"/>
          </a:xfrm>
          <a:prstGeom prst="rect">
            <a:avLst/>
          </a:prstGeom>
          <a:noFill/>
        </p:spPr>
        <p:txBody>
          <a:bodyPr wrap="square" lIns="0" rIns="0" tIns="0" bIns="0" anchor="t">
            <a:spAutoFit/>
          </a:bodyPr>
          <a:lstStyle/>
          <a:p>
            <a:pPr algn="l"/>
            <a:r>
              <a:rPr sz="1100" b="0" i="0" spc="40">
                <a:solidFill>
                  <a:srgbClr val="86868B"/>
                </a:solidFill>
                <a:latin typeface="Helvetica Neue"/>
              </a:rPr>
              <a:t>TODAY:  __________________________________</a:t>
            </a:r>
          </a:p>
        </p:txBody>
      </p:sp>
      <p:sp>
        <p:nvSpPr>
          <p:cNvPr id="8" name="TextBox 7"/>
          <p:cNvSpPr txBox="1"/>
          <p:nvPr/>
        </p:nvSpPr>
        <p:spPr>
          <a:xfrm>
            <a:off x="1143000" y="3410711"/>
            <a:ext cx="4434840" cy="594359"/>
          </a:xfrm>
          <a:prstGeom prst="rect">
            <a:avLst/>
          </a:prstGeom>
          <a:noFill/>
        </p:spPr>
        <p:txBody>
          <a:bodyPr wrap="square" lIns="0" rIns="0" tIns="0" bIns="0" anchor="t">
            <a:spAutoFit/>
          </a:bodyPr>
          <a:lstStyle/>
          <a:p>
            <a:pPr algn="l"/>
            <a:r>
              <a:rPr sz="1150" b="0" i="0">
                <a:solidFill>
                  <a:srgbClr val="6E6E73"/>
                </a:solidFill>
                <a:latin typeface="Helvetica Neue"/>
              </a:rPr>
              <a:t>Captures every decision, action item, and blocker. Files notes with the CFO for the engineering notebook.</a:t>
            </a:r>
          </a:p>
        </p:txBody>
      </p:sp>
      <p:sp>
        <p:nvSpPr>
          <p:cNvPr id="9" name="Rectangle 8"/>
          <p:cNvSpPr/>
          <p:nvPr/>
        </p:nvSpPr>
        <p:spPr>
          <a:xfrm>
            <a:off x="6126480" y="2331720"/>
            <a:ext cx="5074920" cy="1783080"/>
          </a:xfrm>
          <a:prstGeom prst="rect">
            <a:avLst/>
          </a:prstGeom>
          <a:solidFill>
            <a:srgbClr val="FBFBFD"/>
          </a:solidFill>
          <a:ln w="9525">
            <a:solidFill>
              <a:srgbClr val="E3E3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2606039"/>
            <a:ext cx="4434840" cy="329184"/>
          </a:xfrm>
          <a:prstGeom prst="rect">
            <a:avLst/>
          </a:prstGeom>
          <a:noFill/>
        </p:spPr>
        <p:txBody>
          <a:bodyPr wrap="square" lIns="0" rIns="0" tIns="0" bIns="0" anchor="t">
            <a:spAutoFit/>
          </a:bodyPr>
          <a:lstStyle/>
          <a:p>
            <a:pPr algn="l"/>
            <a:r>
              <a:rPr sz="1000" b="1" i="0" cap="all" spc="180">
                <a:solidFill>
                  <a:srgbClr val="0D7490"/>
                </a:solidFill>
                <a:latin typeface="Helvetica Neue"/>
              </a:rPr>
              <a:t>SAFETY BRIEFER</a:t>
            </a:r>
          </a:p>
        </p:txBody>
      </p:sp>
      <p:sp>
        <p:nvSpPr>
          <p:cNvPr id="11" name="TextBox 10"/>
          <p:cNvSpPr txBox="1"/>
          <p:nvPr/>
        </p:nvSpPr>
        <p:spPr>
          <a:xfrm>
            <a:off x="6446520" y="3008376"/>
            <a:ext cx="4434840" cy="329184"/>
          </a:xfrm>
          <a:prstGeom prst="rect">
            <a:avLst/>
          </a:prstGeom>
          <a:noFill/>
        </p:spPr>
        <p:txBody>
          <a:bodyPr wrap="square" lIns="0" rIns="0" tIns="0" bIns="0" anchor="t">
            <a:spAutoFit/>
          </a:bodyPr>
          <a:lstStyle/>
          <a:p>
            <a:pPr algn="l"/>
            <a:r>
              <a:rPr sz="1100" b="0" i="0" spc="40">
                <a:solidFill>
                  <a:srgbClr val="86868B"/>
                </a:solidFill>
                <a:latin typeface="Helvetica Neue"/>
              </a:rPr>
              <a:t>TODAY:  __________________________________</a:t>
            </a:r>
          </a:p>
        </p:txBody>
      </p:sp>
      <p:sp>
        <p:nvSpPr>
          <p:cNvPr id="12" name="TextBox 11"/>
          <p:cNvSpPr txBox="1"/>
          <p:nvPr/>
        </p:nvSpPr>
        <p:spPr>
          <a:xfrm>
            <a:off x="6446520" y="3410711"/>
            <a:ext cx="4434840" cy="594359"/>
          </a:xfrm>
          <a:prstGeom prst="rect">
            <a:avLst/>
          </a:prstGeom>
          <a:noFill/>
        </p:spPr>
        <p:txBody>
          <a:bodyPr wrap="square" lIns="0" rIns="0" tIns="0" bIns="0" anchor="t">
            <a:spAutoFit/>
          </a:bodyPr>
          <a:lstStyle/>
          <a:p>
            <a:pPr algn="l"/>
            <a:r>
              <a:rPr sz="1150" b="0" i="0">
                <a:solidFill>
                  <a:srgbClr val="6E6E73"/>
                </a:solidFill>
                <a:latin typeface="Helvetica Neue"/>
              </a:rPr>
              <a:t>Delivers the standing four-question safety brief at the start of the meeting.</a:t>
            </a:r>
          </a:p>
        </p:txBody>
      </p:sp>
      <p:sp>
        <p:nvSpPr>
          <p:cNvPr id="13" name="Rectangle 12"/>
          <p:cNvSpPr/>
          <p:nvPr/>
        </p:nvSpPr>
        <p:spPr>
          <a:xfrm>
            <a:off x="822960" y="4315968"/>
            <a:ext cx="5074920" cy="1783080"/>
          </a:xfrm>
          <a:prstGeom prst="rect">
            <a:avLst/>
          </a:prstGeom>
          <a:solidFill>
            <a:srgbClr val="FBFBFD"/>
          </a:solidFill>
          <a:ln w="9525">
            <a:solidFill>
              <a:srgbClr val="E3E3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43000" y="4590288"/>
            <a:ext cx="4434840" cy="329184"/>
          </a:xfrm>
          <a:prstGeom prst="rect">
            <a:avLst/>
          </a:prstGeom>
          <a:noFill/>
        </p:spPr>
        <p:txBody>
          <a:bodyPr wrap="square" lIns="0" rIns="0" tIns="0" bIns="0" anchor="t">
            <a:spAutoFit/>
          </a:bodyPr>
          <a:lstStyle/>
          <a:p>
            <a:pPr algn="l"/>
            <a:r>
              <a:rPr sz="1000" b="1" i="0" cap="all" spc="180">
                <a:solidFill>
                  <a:srgbClr val="0D7490"/>
                </a:solidFill>
                <a:latin typeface="Helvetica Neue"/>
              </a:rPr>
              <a:t>PHOTOGRAPHER</a:t>
            </a:r>
          </a:p>
        </p:txBody>
      </p:sp>
      <p:sp>
        <p:nvSpPr>
          <p:cNvPr id="15" name="TextBox 14"/>
          <p:cNvSpPr txBox="1"/>
          <p:nvPr/>
        </p:nvSpPr>
        <p:spPr>
          <a:xfrm>
            <a:off x="1143000" y="4992624"/>
            <a:ext cx="4434840" cy="329184"/>
          </a:xfrm>
          <a:prstGeom prst="rect">
            <a:avLst/>
          </a:prstGeom>
          <a:noFill/>
        </p:spPr>
        <p:txBody>
          <a:bodyPr wrap="square" lIns="0" rIns="0" tIns="0" bIns="0" anchor="t">
            <a:spAutoFit/>
          </a:bodyPr>
          <a:lstStyle/>
          <a:p>
            <a:pPr algn="l"/>
            <a:r>
              <a:rPr sz="1100" b="0" i="0" spc="40">
                <a:solidFill>
                  <a:srgbClr val="86868B"/>
                </a:solidFill>
                <a:latin typeface="Helvetica Neue"/>
              </a:rPr>
              <a:t>TODAY:  __________________________________</a:t>
            </a:r>
          </a:p>
        </p:txBody>
      </p:sp>
      <p:sp>
        <p:nvSpPr>
          <p:cNvPr id="16" name="TextBox 15"/>
          <p:cNvSpPr txBox="1"/>
          <p:nvPr/>
        </p:nvSpPr>
        <p:spPr>
          <a:xfrm>
            <a:off x="1143000" y="5394959"/>
            <a:ext cx="4434840" cy="594359"/>
          </a:xfrm>
          <a:prstGeom prst="rect">
            <a:avLst/>
          </a:prstGeom>
          <a:noFill/>
        </p:spPr>
        <p:txBody>
          <a:bodyPr wrap="square" lIns="0" rIns="0" tIns="0" bIns="0" anchor="t">
            <a:spAutoFit/>
          </a:bodyPr>
          <a:lstStyle/>
          <a:p>
            <a:pPr algn="l"/>
            <a:r>
              <a:rPr sz="1150" b="0" i="0">
                <a:solidFill>
                  <a:srgbClr val="6E6E73"/>
                </a:solidFill>
                <a:latin typeface="Helvetica Neue"/>
              </a:rPr>
              <a:t>Captures photos and short videos throughout — feeds the engineering notebook and the marketing display.</a:t>
            </a:r>
          </a:p>
        </p:txBody>
      </p:sp>
      <p:sp>
        <p:nvSpPr>
          <p:cNvPr id="17" name="Rectangle 16"/>
          <p:cNvSpPr/>
          <p:nvPr/>
        </p:nvSpPr>
        <p:spPr>
          <a:xfrm>
            <a:off x="6126480" y="4315968"/>
            <a:ext cx="5074920" cy="1783080"/>
          </a:xfrm>
          <a:prstGeom prst="rect">
            <a:avLst/>
          </a:prstGeom>
          <a:solidFill>
            <a:srgbClr val="FBFBFD"/>
          </a:solidFill>
          <a:ln w="9525">
            <a:solidFill>
              <a:srgbClr val="E3E3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4590288"/>
            <a:ext cx="4434840" cy="329184"/>
          </a:xfrm>
          <a:prstGeom prst="rect">
            <a:avLst/>
          </a:prstGeom>
          <a:noFill/>
        </p:spPr>
        <p:txBody>
          <a:bodyPr wrap="square" lIns="0" rIns="0" tIns="0" bIns="0" anchor="t">
            <a:spAutoFit/>
          </a:bodyPr>
          <a:lstStyle/>
          <a:p>
            <a:pPr algn="l"/>
            <a:r>
              <a:rPr sz="1000" b="1" i="0" cap="all" spc="180">
                <a:solidFill>
                  <a:srgbClr val="0D7490"/>
                </a:solidFill>
                <a:latin typeface="Helvetica Neue"/>
              </a:rPr>
              <a:t>TIMEKEEPER</a:t>
            </a:r>
          </a:p>
        </p:txBody>
      </p:sp>
      <p:sp>
        <p:nvSpPr>
          <p:cNvPr id="19" name="TextBox 18"/>
          <p:cNvSpPr txBox="1"/>
          <p:nvPr/>
        </p:nvSpPr>
        <p:spPr>
          <a:xfrm>
            <a:off x="6446520" y="4992624"/>
            <a:ext cx="4434840" cy="329184"/>
          </a:xfrm>
          <a:prstGeom prst="rect">
            <a:avLst/>
          </a:prstGeom>
          <a:noFill/>
        </p:spPr>
        <p:txBody>
          <a:bodyPr wrap="square" lIns="0" rIns="0" tIns="0" bIns="0" anchor="t">
            <a:spAutoFit/>
          </a:bodyPr>
          <a:lstStyle/>
          <a:p>
            <a:pPr algn="l"/>
            <a:r>
              <a:rPr sz="1100" b="0" i="0" spc="40">
                <a:solidFill>
                  <a:srgbClr val="86868B"/>
                </a:solidFill>
                <a:latin typeface="Helvetica Neue"/>
              </a:rPr>
              <a:t>TODAY:  __________________________________</a:t>
            </a:r>
          </a:p>
        </p:txBody>
      </p:sp>
      <p:sp>
        <p:nvSpPr>
          <p:cNvPr id="20" name="TextBox 19"/>
          <p:cNvSpPr txBox="1"/>
          <p:nvPr/>
        </p:nvSpPr>
        <p:spPr>
          <a:xfrm>
            <a:off x="6446520" y="5394959"/>
            <a:ext cx="4434840" cy="594359"/>
          </a:xfrm>
          <a:prstGeom prst="rect">
            <a:avLst/>
          </a:prstGeom>
          <a:noFill/>
        </p:spPr>
        <p:txBody>
          <a:bodyPr wrap="square" lIns="0" rIns="0" tIns="0" bIns="0" anchor="t">
            <a:spAutoFit/>
          </a:bodyPr>
          <a:lstStyle/>
          <a:p>
            <a:pPr algn="l"/>
            <a:r>
              <a:rPr sz="1150" b="0" i="0">
                <a:solidFill>
                  <a:srgbClr val="6E6E73"/>
                </a:solidFill>
                <a:latin typeface="Helvetica Neue"/>
              </a:rPr>
              <a:t>Holds the meeting to the agenda's clock. Calls the time at each block change.</a:t>
            </a:r>
          </a:p>
        </p:txBody>
      </p:sp>
      <p:cxnSp>
        <p:nvCxnSpPr>
          <p:cNvPr id="21" name="Connector 20"/>
          <p:cNvCxnSpPr/>
          <p:nvPr/>
        </p:nvCxnSpPr>
        <p:spPr>
          <a:xfrm>
            <a:off x="822960" y="6437376"/>
            <a:ext cx="10543032" cy="0"/>
          </a:xfrm>
          <a:prstGeom prst="line">
            <a:avLst/>
          </a:prstGeom>
          <a:ln w="9525">
            <a:solidFill>
              <a:srgbClr val="E3E3E6"/>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22960" y="6473952"/>
            <a:ext cx="5486400" cy="274320"/>
          </a:xfrm>
          <a:prstGeom prst="rect">
            <a:avLst/>
          </a:prstGeom>
          <a:noFill/>
        </p:spPr>
        <p:txBody>
          <a:bodyPr wrap="square" lIns="0" rIns="0" tIns="0" bIns="0" anchor="t">
            <a:spAutoFit/>
          </a:bodyPr>
          <a:lstStyle/>
          <a:p>
            <a:pPr algn="l"/>
            <a:r>
              <a:rPr sz="750" b="1" i="0" cap="all" spc="180">
                <a:solidFill>
                  <a:srgbClr val="86868B"/>
                </a:solidFill>
                <a:latin typeface="Helvetica Neue"/>
              </a:rPr>
              <a:t>SAY WATT ROBOTICS  ·  ROV TEAM</a:t>
            </a:r>
          </a:p>
        </p:txBody>
      </p:sp>
      <p:sp>
        <p:nvSpPr>
          <p:cNvPr id="23" name="TextBox 22"/>
          <p:cNvSpPr txBox="1"/>
          <p:nvPr/>
        </p:nvSpPr>
        <p:spPr>
          <a:xfrm>
            <a:off x="5879592" y="6473952"/>
            <a:ext cx="5486400" cy="274320"/>
          </a:xfrm>
          <a:prstGeom prst="rect">
            <a:avLst/>
          </a:prstGeom>
          <a:noFill/>
        </p:spPr>
        <p:txBody>
          <a:bodyPr wrap="square" lIns="0" rIns="0" tIns="0" bIns="0" anchor="t">
            <a:spAutoFit/>
          </a:bodyPr>
          <a:lstStyle/>
          <a:p>
            <a:pPr algn="r"/>
            <a:r>
              <a:rPr sz="750" b="1" i="0" cap="all" spc="180">
                <a:solidFill>
                  <a:srgbClr val="86868B"/>
                </a:solidFill>
                <a:latin typeface="Helvetica Neue"/>
              </a:rPr>
              <a:t>WEEK 4 — ELECTRONICS WORKSHOP   ·   3 / 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530352"/>
            <a:ext cx="10515600" cy="292608"/>
          </a:xfrm>
          <a:prstGeom prst="rect">
            <a:avLst/>
          </a:prstGeom>
          <a:noFill/>
        </p:spPr>
        <p:txBody>
          <a:bodyPr wrap="square" lIns="0" rIns="0" tIns="0" bIns="0" anchor="t">
            <a:spAutoFit/>
          </a:bodyPr>
          <a:lstStyle/>
          <a:p>
            <a:pPr algn="l"/>
            <a:r>
              <a:rPr sz="1200" b="1" i="0" cap="all" spc="180">
                <a:solidFill>
                  <a:srgbClr val="0D7490"/>
                </a:solidFill>
                <a:latin typeface="Helvetica Neue"/>
              </a:rPr>
              <a:t>ACTION ITEMS</a:t>
            </a:r>
          </a:p>
        </p:txBody>
      </p:sp>
      <p:sp>
        <p:nvSpPr>
          <p:cNvPr id="3" name="TextBox 2"/>
          <p:cNvSpPr txBox="1"/>
          <p:nvPr/>
        </p:nvSpPr>
        <p:spPr>
          <a:xfrm>
            <a:off x="804672" y="822960"/>
            <a:ext cx="10515600" cy="868680"/>
          </a:xfrm>
          <a:prstGeom prst="rect">
            <a:avLst/>
          </a:prstGeom>
          <a:noFill/>
        </p:spPr>
        <p:txBody>
          <a:bodyPr wrap="square" lIns="0" rIns="0" tIns="0" bIns="0" anchor="t">
            <a:spAutoFit/>
          </a:bodyPr>
          <a:lstStyle/>
          <a:p>
            <a:pPr algn="l">
              <a:lnSpc>
                <a:spcPct val="105000"/>
              </a:lnSpc>
            </a:pPr>
            <a:r>
              <a:rPr sz="3000" b="1" i="0">
                <a:solidFill>
                  <a:srgbClr val="1D1D1F"/>
                </a:solidFill>
                <a:latin typeface="Helvetica Neue"/>
              </a:rPr>
              <a:t>What we decided. Who owns it. When it's due.</a:t>
            </a:r>
          </a:p>
        </p:txBody>
      </p:sp>
      <p:sp>
        <p:nvSpPr>
          <p:cNvPr id="4" name="TextBox 3"/>
          <p:cNvSpPr txBox="1"/>
          <p:nvPr/>
        </p:nvSpPr>
        <p:spPr>
          <a:xfrm>
            <a:off x="822960" y="1700784"/>
            <a:ext cx="10515600" cy="457200"/>
          </a:xfrm>
          <a:prstGeom prst="rect">
            <a:avLst/>
          </a:prstGeom>
          <a:noFill/>
        </p:spPr>
        <p:txBody>
          <a:bodyPr wrap="square" lIns="0" rIns="0" tIns="0" bIns="0" anchor="t">
            <a:spAutoFit/>
          </a:bodyPr>
          <a:lstStyle/>
          <a:p>
            <a:pPr algn="l"/>
            <a:r>
              <a:rPr sz="1400" b="0" i="1">
                <a:solidFill>
                  <a:srgbClr val="6E6E73"/>
                </a:solidFill>
                <a:latin typeface="Helvetica Neue"/>
              </a:rPr>
              <a:t>The Notetaker fills these in during the meeting and reads them back before we leave.</a:t>
            </a:r>
          </a:p>
        </p:txBody>
      </p:sp>
      <p:sp>
        <p:nvSpPr>
          <p:cNvPr id="5" name="Rectangle 4"/>
          <p:cNvSpPr/>
          <p:nvPr/>
        </p:nvSpPr>
        <p:spPr>
          <a:xfrm>
            <a:off x="822960" y="2423160"/>
            <a:ext cx="10543032" cy="384048"/>
          </a:xfrm>
          <a:prstGeom prst="rect">
            <a:avLst/>
          </a:prstGeom>
          <a:solidFill>
            <a:srgbClr val="0D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24128" y="2459736"/>
            <a:ext cx="5486400" cy="310896"/>
          </a:xfrm>
          <a:prstGeom prst="rect">
            <a:avLst/>
          </a:prstGeom>
          <a:noFill/>
        </p:spPr>
        <p:txBody>
          <a:bodyPr wrap="square" lIns="0" rIns="0" tIns="0" bIns="0" anchor="t">
            <a:spAutoFit/>
          </a:bodyPr>
          <a:lstStyle/>
          <a:p>
            <a:pPr algn="l"/>
            <a:r>
              <a:rPr sz="1000" b="1" i="0" cap="all" spc="180">
                <a:solidFill>
                  <a:srgbClr val="FFFFFF"/>
                </a:solidFill>
                <a:latin typeface="Helvetica Neue"/>
              </a:rPr>
              <a:t>ITEM</a:t>
            </a:r>
          </a:p>
        </p:txBody>
      </p:sp>
      <p:sp>
        <p:nvSpPr>
          <p:cNvPr id="7" name="TextBox 6"/>
          <p:cNvSpPr txBox="1"/>
          <p:nvPr/>
        </p:nvSpPr>
        <p:spPr>
          <a:xfrm>
            <a:off x="6784848" y="2459736"/>
            <a:ext cx="2011680" cy="310896"/>
          </a:xfrm>
          <a:prstGeom prst="rect">
            <a:avLst/>
          </a:prstGeom>
          <a:noFill/>
        </p:spPr>
        <p:txBody>
          <a:bodyPr wrap="square" lIns="0" rIns="0" tIns="0" bIns="0" anchor="t">
            <a:spAutoFit/>
          </a:bodyPr>
          <a:lstStyle/>
          <a:p>
            <a:pPr algn="l"/>
            <a:r>
              <a:rPr sz="1000" b="1" i="0" cap="all" spc="180">
                <a:solidFill>
                  <a:srgbClr val="FFFFFF"/>
                </a:solidFill>
                <a:latin typeface="Helvetica Neue"/>
              </a:rPr>
              <a:t>OWNER</a:t>
            </a:r>
          </a:p>
        </p:txBody>
      </p:sp>
      <p:sp>
        <p:nvSpPr>
          <p:cNvPr id="8" name="TextBox 7"/>
          <p:cNvSpPr txBox="1"/>
          <p:nvPr/>
        </p:nvSpPr>
        <p:spPr>
          <a:xfrm>
            <a:off x="9070848" y="2459736"/>
            <a:ext cx="2221992" cy="310896"/>
          </a:xfrm>
          <a:prstGeom prst="rect">
            <a:avLst/>
          </a:prstGeom>
          <a:noFill/>
        </p:spPr>
        <p:txBody>
          <a:bodyPr wrap="square" lIns="0" rIns="0" tIns="0" bIns="0" anchor="t">
            <a:spAutoFit/>
          </a:bodyPr>
          <a:lstStyle/>
          <a:p>
            <a:pPr algn="l"/>
            <a:r>
              <a:rPr sz="1000" b="1" i="0" cap="all" spc="180">
                <a:solidFill>
                  <a:srgbClr val="FFFFFF"/>
                </a:solidFill>
                <a:latin typeface="Helvetica Neue"/>
              </a:rPr>
              <a:t>DUE</a:t>
            </a:r>
          </a:p>
        </p:txBody>
      </p:sp>
      <p:cxnSp>
        <p:nvCxnSpPr>
          <p:cNvPr id="9" name="Connector 8"/>
          <p:cNvCxnSpPr/>
          <p:nvPr/>
        </p:nvCxnSpPr>
        <p:spPr>
          <a:xfrm>
            <a:off x="822960" y="3374136"/>
            <a:ext cx="10543032" cy="0"/>
          </a:xfrm>
          <a:prstGeom prst="line">
            <a:avLst/>
          </a:prstGeom>
          <a:ln w="6350">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583680" y="2807208"/>
            <a:ext cx="0" cy="566928"/>
          </a:xfrm>
          <a:prstGeom prst="line">
            <a:avLst/>
          </a:prstGeom>
          <a:ln w="6350">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869680" y="2807208"/>
            <a:ext cx="0" cy="566928"/>
          </a:xfrm>
          <a:prstGeom prst="line">
            <a:avLst/>
          </a:prstGeom>
          <a:ln w="6350">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024128" y="3209544"/>
            <a:ext cx="5358384" cy="0"/>
          </a:xfrm>
          <a:prstGeom prst="line">
            <a:avLst/>
          </a:prstGeom>
          <a:ln w="4445">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784848" y="3209544"/>
            <a:ext cx="1883664" cy="0"/>
          </a:xfrm>
          <a:prstGeom prst="line">
            <a:avLst/>
          </a:prstGeom>
          <a:ln w="4445">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070848" y="3209544"/>
            <a:ext cx="2093976" cy="0"/>
          </a:xfrm>
          <a:prstGeom prst="line">
            <a:avLst/>
          </a:prstGeom>
          <a:ln w="4445">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22960" y="3941063"/>
            <a:ext cx="10543032" cy="0"/>
          </a:xfrm>
          <a:prstGeom prst="line">
            <a:avLst/>
          </a:prstGeom>
          <a:ln w="6350">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374136"/>
            <a:ext cx="0" cy="566927"/>
          </a:xfrm>
          <a:prstGeom prst="line">
            <a:avLst/>
          </a:prstGeom>
          <a:ln w="6350">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869680" y="3374136"/>
            <a:ext cx="0" cy="566927"/>
          </a:xfrm>
          <a:prstGeom prst="line">
            <a:avLst/>
          </a:prstGeom>
          <a:ln w="6350">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24128" y="3776472"/>
            <a:ext cx="5358384" cy="0"/>
          </a:xfrm>
          <a:prstGeom prst="line">
            <a:avLst/>
          </a:prstGeom>
          <a:ln w="4445">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784848" y="3776472"/>
            <a:ext cx="1883664" cy="0"/>
          </a:xfrm>
          <a:prstGeom prst="line">
            <a:avLst/>
          </a:prstGeom>
          <a:ln w="4445">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070848" y="3776472"/>
            <a:ext cx="2093976" cy="0"/>
          </a:xfrm>
          <a:prstGeom prst="line">
            <a:avLst/>
          </a:prstGeom>
          <a:ln w="4445">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22960" y="4507992"/>
            <a:ext cx="10543032" cy="0"/>
          </a:xfrm>
          <a:prstGeom prst="line">
            <a:avLst/>
          </a:prstGeom>
          <a:ln w="6350">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583680" y="3941063"/>
            <a:ext cx="0" cy="566929"/>
          </a:xfrm>
          <a:prstGeom prst="line">
            <a:avLst/>
          </a:prstGeom>
          <a:ln w="6350">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869680" y="3941063"/>
            <a:ext cx="0" cy="566929"/>
          </a:xfrm>
          <a:prstGeom prst="line">
            <a:avLst/>
          </a:prstGeom>
          <a:ln w="6350">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24128" y="4343400"/>
            <a:ext cx="5358384" cy="0"/>
          </a:xfrm>
          <a:prstGeom prst="line">
            <a:avLst/>
          </a:prstGeom>
          <a:ln w="4445">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784848" y="4343400"/>
            <a:ext cx="1883664" cy="0"/>
          </a:xfrm>
          <a:prstGeom prst="line">
            <a:avLst/>
          </a:prstGeom>
          <a:ln w="4445">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070848" y="4343400"/>
            <a:ext cx="2093976" cy="0"/>
          </a:xfrm>
          <a:prstGeom prst="line">
            <a:avLst/>
          </a:prstGeom>
          <a:ln w="4445">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22960" y="5074920"/>
            <a:ext cx="10543032" cy="0"/>
          </a:xfrm>
          <a:prstGeom prst="line">
            <a:avLst/>
          </a:prstGeom>
          <a:ln w="6350">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583680" y="4507992"/>
            <a:ext cx="0" cy="566928"/>
          </a:xfrm>
          <a:prstGeom prst="line">
            <a:avLst/>
          </a:prstGeom>
          <a:ln w="6350">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869680" y="4507992"/>
            <a:ext cx="0" cy="566928"/>
          </a:xfrm>
          <a:prstGeom prst="line">
            <a:avLst/>
          </a:prstGeom>
          <a:ln w="6350">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024128" y="4910328"/>
            <a:ext cx="5358384" cy="0"/>
          </a:xfrm>
          <a:prstGeom prst="line">
            <a:avLst/>
          </a:prstGeom>
          <a:ln w="4445">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6784848" y="4910328"/>
            <a:ext cx="1883664" cy="0"/>
          </a:xfrm>
          <a:prstGeom prst="line">
            <a:avLst/>
          </a:prstGeom>
          <a:ln w="4445">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9070848" y="4910328"/>
            <a:ext cx="2093976" cy="0"/>
          </a:xfrm>
          <a:prstGeom prst="line">
            <a:avLst/>
          </a:prstGeom>
          <a:ln w="4445">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22960" y="5641848"/>
            <a:ext cx="10543032" cy="0"/>
          </a:xfrm>
          <a:prstGeom prst="line">
            <a:avLst/>
          </a:prstGeom>
          <a:ln w="6350">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583680" y="5074920"/>
            <a:ext cx="0" cy="566928"/>
          </a:xfrm>
          <a:prstGeom prst="line">
            <a:avLst/>
          </a:prstGeom>
          <a:ln w="6350">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869680" y="5074920"/>
            <a:ext cx="0" cy="566928"/>
          </a:xfrm>
          <a:prstGeom prst="line">
            <a:avLst/>
          </a:prstGeom>
          <a:ln w="6350">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24128" y="5477256"/>
            <a:ext cx="5358384" cy="0"/>
          </a:xfrm>
          <a:prstGeom prst="line">
            <a:avLst/>
          </a:prstGeom>
          <a:ln w="4445">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784848" y="5477256"/>
            <a:ext cx="1883664" cy="0"/>
          </a:xfrm>
          <a:prstGeom prst="line">
            <a:avLst/>
          </a:prstGeom>
          <a:ln w="4445">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070848" y="5477256"/>
            <a:ext cx="2093976" cy="0"/>
          </a:xfrm>
          <a:prstGeom prst="line">
            <a:avLst/>
          </a:prstGeom>
          <a:ln w="4445">
            <a:solidFill>
              <a:srgbClr val="E3E3E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822960" y="6437376"/>
            <a:ext cx="10543032" cy="0"/>
          </a:xfrm>
          <a:prstGeom prst="line">
            <a:avLst/>
          </a:prstGeom>
          <a:ln w="9525">
            <a:solidFill>
              <a:srgbClr val="E3E3E6"/>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822960" y="6473952"/>
            <a:ext cx="5486400" cy="274320"/>
          </a:xfrm>
          <a:prstGeom prst="rect">
            <a:avLst/>
          </a:prstGeom>
          <a:noFill/>
        </p:spPr>
        <p:txBody>
          <a:bodyPr wrap="square" lIns="0" rIns="0" tIns="0" bIns="0" anchor="t">
            <a:spAutoFit/>
          </a:bodyPr>
          <a:lstStyle/>
          <a:p>
            <a:pPr algn="l"/>
            <a:r>
              <a:rPr sz="750" b="1" i="0" cap="all" spc="180">
                <a:solidFill>
                  <a:srgbClr val="86868B"/>
                </a:solidFill>
                <a:latin typeface="Helvetica Neue"/>
              </a:rPr>
              <a:t>SAY WATT ROBOTICS  ·  ROV TEAM</a:t>
            </a:r>
          </a:p>
        </p:txBody>
      </p:sp>
      <p:sp>
        <p:nvSpPr>
          <p:cNvPr id="41" name="TextBox 40"/>
          <p:cNvSpPr txBox="1"/>
          <p:nvPr/>
        </p:nvSpPr>
        <p:spPr>
          <a:xfrm>
            <a:off x="5879592" y="6473952"/>
            <a:ext cx="5486400" cy="274320"/>
          </a:xfrm>
          <a:prstGeom prst="rect">
            <a:avLst/>
          </a:prstGeom>
          <a:noFill/>
        </p:spPr>
        <p:txBody>
          <a:bodyPr wrap="square" lIns="0" rIns="0" tIns="0" bIns="0" anchor="t">
            <a:spAutoFit/>
          </a:bodyPr>
          <a:lstStyle/>
          <a:p>
            <a:pPr algn="r"/>
            <a:r>
              <a:rPr sz="750" b="1" i="0" cap="all" spc="180">
                <a:solidFill>
                  <a:srgbClr val="86868B"/>
                </a:solidFill>
                <a:latin typeface="Helvetica Neue"/>
              </a:rPr>
              <a:t>WEEK 4 — ELECTRONICS WORKSHOP   ·   17 / 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530352"/>
            <a:ext cx="10515600" cy="292608"/>
          </a:xfrm>
          <a:prstGeom prst="rect">
            <a:avLst/>
          </a:prstGeom>
          <a:noFill/>
        </p:spPr>
        <p:txBody>
          <a:bodyPr wrap="square" lIns="0" rIns="0" tIns="0" bIns="0" anchor="t">
            <a:spAutoFit/>
          </a:bodyPr>
          <a:lstStyle/>
          <a:p>
            <a:pPr algn="l"/>
            <a:r>
              <a:rPr sz="1200" b="1" i="0" cap="all" spc="180">
                <a:solidFill>
                  <a:srgbClr val="0D7490"/>
                </a:solidFill>
                <a:latin typeface="Helvetica Neue"/>
              </a:rPr>
              <a:t>BEFORE WE LEAVE</a:t>
            </a:r>
          </a:p>
        </p:txBody>
      </p:sp>
      <p:sp>
        <p:nvSpPr>
          <p:cNvPr id="3" name="TextBox 2"/>
          <p:cNvSpPr txBox="1"/>
          <p:nvPr/>
        </p:nvSpPr>
        <p:spPr>
          <a:xfrm>
            <a:off x="804672" y="822960"/>
            <a:ext cx="10515600" cy="868680"/>
          </a:xfrm>
          <a:prstGeom prst="rect">
            <a:avLst/>
          </a:prstGeom>
          <a:noFill/>
        </p:spPr>
        <p:txBody>
          <a:bodyPr wrap="square" lIns="0" rIns="0" tIns="0" bIns="0" anchor="t">
            <a:spAutoFit/>
          </a:bodyPr>
          <a:lstStyle/>
          <a:p>
            <a:pPr algn="l">
              <a:lnSpc>
                <a:spcPct val="105000"/>
              </a:lnSpc>
            </a:pPr>
            <a:r>
              <a:rPr sz="3000" b="1" i="0">
                <a:solidFill>
                  <a:srgbClr val="1D1D1F"/>
                </a:solidFill>
                <a:latin typeface="Helvetica Neue"/>
              </a:rPr>
              <a:t>Tools accounted for. Shop reset.</a:t>
            </a:r>
          </a:p>
        </p:txBody>
      </p:sp>
      <p:sp>
        <p:nvSpPr>
          <p:cNvPr id="4" name="TextBox 3"/>
          <p:cNvSpPr txBox="1"/>
          <p:nvPr/>
        </p:nvSpPr>
        <p:spPr>
          <a:xfrm>
            <a:off x="822960" y="1700784"/>
            <a:ext cx="10515600" cy="457200"/>
          </a:xfrm>
          <a:prstGeom prst="rect">
            <a:avLst/>
          </a:prstGeom>
          <a:noFill/>
        </p:spPr>
        <p:txBody>
          <a:bodyPr wrap="square" lIns="0" rIns="0" tIns="0" bIns="0" anchor="t">
            <a:spAutoFit/>
          </a:bodyPr>
          <a:lstStyle/>
          <a:p>
            <a:pPr algn="l"/>
            <a:r>
              <a:rPr sz="1400" b="0" i="1">
                <a:solidFill>
                  <a:srgbClr val="6E6E73"/>
                </a:solidFill>
                <a:latin typeface="Helvetica Neue"/>
              </a:rPr>
              <a:t>We do this together, every meeting. No exceptions — the Tool Steward leads.</a:t>
            </a:r>
          </a:p>
        </p:txBody>
      </p:sp>
      <p:sp>
        <p:nvSpPr>
          <p:cNvPr id="5" name="Rectangle 4"/>
          <p:cNvSpPr/>
          <p:nvPr/>
        </p:nvSpPr>
        <p:spPr>
          <a:xfrm>
            <a:off x="822960" y="2423160"/>
            <a:ext cx="310896" cy="310896"/>
          </a:xfrm>
          <a:prstGeom prst="rect">
            <a:avLst/>
          </a:prstGeom>
          <a:solidFill>
            <a:srgbClr val="FFFFFF"/>
          </a:solidFill>
          <a:ln w="12700">
            <a:solidFill>
              <a:srgbClr val="8686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408176" y="2404872"/>
            <a:ext cx="9957815" cy="402336"/>
          </a:xfrm>
          <a:prstGeom prst="rect">
            <a:avLst/>
          </a:prstGeom>
          <a:noFill/>
        </p:spPr>
        <p:txBody>
          <a:bodyPr wrap="square" lIns="0" rIns="0" tIns="0" bIns="0" anchor="ctr">
            <a:spAutoFit/>
          </a:bodyPr>
          <a:lstStyle/>
          <a:p>
            <a:pPr algn="l"/>
            <a:r>
              <a:rPr sz="1400" b="0" i="0">
                <a:solidFill>
                  <a:srgbClr val="1D1D1F"/>
                </a:solidFill>
                <a:latin typeface="Helvetica Neue"/>
              </a:rPr>
              <a:t>Soldering irons unplugged, cool, and put away.</a:t>
            </a:r>
          </a:p>
        </p:txBody>
      </p:sp>
      <p:sp>
        <p:nvSpPr>
          <p:cNvPr id="7" name="Rectangle 6"/>
          <p:cNvSpPr/>
          <p:nvPr/>
        </p:nvSpPr>
        <p:spPr>
          <a:xfrm>
            <a:off x="822960" y="2990088"/>
            <a:ext cx="310896" cy="310896"/>
          </a:xfrm>
          <a:prstGeom prst="rect">
            <a:avLst/>
          </a:prstGeom>
          <a:solidFill>
            <a:srgbClr val="FFFFFF"/>
          </a:solidFill>
          <a:ln w="12700">
            <a:solidFill>
              <a:srgbClr val="8686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08176" y="2971800"/>
            <a:ext cx="9957815" cy="402336"/>
          </a:xfrm>
          <a:prstGeom prst="rect">
            <a:avLst/>
          </a:prstGeom>
          <a:noFill/>
        </p:spPr>
        <p:txBody>
          <a:bodyPr wrap="square" lIns="0" rIns="0" tIns="0" bIns="0" anchor="ctr">
            <a:spAutoFit/>
          </a:bodyPr>
          <a:lstStyle/>
          <a:p>
            <a:pPr algn="l"/>
            <a:r>
              <a:rPr sz="1400" b="0" i="0">
                <a:solidFill>
                  <a:srgbClr val="1D1D1F"/>
                </a:solidFill>
                <a:latin typeface="Helvetica Neue"/>
              </a:rPr>
              <a:t>All hand tools and test equipment back in their bins.</a:t>
            </a:r>
          </a:p>
        </p:txBody>
      </p:sp>
      <p:sp>
        <p:nvSpPr>
          <p:cNvPr id="9" name="Rectangle 8"/>
          <p:cNvSpPr/>
          <p:nvPr/>
        </p:nvSpPr>
        <p:spPr>
          <a:xfrm>
            <a:off x="822960" y="3557015"/>
            <a:ext cx="310896" cy="310896"/>
          </a:xfrm>
          <a:prstGeom prst="rect">
            <a:avLst/>
          </a:prstGeom>
          <a:solidFill>
            <a:srgbClr val="FFFFFF"/>
          </a:solidFill>
          <a:ln w="12700">
            <a:solidFill>
              <a:srgbClr val="8686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8176" y="3538727"/>
            <a:ext cx="9957815" cy="402336"/>
          </a:xfrm>
          <a:prstGeom prst="rect">
            <a:avLst/>
          </a:prstGeom>
          <a:noFill/>
        </p:spPr>
        <p:txBody>
          <a:bodyPr wrap="square" lIns="0" rIns="0" tIns="0" bIns="0" anchor="ctr">
            <a:spAutoFit/>
          </a:bodyPr>
          <a:lstStyle/>
          <a:p>
            <a:pPr algn="l"/>
            <a:r>
              <a:rPr sz="1400" b="0" i="0">
                <a:solidFill>
                  <a:srgbClr val="1D1D1F"/>
                </a:solidFill>
                <a:latin typeface="Helvetica Neue"/>
              </a:rPr>
              <a:t>Batteries off charge; charger stations powered down.</a:t>
            </a:r>
          </a:p>
        </p:txBody>
      </p:sp>
      <p:sp>
        <p:nvSpPr>
          <p:cNvPr id="11" name="Rectangle 10"/>
          <p:cNvSpPr/>
          <p:nvPr/>
        </p:nvSpPr>
        <p:spPr>
          <a:xfrm>
            <a:off x="822960" y="4123944"/>
            <a:ext cx="310896" cy="310896"/>
          </a:xfrm>
          <a:prstGeom prst="rect">
            <a:avLst/>
          </a:prstGeom>
          <a:solidFill>
            <a:srgbClr val="FFFFFF"/>
          </a:solidFill>
          <a:ln w="12700">
            <a:solidFill>
              <a:srgbClr val="8686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408176" y="4105656"/>
            <a:ext cx="9957815" cy="402336"/>
          </a:xfrm>
          <a:prstGeom prst="rect">
            <a:avLst/>
          </a:prstGeom>
          <a:noFill/>
        </p:spPr>
        <p:txBody>
          <a:bodyPr wrap="square" lIns="0" rIns="0" tIns="0" bIns="0" anchor="ctr">
            <a:spAutoFit/>
          </a:bodyPr>
          <a:lstStyle/>
          <a:p>
            <a:pPr algn="l"/>
            <a:r>
              <a:rPr sz="1400" b="0" i="0">
                <a:solidFill>
                  <a:srgbClr val="1D1D1F"/>
                </a:solidFill>
                <a:latin typeface="Helvetica Neue"/>
              </a:rPr>
              <a:t>Workshop swept; benches wiped; trash out.</a:t>
            </a:r>
          </a:p>
        </p:txBody>
      </p:sp>
      <p:sp>
        <p:nvSpPr>
          <p:cNvPr id="13" name="Rectangle 12"/>
          <p:cNvSpPr/>
          <p:nvPr/>
        </p:nvSpPr>
        <p:spPr>
          <a:xfrm>
            <a:off x="822960" y="4690872"/>
            <a:ext cx="310896" cy="310896"/>
          </a:xfrm>
          <a:prstGeom prst="rect">
            <a:avLst/>
          </a:prstGeom>
          <a:solidFill>
            <a:srgbClr val="FFFFFF"/>
          </a:solidFill>
          <a:ln w="12700">
            <a:solidFill>
              <a:srgbClr val="8686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408176" y="4672584"/>
            <a:ext cx="9957815" cy="402336"/>
          </a:xfrm>
          <a:prstGeom prst="rect">
            <a:avLst/>
          </a:prstGeom>
          <a:noFill/>
        </p:spPr>
        <p:txBody>
          <a:bodyPr wrap="square" lIns="0" rIns="0" tIns="0" bIns="0" anchor="ctr">
            <a:spAutoFit/>
          </a:bodyPr>
          <a:lstStyle/>
          <a:p>
            <a:pPr algn="l"/>
            <a:r>
              <a:rPr sz="1400" b="0" i="0">
                <a:solidFill>
                  <a:srgbClr val="1D1D1F"/>
                </a:solidFill>
                <a:latin typeface="Helvetica Neue"/>
              </a:rPr>
              <a:t>Today's photos uploaded to the team folder.</a:t>
            </a:r>
          </a:p>
        </p:txBody>
      </p:sp>
      <p:sp>
        <p:nvSpPr>
          <p:cNvPr id="15" name="Rectangle 14"/>
          <p:cNvSpPr/>
          <p:nvPr/>
        </p:nvSpPr>
        <p:spPr>
          <a:xfrm>
            <a:off x="822960" y="5257800"/>
            <a:ext cx="310896" cy="310896"/>
          </a:xfrm>
          <a:prstGeom prst="rect">
            <a:avLst/>
          </a:prstGeom>
          <a:solidFill>
            <a:srgbClr val="FFFFFF"/>
          </a:solidFill>
          <a:ln w="12700">
            <a:solidFill>
              <a:srgbClr val="8686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08176" y="5239512"/>
            <a:ext cx="9957815" cy="402336"/>
          </a:xfrm>
          <a:prstGeom prst="rect">
            <a:avLst/>
          </a:prstGeom>
          <a:noFill/>
        </p:spPr>
        <p:txBody>
          <a:bodyPr wrap="square" lIns="0" rIns="0" tIns="0" bIns="0" anchor="ctr">
            <a:spAutoFit/>
          </a:bodyPr>
          <a:lstStyle/>
          <a:p>
            <a:pPr algn="l"/>
            <a:r>
              <a:rPr sz="1400" b="0" i="0">
                <a:solidFill>
                  <a:srgbClr val="1D1D1F"/>
                </a:solidFill>
                <a:latin typeface="Helvetica Neue"/>
              </a:rPr>
              <a:t>Notetaker's meeting notes filed with the CFO for the engineering notebook.</a:t>
            </a:r>
          </a:p>
        </p:txBody>
      </p:sp>
      <p:cxnSp>
        <p:nvCxnSpPr>
          <p:cNvPr id="17" name="Connector 16"/>
          <p:cNvCxnSpPr/>
          <p:nvPr/>
        </p:nvCxnSpPr>
        <p:spPr>
          <a:xfrm>
            <a:off x="822960" y="6437376"/>
            <a:ext cx="10543032" cy="0"/>
          </a:xfrm>
          <a:prstGeom prst="line">
            <a:avLst/>
          </a:prstGeom>
          <a:ln w="9525">
            <a:solidFill>
              <a:srgbClr val="E3E3E6"/>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6473952"/>
            <a:ext cx="5486400" cy="274320"/>
          </a:xfrm>
          <a:prstGeom prst="rect">
            <a:avLst/>
          </a:prstGeom>
          <a:noFill/>
        </p:spPr>
        <p:txBody>
          <a:bodyPr wrap="square" lIns="0" rIns="0" tIns="0" bIns="0" anchor="t">
            <a:spAutoFit/>
          </a:bodyPr>
          <a:lstStyle/>
          <a:p>
            <a:pPr algn="l"/>
            <a:r>
              <a:rPr sz="750" b="1" i="0" cap="all" spc="180">
                <a:solidFill>
                  <a:srgbClr val="86868B"/>
                </a:solidFill>
                <a:latin typeface="Helvetica Neue"/>
              </a:rPr>
              <a:t>SAY WATT ROBOTICS  ·  ROV TEAM</a:t>
            </a:r>
          </a:p>
        </p:txBody>
      </p:sp>
      <p:sp>
        <p:nvSpPr>
          <p:cNvPr id="19" name="TextBox 18"/>
          <p:cNvSpPr txBox="1"/>
          <p:nvPr/>
        </p:nvSpPr>
        <p:spPr>
          <a:xfrm>
            <a:off x="5879592" y="6473952"/>
            <a:ext cx="5486400" cy="274320"/>
          </a:xfrm>
          <a:prstGeom prst="rect">
            <a:avLst/>
          </a:prstGeom>
          <a:noFill/>
        </p:spPr>
        <p:txBody>
          <a:bodyPr wrap="square" lIns="0" rIns="0" tIns="0" bIns="0" anchor="t">
            <a:spAutoFit/>
          </a:bodyPr>
          <a:lstStyle/>
          <a:p>
            <a:pPr algn="r"/>
            <a:r>
              <a:rPr sz="750" b="1" i="0" cap="all" spc="180">
                <a:solidFill>
                  <a:srgbClr val="86868B"/>
                </a:solidFill>
                <a:latin typeface="Helvetica Neue"/>
              </a:rPr>
              <a:t>WEEK 4 — ELECTRONICS WORKSHOP   ·   18 / 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ROV Team — Week 1: Kickoff</dc:title>
  <dc:subject>PptxGenJS Presentation</dc:subject>
  <dc:creator>Say Watt Robotics — ROV Team</dc:creator>
  <cp:lastModifiedBy>Say Watt Robotics — ROV Team</cp:lastModifiedBy>
  <cp:revision>1</cp:revision>
  <dcterms:created xsi:type="dcterms:W3CDTF">2026-05-25T21:02:30Z</dcterms:created>
  <dcterms:modified xsi:type="dcterms:W3CDTF">2026-05-25T21:02:30Z</dcterms:modified>
</cp:coreProperties>
</file>