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ROV COMPETITION  ·  RANGER CLASS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week-by-week curriculum for parents and stakeholders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5440680"/>
            <a:ext cx="2743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meetings  ·  mid-June through July 2026  ·  the road to Dauphin Island begins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PHASE 1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to build a team — not a robot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720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RANGER team will not out-build experienced teams in ten months. But it can out-prepare them on documentation, presentation, and safety — together, forty percent of the total score.</a:t>
            </a:r>
            <a:endParaRPr lang="en-US" sz="1550" dirty="0"/>
          </a:p>
          <a:p>
            <a:pPr indent="0" marL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front-loads the things that compound: a real company structure, hands-on skills every kid will use all year, and the habits — notebooks, outreach logs, testing — that turn into points in April.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SeaMATE Triggerfish kit is the vehicle for the learning. The learning is the deliverable.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26680" y="868680"/>
            <a:ext cx="3822192" cy="15179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868680"/>
            <a:ext cx="64008" cy="1517904"/>
          </a:xfrm>
          <a:prstGeom prst="rect">
            <a:avLst/>
          </a:prstGeom>
          <a:solidFill>
            <a:srgbClr val="3AA6C9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0515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7973568" y="1618488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total score is Engineering &amp; Communication — won by preparation, not parts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2569464"/>
            <a:ext cx="3822192" cy="15179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0" name="Shape 8"/>
          <p:cNvSpPr/>
          <p:nvPr/>
        </p:nvSpPr>
        <p:spPr>
          <a:xfrm>
            <a:off x="7726680" y="2569464"/>
            <a:ext cx="64008" cy="1517904"/>
          </a:xfrm>
          <a:prstGeom prst="rect">
            <a:avLst/>
          </a:prstGeom>
          <a:solidFill>
            <a:srgbClr val="3AA6C9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27523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973568" y="3319272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roles — every kid an owner with a domain to defend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26680" y="4270248"/>
            <a:ext cx="3822192" cy="15179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6680" y="4270248"/>
            <a:ext cx="64008" cy="1517904"/>
          </a:xfrm>
          <a:prstGeom prst="rect">
            <a:avLst/>
          </a:prstGeom>
          <a:solidFill>
            <a:srgbClr val="3AA6C9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44531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7973568" y="5020056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kid in the water — the milestone new teams quietly miss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six-week arc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meeting a week, two to three hours each. mid-June through July 2026.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3511296" cy="1591056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93392"/>
            <a:ext cx="64008" cy="15910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22128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21992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54480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the Company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kit, records — and safety culture.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98264" y="1993392"/>
            <a:ext cx="3511296" cy="1591056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8264" y="1993392"/>
            <a:ext cx="64008" cy="15910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4636008" y="22128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2221992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312664" y="22402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12664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Soldering Bootcamp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72584" y="296265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kid solders. Triggerfish electronics begin.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6448" y="1993392"/>
            <a:ext cx="3511296" cy="1591056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20" name="Shape 18"/>
          <p:cNvSpPr/>
          <p:nvPr/>
        </p:nvSpPr>
        <p:spPr>
          <a:xfrm>
            <a:off x="8156448" y="1993392"/>
            <a:ext cx="64008" cy="15910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22128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394192" y="2221992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070848" y="22402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70848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First Splash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430768" y="296265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Fusing, multimeters — and every kid in the pool.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803904"/>
            <a:ext cx="3511296" cy="1591056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803904"/>
            <a:ext cx="64008" cy="15910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877824" y="40233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403250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554480" y="4050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54480" y="42611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Iterate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14400" y="477316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Triggerfish assembled. Capsule leaks diagnosed.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98264" y="3803904"/>
            <a:ext cx="3511296" cy="1591056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34" name="Shape 32"/>
          <p:cNvSpPr/>
          <p:nvPr/>
        </p:nvSpPr>
        <p:spPr>
          <a:xfrm>
            <a:off x="4398264" y="3803904"/>
            <a:ext cx="64008" cy="15910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4636008" y="40233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4636008" y="403250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5312664" y="4050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12664" y="42611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Validate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672584" y="477316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ROV flies. Capsules pass three dry dives.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56448" y="3803904"/>
            <a:ext cx="3511296" cy="1591056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41" name="Shape 39"/>
          <p:cNvSpPr/>
          <p:nvPr/>
        </p:nvSpPr>
        <p:spPr>
          <a:xfrm>
            <a:off x="8156448" y="3803904"/>
            <a:ext cx="64008" cy="15910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8394192" y="40233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8394192" y="403250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070848" y="4050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070848" y="42611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&amp; Launch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430768" y="477316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for stakeholders. Phase 2 begins.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0080" y="5797296"/>
            <a:ext cx="10908792" cy="56692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080" y="5797296"/>
            <a:ext cx="91440" cy="566928"/>
          </a:xfrm>
          <a:prstGeom prst="rect">
            <a:avLst/>
          </a:prstGeom>
          <a:solidFill>
            <a:srgbClr val="B9762B"/>
          </a:solidFill>
          <a:ln/>
        </p:spPr>
      </p:sp>
      <p:sp>
        <p:nvSpPr>
          <p:cNvPr id="49" name="Text 47"/>
          <p:cNvSpPr/>
          <p:nvPr/>
        </p:nvSpPr>
        <p:spPr>
          <a:xfrm>
            <a:off x="896112" y="57972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  </a:t>
            </a:r>
            <a:pPr indent="0" marL="0">
              <a:buNone/>
            </a:pPr>
            <a:r>
              <a:rPr lang="en-US" sz="12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2-3 hours, Weeks 1 through 4 each run heavy. Each meeting slide carries a pace note — plan to add a meeting on the busiest weeks.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six owners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structures the competition around a real company. The kids are set — the roles are assigned together in Week 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11296" cy="148132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64008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communication with judges and officials, owner of the safety briefing.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1965960"/>
            <a:ext cx="3511296" cy="148132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4398264" y="1965960"/>
            <a:ext cx="64008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21488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72584" y="2532888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the bill of materials, and the cost report that judges read.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1965960"/>
            <a:ext cx="3511296" cy="148132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156448" y="1965960"/>
            <a:ext cx="64008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21488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Lead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30768" y="2532888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buoyancy, the manipulator and payload tools.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3511296" cy="148132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685032"/>
            <a:ext cx="64008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679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Lead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2519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wiring, fuse selection, and the system interconnect diagram.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98264" y="3685032"/>
            <a:ext cx="3511296" cy="148132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22" name="Shape 20"/>
          <p:cNvSpPr/>
          <p:nvPr/>
        </p:nvSpPr>
        <p:spPr>
          <a:xfrm>
            <a:off x="4398264" y="3685032"/>
            <a:ext cx="64008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672584" y="38679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Lead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72584" y="42519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code, cameras, computer vision — and the team's code repository.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56448" y="3685032"/>
            <a:ext cx="3511296" cy="148132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26" name="Shape 24"/>
          <p:cNvSpPr/>
          <p:nvPr/>
        </p:nvSpPr>
        <p:spPr>
          <a:xfrm>
            <a:off x="8156448" y="3685032"/>
            <a:ext cx="64008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430768" y="38679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Lead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30768" y="42519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log, the build photo log, documentation, and the marketing display.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815584"/>
            <a:ext cx="10908792" cy="5486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8155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is chosen later  </a:t>
            </a:r>
            <a:pPr indent="0" marL="0">
              <a:buNone/>
            </a:pPr>
            <a:r>
              <a:rPr lang="en-US" sz="12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is never the CEO. Stress under the pool lights deserves its own calm operator.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starts on day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safety-inspection findings are automatic fails at the regional. The teams that pass built the habit in June — not in April.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11296" cy="212140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64008" cy="21214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before every session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798064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meeting opens with a five-minute safety brief on that day's hazards. By April, the habit is second nature.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98264" y="2011680"/>
            <a:ext cx="3511296" cy="212140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4398264" y="2011680"/>
            <a:ext cx="64008" cy="21214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2231136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 owns it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72584" y="2798064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a named responsibility, not everyone's vague problem. The CEO runs the brief; the team holds each other to it.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156448" y="2011680"/>
            <a:ext cx="3511296" cy="212140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156448" y="2011680"/>
            <a:ext cx="64008" cy="21214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2231136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JSEA habit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30768" y="2798064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each new task: what could hurt someone here, and how do we control it? In Phase 5 this becomes the formal Job Safety &amp; Environmental Analysis.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WEEK'S SAFETY FOCUS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681728"/>
            <a:ext cx="1696212" cy="960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681728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809744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5029200"/>
            <a:ext cx="1403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&amp; hand 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82596" y="4681728"/>
            <a:ext cx="1696212" cy="960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23" name="Shape 21"/>
          <p:cNvSpPr/>
          <p:nvPr/>
        </p:nvSpPr>
        <p:spPr>
          <a:xfrm>
            <a:off x="2482596" y="4681728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2647188" y="4809744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47188" y="5029200"/>
            <a:ext cx="1403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Soldering irons &amp; burns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25112" y="4681728"/>
            <a:ext cx="1696212" cy="960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27" name="Shape 25"/>
          <p:cNvSpPr/>
          <p:nvPr/>
        </p:nvSpPr>
        <p:spPr>
          <a:xfrm>
            <a:off x="4325112" y="4681728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489704" y="4809744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9704" y="5029200"/>
            <a:ext cx="1403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Electrical, then poolside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67628" y="4681728"/>
            <a:ext cx="1696212" cy="960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31" name="Shape 29"/>
          <p:cNvSpPr/>
          <p:nvPr/>
        </p:nvSpPr>
        <p:spPr>
          <a:xfrm>
            <a:off x="6167628" y="4681728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32220" y="4809744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32220" y="5029200"/>
            <a:ext cx="1403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operations &amp; tether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10144" y="4681728"/>
            <a:ext cx="1696212" cy="960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35" name="Shape 33"/>
          <p:cNvSpPr/>
          <p:nvPr/>
        </p:nvSpPr>
        <p:spPr>
          <a:xfrm>
            <a:off x="8010144" y="4681728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8174736" y="4809744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74736" y="5029200"/>
            <a:ext cx="1403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rotation &amp; recovery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52660" y="4681728"/>
            <a:ext cx="1696212" cy="960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39" name="Shape 37"/>
          <p:cNvSpPr/>
          <p:nvPr/>
        </p:nvSpPr>
        <p:spPr>
          <a:xfrm>
            <a:off x="9852660" y="4681728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10017252" y="4809744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17252" y="5029200"/>
            <a:ext cx="1403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with guests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1248" cy="8412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484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 ·   SATURDAY, JUNE 13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673352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the Company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    </a:t>
            </a:r>
            <a:pPr indent="0" marL="0">
              <a:buNone/>
            </a:pPr>
            <a:r>
              <a:rPr lang="en-US" sz="1350" i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becomes a company — and the kit comes out of the box.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7647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note   </a:t>
            </a:r>
            <a:pPr indent="0" marL="0">
              <a:buNone/>
            </a:pPr>
            <a:r>
              <a:rPr lang="en-US" sz="13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densest session of Phase 1. Strongly consider splitting it across two meetings.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KIDS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542032"/>
            <a:ext cx="60533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 — set up and label the workspace, and agree the team's shop and tool rules.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for and accept the six company roles — CEO, CFO, and the four leads.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company name and identity; the Software Lead stands up the GitHub organization (student accounts) and a shared team wiki.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inventory the SeaMATE Triggerfish kit; read the build manual together.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workshop — how to record a decision with its rationale. Start the outreach log and the build photo log.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2212848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2212848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41464" y="232257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41464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real engineering company is organized — and how to document a decision so it counts in March.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903720" y="3419856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903720" y="3419856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1464" y="3529584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1464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Triggerfish kit · project notebooks · role cards · outreach + photo log templates · a laptop.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903720" y="4626864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4626864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473659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41464" y="4965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the role conversation — don't assign the roles. Confirm pool dates and the transport roster.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806440"/>
            <a:ext cx="14630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943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18134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with six owners, a name, a workspace, and the records that run all year.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202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1248" cy="8412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484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 ·   SATURDAY, JUNE 20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673352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Soldering Bootcamp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    </a:t>
            </a:r>
            <a:pPr indent="0" marL="0">
              <a:buNone/>
            </a:pPr>
            <a:r>
              <a:rPr lang="en-US" sz="1350" i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kid solders something — the one non-negotiable Phase 1 outcome.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7647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note   </a:t>
            </a:r>
            <a:pPr indent="0" marL="0">
              <a:buNone/>
            </a:pPr>
            <a:r>
              <a:rPr lang="en-US" sz="13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six kids to solder well takes time. A second weeknight this week is recommended.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KIDS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542032"/>
            <a:ext cx="60533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the soldering safety brief — hot irons, burns, fume ventilation, eye protection.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soldering demo, then hands-on practice joints until each kid is steady.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the Triggerfish electronics — stripping, tinning, heat-shrink, real connections.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each other's joints: shiny and solid, not cold or bridged.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and photo log: each kid records and photographs their first solder joints.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2212848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2212848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41464" y="232257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41464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Soldering, wire stripping, heat-shrink and joint inspection — the foundation electrical skill.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903720" y="3419856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903720" y="3419856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1464" y="3529584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1464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soldering stations · solder &amp; consumables · practice boards · safety glasses · Triggerfish electronics.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903720" y="4626864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4626864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473659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41464" y="4965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30-minute demo once, then step back. Photograph the build — never hold the iron (MATE Section 4.3).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806440"/>
            <a:ext cx="14630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943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18134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kids who have soldered. The Triggerfish electronics are underway.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202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1248" cy="8412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484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 ·   SATURDAY, JUNE 27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673352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First Splash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    </a:t>
            </a:r>
            <a:pPr indent="0" marL="0">
              <a:buNone/>
            </a:pPr>
            <a:r>
              <a:rPr lang="en-US" sz="1350" i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electronics, learn the multimeter — and get every kid in the water.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7647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note   </a:t>
            </a:r>
            <a:pPr indent="0" marL="0">
              <a:buNone/>
            </a:pPr>
            <a:r>
              <a:rPr lang="en-US" sz="13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workshop plus a pool trip in one block. Budget the travel time, or split the pool session out.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KIDS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542032"/>
            <a:ext cx="60533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brief — electrical safety and fusing, then the first poolside briefing before anyone enters the water.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workshop: the multimeter, voltage vs. current, and why a fuse is chosen.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Triggerfish wiring and topside control box.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session: every kid in the water — comfort, the buddy system, basic familiarity.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drop test of the waterproofing capsules; open them and check the paper towel.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2212848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2212848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41464" y="232257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41464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 measurement, fuse selection and the full-load-amp idea — plus first water time.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903720" y="3419856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903720" y="3419856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1464" y="3529584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1464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Multimeters · fuses · finished Triggerfish electronics · PVC capsules · the shallow pool.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903720" y="4626864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4626864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473659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41464" y="4965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lifeguard coverage and confirm every kid's swim ability. Lock the deep-water host for the year.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806440"/>
            <a:ext cx="14630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943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18134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— every kid in a pool by Week 3. The Triggerfish electronics are done.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202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1248" cy="8412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484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 ·   SATURDAY, JULY 11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673352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Iterate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    </a:t>
            </a:r>
            <a:pPr indent="0" marL="0">
              <a:buNone/>
            </a:pPr>
            <a:r>
              <a:rPr lang="en-US" sz="1350" i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Triggerfish comes together; the waterproofing exercise gets serious.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7647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note   </a:t>
            </a:r>
            <a:pPr indent="0" marL="0">
              <a:buNone/>
            </a:pPr>
            <a:r>
              <a:rPr lang="en-US" sz="13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build plus a pool test. Tight at 2-3 hours — protect the time, or add a session.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KIDS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542032"/>
            <a:ext cx="60533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Poolside safety brief — tether handling, deck discipline, electricity near water.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Triggerfish frame, thrusters and tether — the first full build.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Pool: capsule dive #2 — open every capsule, check the towel, diagnose each leak.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and re-seal the capsules that failed; iterate the O-ring and penetration.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and photo log: record what leaked, why, and the fix that was tried.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2212848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2212848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41464" y="232257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41464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assembly, and waterproofing through O-rings, epoxy and a single clean penetration.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903720" y="3419856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903720" y="3419856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1464" y="3529584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1464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Triggerfish frame &amp; thrusters · PVC capsules · epoxy · O-rings · the shallow pool.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903720" y="4626864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4626864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473659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41464" y="4965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"what would you change?" — don't fix it for them. Let the leaks happen; the recovery is the lesson.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806440"/>
            <a:ext cx="14630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943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18134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Triggerfish is assembled. Capsule designs improve dive over dive.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202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1248" cy="8412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484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 ·   SATURDAY, JULY 18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673352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Validate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    </a:t>
            </a:r>
            <a:pPr indent="0" marL="0">
              <a:buNone/>
            </a:pPr>
            <a:r>
              <a:rPr lang="en-US" sz="1350" i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the Triggerfish — and prove the capsules stay dry.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7647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note   </a:t>
            </a:r>
            <a:pPr indent="0" marL="0">
              <a:buNone/>
            </a:pPr>
            <a:r>
              <a:rPr lang="en-US" sz="1350" i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manageable — piloting and capsule validation share one pool block.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KIDS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542032"/>
            <a:ext cx="60533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Poolside safety brief — pilot rotation, the buddy system, and safe capsule recovery.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session: every kid pilots the Triggerfish; tune buoyancy and trim.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dive #3 — the target is three consecutive dry dives.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and photo log: document exactly what made a seal hold.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story moments — what broke this month and how the team recovered.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2212848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2212848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41464" y="232257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41464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Piloting and trim — and closing out an engineering test with real evidence.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903720" y="3419856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903720" y="3419856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1464" y="3529584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1464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Triggerfish · capsules · project notebooks · the shallow pool.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903720" y="4626864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4626864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473659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41464" y="4965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and time the runs. Record the failure-and-recovery stories — those win the April Q&amp;A.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806440"/>
            <a:ext cx="14630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943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18134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flying starter ROV. The capsule exercise on track — the Phase 2 float skill is proven.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202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1248" cy="8412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484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 ·   SATURDAY, JULY 25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673352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&amp; Launch Phase 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    </a:t>
            </a:r>
            <a:pPr indent="0" marL="0">
              <a:buNone/>
            </a:pPr>
            <a:r>
              <a:rPr lang="en-US" sz="1350" i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work, close Phase 1, and set up the fall.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7647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note   </a:t>
            </a:r>
            <a:pPr indent="0" marL="0">
              <a:buNone/>
            </a:pPr>
            <a:r>
              <a:rPr lang="en-US" sz="1350" i="1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lighter session by design — demo, reflect, and look ahead.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KIDS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542032"/>
            <a:ext cx="60533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brief for demo day — running the pool with an audience and guests on the deck.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Triggerfish pool demonstration for parents and stakeholders.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retrospective — what each lead learned; review the notebook, outreach and photo logs.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Phase 2: sub-team mini-projects, the float v1, the school-year cadence.</a:t>
            </a:r>
            <a:endParaRPr lang="en-US" sz="1250" dirty="0"/>
          </a:p>
          <a:p>
            <a:pPr marL="203200" indent="-203200">
              <a:lnSpc>
                <a:spcPct val="116000"/>
              </a:lnSpc>
              <a:spcAft>
                <a:spcPts val="1600"/>
              </a:spcAft>
              <a:buSzPct val="100000"/>
              <a:buChar char="–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Thank-yous to everyone who hosted, donated, or volunteered — logged as outreach.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2212848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2212848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41464" y="232257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41464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their own work to an audience — and reflecting honestly as a team.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903720" y="3419856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903720" y="3419856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1464" y="3529584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1464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Triggerfish · the notebook, outreach and photo logs · the Phase 2 overview.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903720" y="4626864"/>
            <a:ext cx="4645152" cy="1060704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4626864"/>
            <a:ext cx="64008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473659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41464" y="4965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stakeholders and potential sponsors to the showcase. Celebrate what six weeks built.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806440"/>
            <a:ext cx="14630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943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18134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— starter ROV in the water, company formed, deep-pool confirmed. Phase 1 complete.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202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UNDERNEATH ALL SIX MEETINGS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threads that never get their own session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quietly through every meeting — and each one turns directly into points in the spring.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11296" cy="3246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64008" cy="3246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91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1518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&amp; photo log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2980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kid records decisions with their rationale; the Communications Lead keeps a running photo log of the build. In March both feed the technical documentation.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2103120"/>
            <a:ext cx="3511296" cy="3246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1" name="Shape 9"/>
          <p:cNvSpPr/>
          <p:nvPr/>
        </p:nvSpPr>
        <p:spPr>
          <a:xfrm>
            <a:off x="4398264" y="2103120"/>
            <a:ext cx="64008" cy="3246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3591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WEEK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72584" y="261518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Community-outreach log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72584" y="3401568"/>
            <a:ext cx="2980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volunteer and outreach hour is logged from day one. In April it converts directly into Corporate Responsibility points.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6448" y="2103120"/>
            <a:ext cx="3511296" cy="324612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6448" y="2103120"/>
            <a:ext cx="64008" cy="3246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23591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THROUGH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30768" y="261518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Waterproofing capsule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30768" y="3401568"/>
            <a:ext cx="2980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Week 1, built Week 2, tested and re-sealed Weeks 3-5. The gate is three consecutive dry dives — the foundation skill for the Phase 2 float.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PARENTS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side of Phase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9824" cy="246888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2468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Triggerfish kit and tools now — SeaMATE lead times run two weeks or more.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deep-water pool host for the year.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weekly transport roster and lock a consistent meeting day and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36792" y="1783080"/>
            <a:ext cx="5449824" cy="2468880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9" name="Shape 7"/>
          <p:cNvSpPr/>
          <p:nvPr/>
        </p:nvSpPr>
        <p:spPr>
          <a:xfrm>
            <a:off x="6336792" y="1783080"/>
            <a:ext cx="64008" cy="2468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ALL SEASON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4768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build — never hold the iron (MATE Section 4.3).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 skill once, then step back and let them fail.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parts, manage budget, coordinate logistics — program management, not engineering.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1146536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434840"/>
            <a:ext cx="91440" cy="841248"/>
          </a:xfrm>
          <a:prstGeom prst="rect">
            <a:avLst/>
          </a:prstGeom>
          <a:solidFill>
            <a:srgbClr val="B976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43484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spc="200" kern="0" dirty="0">
                <a:solidFill>
                  <a:srgbClr val="B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deep-water pool host is not yet confirmed. Locking it is the single most important parent task before the season's float work begins.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" y="5532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for the year: 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 skill once, then step back and let them fail. The kids learning to recover from failure is what makes the engineering-presentation Q&amp;A go well in April.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 start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8745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SeaMATE Triggerfish ROV kit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26480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51176"/>
            <a:ext cx="7040880" cy="65836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5117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soldering stations and consumables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26480" y="255117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22783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multimeters and hand tools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26480" y="322783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04488"/>
            <a:ext cx="7040880" cy="658368"/>
          </a:xfrm>
          <a:prstGeom prst="rect">
            <a:avLst/>
          </a:prstGeom>
          <a:solidFill>
            <a:srgbClr val="ED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90448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Waterproofing capsule exercise — PVC, end caps, O-rings, epoxy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0" y="39044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36008"/>
            <a:ext cx="704088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total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0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83880" y="1874520"/>
            <a:ext cx="3611880" cy="33375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8" name="Shape 16"/>
          <p:cNvSpPr/>
          <p:nvPr/>
        </p:nvSpPr>
        <p:spPr>
          <a:xfrm>
            <a:off x="8183880" y="1874520"/>
            <a:ext cx="73152" cy="3337560"/>
          </a:xfrm>
          <a:prstGeom prst="rect">
            <a:avLst/>
          </a:prstGeom>
          <a:solidFill>
            <a:srgbClr val="3AA6C9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2139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$4,400 SEASON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0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8430768" y="34015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the largest single-phase spend of the year — it buys the kit and tools every later phase builds 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30768" y="437083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pool access (donated) and project notebooks (kids bring their own).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July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09397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0208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that exists    </a:t>
            </a:r>
            <a:pPr indent="0" marL="0">
              <a:buNone/>
            </a:pPr>
            <a:r>
              <a:rPr lang="en-US" sz="15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six owners, a name, and a safety culture.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kids who have soldered    </a:t>
            </a:r>
            <a:pPr indent="0" marL="0">
              <a:buNone/>
            </a:pPr>
            <a:r>
              <a:rPr lang="en-US" sz="15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who have all been in the water by Week 3.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33009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2278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starter ROV, flying    </a:t>
            </a:r>
            <a:pPr indent="0" marL="0">
              <a:buNone/>
            </a:pPr>
            <a:r>
              <a:rPr lang="en-US" sz="15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SeaMATE Triggerfish, built and piloted by the team.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39044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8313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access locked    </a:t>
            </a:r>
            <a:pPr indent="0" marL="0">
              <a:buNone/>
            </a:pPr>
            <a:r>
              <a:rPr lang="en-US" sz="15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full year — including the deep-water host.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86968" y="4892040"/>
            <a:ext cx="2743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20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we do nothing else in June: buy the kit, get six kids soldering, and put it in the water within three weeks. </a:t>
            </a:r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plan is downstream of that.”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— Foundation Curriculum</dc:title>
  <dc:subject>PptxGenJS Presentation</dc:subject>
  <dc:creator>RANGER 2026-2027</dc:creator>
  <cp:lastModifiedBy>RANGER 2026-2027</cp:lastModifiedBy>
  <cp:revision>1</cp:revision>
  <dcterms:created xsi:type="dcterms:W3CDTF">2026-05-20T20:12:36Z</dcterms:created>
  <dcterms:modified xsi:type="dcterms:W3CDTF">2026-05-20T20:12:36Z</dcterms:modified>
</cp:coreProperties>
</file>